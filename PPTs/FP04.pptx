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25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56" r:id="rId2"/>
    <p:sldId id="709" r:id="rId3"/>
    <p:sldId id="637" r:id="rId4"/>
    <p:sldId id="638" r:id="rId5"/>
    <p:sldId id="639" r:id="rId6"/>
    <p:sldId id="640" r:id="rId7"/>
    <p:sldId id="641" r:id="rId8"/>
    <p:sldId id="642" r:id="rId9"/>
    <p:sldId id="710" r:id="rId10"/>
    <p:sldId id="643" r:id="rId11"/>
    <p:sldId id="644" r:id="rId12"/>
    <p:sldId id="645" r:id="rId13"/>
    <p:sldId id="646" r:id="rId14"/>
    <p:sldId id="648" r:id="rId15"/>
    <p:sldId id="647" r:id="rId16"/>
    <p:sldId id="711" r:id="rId17"/>
    <p:sldId id="649" r:id="rId18"/>
    <p:sldId id="650" r:id="rId19"/>
    <p:sldId id="651" r:id="rId20"/>
    <p:sldId id="652" r:id="rId21"/>
    <p:sldId id="712" r:id="rId22"/>
    <p:sldId id="653" r:id="rId23"/>
    <p:sldId id="655" r:id="rId24"/>
    <p:sldId id="656" r:id="rId25"/>
    <p:sldId id="657" r:id="rId26"/>
    <p:sldId id="713" r:id="rId27"/>
    <p:sldId id="658" r:id="rId28"/>
    <p:sldId id="659" r:id="rId29"/>
    <p:sldId id="660" r:id="rId30"/>
    <p:sldId id="661" r:id="rId31"/>
    <p:sldId id="662" r:id="rId32"/>
    <p:sldId id="714" r:id="rId33"/>
    <p:sldId id="674" r:id="rId34"/>
    <p:sldId id="682" r:id="rId35"/>
    <p:sldId id="719" r:id="rId36"/>
    <p:sldId id="698" r:id="rId37"/>
    <p:sldId id="699" r:id="rId38"/>
    <p:sldId id="700" r:id="rId39"/>
    <p:sldId id="701" r:id="rId40"/>
    <p:sldId id="702" r:id="rId41"/>
    <p:sldId id="591" r:id="rId42"/>
    <p:sldId id="618" r:id="rId43"/>
    <p:sldId id="422" r:id="rId44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0037A8"/>
    <a:srgbClr val="003366"/>
    <a:srgbClr val="FF9966"/>
    <a:srgbClr val="FF6699"/>
    <a:srgbClr val="9966FF"/>
    <a:srgbClr val="3333CC"/>
    <a:srgbClr val="FFFF66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5757A1-B7FF-4CD8-A181-71B4F02EB6E5}" v="17" dt="2021-11-14T19:12:22.5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72" autoAdjust="0"/>
    <p:restoredTop sz="94660"/>
  </p:normalViewPr>
  <p:slideViewPr>
    <p:cSldViewPr snapToObjects="1">
      <p:cViewPr varScale="1">
        <p:scale>
          <a:sx n="102" d="100"/>
          <a:sy n="102" d="100"/>
        </p:scale>
        <p:origin x="108" y="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030"/>
    </p:cViewPr>
  </p:sorterViewPr>
  <p:notesViewPr>
    <p:cSldViewPr snapToObjects="1">
      <p:cViewPr varScale="1">
        <p:scale>
          <a:sx n="71" d="100"/>
          <a:sy n="71" d="100"/>
        </p:scale>
        <p:origin x="-3372" y="-108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Ángel Campos Méndez" userId="402d5bdf62ce6c12" providerId="LiveId" clId="{BDA151A9-AC54-4A36-AB16-BB503A9D23A0}"/>
    <pc:docChg chg="addSld modSld">
      <pc:chgData name="Miguel Ángel Campos Méndez" userId="402d5bdf62ce6c12" providerId="LiveId" clId="{BDA151A9-AC54-4A36-AB16-BB503A9D23A0}" dt="2020-02-21T02:32:40.701" v="21" actId="20577"/>
      <pc:docMkLst>
        <pc:docMk/>
      </pc:docMkLst>
      <pc:sldChg chg="modSp add">
        <pc:chgData name="Miguel Ángel Campos Méndez" userId="402d5bdf62ce6c12" providerId="LiveId" clId="{BDA151A9-AC54-4A36-AB16-BB503A9D23A0}" dt="2020-02-21T02:32:40.701" v="21" actId="20577"/>
        <pc:sldMkLst>
          <pc:docMk/>
          <pc:sldMk cId="610316877" sldId="591"/>
        </pc:sldMkLst>
        <pc:spChg chg="mod">
          <ac:chgData name="Miguel Ángel Campos Méndez" userId="402d5bdf62ce6c12" providerId="LiveId" clId="{BDA151A9-AC54-4A36-AB16-BB503A9D23A0}" dt="2020-02-21T02:32:40.701" v="21" actId="20577"/>
          <ac:spMkLst>
            <pc:docMk/>
            <pc:sldMk cId="610316877" sldId="591"/>
            <ac:spMk id="3" creationId="{02A4B4A2-B177-4453-9890-300A12A405AD}"/>
          </ac:spMkLst>
        </pc:spChg>
      </pc:sldChg>
      <pc:sldChg chg="add">
        <pc:chgData name="Miguel Ángel Campos Méndez" userId="402d5bdf62ce6c12" providerId="LiveId" clId="{BDA151A9-AC54-4A36-AB16-BB503A9D23A0}" dt="2020-02-21T02:32:30.831" v="0"/>
        <pc:sldMkLst>
          <pc:docMk/>
          <pc:sldMk cId="462218354" sldId="618"/>
        </pc:sldMkLst>
      </pc:sldChg>
    </pc:docChg>
  </pc:docChgLst>
  <pc:docChgLst>
    <pc:chgData name="Miguel Ángel Campos Méndez" userId="402d5bdf62ce6c12" providerId="LiveId" clId="{DB70458B-1380-466F-8502-0BE440F2E04E}"/>
    <pc:docChg chg="undo custSel addSld delSld modSld">
      <pc:chgData name="Miguel Ángel Campos Méndez" userId="402d5bdf62ce6c12" providerId="LiveId" clId="{DB70458B-1380-466F-8502-0BE440F2E04E}" dt="2020-02-19T19:41:20.922" v="101" actId="47"/>
      <pc:docMkLst>
        <pc:docMk/>
      </pc:docMkLst>
      <pc:sldChg chg="modSp">
        <pc:chgData name="Miguel Ángel Campos Méndez" userId="402d5bdf62ce6c12" providerId="LiveId" clId="{DB70458B-1380-466F-8502-0BE440F2E04E}" dt="2020-02-17T16:18:29.148" v="4" actId="27636"/>
        <pc:sldMkLst>
          <pc:docMk/>
          <pc:sldMk cId="0" sldId="256"/>
        </pc:sldMkLst>
        <pc:spChg chg="mod">
          <ac:chgData name="Miguel Ángel Campos Méndez" userId="402d5bdf62ce6c12" providerId="LiveId" clId="{DB70458B-1380-466F-8502-0BE440F2E04E}" dt="2020-02-17T16:18:29.148" v="4" actId="27636"/>
          <ac:spMkLst>
            <pc:docMk/>
            <pc:sldMk cId="0" sldId="256"/>
            <ac:spMk id="14" creationId="{00000000-0000-0000-0000-000000000000}"/>
          </ac:spMkLst>
        </pc:spChg>
      </pc:sldChg>
      <pc:sldChg chg="modSp">
        <pc:chgData name="Miguel Ángel Campos Méndez" userId="402d5bdf62ce6c12" providerId="LiveId" clId="{DB70458B-1380-466F-8502-0BE440F2E04E}" dt="2020-02-18T19:27:35.026" v="58" actId="20577"/>
        <pc:sldMkLst>
          <pc:docMk/>
          <pc:sldMk cId="0" sldId="642"/>
        </pc:sldMkLst>
        <pc:spChg chg="mod">
          <ac:chgData name="Miguel Ángel Campos Méndez" userId="402d5bdf62ce6c12" providerId="LiveId" clId="{DB70458B-1380-466F-8502-0BE440F2E04E}" dt="2020-02-18T19:27:12.931" v="51"/>
          <ac:spMkLst>
            <pc:docMk/>
            <pc:sldMk cId="0" sldId="642"/>
            <ac:spMk id="43" creationId="{00000000-0000-0000-0000-000000000000}"/>
          </ac:spMkLst>
        </pc:spChg>
        <pc:spChg chg="mod">
          <ac:chgData name="Miguel Ángel Campos Méndez" userId="402d5bdf62ce6c12" providerId="LiveId" clId="{DB70458B-1380-466F-8502-0BE440F2E04E}" dt="2020-02-18T19:27:35.026" v="58" actId="20577"/>
          <ac:spMkLst>
            <pc:docMk/>
            <pc:sldMk cId="0" sldId="642"/>
            <ac:spMk id="49" creationId="{00000000-0000-0000-0000-000000000000}"/>
          </ac:spMkLst>
        </pc:spChg>
      </pc:sldChg>
      <pc:sldChg chg="modSp">
        <pc:chgData name="Miguel Ángel Campos Méndez" userId="402d5bdf62ce6c12" providerId="LiveId" clId="{DB70458B-1380-466F-8502-0BE440F2E04E}" dt="2020-02-18T19:28:24.274" v="61" actId="20577"/>
        <pc:sldMkLst>
          <pc:docMk/>
          <pc:sldMk cId="0" sldId="645"/>
        </pc:sldMkLst>
        <pc:spChg chg="mod">
          <ac:chgData name="Miguel Ángel Campos Méndez" userId="402d5bdf62ce6c12" providerId="LiveId" clId="{DB70458B-1380-466F-8502-0BE440F2E04E}" dt="2020-02-18T19:28:24.274" v="61" actId="20577"/>
          <ac:spMkLst>
            <pc:docMk/>
            <pc:sldMk cId="0" sldId="645"/>
            <ac:spMk id="3" creationId="{00000000-0000-0000-0000-000000000000}"/>
          </ac:spMkLst>
        </pc:spChg>
      </pc:sldChg>
      <pc:sldChg chg="modSp modAnim">
        <pc:chgData name="Miguel Ángel Campos Méndez" userId="402d5bdf62ce6c12" providerId="LiveId" clId="{DB70458B-1380-466F-8502-0BE440F2E04E}" dt="2020-02-19T17:34:47.462" v="69" actId="6549"/>
        <pc:sldMkLst>
          <pc:docMk/>
          <pc:sldMk cId="0" sldId="646"/>
        </pc:sldMkLst>
        <pc:spChg chg="mod">
          <ac:chgData name="Miguel Ángel Campos Méndez" userId="402d5bdf62ce6c12" providerId="LiveId" clId="{DB70458B-1380-466F-8502-0BE440F2E04E}" dt="2020-02-19T17:34:47.462" v="69" actId="6549"/>
          <ac:spMkLst>
            <pc:docMk/>
            <pc:sldMk cId="0" sldId="646"/>
            <ac:spMk id="3" creationId="{00000000-0000-0000-0000-000000000000}"/>
          </ac:spMkLst>
        </pc:spChg>
      </pc:sldChg>
      <pc:sldChg chg="modSp modTransition">
        <pc:chgData name="Miguel Ángel Campos Méndez" userId="402d5bdf62ce6c12" providerId="LiveId" clId="{DB70458B-1380-466F-8502-0BE440F2E04E}" dt="2020-02-19T17:35:32.731" v="70"/>
        <pc:sldMkLst>
          <pc:docMk/>
          <pc:sldMk cId="0" sldId="647"/>
        </pc:sldMkLst>
        <pc:spChg chg="mod">
          <ac:chgData name="Miguel Ángel Campos Méndez" userId="402d5bdf62ce6c12" providerId="LiveId" clId="{DB70458B-1380-466F-8502-0BE440F2E04E}" dt="2020-02-17T16:18:29.199" v="5" actId="27636"/>
          <ac:spMkLst>
            <pc:docMk/>
            <pc:sldMk cId="0" sldId="647"/>
            <ac:spMk id="3" creationId="{00000000-0000-0000-0000-000000000000}"/>
          </ac:spMkLst>
        </pc:spChg>
      </pc:sldChg>
      <pc:sldChg chg="modTransition">
        <pc:chgData name="Miguel Ángel Campos Méndez" userId="402d5bdf62ce6c12" providerId="LiveId" clId="{DB70458B-1380-466F-8502-0BE440F2E04E}" dt="2020-02-19T17:35:32.731" v="70"/>
        <pc:sldMkLst>
          <pc:docMk/>
          <pc:sldMk cId="0" sldId="648"/>
        </pc:sldMkLst>
      </pc:sldChg>
      <pc:sldChg chg="modSp">
        <pc:chgData name="Miguel Ángel Campos Méndez" userId="402d5bdf62ce6c12" providerId="LiveId" clId="{DB70458B-1380-466F-8502-0BE440F2E04E}" dt="2020-02-19T10:30:56.480" v="67" actId="6549"/>
        <pc:sldMkLst>
          <pc:docMk/>
          <pc:sldMk cId="0" sldId="650"/>
        </pc:sldMkLst>
        <pc:spChg chg="mod">
          <ac:chgData name="Miguel Ángel Campos Méndez" userId="402d5bdf62ce6c12" providerId="LiveId" clId="{DB70458B-1380-466F-8502-0BE440F2E04E}" dt="2020-02-19T10:30:56.480" v="67" actId="6549"/>
          <ac:spMkLst>
            <pc:docMk/>
            <pc:sldMk cId="0" sldId="650"/>
            <ac:spMk id="3" creationId="{00000000-0000-0000-0000-000000000000}"/>
          </ac:spMkLst>
        </pc:spChg>
      </pc:sldChg>
      <pc:sldChg chg="modSp">
        <pc:chgData name="Miguel Ángel Campos Méndez" userId="402d5bdf62ce6c12" providerId="LiveId" clId="{DB70458B-1380-466F-8502-0BE440F2E04E}" dt="2020-02-19T17:36:16.154" v="74" actId="20577"/>
        <pc:sldMkLst>
          <pc:docMk/>
          <pc:sldMk cId="0" sldId="651"/>
        </pc:sldMkLst>
        <pc:spChg chg="mod">
          <ac:chgData name="Miguel Ángel Campos Méndez" userId="402d5bdf62ce6c12" providerId="LiveId" clId="{DB70458B-1380-466F-8502-0BE440F2E04E}" dt="2020-02-19T17:36:16.154" v="74" actId="20577"/>
          <ac:spMkLst>
            <pc:docMk/>
            <pc:sldMk cId="0" sldId="651"/>
            <ac:spMk id="3" creationId="{00000000-0000-0000-0000-000000000000}"/>
          </ac:spMkLst>
        </pc:spChg>
      </pc:sldChg>
      <pc:sldChg chg="modSp">
        <pc:chgData name="Miguel Ángel Campos Méndez" userId="402d5bdf62ce6c12" providerId="LiveId" clId="{DB70458B-1380-466F-8502-0BE440F2E04E}" dt="2020-02-18T19:29:34.932" v="66" actId="20577"/>
        <pc:sldMkLst>
          <pc:docMk/>
          <pc:sldMk cId="0" sldId="655"/>
        </pc:sldMkLst>
        <pc:spChg chg="mod">
          <ac:chgData name="Miguel Ángel Campos Méndez" userId="402d5bdf62ce6c12" providerId="LiveId" clId="{DB70458B-1380-466F-8502-0BE440F2E04E}" dt="2020-02-18T19:29:21.725" v="65" actId="20577"/>
          <ac:spMkLst>
            <pc:docMk/>
            <pc:sldMk cId="0" sldId="655"/>
            <ac:spMk id="2" creationId="{00000000-0000-0000-0000-000000000000}"/>
          </ac:spMkLst>
        </pc:spChg>
        <pc:spChg chg="mod">
          <ac:chgData name="Miguel Ángel Campos Méndez" userId="402d5bdf62ce6c12" providerId="LiveId" clId="{DB70458B-1380-466F-8502-0BE440F2E04E}" dt="2020-02-18T19:29:34.932" v="66" actId="20577"/>
          <ac:spMkLst>
            <pc:docMk/>
            <pc:sldMk cId="0" sldId="655"/>
            <ac:spMk id="3" creationId="{00000000-0000-0000-0000-000000000000}"/>
          </ac:spMkLst>
        </pc:spChg>
      </pc:sldChg>
      <pc:sldChg chg="modSp modAnim">
        <pc:chgData name="Miguel Ángel Campos Méndez" userId="402d5bdf62ce6c12" providerId="LiveId" clId="{DB70458B-1380-466F-8502-0BE440F2E04E}" dt="2020-02-19T17:38:01.618" v="75" actId="6549"/>
        <pc:sldMkLst>
          <pc:docMk/>
          <pc:sldMk cId="0" sldId="656"/>
        </pc:sldMkLst>
        <pc:spChg chg="mod">
          <ac:chgData name="Miguel Ángel Campos Méndez" userId="402d5bdf62ce6c12" providerId="LiveId" clId="{DB70458B-1380-466F-8502-0BE440F2E04E}" dt="2020-02-19T17:38:01.618" v="75" actId="6549"/>
          <ac:spMkLst>
            <pc:docMk/>
            <pc:sldMk cId="0" sldId="656"/>
            <ac:spMk id="3" creationId="{00000000-0000-0000-0000-000000000000}"/>
          </ac:spMkLst>
        </pc:spChg>
      </pc:sldChg>
      <pc:sldChg chg="delSp modSp add del modAnim">
        <pc:chgData name="Miguel Ángel Campos Méndez" userId="402d5bdf62ce6c12" providerId="LiveId" clId="{DB70458B-1380-466F-8502-0BE440F2E04E}" dt="2020-02-19T17:39:33.580" v="81" actId="6549"/>
        <pc:sldMkLst>
          <pc:docMk/>
          <pc:sldMk cId="0" sldId="657"/>
        </pc:sldMkLst>
        <pc:spChg chg="mod">
          <ac:chgData name="Miguel Ángel Campos Méndez" userId="402d5bdf62ce6c12" providerId="LiveId" clId="{DB70458B-1380-466F-8502-0BE440F2E04E}" dt="2020-02-19T17:39:33.580" v="81" actId="6549"/>
          <ac:spMkLst>
            <pc:docMk/>
            <pc:sldMk cId="0" sldId="657"/>
            <ac:spMk id="3" creationId="{00000000-0000-0000-0000-000000000000}"/>
          </ac:spMkLst>
        </pc:spChg>
        <pc:spChg chg="del">
          <ac:chgData name="Miguel Ángel Campos Méndez" userId="402d5bdf62ce6c12" providerId="LiveId" clId="{DB70458B-1380-466F-8502-0BE440F2E04E}" dt="2020-02-19T17:39:04.898" v="78" actId="478"/>
          <ac:spMkLst>
            <pc:docMk/>
            <pc:sldMk cId="0" sldId="657"/>
            <ac:spMk id="6" creationId="{00000000-0000-0000-0000-000000000000}"/>
          </ac:spMkLst>
        </pc:spChg>
      </pc:sldChg>
      <pc:sldChg chg="del">
        <pc:chgData name="Miguel Ángel Campos Méndez" userId="402d5bdf62ce6c12" providerId="LiveId" clId="{DB70458B-1380-466F-8502-0BE440F2E04E}" dt="2020-02-19T17:41:51.343" v="82" actId="47"/>
        <pc:sldMkLst>
          <pc:docMk/>
          <pc:sldMk cId="0" sldId="663"/>
        </pc:sldMkLst>
      </pc:sldChg>
      <pc:sldChg chg="del">
        <pc:chgData name="Miguel Ángel Campos Méndez" userId="402d5bdf62ce6c12" providerId="LiveId" clId="{DB70458B-1380-466F-8502-0BE440F2E04E}" dt="2020-02-19T17:41:51.343" v="82" actId="47"/>
        <pc:sldMkLst>
          <pc:docMk/>
          <pc:sldMk cId="0" sldId="664"/>
        </pc:sldMkLst>
      </pc:sldChg>
      <pc:sldChg chg="del">
        <pc:chgData name="Miguel Ángel Campos Méndez" userId="402d5bdf62ce6c12" providerId="LiveId" clId="{DB70458B-1380-466F-8502-0BE440F2E04E}" dt="2020-02-19T17:41:51.343" v="82" actId="47"/>
        <pc:sldMkLst>
          <pc:docMk/>
          <pc:sldMk cId="0" sldId="665"/>
        </pc:sldMkLst>
      </pc:sldChg>
      <pc:sldChg chg="del">
        <pc:chgData name="Miguel Ángel Campos Méndez" userId="402d5bdf62ce6c12" providerId="LiveId" clId="{DB70458B-1380-466F-8502-0BE440F2E04E}" dt="2020-02-19T17:41:51.343" v="82" actId="47"/>
        <pc:sldMkLst>
          <pc:docMk/>
          <pc:sldMk cId="0" sldId="666"/>
        </pc:sldMkLst>
      </pc:sldChg>
      <pc:sldChg chg="del">
        <pc:chgData name="Miguel Ángel Campos Méndez" userId="402d5bdf62ce6c12" providerId="LiveId" clId="{DB70458B-1380-466F-8502-0BE440F2E04E}" dt="2020-02-19T17:41:51.343" v="82" actId="47"/>
        <pc:sldMkLst>
          <pc:docMk/>
          <pc:sldMk cId="0" sldId="667"/>
        </pc:sldMkLst>
      </pc:sldChg>
      <pc:sldChg chg="del">
        <pc:chgData name="Miguel Ángel Campos Méndez" userId="402d5bdf62ce6c12" providerId="LiveId" clId="{DB70458B-1380-466F-8502-0BE440F2E04E}" dt="2020-02-19T17:41:51.343" v="82" actId="47"/>
        <pc:sldMkLst>
          <pc:docMk/>
          <pc:sldMk cId="0" sldId="668"/>
        </pc:sldMkLst>
      </pc:sldChg>
      <pc:sldChg chg="del">
        <pc:chgData name="Miguel Ángel Campos Méndez" userId="402d5bdf62ce6c12" providerId="LiveId" clId="{DB70458B-1380-466F-8502-0BE440F2E04E}" dt="2020-02-19T17:41:51.343" v="82" actId="47"/>
        <pc:sldMkLst>
          <pc:docMk/>
          <pc:sldMk cId="0" sldId="670"/>
        </pc:sldMkLst>
      </pc:sldChg>
      <pc:sldChg chg="modSp del">
        <pc:chgData name="Miguel Ángel Campos Méndez" userId="402d5bdf62ce6c12" providerId="LiveId" clId="{DB70458B-1380-466F-8502-0BE440F2E04E}" dt="2020-02-19T17:41:51.343" v="82" actId="47"/>
        <pc:sldMkLst>
          <pc:docMk/>
          <pc:sldMk cId="0" sldId="671"/>
        </pc:sldMkLst>
        <pc:spChg chg="mod">
          <ac:chgData name="Miguel Ángel Campos Méndez" userId="402d5bdf62ce6c12" providerId="LiveId" clId="{DB70458B-1380-466F-8502-0BE440F2E04E}" dt="2020-02-17T16:18:29.400" v="7" actId="27636"/>
          <ac:spMkLst>
            <pc:docMk/>
            <pc:sldMk cId="0" sldId="671"/>
            <ac:spMk id="3" creationId="{00000000-0000-0000-0000-000000000000}"/>
          </ac:spMkLst>
        </pc:spChg>
      </pc:sldChg>
      <pc:sldChg chg="modSp del">
        <pc:chgData name="Miguel Ángel Campos Méndez" userId="402d5bdf62ce6c12" providerId="LiveId" clId="{DB70458B-1380-466F-8502-0BE440F2E04E}" dt="2020-02-19T17:42:44.011" v="83" actId="47"/>
        <pc:sldMkLst>
          <pc:docMk/>
          <pc:sldMk cId="0" sldId="675"/>
        </pc:sldMkLst>
        <pc:spChg chg="mod">
          <ac:chgData name="Miguel Ángel Campos Méndez" userId="402d5bdf62ce6c12" providerId="LiveId" clId="{DB70458B-1380-466F-8502-0BE440F2E04E}" dt="2020-02-17T16:18:29.512" v="8" actId="27636"/>
          <ac:spMkLst>
            <pc:docMk/>
            <pc:sldMk cId="0" sldId="675"/>
            <ac:spMk id="3" creationId="{00000000-0000-0000-0000-000000000000}"/>
          </ac:spMkLst>
        </pc:spChg>
      </pc:sldChg>
      <pc:sldChg chg="modSp">
        <pc:chgData name="Miguel Ángel Campos Méndez" userId="402d5bdf62ce6c12" providerId="LiveId" clId="{DB70458B-1380-466F-8502-0BE440F2E04E}" dt="2020-02-19T17:43:42.672" v="99" actId="20577"/>
        <pc:sldMkLst>
          <pc:docMk/>
          <pc:sldMk cId="0" sldId="682"/>
        </pc:sldMkLst>
        <pc:spChg chg="mod">
          <ac:chgData name="Miguel Ángel Campos Méndez" userId="402d5bdf62ce6c12" providerId="LiveId" clId="{DB70458B-1380-466F-8502-0BE440F2E04E}" dt="2020-02-19T17:43:42.672" v="99" actId="20577"/>
          <ac:spMkLst>
            <pc:docMk/>
            <pc:sldMk cId="0" sldId="682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DB70458B-1380-466F-8502-0BE440F2E04E}" dt="2020-02-19T17:42:44.011" v="83" actId="47"/>
        <pc:sldMkLst>
          <pc:docMk/>
          <pc:sldMk cId="0" sldId="683"/>
        </pc:sldMkLst>
      </pc:sldChg>
      <pc:sldChg chg="del modTransition">
        <pc:chgData name="Miguel Ángel Campos Méndez" userId="402d5bdf62ce6c12" providerId="LiveId" clId="{DB70458B-1380-466F-8502-0BE440F2E04E}" dt="2020-02-18T18:49:30.825" v="14" actId="47"/>
        <pc:sldMkLst>
          <pc:docMk/>
          <pc:sldMk cId="0" sldId="685"/>
        </pc:sldMkLst>
      </pc:sldChg>
      <pc:sldChg chg="del modTransition">
        <pc:chgData name="Miguel Ángel Campos Méndez" userId="402d5bdf62ce6c12" providerId="LiveId" clId="{DB70458B-1380-466F-8502-0BE440F2E04E}" dt="2020-02-18T18:49:30.825" v="14" actId="47"/>
        <pc:sldMkLst>
          <pc:docMk/>
          <pc:sldMk cId="0" sldId="687"/>
        </pc:sldMkLst>
      </pc:sldChg>
      <pc:sldChg chg="modSp del modTransition">
        <pc:chgData name="Miguel Ángel Campos Méndez" userId="402d5bdf62ce6c12" providerId="LiveId" clId="{DB70458B-1380-466F-8502-0BE440F2E04E}" dt="2020-02-18T18:47:56.972" v="12" actId="2696"/>
        <pc:sldMkLst>
          <pc:docMk/>
          <pc:sldMk cId="0" sldId="689"/>
        </pc:sldMkLst>
        <pc:spChg chg="mod">
          <ac:chgData name="Miguel Ángel Campos Méndez" userId="402d5bdf62ce6c12" providerId="LiveId" clId="{DB70458B-1380-466F-8502-0BE440F2E04E}" dt="2020-02-17T16:18:29.014" v="1" actId="27636"/>
          <ac:spMkLst>
            <pc:docMk/>
            <pc:sldMk cId="0" sldId="689"/>
            <ac:spMk id="3" creationId="{00000000-0000-0000-0000-000000000000}"/>
          </ac:spMkLst>
        </pc:spChg>
      </pc:sldChg>
      <pc:sldChg chg="del modTransition">
        <pc:chgData name="Miguel Ángel Campos Méndez" userId="402d5bdf62ce6c12" providerId="LiveId" clId="{DB70458B-1380-466F-8502-0BE440F2E04E}" dt="2020-02-18T18:47:54.026" v="11" actId="47"/>
        <pc:sldMkLst>
          <pc:docMk/>
          <pc:sldMk cId="0" sldId="696"/>
        </pc:sldMkLst>
      </pc:sldChg>
      <pc:sldChg chg="del modTransition">
        <pc:chgData name="Miguel Ángel Campos Méndez" userId="402d5bdf62ce6c12" providerId="LiveId" clId="{DB70458B-1380-466F-8502-0BE440F2E04E}" dt="2020-02-18T18:47:54.026" v="11" actId="47"/>
        <pc:sldMkLst>
          <pc:docMk/>
          <pc:sldMk cId="0" sldId="697"/>
        </pc:sldMkLst>
      </pc:sldChg>
      <pc:sldChg chg="del">
        <pc:chgData name="Miguel Ángel Campos Méndez" userId="402d5bdf62ce6c12" providerId="LiveId" clId="{DB70458B-1380-466F-8502-0BE440F2E04E}" dt="2020-02-19T17:44:59.469" v="100" actId="47"/>
        <pc:sldMkLst>
          <pc:docMk/>
          <pc:sldMk cId="0" sldId="703"/>
        </pc:sldMkLst>
      </pc:sldChg>
      <pc:sldChg chg="del">
        <pc:chgData name="Miguel Ángel Campos Méndez" userId="402d5bdf62ce6c12" providerId="LiveId" clId="{DB70458B-1380-466F-8502-0BE440F2E04E}" dt="2020-02-18T18:49:04.783" v="13" actId="47"/>
        <pc:sldMkLst>
          <pc:docMk/>
          <pc:sldMk cId="0" sldId="705"/>
        </pc:sldMkLst>
      </pc:sldChg>
      <pc:sldChg chg="del">
        <pc:chgData name="Miguel Ángel Campos Méndez" userId="402d5bdf62ce6c12" providerId="LiveId" clId="{DB70458B-1380-466F-8502-0BE440F2E04E}" dt="2020-02-18T18:49:04.783" v="13" actId="47"/>
        <pc:sldMkLst>
          <pc:docMk/>
          <pc:sldMk cId="0" sldId="706"/>
        </pc:sldMkLst>
      </pc:sldChg>
      <pc:sldChg chg="modSp del">
        <pc:chgData name="Miguel Ángel Campos Méndez" userId="402d5bdf62ce6c12" providerId="LiveId" clId="{DB70458B-1380-466F-8502-0BE440F2E04E}" dt="2020-02-18T18:49:04.783" v="13" actId="47"/>
        <pc:sldMkLst>
          <pc:docMk/>
          <pc:sldMk cId="0" sldId="707"/>
        </pc:sldMkLst>
        <pc:spChg chg="mod">
          <ac:chgData name="Miguel Ángel Campos Méndez" userId="402d5bdf62ce6c12" providerId="LiveId" clId="{DB70458B-1380-466F-8502-0BE440F2E04E}" dt="2020-02-17T16:18:29.108" v="2" actId="27636"/>
          <ac:spMkLst>
            <pc:docMk/>
            <pc:sldMk cId="0" sldId="707"/>
            <ac:spMk id="3" creationId="{00000000-0000-0000-0000-000000000000}"/>
          </ac:spMkLst>
        </pc:spChg>
      </pc:sldChg>
      <pc:sldChg chg="modSp del">
        <pc:chgData name="Miguel Ángel Campos Méndez" userId="402d5bdf62ce6c12" providerId="LiveId" clId="{DB70458B-1380-466F-8502-0BE440F2E04E}" dt="2020-02-18T18:49:04.783" v="13" actId="47"/>
        <pc:sldMkLst>
          <pc:docMk/>
          <pc:sldMk cId="0" sldId="708"/>
        </pc:sldMkLst>
        <pc:spChg chg="mod">
          <ac:chgData name="Miguel Ángel Campos Méndez" userId="402d5bdf62ce6c12" providerId="LiveId" clId="{DB70458B-1380-466F-8502-0BE440F2E04E}" dt="2020-02-17T16:18:29.131" v="3" actId="27636"/>
          <ac:spMkLst>
            <pc:docMk/>
            <pc:sldMk cId="0" sldId="708"/>
            <ac:spMk id="3" creationId="{00000000-0000-0000-0000-000000000000}"/>
          </ac:spMkLst>
        </pc:spChg>
      </pc:sldChg>
      <pc:sldChg chg="del modTransition">
        <pc:chgData name="Miguel Ángel Campos Méndez" userId="402d5bdf62ce6c12" providerId="LiveId" clId="{DB70458B-1380-466F-8502-0BE440F2E04E}" dt="2020-02-18T18:49:30.825" v="14" actId="47"/>
        <pc:sldMkLst>
          <pc:docMk/>
          <pc:sldMk cId="0" sldId="715"/>
        </pc:sldMkLst>
      </pc:sldChg>
      <pc:sldChg chg="del modTransition">
        <pc:chgData name="Miguel Ángel Campos Méndez" userId="402d5bdf62ce6c12" providerId="LiveId" clId="{DB70458B-1380-466F-8502-0BE440F2E04E}" dt="2020-02-18T18:47:54.026" v="11" actId="47"/>
        <pc:sldMkLst>
          <pc:docMk/>
          <pc:sldMk cId="0" sldId="718"/>
        </pc:sldMkLst>
      </pc:sldChg>
      <pc:sldChg chg="del">
        <pc:chgData name="Miguel Ángel Campos Méndez" userId="402d5bdf62ce6c12" providerId="LiveId" clId="{DB70458B-1380-466F-8502-0BE440F2E04E}" dt="2020-02-18T18:49:04.783" v="13" actId="47"/>
        <pc:sldMkLst>
          <pc:docMk/>
          <pc:sldMk cId="0" sldId="720"/>
        </pc:sldMkLst>
      </pc:sldChg>
      <pc:sldChg chg="del modTransition">
        <pc:chgData name="Miguel Ángel Campos Méndez" userId="402d5bdf62ce6c12" providerId="LiveId" clId="{DB70458B-1380-466F-8502-0BE440F2E04E}" dt="2020-02-19T19:41:20.922" v="101" actId="47"/>
        <pc:sldMkLst>
          <pc:docMk/>
          <pc:sldMk cId="0" sldId="723"/>
        </pc:sldMkLst>
      </pc:sldChg>
      <pc:sldChg chg="del">
        <pc:chgData name="Miguel Ángel Campos Méndez" userId="402d5bdf62ce6c12" providerId="LiveId" clId="{DB70458B-1380-466F-8502-0BE440F2E04E}" dt="2020-02-18T18:47:15.954" v="10" actId="2696"/>
        <pc:sldMkLst>
          <pc:docMk/>
          <pc:sldMk cId="0" sldId="724"/>
        </pc:sldMkLst>
      </pc:sldChg>
      <pc:sldChg chg="del">
        <pc:chgData name="Miguel Ángel Campos Méndez" userId="402d5bdf62ce6c12" providerId="LiveId" clId="{DB70458B-1380-466F-8502-0BE440F2E04E}" dt="2020-02-18T18:47:15.954" v="10" actId="2696"/>
        <pc:sldMkLst>
          <pc:docMk/>
          <pc:sldMk cId="0" sldId="725"/>
        </pc:sldMkLst>
      </pc:sldChg>
      <pc:sldChg chg="del">
        <pc:chgData name="Miguel Ángel Campos Méndez" userId="402d5bdf62ce6c12" providerId="LiveId" clId="{DB70458B-1380-466F-8502-0BE440F2E04E}" dt="2020-02-19T17:42:44.011" v="83" actId="47"/>
        <pc:sldMkLst>
          <pc:docMk/>
          <pc:sldMk cId="0" sldId="726"/>
        </pc:sldMkLst>
      </pc:sldChg>
      <pc:sldChg chg="del">
        <pc:chgData name="Miguel Ángel Campos Méndez" userId="402d5bdf62ce6c12" providerId="LiveId" clId="{DB70458B-1380-466F-8502-0BE440F2E04E}" dt="2020-02-19T17:44:59.469" v="100" actId="47"/>
        <pc:sldMkLst>
          <pc:docMk/>
          <pc:sldMk cId="0" sldId="727"/>
        </pc:sldMkLst>
      </pc:sldChg>
      <pc:sldChg chg="del">
        <pc:chgData name="Miguel Ángel Campos Méndez" userId="402d5bdf62ce6c12" providerId="LiveId" clId="{DB70458B-1380-466F-8502-0BE440F2E04E}" dt="2020-02-19T17:44:59.469" v="100" actId="47"/>
        <pc:sldMkLst>
          <pc:docMk/>
          <pc:sldMk cId="0" sldId="728"/>
        </pc:sldMkLst>
      </pc:sldChg>
      <pc:sldChg chg="del">
        <pc:chgData name="Miguel Ángel Campos Méndez" userId="402d5bdf62ce6c12" providerId="LiveId" clId="{DB70458B-1380-466F-8502-0BE440F2E04E}" dt="2020-02-19T17:44:59.469" v="100" actId="47"/>
        <pc:sldMkLst>
          <pc:docMk/>
          <pc:sldMk cId="0" sldId="729"/>
        </pc:sldMkLst>
      </pc:sldChg>
    </pc:docChg>
  </pc:docChgLst>
  <pc:docChgLst>
    <pc:chgData name="Miguel Ángel Campos Méndez" userId="402d5bdf62ce6c12" providerId="LiveId" clId="{315757A1-B7FF-4CD8-A181-71B4F02EB6E5}"/>
    <pc:docChg chg="modSld">
      <pc:chgData name="Miguel Ángel Campos Méndez" userId="402d5bdf62ce6c12" providerId="LiveId" clId="{315757A1-B7FF-4CD8-A181-71B4F02EB6E5}" dt="2021-11-14T19:12:22.598" v="18" actId="20577"/>
      <pc:docMkLst>
        <pc:docMk/>
      </pc:docMkLst>
      <pc:sldChg chg="mod modShow">
        <pc:chgData name="Miguel Ángel Campos Méndez" userId="402d5bdf62ce6c12" providerId="LiveId" clId="{315757A1-B7FF-4CD8-A181-71B4F02EB6E5}" dt="2021-11-14T19:10:31.545" v="1" actId="729"/>
        <pc:sldMkLst>
          <pc:docMk/>
          <pc:sldMk cId="0" sldId="657"/>
        </pc:sldMkLst>
      </pc:sldChg>
      <pc:sldChg chg="modSp">
        <pc:chgData name="Miguel Ángel Campos Méndez" userId="402d5bdf62ce6c12" providerId="LiveId" clId="{315757A1-B7FF-4CD8-A181-71B4F02EB6E5}" dt="2021-11-14T19:12:22.598" v="18" actId="20577"/>
        <pc:sldMkLst>
          <pc:docMk/>
          <pc:sldMk cId="0" sldId="674"/>
        </pc:sldMkLst>
        <pc:spChg chg="mod">
          <ac:chgData name="Miguel Ángel Campos Méndez" userId="402d5bdf62ce6c12" providerId="LiveId" clId="{315757A1-B7FF-4CD8-A181-71B4F02EB6E5}" dt="2021-11-14T19:12:22.598" v="18" actId="20577"/>
          <ac:spMkLst>
            <pc:docMk/>
            <pc:sldMk cId="0" sldId="674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F6882-623C-4F59-89C4-4E5CBDBBE090}" type="datetimeFigureOut">
              <a:rPr lang="es-ES" smtClean="0"/>
              <a:pPr/>
              <a:t>14/11/2021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F02F-573B-4E64-A300-A7C38385775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8577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CD25255-EE5E-40E3-B634-65B4AA002A7D}" type="datetimeFigureOut">
              <a:rPr lang="es-ES" smtClean="0"/>
              <a:pPr/>
              <a:t>14/11/2021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DDBB7FF-5F31-4F6A-871A-89C210F39D73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336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Determine la entrada, proceso y salida en forma general para los siguientes sistemas:</a:t>
            </a:r>
          </a:p>
          <a:p>
            <a:r>
              <a:rPr lang="es-MX" sz="1200" dirty="0"/>
              <a:t>Venta de boletos de avión</a:t>
            </a:r>
          </a:p>
          <a:p>
            <a:r>
              <a:rPr lang="es-MX" sz="1200" dirty="0"/>
              <a:t>Cajero automático aparcamiento</a:t>
            </a:r>
          </a:p>
          <a:p>
            <a:r>
              <a:rPr lang="es-MX" sz="1200" dirty="0"/>
              <a:t>Control Horario</a:t>
            </a:r>
          </a:p>
          <a:p>
            <a:r>
              <a:rPr lang="es-MX" sz="1200" dirty="0"/>
              <a:t>Cajero automático banco</a:t>
            </a:r>
          </a:p>
          <a:p>
            <a:r>
              <a:rPr lang="es-MX" sz="1200" dirty="0"/>
              <a:t>Consulta médica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B7FF-5F31-4F6A-871A-89C210F39D73}" type="slidenum">
              <a:rPr lang="es-ES" smtClean="0"/>
              <a:pPr/>
              <a:t>465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3866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3.0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500066"/>
          </a:xfrm>
        </p:spPr>
        <p:txBody>
          <a:bodyPr>
            <a:noAutofit/>
          </a:bodyPr>
          <a:lstStyle>
            <a:lvl1pPr>
              <a:defRPr sz="3600" b="1">
                <a:ln>
                  <a:solidFill>
                    <a:srgbClr val="0070C0"/>
                  </a:solidFill>
                </a:ln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s-ES" dirty="0"/>
              <a:t>Haga clic para modificar el estilo de título del patrón</a:t>
            </a:r>
            <a:endParaRPr kumimoji="0"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110178"/>
          </a:xfrm>
        </p:spPr>
        <p:txBody>
          <a:bodyPr/>
          <a:lstStyle>
            <a:lvl1pPr marL="0" indent="0">
              <a:buNone/>
              <a:defRPr sz="24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1pPr>
            <a:lvl2pPr marL="360363" indent="-360363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2pPr>
            <a:lvl3pPr marL="714375" indent="-355600">
              <a:buClr>
                <a:srgbClr val="FFC000"/>
              </a:buClr>
              <a:buFont typeface="Constantia" pitchFamily="18" charset="0"/>
              <a:buChar char="—"/>
              <a:def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3pPr>
            <a:lvl4pPr marL="1076325" indent="-361950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4pPr>
            <a:lvl5pPr marL="1438275" indent="-361950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5pPr>
          </a:lstStyle>
          <a:p>
            <a:pPr lvl="0" eaLnBrk="1" latinLnBrk="0" hangingPunct="1"/>
            <a:r>
              <a:rPr lang="es-ES" dirty="0"/>
              <a:t>Haga clic para modificar el estilo de texto del patrón</a:t>
            </a:r>
          </a:p>
          <a:p>
            <a:pPr lvl="1" eaLnBrk="1" latinLnBrk="0" hangingPunct="1"/>
            <a:r>
              <a:rPr lang="es-ES" dirty="0"/>
              <a:t>Segundo nivel</a:t>
            </a:r>
          </a:p>
          <a:p>
            <a:pPr lvl="2" eaLnBrk="1" latinLnBrk="0" hangingPunct="1"/>
            <a:r>
              <a:rPr lang="es-ES" dirty="0"/>
              <a:t>Tercer nivel</a:t>
            </a:r>
          </a:p>
          <a:p>
            <a:pPr lvl="3" eaLnBrk="1" latinLnBrk="0" hangingPunct="1"/>
            <a:r>
              <a:rPr lang="es-ES" dirty="0"/>
              <a:t>Cuarto nivel</a:t>
            </a:r>
          </a:p>
          <a:p>
            <a:pPr lvl="4" eaLnBrk="1" latinLnBrk="0" hangingPunct="1"/>
            <a:r>
              <a:rPr lang="es-ES" dirty="0"/>
              <a:t>Quinto nivel</a:t>
            </a:r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4414" y="6356350"/>
            <a:ext cx="557216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s-ES" dirty="0"/>
              <a:t>Fundamentos de la programación: Más sobre tipos e instrucciones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29454" y="6356350"/>
            <a:ext cx="9000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Página </a:t>
            </a:r>
            <a:fld id="{042AED99-7FB4-404E-8A97-64753DCE42E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7 Conector recto"/>
          <p:cNvCxnSpPr/>
          <p:nvPr userDrawn="1"/>
        </p:nvCxnSpPr>
        <p:spPr>
          <a:xfrm>
            <a:off x="428596" y="857232"/>
            <a:ext cx="8286808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" name="9 Imagen" descr="ucmtrozo.jpg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/>
          </a:blip>
          <a:stretch>
            <a:fillRect/>
          </a:stretch>
        </p:blipFill>
        <p:spPr>
          <a:xfrm>
            <a:off x="8058150" y="5669280"/>
            <a:ext cx="1085850" cy="1188720"/>
          </a:xfrm>
          <a:prstGeom prst="rect">
            <a:avLst/>
          </a:prstGeom>
        </p:spPr>
      </p:pic>
      <p:sp>
        <p:nvSpPr>
          <p:cNvPr id="11" name="10 CuadroTexto"/>
          <p:cNvSpPr txBox="1"/>
          <p:nvPr userDrawn="1"/>
        </p:nvSpPr>
        <p:spPr>
          <a:xfrm>
            <a:off x="-32" y="5045880"/>
            <a:ext cx="353943" cy="1336263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s-E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Luis Hernández Yáñez</a:t>
            </a:r>
          </a:p>
        </p:txBody>
      </p:sp>
      <p:pic>
        <p:nvPicPr>
          <p:cNvPr id="13" name="12 Imagen" descr="CreativeCommons.png">
            <a:hlinkClick r:id="rId3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55972" y="6381328"/>
            <a:ext cx="959644" cy="33575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n blanco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>
            <a:extLst>
              <a:ext uri="{FF2B5EF4-FFF2-40B4-BE49-F238E27FC236}">
                <a16:creationId xmlns:a16="http://schemas.microsoft.com/office/drawing/2014/main" id="{10DF61C1-BBD8-490D-A54B-1D061F89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dirty="0"/>
              <a:t>Haga clic para modificar el estilo de título del patrón</a:t>
            </a:r>
            <a:endParaRPr kumimoji="0"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F62734-5E9A-462A-BA28-7E11EEA4B806}"/>
              </a:ext>
            </a:extLst>
          </p:cNvPr>
          <p:cNvSpPr txBox="1"/>
          <p:nvPr userDrawn="1"/>
        </p:nvSpPr>
        <p:spPr>
          <a:xfrm>
            <a:off x="539552" y="3645024"/>
            <a:ext cx="12538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+mj-lt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3144436814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5000"/>
              </a:schemeClr>
            </a:gs>
            <a:gs pos="25000">
              <a:schemeClr val="bg2">
                <a:tint val="83000"/>
                <a:satMod val="320000"/>
              </a:schemeClr>
            </a:gs>
            <a:gs pos="100000">
              <a:schemeClr val="bg2">
                <a:shade val="15000"/>
                <a:satMod val="32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11/14/2021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3.0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hyperlink" Target="http://creativecommon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eativecommons.org/licenses/by-nc-sa/3.0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ucmtroz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15225" y="5074920"/>
            <a:ext cx="1628775" cy="1783080"/>
          </a:xfrm>
          <a:prstGeom prst="rect">
            <a:avLst/>
          </a:prstGeom>
        </p:spPr>
      </p:pic>
      <p:sp>
        <p:nvSpPr>
          <p:cNvPr id="8" name="7 CuadroTexto"/>
          <p:cNvSpPr txBox="1">
            <a:spLocks noChangeAspect="1"/>
          </p:cNvSpPr>
          <p:nvPr/>
        </p:nvSpPr>
        <p:spPr>
          <a:xfrm>
            <a:off x="500033" y="1847839"/>
            <a:ext cx="1548000" cy="1548000"/>
          </a:xfrm>
          <a:prstGeom prst="rect">
            <a:avLst/>
          </a:prstGeom>
          <a:solidFill>
            <a:schemeClr val="accent2">
              <a:tint val="98000"/>
              <a:shade val="25000"/>
              <a:satMod val="250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es-ES" sz="88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4</a:t>
            </a:r>
          </a:p>
        </p:txBody>
      </p:sp>
      <p:sp>
        <p:nvSpPr>
          <p:cNvPr id="10" name="2 Subtítulo"/>
          <p:cNvSpPr>
            <a:spLocks noGrp="1"/>
          </p:cNvSpPr>
          <p:nvPr>
            <p:ph type="subTitle" idx="1"/>
          </p:nvPr>
        </p:nvSpPr>
        <p:spPr>
          <a:xfrm>
            <a:off x="604838" y="4157230"/>
            <a:ext cx="6681806" cy="2415042"/>
          </a:xfrm>
        </p:spPr>
        <p:txBody>
          <a:bodyPr>
            <a:normAutofit/>
          </a:bodyPr>
          <a:lstStyle/>
          <a:p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Grado en Ingeniería Informática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Grado en Ingeniería del Software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Grado en Ingeniería de Computadores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Luis Hernández Yáñez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Facultad de Informática</a:t>
            </a:r>
            <a:b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Universidad Complutense</a:t>
            </a:r>
          </a:p>
        </p:txBody>
      </p:sp>
      <p:pic>
        <p:nvPicPr>
          <p:cNvPr id="9" name="8 Imagen" descr="CreativeCommons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5536" y="6021288"/>
            <a:ext cx="1343501" cy="4700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10 CuadroTexto"/>
          <p:cNvSpPr txBox="1"/>
          <p:nvPr/>
        </p:nvSpPr>
        <p:spPr>
          <a:xfrm>
            <a:off x="428596" y="642918"/>
            <a:ext cx="5077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323975">
              <a:tabLst>
                <a:tab pos="6010275" algn="l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  <a:latin typeface="+mj-lt"/>
              </a:rPr>
              <a:t>Fundamentos de la programación</a:t>
            </a:r>
          </a:p>
        </p:txBody>
      </p:sp>
      <p:cxnSp>
        <p:nvCxnSpPr>
          <p:cNvPr id="12" name="11 Conector recto"/>
          <p:cNvCxnSpPr/>
          <p:nvPr/>
        </p:nvCxnSpPr>
        <p:spPr>
          <a:xfrm>
            <a:off x="500034" y="1214422"/>
            <a:ext cx="7643866" cy="0"/>
          </a:xfrm>
          <a:prstGeom prst="line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1 Título"/>
          <p:cNvSpPr>
            <a:spLocks noGrp="1"/>
          </p:cNvSpPr>
          <p:nvPr>
            <p:ph type="ctrTitle"/>
          </p:nvPr>
        </p:nvSpPr>
        <p:spPr>
          <a:xfrm>
            <a:off x="2428860" y="1844824"/>
            <a:ext cx="6072230" cy="144016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s-ES" sz="4800" dirty="0"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</a:rPr>
              <a:t>La abstracción procedimental</a:t>
            </a:r>
            <a:endParaRPr lang="es-ES" sz="4800" b="0" dirty="0"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426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116579" y="3044280"/>
            <a:ext cx="4911023" cy="1446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Diseño descendente</a:t>
            </a:r>
            <a:b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</a:br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Tareas y subtareas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Tareas y subtareas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Refinamientos sucesivos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Tareas que ha de realizar un programa: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Se pueden dividir en subtareas más sencillas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Subtareas: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También se pueden dividir en otras más sencillas...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 </a:t>
            </a:r>
            <a:r>
              <a:rPr lang="es-ES" dirty="0"/>
              <a:t>Refinamientos sucesivos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Diseño en sucesivos pasos en los se amplía el detalle</a:t>
            </a:r>
          </a:p>
          <a:p>
            <a:pPr marL="0" lvl="1" indent="1588">
              <a:spcBef>
                <a:spcPts val="1200"/>
              </a:spcBef>
              <a:spcAft>
                <a:spcPts val="1800"/>
              </a:spcAft>
              <a:buNone/>
            </a:pPr>
            <a:r>
              <a:rPr lang="es-ES" dirty="0"/>
              <a:t>Ejemplos:</a:t>
            </a:r>
          </a:p>
          <a:p>
            <a:pPr lvl="1" indent="-274638">
              <a:spcBef>
                <a:spcPts val="0"/>
              </a:spcBef>
              <a:spcAft>
                <a:spcPts val="1800"/>
              </a:spcAft>
            </a:pPr>
            <a:r>
              <a:rPr lang="es-ES" dirty="0"/>
              <a:t>Dibujar </a:t>
            </a:r>
          </a:p>
          <a:p>
            <a:pPr lvl="1" indent="-27463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Mostrar la cadena HOLA MAMA en letras gigantes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4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427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pSp>
        <p:nvGrpSpPr>
          <p:cNvPr id="7" name="19 Grupo"/>
          <p:cNvGrpSpPr/>
          <p:nvPr/>
        </p:nvGrpSpPr>
        <p:grpSpPr>
          <a:xfrm>
            <a:off x="2104678" y="4907260"/>
            <a:ext cx="252027" cy="432049"/>
            <a:chOff x="7092278" y="4077070"/>
            <a:chExt cx="504058" cy="1224138"/>
          </a:xfrm>
        </p:grpSpPr>
        <p:sp>
          <p:nvSpPr>
            <p:cNvPr id="6" name="5 Elipse"/>
            <p:cNvSpPr/>
            <p:nvPr/>
          </p:nvSpPr>
          <p:spPr>
            <a:xfrm>
              <a:off x="7164285" y="4077070"/>
              <a:ext cx="360040" cy="360040"/>
            </a:xfrm>
            <a:prstGeom prst="ellips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8" name="7 Conector recto"/>
            <p:cNvCxnSpPr/>
            <p:nvPr/>
          </p:nvCxnSpPr>
          <p:spPr>
            <a:xfrm rot="5400000">
              <a:off x="7002268" y="4527121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8 Conector recto"/>
            <p:cNvCxnSpPr/>
            <p:nvPr/>
          </p:nvCxnSpPr>
          <p:spPr>
            <a:xfrm rot="16200000" flipH="1">
              <a:off x="7254296" y="4527121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>
              <a:off x="7092280" y="4869160"/>
              <a:ext cx="504056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 rot="5400000">
              <a:off x="7002269" y="4959170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 rot="16200000" flipH="1">
              <a:off x="7254297" y="4959170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Un dibujo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indent="-274638">
              <a:spcBef>
                <a:spcPts val="0"/>
              </a:spcBef>
              <a:spcAft>
                <a:spcPts val="2400"/>
              </a:spcAft>
            </a:pPr>
            <a:endParaRPr lang="es-ES" sz="28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447675" lvl="1" indent="-266700">
              <a:spcBef>
                <a:spcPts val="0"/>
              </a:spcBef>
              <a:spcAft>
                <a:spcPts val="3000"/>
              </a:spcAft>
              <a:buClr>
                <a:schemeClr val="tx1"/>
              </a:buClr>
              <a:buSzPct val="100000"/>
              <a:buFont typeface="+mj-lt"/>
              <a:buAutoNum type="arabicPeriod"/>
              <a:tabLst>
                <a:tab pos="447675" algn="l"/>
              </a:tabLst>
            </a:pPr>
            <a:r>
              <a:rPr lang="es-ES" sz="2400" dirty="0"/>
              <a:t>Dibujar</a:t>
            </a:r>
          </a:p>
          <a:p>
            <a:pPr marL="447675" lvl="1" indent="-266700">
              <a:spcBef>
                <a:spcPts val="0"/>
              </a:spcBef>
              <a:spcAft>
                <a:spcPts val="3000"/>
              </a:spcAft>
              <a:buClr>
                <a:schemeClr val="tx1"/>
              </a:buClr>
              <a:buSzPct val="100000"/>
              <a:buFont typeface="+mj-lt"/>
              <a:buAutoNum type="arabicPeriod"/>
              <a:tabLst>
                <a:tab pos="447675" algn="l"/>
              </a:tabLst>
            </a:pPr>
            <a:r>
              <a:rPr lang="es-ES" sz="2400" dirty="0"/>
              <a:t>Dibujar</a:t>
            </a:r>
          </a:p>
          <a:p>
            <a:pPr marL="447675" lvl="1" indent="-266700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ct val="100000"/>
              <a:buFont typeface="+mj-lt"/>
              <a:buAutoNum type="arabicPeriod"/>
              <a:tabLst>
                <a:tab pos="447675" algn="l"/>
              </a:tabLst>
            </a:pPr>
            <a:r>
              <a:rPr lang="es-ES" sz="2400" dirty="0"/>
              <a:t>Dibujar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428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Elipse"/>
          <p:cNvSpPr/>
          <p:nvPr/>
        </p:nvSpPr>
        <p:spPr>
          <a:xfrm>
            <a:off x="2231741" y="1791404"/>
            <a:ext cx="360040" cy="360040"/>
          </a:xfrm>
          <a:prstGeom prst="ellipse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2" name="24 Grupo"/>
          <p:cNvGrpSpPr/>
          <p:nvPr/>
        </p:nvGrpSpPr>
        <p:grpSpPr>
          <a:xfrm>
            <a:off x="2159732" y="2511145"/>
            <a:ext cx="504058" cy="432049"/>
            <a:chOff x="2159732" y="2084430"/>
            <a:chExt cx="504058" cy="432049"/>
          </a:xfrm>
        </p:grpSpPr>
        <p:cxnSp>
          <p:nvCxnSpPr>
            <p:cNvPr id="7" name="6 Conector recto"/>
            <p:cNvCxnSpPr/>
            <p:nvPr/>
          </p:nvCxnSpPr>
          <p:spPr>
            <a:xfrm rot="5400000">
              <a:off x="2069722" y="2174440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7 Conector recto"/>
            <p:cNvCxnSpPr/>
            <p:nvPr/>
          </p:nvCxnSpPr>
          <p:spPr>
            <a:xfrm rot="16200000" flipH="1">
              <a:off x="2321750" y="2174440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8 Conector recto"/>
            <p:cNvCxnSpPr/>
            <p:nvPr/>
          </p:nvCxnSpPr>
          <p:spPr>
            <a:xfrm>
              <a:off x="2159734" y="2516479"/>
              <a:ext cx="504056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25 Grupo"/>
          <p:cNvGrpSpPr/>
          <p:nvPr/>
        </p:nvGrpSpPr>
        <p:grpSpPr>
          <a:xfrm>
            <a:off x="2159733" y="3264793"/>
            <a:ext cx="504056" cy="432048"/>
            <a:chOff x="2159732" y="2780928"/>
            <a:chExt cx="504056" cy="432048"/>
          </a:xfrm>
        </p:grpSpPr>
        <p:cxnSp>
          <p:nvCxnSpPr>
            <p:cNvPr id="10" name="9 Conector recto"/>
            <p:cNvCxnSpPr/>
            <p:nvPr/>
          </p:nvCxnSpPr>
          <p:spPr>
            <a:xfrm rot="5400000">
              <a:off x="2069722" y="2870938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10 Conector recto"/>
            <p:cNvCxnSpPr/>
            <p:nvPr/>
          </p:nvCxnSpPr>
          <p:spPr>
            <a:xfrm rot="16200000" flipH="1">
              <a:off x="2321750" y="2870938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47 Grupo"/>
          <p:cNvGrpSpPr/>
          <p:nvPr/>
        </p:nvGrpSpPr>
        <p:grpSpPr>
          <a:xfrm>
            <a:off x="4139952" y="2491149"/>
            <a:ext cx="2970662" cy="3170099"/>
            <a:chOff x="4139952" y="2491149"/>
            <a:chExt cx="2970662" cy="3170099"/>
          </a:xfrm>
        </p:grpSpPr>
        <p:sp>
          <p:nvSpPr>
            <p:cNvPr id="27" name="26 CuadroTexto"/>
            <p:cNvSpPr txBox="1"/>
            <p:nvPr/>
          </p:nvSpPr>
          <p:spPr>
            <a:xfrm>
              <a:off x="4139952" y="2491149"/>
              <a:ext cx="2414444" cy="31700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marL="447675" lvl="1" indent="-266700">
                <a:spcAft>
                  <a:spcPts val="2400"/>
                </a:spcAft>
                <a:buClr>
                  <a:prstClr val="white"/>
                </a:buClr>
                <a:buSzPct val="100000"/>
                <a:buFont typeface="+mj-lt"/>
                <a:buAutoNum type="arabicPeriod"/>
                <a:tabLst>
                  <a:tab pos="447675" algn="l"/>
                </a:tabLst>
              </a:pPr>
              <a:r>
                <a:rPr lang="es-ES" sz="24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Dibujar</a:t>
              </a:r>
            </a:p>
            <a:p>
              <a:pPr marL="447675" lvl="1" indent="-266700">
                <a:spcAft>
                  <a:spcPts val="2400"/>
                </a:spcAft>
                <a:buClr>
                  <a:prstClr val="white"/>
                </a:buClr>
                <a:buSzPct val="100000"/>
                <a:buFont typeface="+mj-lt"/>
                <a:buAutoNum type="arabicPeriod"/>
                <a:tabLst>
                  <a:tab pos="447675" algn="l"/>
                </a:tabLst>
              </a:pPr>
              <a:r>
                <a:rPr lang="es-ES" sz="24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Dibujar</a:t>
              </a:r>
            </a:p>
            <a:p>
              <a:pPr marL="904875" lvl="2" indent="-266700">
                <a:spcAft>
                  <a:spcPts val="2400"/>
                </a:spcAft>
                <a:buClr>
                  <a:prstClr val="white"/>
                </a:buClr>
                <a:buSzPct val="100000"/>
                <a:tabLst>
                  <a:tab pos="447675" algn="l"/>
                </a:tabLst>
              </a:pPr>
              <a:r>
                <a:rPr lang="es-ES" sz="24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2.1.  Dibujar</a:t>
              </a:r>
            </a:p>
            <a:p>
              <a:pPr marL="904875" lvl="2" indent="-266700">
                <a:spcAft>
                  <a:spcPts val="2400"/>
                </a:spcAft>
                <a:buClr>
                  <a:prstClr val="white"/>
                </a:buClr>
                <a:buSzPct val="100000"/>
                <a:tabLst>
                  <a:tab pos="447675" algn="l"/>
                </a:tabLst>
              </a:pPr>
              <a:r>
                <a:rPr lang="es-ES" sz="24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2.2.  Dibujar</a:t>
              </a:r>
            </a:p>
            <a:p>
              <a:pPr marL="447675" lvl="1" indent="-266700">
                <a:spcAft>
                  <a:spcPts val="2400"/>
                </a:spcAft>
                <a:buClr>
                  <a:prstClr val="white"/>
                </a:buClr>
                <a:buSzPct val="100000"/>
                <a:buFont typeface="+mj-lt"/>
                <a:buAutoNum type="arabicPeriod"/>
                <a:tabLst>
                  <a:tab pos="447675" algn="l"/>
                </a:tabLst>
              </a:pPr>
              <a:r>
                <a:rPr lang="es-ES" sz="24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Dibujar</a:t>
              </a:r>
            </a:p>
          </p:txBody>
        </p:sp>
        <p:sp>
          <p:nvSpPr>
            <p:cNvPr id="19" name="18 Elipse"/>
            <p:cNvSpPr/>
            <p:nvPr/>
          </p:nvSpPr>
          <p:spPr>
            <a:xfrm>
              <a:off x="5798232" y="2581285"/>
              <a:ext cx="360040" cy="360040"/>
            </a:xfrm>
            <a:prstGeom prst="ellips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5" name="44 Grupo"/>
            <p:cNvGrpSpPr/>
            <p:nvPr/>
          </p:nvGrpSpPr>
          <p:grpSpPr>
            <a:xfrm>
              <a:off x="5752703" y="3171868"/>
              <a:ext cx="504058" cy="432049"/>
              <a:chOff x="5752703" y="3171868"/>
              <a:chExt cx="504058" cy="432049"/>
            </a:xfrm>
          </p:grpSpPr>
          <p:cxnSp>
            <p:nvCxnSpPr>
              <p:cNvPr id="20" name="19 Conector recto"/>
              <p:cNvCxnSpPr/>
              <p:nvPr/>
            </p:nvCxnSpPr>
            <p:spPr>
              <a:xfrm rot="5400000">
                <a:off x="5662693" y="3261878"/>
                <a:ext cx="432048" cy="25202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20 Conector recto"/>
              <p:cNvCxnSpPr/>
              <p:nvPr/>
            </p:nvCxnSpPr>
            <p:spPr>
              <a:xfrm rot="16200000" flipH="1">
                <a:off x="5914721" y="3261878"/>
                <a:ext cx="432048" cy="25202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21 Conector recto"/>
              <p:cNvCxnSpPr/>
              <p:nvPr/>
            </p:nvCxnSpPr>
            <p:spPr>
              <a:xfrm>
                <a:off x="5752705" y="3603917"/>
                <a:ext cx="50405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46 Grupo"/>
            <p:cNvGrpSpPr/>
            <p:nvPr/>
          </p:nvGrpSpPr>
          <p:grpSpPr>
            <a:xfrm>
              <a:off x="5762228" y="5202952"/>
              <a:ext cx="504056" cy="432048"/>
              <a:chOff x="5762228" y="5202952"/>
              <a:chExt cx="504056" cy="432048"/>
            </a:xfrm>
          </p:grpSpPr>
          <p:cxnSp>
            <p:nvCxnSpPr>
              <p:cNvPr id="23" name="22 Conector recto"/>
              <p:cNvCxnSpPr/>
              <p:nvPr/>
            </p:nvCxnSpPr>
            <p:spPr>
              <a:xfrm rot="5400000">
                <a:off x="5672218" y="5292962"/>
                <a:ext cx="432048" cy="25202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23 Conector recto"/>
              <p:cNvCxnSpPr/>
              <p:nvPr/>
            </p:nvCxnSpPr>
            <p:spPr>
              <a:xfrm rot="16200000" flipH="1">
                <a:off x="5924246" y="5292962"/>
                <a:ext cx="432048" cy="25202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45 Grupo"/>
            <p:cNvGrpSpPr/>
            <p:nvPr/>
          </p:nvGrpSpPr>
          <p:grpSpPr>
            <a:xfrm>
              <a:off x="6570552" y="3880099"/>
              <a:ext cx="504056" cy="432048"/>
              <a:chOff x="6570552" y="3880099"/>
              <a:chExt cx="504056" cy="432048"/>
            </a:xfrm>
          </p:grpSpPr>
          <p:cxnSp>
            <p:nvCxnSpPr>
              <p:cNvPr id="28" name="27 Conector recto"/>
              <p:cNvCxnSpPr/>
              <p:nvPr/>
            </p:nvCxnSpPr>
            <p:spPr>
              <a:xfrm rot="5400000">
                <a:off x="6480542" y="3970109"/>
                <a:ext cx="432048" cy="25202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28 Conector recto"/>
              <p:cNvCxnSpPr/>
              <p:nvPr/>
            </p:nvCxnSpPr>
            <p:spPr>
              <a:xfrm rot="16200000" flipH="1">
                <a:off x="6732570" y="3970109"/>
                <a:ext cx="432048" cy="25202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29 Conector recto"/>
            <p:cNvCxnSpPr/>
            <p:nvPr/>
          </p:nvCxnSpPr>
          <p:spPr>
            <a:xfrm>
              <a:off x="6606558" y="4778103"/>
              <a:ext cx="504056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34 Abrir llave"/>
            <p:cNvSpPr/>
            <p:nvPr/>
          </p:nvSpPr>
          <p:spPr>
            <a:xfrm>
              <a:off x="4543425" y="3904481"/>
              <a:ext cx="216024" cy="1008112"/>
            </a:xfrm>
            <a:prstGeom prst="leftBrace">
              <a:avLst>
                <a:gd name="adj1" fmla="val 58598"/>
                <a:gd name="adj2" fmla="val 50000"/>
              </a:avLst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9" name="48 Grupo"/>
          <p:cNvGrpSpPr/>
          <p:nvPr/>
        </p:nvGrpSpPr>
        <p:grpSpPr>
          <a:xfrm>
            <a:off x="2195736" y="2675012"/>
            <a:ext cx="2160080" cy="2329914"/>
            <a:chOff x="2195736" y="2675012"/>
            <a:chExt cx="2160080" cy="2329914"/>
          </a:xfrm>
        </p:grpSpPr>
        <p:cxnSp>
          <p:nvCxnSpPr>
            <p:cNvPr id="32" name="31 Conector angular"/>
            <p:cNvCxnSpPr/>
            <p:nvPr/>
          </p:nvCxnSpPr>
          <p:spPr>
            <a:xfrm>
              <a:off x="2915816" y="2675012"/>
              <a:ext cx="1440000" cy="1728192"/>
            </a:xfrm>
            <a:prstGeom prst="bentConnector3">
              <a:avLst>
                <a:gd name="adj1" fmla="val 50000"/>
              </a:avLst>
            </a:prstGeom>
            <a:ln w="5715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35 CuadroTexto"/>
            <p:cNvSpPr txBox="1"/>
            <p:nvPr/>
          </p:nvSpPr>
          <p:spPr>
            <a:xfrm>
              <a:off x="2195736" y="4543261"/>
              <a:ext cx="2131609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REFINAMIENTO</a:t>
              </a:r>
            </a:p>
          </p:txBody>
        </p:sp>
      </p:grpSp>
      <p:grpSp>
        <p:nvGrpSpPr>
          <p:cNvPr id="15" name="37 Grupo"/>
          <p:cNvGrpSpPr/>
          <p:nvPr/>
        </p:nvGrpSpPr>
        <p:grpSpPr>
          <a:xfrm>
            <a:off x="8275616" y="285728"/>
            <a:ext cx="252027" cy="432049"/>
            <a:chOff x="7092278" y="4077070"/>
            <a:chExt cx="504058" cy="1224138"/>
          </a:xfrm>
        </p:grpSpPr>
        <p:sp>
          <p:nvSpPr>
            <p:cNvPr id="39" name="38 Elipse"/>
            <p:cNvSpPr/>
            <p:nvPr/>
          </p:nvSpPr>
          <p:spPr>
            <a:xfrm>
              <a:off x="7164285" y="4077070"/>
              <a:ext cx="360040" cy="360040"/>
            </a:xfrm>
            <a:prstGeom prst="ellips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0" name="39 Conector recto"/>
            <p:cNvCxnSpPr/>
            <p:nvPr/>
          </p:nvCxnSpPr>
          <p:spPr>
            <a:xfrm rot="5400000">
              <a:off x="7002268" y="4527121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40 Conector recto"/>
            <p:cNvCxnSpPr/>
            <p:nvPr/>
          </p:nvCxnSpPr>
          <p:spPr>
            <a:xfrm rot="16200000" flipH="1">
              <a:off x="7254296" y="4527121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41 Conector recto"/>
            <p:cNvCxnSpPr/>
            <p:nvPr/>
          </p:nvCxnSpPr>
          <p:spPr>
            <a:xfrm>
              <a:off x="7092280" y="4869160"/>
              <a:ext cx="504056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42 Conector recto"/>
            <p:cNvCxnSpPr/>
            <p:nvPr/>
          </p:nvCxnSpPr>
          <p:spPr>
            <a:xfrm rot="5400000">
              <a:off x="7002269" y="4959170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43 Conector recto"/>
            <p:cNvCxnSpPr/>
            <p:nvPr/>
          </p:nvCxnSpPr>
          <p:spPr>
            <a:xfrm rot="16200000" flipH="1">
              <a:off x="7254297" y="4959170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55 Grupo"/>
          <p:cNvGrpSpPr/>
          <p:nvPr/>
        </p:nvGrpSpPr>
        <p:grpSpPr>
          <a:xfrm>
            <a:off x="6570552" y="2768052"/>
            <a:ext cx="2158862" cy="2678760"/>
            <a:chOff x="6570552" y="2768052"/>
            <a:chExt cx="2158862" cy="2678760"/>
          </a:xfrm>
        </p:grpSpPr>
        <p:cxnSp>
          <p:nvCxnSpPr>
            <p:cNvPr id="50" name="49 Conector recto de flecha"/>
            <p:cNvCxnSpPr/>
            <p:nvPr/>
          </p:nvCxnSpPr>
          <p:spPr>
            <a:xfrm rot="10800000">
              <a:off x="7380312" y="4077072"/>
              <a:ext cx="576064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50 Conector recto de flecha"/>
            <p:cNvCxnSpPr/>
            <p:nvPr/>
          </p:nvCxnSpPr>
          <p:spPr>
            <a:xfrm rot="10800000" flipV="1">
              <a:off x="6570552" y="5446811"/>
              <a:ext cx="1385824" cy="1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53 Conector recto"/>
            <p:cNvCxnSpPr/>
            <p:nvPr/>
          </p:nvCxnSpPr>
          <p:spPr>
            <a:xfrm rot="5400000" flipH="1" flipV="1">
              <a:off x="6818905" y="4309340"/>
              <a:ext cx="2274943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54 CuadroTexto"/>
            <p:cNvSpPr txBox="1"/>
            <p:nvPr/>
          </p:nvSpPr>
          <p:spPr>
            <a:xfrm>
              <a:off x="7197200" y="2768052"/>
              <a:ext cx="1532214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Misma tarea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925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1925" decel="100000"/>
                                        <p:tgtEl>
                                          <p:spTgt spid="1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3075" accel="100000" fill="hold">
                                          <p:stCondLst>
                                            <p:cond delay="19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1925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3075" accel="100000" fill="hold">
                                          <p:stCondLst>
                                            <p:cond delay="19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1925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3075" accel="100000" fill="hold">
                                          <p:stCondLst>
                                            <p:cond delay="19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Un dibujo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indent="-274638">
              <a:spcBef>
                <a:spcPts val="0"/>
              </a:spcBef>
              <a:spcAft>
                <a:spcPts val="1800"/>
              </a:spcAft>
            </a:pPr>
            <a:endParaRPr lang="es-ES" sz="28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447675" lvl="1" indent="-266700">
              <a:spcAft>
                <a:spcPts val="3000"/>
              </a:spcAft>
              <a:buClr>
                <a:prstClr val="white"/>
              </a:buClr>
              <a:buSzPct val="100000"/>
              <a:buFont typeface="+mj-lt"/>
              <a:buAutoNum type="arabicPeriod"/>
              <a:tabLst>
                <a:tab pos="447675" algn="l"/>
              </a:tabLst>
            </a:pPr>
            <a:r>
              <a:rPr lang="es-ES" sz="2400" dirty="0">
                <a:solidFill>
                  <a:prstClr val="white"/>
                </a:solidFill>
              </a:rPr>
              <a:t>Dibujar</a:t>
            </a:r>
          </a:p>
          <a:p>
            <a:pPr marL="447675" lvl="1" indent="-266700">
              <a:spcAft>
                <a:spcPts val="3000"/>
              </a:spcAft>
              <a:buClr>
                <a:prstClr val="white"/>
              </a:buClr>
              <a:buSzPct val="100000"/>
              <a:buFont typeface="+mj-lt"/>
              <a:buAutoNum type="arabicPeriod"/>
              <a:tabLst>
                <a:tab pos="447675" algn="l"/>
              </a:tabLst>
            </a:pPr>
            <a:r>
              <a:rPr lang="es-ES" sz="2400" dirty="0">
                <a:solidFill>
                  <a:prstClr val="white"/>
                </a:solidFill>
              </a:rPr>
              <a:t>Dibujar</a:t>
            </a:r>
          </a:p>
          <a:p>
            <a:pPr marL="904875" lvl="2" indent="-266700">
              <a:spcAft>
                <a:spcPts val="3000"/>
              </a:spcAft>
              <a:buClr>
                <a:prstClr val="white"/>
              </a:buClr>
              <a:buSzPct val="100000"/>
              <a:buNone/>
              <a:tabLst>
                <a:tab pos="447675" algn="l"/>
              </a:tabLst>
            </a:pPr>
            <a:r>
              <a:rPr lang="es-ES" sz="2400" dirty="0">
                <a:solidFill>
                  <a:prstClr val="white"/>
                </a:solidFill>
              </a:rPr>
              <a:t>2.1.  Dibujar</a:t>
            </a:r>
          </a:p>
          <a:p>
            <a:pPr marL="904875" lvl="2" indent="-266700">
              <a:spcAft>
                <a:spcPts val="3000"/>
              </a:spcAft>
              <a:buClr>
                <a:prstClr val="white"/>
              </a:buClr>
              <a:buSzPct val="100000"/>
              <a:buNone/>
              <a:tabLst>
                <a:tab pos="447675" algn="l"/>
              </a:tabLst>
            </a:pPr>
            <a:r>
              <a:rPr lang="es-ES" sz="2400" dirty="0">
                <a:solidFill>
                  <a:prstClr val="white"/>
                </a:solidFill>
              </a:rPr>
              <a:t>2.2.  Dibujar</a:t>
            </a:r>
          </a:p>
          <a:p>
            <a:pPr marL="447675" lvl="1" indent="-266700">
              <a:spcAft>
                <a:spcPts val="1800"/>
              </a:spcAft>
              <a:buClr>
                <a:prstClr val="white"/>
              </a:buClr>
              <a:buSzPct val="100000"/>
              <a:buFont typeface="+mj-lt"/>
              <a:buAutoNum type="arabicPeriod"/>
              <a:tabLst>
                <a:tab pos="447675" algn="l"/>
              </a:tabLst>
            </a:pPr>
            <a:r>
              <a:rPr lang="es-ES" sz="2400" dirty="0">
                <a:solidFill>
                  <a:prstClr val="white"/>
                </a:solidFill>
              </a:rPr>
              <a:t>Dibujar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429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19" name="18 Elipse"/>
          <p:cNvSpPr/>
          <p:nvPr/>
        </p:nvSpPr>
        <p:spPr>
          <a:xfrm>
            <a:off x="2195736" y="1806724"/>
            <a:ext cx="360040" cy="360040"/>
          </a:xfrm>
          <a:prstGeom prst="ellipse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7" name="26 Grupo"/>
          <p:cNvGrpSpPr/>
          <p:nvPr/>
        </p:nvGrpSpPr>
        <p:grpSpPr>
          <a:xfrm>
            <a:off x="2159732" y="2578619"/>
            <a:ext cx="504058" cy="432049"/>
            <a:chOff x="2159732" y="2540519"/>
            <a:chExt cx="504058" cy="432049"/>
          </a:xfrm>
        </p:grpSpPr>
        <p:cxnSp>
          <p:nvCxnSpPr>
            <p:cNvPr id="20" name="19 Conector recto"/>
            <p:cNvCxnSpPr/>
            <p:nvPr/>
          </p:nvCxnSpPr>
          <p:spPr>
            <a:xfrm rot="5400000">
              <a:off x="2069722" y="2630529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 rot="16200000" flipH="1">
              <a:off x="2321750" y="2630529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>
              <a:off x="2159734" y="2972568"/>
              <a:ext cx="504056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42 Grupo"/>
          <p:cNvGrpSpPr/>
          <p:nvPr/>
        </p:nvGrpSpPr>
        <p:grpSpPr>
          <a:xfrm>
            <a:off x="2159732" y="5051276"/>
            <a:ext cx="504056" cy="432048"/>
            <a:chOff x="2159732" y="4797152"/>
            <a:chExt cx="504056" cy="432048"/>
          </a:xfrm>
        </p:grpSpPr>
        <p:cxnSp>
          <p:nvCxnSpPr>
            <p:cNvPr id="23" name="22 Conector recto"/>
            <p:cNvCxnSpPr/>
            <p:nvPr/>
          </p:nvCxnSpPr>
          <p:spPr>
            <a:xfrm rot="5400000">
              <a:off x="2069722" y="4887162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23 Conector recto"/>
            <p:cNvCxnSpPr/>
            <p:nvPr/>
          </p:nvCxnSpPr>
          <p:spPr>
            <a:xfrm rot="16200000" flipH="1">
              <a:off x="2321750" y="4887162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41 Grupo"/>
          <p:cNvGrpSpPr/>
          <p:nvPr/>
        </p:nvGrpSpPr>
        <p:grpSpPr>
          <a:xfrm>
            <a:off x="3006156" y="3396958"/>
            <a:ext cx="504056" cy="432048"/>
            <a:chOff x="3006156" y="3330283"/>
            <a:chExt cx="504056" cy="432048"/>
          </a:xfrm>
        </p:grpSpPr>
        <p:cxnSp>
          <p:nvCxnSpPr>
            <p:cNvPr id="28" name="27 Conector recto"/>
            <p:cNvCxnSpPr/>
            <p:nvPr/>
          </p:nvCxnSpPr>
          <p:spPr>
            <a:xfrm rot="5400000">
              <a:off x="2916146" y="3420293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28 Conector recto"/>
            <p:cNvCxnSpPr/>
            <p:nvPr/>
          </p:nvCxnSpPr>
          <p:spPr>
            <a:xfrm rot="16200000" flipH="1">
              <a:off x="3168174" y="3420293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29 Conector recto"/>
          <p:cNvCxnSpPr/>
          <p:nvPr/>
        </p:nvCxnSpPr>
        <p:spPr>
          <a:xfrm>
            <a:off x="3042162" y="4437112"/>
            <a:ext cx="504056" cy="0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36 CuadroTexto"/>
          <p:cNvSpPr txBox="1"/>
          <p:nvPr/>
        </p:nvSpPr>
        <p:spPr>
          <a:xfrm>
            <a:off x="4499992" y="3789040"/>
            <a:ext cx="4112601" cy="78483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4 tareas, pero dos de ellas son iguales</a:t>
            </a:r>
          </a:p>
          <a:p>
            <a:pPr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Nos basta con saber cómo dibujar:</a:t>
            </a:r>
          </a:p>
        </p:txBody>
      </p:sp>
      <p:sp>
        <p:nvSpPr>
          <p:cNvPr id="38" name="37 Elipse"/>
          <p:cNvSpPr/>
          <p:nvPr/>
        </p:nvSpPr>
        <p:spPr>
          <a:xfrm>
            <a:off x="5148064" y="4869160"/>
            <a:ext cx="360040" cy="360040"/>
          </a:xfrm>
          <a:prstGeom prst="ellipse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9" name="38 Conector recto"/>
          <p:cNvCxnSpPr/>
          <p:nvPr/>
        </p:nvCxnSpPr>
        <p:spPr>
          <a:xfrm rot="5400000">
            <a:off x="5958154" y="4887162"/>
            <a:ext cx="432048" cy="252028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rot="16200000" flipH="1">
            <a:off x="6210182" y="4887162"/>
            <a:ext cx="432048" cy="252028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6929454" y="5039885"/>
            <a:ext cx="504056" cy="0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26 Grupo"/>
          <p:cNvGrpSpPr/>
          <p:nvPr/>
        </p:nvGrpSpPr>
        <p:grpSpPr>
          <a:xfrm>
            <a:off x="8275616" y="285728"/>
            <a:ext cx="252027" cy="432049"/>
            <a:chOff x="7092278" y="4077070"/>
            <a:chExt cx="504058" cy="1224138"/>
          </a:xfrm>
        </p:grpSpPr>
        <p:sp>
          <p:nvSpPr>
            <p:cNvPr id="31" name="30 Elipse"/>
            <p:cNvSpPr/>
            <p:nvPr/>
          </p:nvSpPr>
          <p:spPr>
            <a:xfrm>
              <a:off x="7164285" y="4077070"/>
              <a:ext cx="360040" cy="360040"/>
            </a:xfrm>
            <a:prstGeom prst="ellips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32" name="31 Conector recto"/>
            <p:cNvCxnSpPr/>
            <p:nvPr/>
          </p:nvCxnSpPr>
          <p:spPr>
            <a:xfrm rot="5400000">
              <a:off x="7002268" y="4527121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32 Conector recto"/>
            <p:cNvCxnSpPr/>
            <p:nvPr/>
          </p:nvCxnSpPr>
          <p:spPr>
            <a:xfrm rot="16200000" flipH="1">
              <a:off x="7254296" y="4527121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33 Conector recto"/>
            <p:cNvCxnSpPr/>
            <p:nvPr/>
          </p:nvCxnSpPr>
          <p:spPr>
            <a:xfrm>
              <a:off x="7092280" y="4869160"/>
              <a:ext cx="504056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34 Conector recto"/>
            <p:cNvCxnSpPr/>
            <p:nvPr/>
          </p:nvCxnSpPr>
          <p:spPr>
            <a:xfrm rot="5400000">
              <a:off x="7002269" y="4959170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35 Conector recto"/>
            <p:cNvCxnSpPr/>
            <p:nvPr/>
          </p:nvCxnSpPr>
          <p:spPr>
            <a:xfrm rot="16200000" flipH="1">
              <a:off x="7254297" y="4959170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Un dibujo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430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pSp>
        <p:nvGrpSpPr>
          <p:cNvPr id="6" name="26 Grupo"/>
          <p:cNvGrpSpPr/>
          <p:nvPr/>
        </p:nvGrpSpPr>
        <p:grpSpPr>
          <a:xfrm>
            <a:off x="8275616" y="285728"/>
            <a:ext cx="252027" cy="432049"/>
            <a:chOff x="7092278" y="4077070"/>
            <a:chExt cx="504058" cy="1224138"/>
          </a:xfrm>
        </p:grpSpPr>
        <p:sp>
          <p:nvSpPr>
            <p:cNvPr id="31" name="30 Elipse"/>
            <p:cNvSpPr/>
            <p:nvPr/>
          </p:nvSpPr>
          <p:spPr>
            <a:xfrm>
              <a:off x="7164285" y="4077070"/>
              <a:ext cx="360040" cy="360040"/>
            </a:xfrm>
            <a:prstGeom prst="ellips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32" name="31 Conector recto"/>
            <p:cNvCxnSpPr/>
            <p:nvPr/>
          </p:nvCxnSpPr>
          <p:spPr>
            <a:xfrm rot="5400000">
              <a:off x="7002268" y="4527121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32 Conector recto"/>
            <p:cNvCxnSpPr/>
            <p:nvPr/>
          </p:nvCxnSpPr>
          <p:spPr>
            <a:xfrm rot="16200000" flipH="1">
              <a:off x="7254296" y="4527121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33 Conector recto"/>
            <p:cNvCxnSpPr/>
            <p:nvPr/>
          </p:nvCxnSpPr>
          <p:spPr>
            <a:xfrm>
              <a:off x="7092280" y="4869160"/>
              <a:ext cx="504056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34 Conector recto"/>
            <p:cNvCxnSpPr/>
            <p:nvPr/>
          </p:nvCxnSpPr>
          <p:spPr>
            <a:xfrm rot="5400000">
              <a:off x="7002269" y="4959170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35 Conector recto"/>
            <p:cNvCxnSpPr/>
            <p:nvPr/>
          </p:nvCxnSpPr>
          <p:spPr>
            <a:xfrm rot="16200000" flipH="1">
              <a:off x="7254297" y="4959170"/>
              <a:ext cx="432048" cy="25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80 Grupo"/>
          <p:cNvGrpSpPr/>
          <p:nvPr/>
        </p:nvGrpSpPr>
        <p:grpSpPr>
          <a:xfrm>
            <a:off x="1586234" y="3356992"/>
            <a:ext cx="3489822" cy="1152128"/>
            <a:chOff x="1586234" y="3356992"/>
            <a:chExt cx="3489822" cy="1152128"/>
          </a:xfrm>
        </p:grpSpPr>
        <p:cxnSp>
          <p:nvCxnSpPr>
            <p:cNvPr id="75" name="74 Conector recto"/>
            <p:cNvCxnSpPr/>
            <p:nvPr/>
          </p:nvCxnSpPr>
          <p:spPr>
            <a:xfrm rot="5400000">
              <a:off x="2159732" y="3897052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75 Conector recto"/>
            <p:cNvCxnSpPr/>
            <p:nvPr/>
          </p:nvCxnSpPr>
          <p:spPr>
            <a:xfrm rot="5400000">
              <a:off x="4175956" y="3897052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76 Conector recto"/>
            <p:cNvCxnSpPr/>
            <p:nvPr/>
          </p:nvCxnSpPr>
          <p:spPr>
            <a:xfrm rot="5400000">
              <a:off x="3087477" y="3537012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78 Conector recto"/>
            <p:cNvCxnSpPr/>
            <p:nvPr/>
          </p:nvCxnSpPr>
          <p:spPr>
            <a:xfrm>
              <a:off x="2339752" y="3726557"/>
              <a:ext cx="201622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65 Grupo"/>
            <p:cNvGrpSpPr/>
            <p:nvPr/>
          </p:nvGrpSpPr>
          <p:grpSpPr>
            <a:xfrm>
              <a:off x="1586234" y="4077072"/>
              <a:ext cx="1473598" cy="432048"/>
              <a:chOff x="1763688" y="4581128"/>
              <a:chExt cx="1473598" cy="432048"/>
            </a:xfrm>
          </p:grpSpPr>
          <p:sp>
            <p:nvSpPr>
              <p:cNvPr id="55" name="54 CuadroTexto"/>
              <p:cNvSpPr txBox="1"/>
              <p:nvPr/>
            </p:nvSpPr>
            <p:spPr>
              <a:xfrm>
                <a:off x="1763688" y="4581128"/>
                <a:ext cx="1473598" cy="43204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r>
                  <a:rPr lang="es-ES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    Dibujar </a:t>
                </a:r>
              </a:p>
            </p:txBody>
          </p:sp>
          <p:grpSp>
            <p:nvGrpSpPr>
              <p:cNvPr id="9" name="55 Grupo"/>
              <p:cNvGrpSpPr/>
              <p:nvPr/>
            </p:nvGrpSpPr>
            <p:grpSpPr>
              <a:xfrm>
                <a:off x="2805544" y="4675189"/>
                <a:ext cx="252026" cy="216024"/>
                <a:chOff x="3006156" y="3330283"/>
                <a:chExt cx="504056" cy="432048"/>
              </a:xfrm>
            </p:grpSpPr>
            <p:cxnSp>
              <p:nvCxnSpPr>
                <p:cNvPr id="57" name="56 Conector recto"/>
                <p:cNvCxnSpPr/>
                <p:nvPr/>
              </p:nvCxnSpPr>
              <p:spPr>
                <a:xfrm rot="5400000">
                  <a:off x="2916146" y="3420293"/>
                  <a:ext cx="432048" cy="2520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57 Conector recto"/>
                <p:cNvCxnSpPr/>
                <p:nvPr/>
              </p:nvCxnSpPr>
              <p:spPr>
                <a:xfrm rot="16200000" flipH="1">
                  <a:off x="3168174" y="3420293"/>
                  <a:ext cx="432048" cy="2520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" name="66 Grupo"/>
            <p:cNvGrpSpPr/>
            <p:nvPr/>
          </p:nvGrpSpPr>
          <p:grpSpPr>
            <a:xfrm>
              <a:off x="3602458" y="4077072"/>
              <a:ext cx="1473598" cy="432048"/>
              <a:chOff x="3779912" y="4581128"/>
              <a:chExt cx="1473598" cy="432048"/>
            </a:xfrm>
          </p:grpSpPr>
          <p:sp>
            <p:nvSpPr>
              <p:cNvPr id="59" name="58 CuadroTexto"/>
              <p:cNvSpPr txBox="1"/>
              <p:nvPr/>
            </p:nvSpPr>
            <p:spPr>
              <a:xfrm>
                <a:off x="3779912" y="4581128"/>
                <a:ext cx="1473598" cy="43204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r>
                  <a:rPr lang="es-ES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    Dibujar </a:t>
                </a:r>
              </a:p>
            </p:txBody>
          </p:sp>
          <p:cxnSp>
            <p:nvCxnSpPr>
              <p:cNvPr id="30" name="29 Conector recto"/>
              <p:cNvCxnSpPr/>
              <p:nvPr/>
            </p:nvCxnSpPr>
            <p:spPr>
              <a:xfrm>
                <a:off x="4834123" y="4816202"/>
                <a:ext cx="28536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79 Grupo"/>
          <p:cNvGrpSpPr/>
          <p:nvPr/>
        </p:nvGrpSpPr>
        <p:grpSpPr>
          <a:xfrm>
            <a:off x="611560" y="2204864"/>
            <a:ext cx="5328592" cy="1152128"/>
            <a:chOff x="611560" y="2204864"/>
            <a:chExt cx="5328592" cy="1152128"/>
          </a:xfrm>
        </p:grpSpPr>
        <p:cxnSp>
          <p:nvCxnSpPr>
            <p:cNvPr id="69" name="68 Conector recto"/>
            <p:cNvCxnSpPr/>
            <p:nvPr/>
          </p:nvCxnSpPr>
          <p:spPr>
            <a:xfrm rot="5400000">
              <a:off x="2907456" y="2564904"/>
              <a:ext cx="72008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69 Conector recto"/>
            <p:cNvCxnSpPr/>
            <p:nvPr/>
          </p:nvCxnSpPr>
          <p:spPr>
            <a:xfrm rot="5400000">
              <a:off x="1233153" y="2744924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71 Conector recto"/>
            <p:cNvCxnSpPr/>
            <p:nvPr/>
          </p:nvCxnSpPr>
          <p:spPr>
            <a:xfrm rot="5400000">
              <a:off x="5030527" y="2744924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73 Conector recto"/>
            <p:cNvCxnSpPr/>
            <p:nvPr/>
          </p:nvCxnSpPr>
          <p:spPr>
            <a:xfrm>
              <a:off x="1403648" y="2564904"/>
              <a:ext cx="381642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62 Grupo"/>
            <p:cNvGrpSpPr/>
            <p:nvPr/>
          </p:nvGrpSpPr>
          <p:grpSpPr>
            <a:xfrm>
              <a:off x="611560" y="2924944"/>
              <a:ext cx="1473598" cy="432048"/>
              <a:chOff x="827584" y="3356992"/>
              <a:chExt cx="1473598" cy="432048"/>
            </a:xfrm>
          </p:grpSpPr>
          <p:sp>
            <p:nvSpPr>
              <p:cNvPr id="52" name="51 CuadroTexto"/>
              <p:cNvSpPr txBox="1"/>
              <p:nvPr/>
            </p:nvSpPr>
            <p:spPr>
              <a:xfrm>
                <a:off x="827584" y="3356992"/>
                <a:ext cx="1473598" cy="43204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r>
                  <a:rPr lang="es-ES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    Dibujar </a:t>
                </a:r>
              </a:p>
            </p:txBody>
          </p:sp>
          <p:sp>
            <p:nvSpPr>
              <p:cNvPr id="19" name="18 Elipse"/>
              <p:cNvSpPr/>
              <p:nvPr/>
            </p:nvSpPr>
            <p:spPr>
              <a:xfrm>
                <a:off x="1871700" y="3460578"/>
                <a:ext cx="252028" cy="237404"/>
              </a:xfrm>
              <a:prstGeom prst="ellips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13" name="64 Grupo"/>
            <p:cNvGrpSpPr/>
            <p:nvPr/>
          </p:nvGrpSpPr>
          <p:grpSpPr>
            <a:xfrm>
              <a:off x="4466554" y="2924944"/>
              <a:ext cx="1473598" cy="432048"/>
              <a:chOff x="4557306" y="3356992"/>
              <a:chExt cx="1473598" cy="432048"/>
            </a:xfrm>
          </p:grpSpPr>
          <p:sp>
            <p:nvSpPr>
              <p:cNvPr id="54" name="53 CuadroTexto"/>
              <p:cNvSpPr txBox="1"/>
              <p:nvPr/>
            </p:nvSpPr>
            <p:spPr>
              <a:xfrm>
                <a:off x="4557306" y="3356992"/>
                <a:ext cx="1473598" cy="43204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r>
                  <a:rPr lang="es-ES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    Dibujar </a:t>
                </a:r>
              </a:p>
            </p:txBody>
          </p:sp>
          <p:grpSp>
            <p:nvGrpSpPr>
              <p:cNvPr id="14" name="41 Grupo"/>
              <p:cNvGrpSpPr/>
              <p:nvPr/>
            </p:nvGrpSpPr>
            <p:grpSpPr>
              <a:xfrm>
                <a:off x="5599162" y="3451053"/>
                <a:ext cx="252026" cy="216024"/>
                <a:chOff x="3006156" y="3330283"/>
                <a:chExt cx="504056" cy="432048"/>
              </a:xfrm>
            </p:grpSpPr>
            <p:cxnSp>
              <p:nvCxnSpPr>
                <p:cNvPr id="28" name="27 Conector recto"/>
                <p:cNvCxnSpPr/>
                <p:nvPr/>
              </p:nvCxnSpPr>
              <p:spPr>
                <a:xfrm rot="5400000">
                  <a:off x="2916146" y="3420293"/>
                  <a:ext cx="432048" cy="2520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28 Conector recto"/>
                <p:cNvCxnSpPr/>
                <p:nvPr/>
              </p:nvCxnSpPr>
              <p:spPr>
                <a:xfrm rot="16200000" flipH="1">
                  <a:off x="3168174" y="3420293"/>
                  <a:ext cx="432048" cy="2520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" name="63 Grupo"/>
            <p:cNvGrpSpPr/>
            <p:nvPr/>
          </p:nvGrpSpPr>
          <p:grpSpPr>
            <a:xfrm>
              <a:off x="2530697" y="2924944"/>
              <a:ext cx="1473598" cy="432048"/>
              <a:chOff x="2721643" y="3356992"/>
              <a:chExt cx="1473598" cy="432048"/>
            </a:xfrm>
          </p:grpSpPr>
          <p:sp>
            <p:nvSpPr>
              <p:cNvPr id="53" name="52 CuadroTexto"/>
              <p:cNvSpPr txBox="1"/>
              <p:nvPr/>
            </p:nvSpPr>
            <p:spPr>
              <a:xfrm>
                <a:off x="2721643" y="3356992"/>
                <a:ext cx="1473598" cy="43204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r>
                  <a:rPr lang="es-ES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    Dibujar </a:t>
                </a:r>
              </a:p>
            </p:txBody>
          </p:sp>
          <p:grpSp>
            <p:nvGrpSpPr>
              <p:cNvPr id="16" name="26 Grupo"/>
              <p:cNvGrpSpPr/>
              <p:nvPr/>
            </p:nvGrpSpPr>
            <p:grpSpPr>
              <a:xfrm>
                <a:off x="3779912" y="3451053"/>
                <a:ext cx="252030" cy="235117"/>
                <a:chOff x="2159732" y="2540519"/>
                <a:chExt cx="504058" cy="432049"/>
              </a:xfrm>
            </p:grpSpPr>
            <p:cxnSp>
              <p:nvCxnSpPr>
                <p:cNvPr id="20" name="19 Conector recto"/>
                <p:cNvCxnSpPr/>
                <p:nvPr/>
              </p:nvCxnSpPr>
              <p:spPr>
                <a:xfrm rot="5400000">
                  <a:off x="2069722" y="2630529"/>
                  <a:ext cx="432048" cy="2520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20 Conector recto"/>
                <p:cNvCxnSpPr/>
                <p:nvPr/>
              </p:nvCxnSpPr>
              <p:spPr>
                <a:xfrm rot="16200000" flipH="1">
                  <a:off x="2321750" y="2630529"/>
                  <a:ext cx="432048" cy="2520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21 Conector recto"/>
                <p:cNvCxnSpPr/>
                <p:nvPr/>
              </p:nvCxnSpPr>
              <p:spPr>
                <a:xfrm>
                  <a:off x="2159734" y="2972568"/>
                  <a:ext cx="50405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7" name="61 Grupo"/>
          <p:cNvGrpSpPr/>
          <p:nvPr/>
        </p:nvGrpSpPr>
        <p:grpSpPr>
          <a:xfrm>
            <a:off x="2530697" y="1772816"/>
            <a:ext cx="1473598" cy="432048"/>
            <a:chOff x="2771800" y="2204864"/>
            <a:chExt cx="1473598" cy="432048"/>
          </a:xfrm>
        </p:grpSpPr>
        <p:sp>
          <p:nvSpPr>
            <p:cNvPr id="43" name="42 CuadroTexto"/>
            <p:cNvSpPr txBox="1"/>
            <p:nvPr/>
          </p:nvSpPr>
          <p:spPr>
            <a:xfrm>
              <a:off x="2771800" y="2204864"/>
              <a:ext cx="1473598" cy="43204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    Dibujar </a:t>
              </a:r>
            </a:p>
          </p:txBody>
        </p:sp>
        <p:grpSp>
          <p:nvGrpSpPr>
            <p:cNvPr id="18" name="26 Grupo"/>
            <p:cNvGrpSpPr/>
            <p:nvPr/>
          </p:nvGrpSpPr>
          <p:grpSpPr>
            <a:xfrm>
              <a:off x="3844213" y="2295965"/>
              <a:ext cx="185161" cy="279562"/>
              <a:chOff x="7092278" y="4077070"/>
              <a:chExt cx="504058" cy="1224138"/>
            </a:xfrm>
          </p:grpSpPr>
          <p:sp>
            <p:nvSpPr>
              <p:cNvPr id="45" name="44 Elipse"/>
              <p:cNvSpPr/>
              <p:nvPr/>
            </p:nvSpPr>
            <p:spPr>
              <a:xfrm>
                <a:off x="7164285" y="4077070"/>
                <a:ext cx="360040" cy="360040"/>
              </a:xfrm>
              <a:prstGeom prst="ellips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46" name="45 Conector recto"/>
              <p:cNvCxnSpPr/>
              <p:nvPr/>
            </p:nvCxnSpPr>
            <p:spPr>
              <a:xfrm rot="5400000">
                <a:off x="7002268" y="4527121"/>
                <a:ext cx="432048" cy="25202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46 Conector recto"/>
              <p:cNvCxnSpPr/>
              <p:nvPr/>
            </p:nvCxnSpPr>
            <p:spPr>
              <a:xfrm rot="16200000" flipH="1">
                <a:off x="7254296" y="4527121"/>
                <a:ext cx="432048" cy="25202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47 Conector recto"/>
              <p:cNvCxnSpPr/>
              <p:nvPr/>
            </p:nvCxnSpPr>
            <p:spPr>
              <a:xfrm>
                <a:off x="7092280" y="4869160"/>
                <a:ext cx="50405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48 Conector recto"/>
              <p:cNvCxnSpPr/>
              <p:nvPr/>
            </p:nvCxnSpPr>
            <p:spPr>
              <a:xfrm rot="5400000">
                <a:off x="7002269" y="4959170"/>
                <a:ext cx="432048" cy="25202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49 Conector recto"/>
              <p:cNvCxnSpPr/>
              <p:nvPr/>
            </p:nvCxnSpPr>
            <p:spPr>
              <a:xfrm rot="16200000" flipH="1">
                <a:off x="7254297" y="4959170"/>
                <a:ext cx="432048" cy="25202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2" name="81 CuadroTexto"/>
          <p:cNvSpPr txBox="1"/>
          <p:nvPr/>
        </p:nvSpPr>
        <p:spPr>
          <a:xfrm>
            <a:off x="6084168" y="980728"/>
            <a:ext cx="2765501" cy="526297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dibujarCirculo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 ... }</a:t>
            </a:r>
          </a:p>
          <a:p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dibujarSecantes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 ... }</a:t>
            </a:r>
          </a:p>
          <a:p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dibujarLinea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 ... }</a:t>
            </a:r>
          </a:p>
          <a:p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dibujarTriangulo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</a:p>
          <a:p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dibujarSecantes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</a:p>
          <a:p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dibujarLinea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</a:p>
          <a:p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  <a:p>
            <a:endParaRPr lang="es-E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  <a:p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main() {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dibujarCirculo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dibujarTriangulo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dibujarSecantes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return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Mensaje en letras gigantes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124744"/>
            <a:ext cx="8363272" cy="4966162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/>
              <a:t>Mostrar la cadena HOLA MAMA en letras gigantes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431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pSp>
        <p:nvGrpSpPr>
          <p:cNvPr id="6" name="60 Grupo"/>
          <p:cNvGrpSpPr/>
          <p:nvPr/>
        </p:nvGrpSpPr>
        <p:grpSpPr>
          <a:xfrm>
            <a:off x="1312465" y="3429000"/>
            <a:ext cx="1889879" cy="1080120"/>
            <a:chOff x="611560" y="3573016"/>
            <a:chExt cx="1889879" cy="1080120"/>
          </a:xfrm>
        </p:grpSpPr>
        <p:cxnSp>
          <p:nvCxnSpPr>
            <p:cNvPr id="44" name="43 Conector recto"/>
            <p:cNvCxnSpPr/>
            <p:nvPr/>
          </p:nvCxnSpPr>
          <p:spPr>
            <a:xfrm rot="5400000">
              <a:off x="618989" y="4113076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44 Conector recto"/>
            <p:cNvCxnSpPr/>
            <p:nvPr/>
          </p:nvCxnSpPr>
          <p:spPr>
            <a:xfrm rot="5400000">
              <a:off x="1132570" y="4113076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45 Conector recto"/>
            <p:cNvCxnSpPr/>
            <p:nvPr/>
          </p:nvCxnSpPr>
          <p:spPr>
            <a:xfrm>
              <a:off x="799009" y="3942581"/>
              <a:ext cx="1521693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46 Conector recto"/>
            <p:cNvCxnSpPr/>
            <p:nvPr/>
          </p:nvCxnSpPr>
          <p:spPr>
            <a:xfrm rot="5400000">
              <a:off x="1636626" y="4113076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47 Conector recto"/>
            <p:cNvCxnSpPr/>
            <p:nvPr/>
          </p:nvCxnSpPr>
          <p:spPr>
            <a:xfrm rot="5400000">
              <a:off x="2140682" y="4113076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49 Conector recto"/>
            <p:cNvCxnSpPr/>
            <p:nvPr/>
          </p:nvCxnSpPr>
          <p:spPr>
            <a:xfrm rot="5400000">
              <a:off x="1386454" y="3753036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38 CuadroTexto"/>
            <p:cNvSpPr txBox="1"/>
            <p:nvPr/>
          </p:nvSpPr>
          <p:spPr>
            <a:xfrm>
              <a:off x="611560" y="4283804"/>
              <a:ext cx="360000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H</a:t>
              </a:r>
            </a:p>
          </p:txBody>
        </p:sp>
        <p:sp>
          <p:nvSpPr>
            <p:cNvPr id="40" name="39 CuadroTexto"/>
            <p:cNvSpPr txBox="1"/>
            <p:nvPr/>
          </p:nvSpPr>
          <p:spPr>
            <a:xfrm>
              <a:off x="1121520" y="4283804"/>
              <a:ext cx="360000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O</a:t>
              </a:r>
            </a:p>
          </p:txBody>
        </p:sp>
        <p:sp>
          <p:nvSpPr>
            <p:cNvPr id="41" name="40 CuadroTexto"/>
            <p:cNvSpPr txBox="1"/>
            <p:nvPr/>
          </p:nvSpPr>
          <p:spPr>
            <a:xfrm>
              <a:off x="1631480" y="4283804"/>
              <a:ext cx="360000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L</a:t>
              </a:r>
            </a:p>
          </p:txBody>
        </p:sp>
        <p:sp>
          <p:nvSpPr>
            <p:cNvPr id="42" name="41 CuadroTexto"/>
            <p:cNvSpPr txBox="1"/>
            <p:nvPr/>
          </p:nvSpPr>
          <p:spPr>
            <a:xfrm>
              <a:off x="2141439" y="4283804"/>
              <a:ext cx="360000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A</a:t>
              </a:r>
            </a:p>
          </p:txBody>
        </p:sp>
      </p:grpSp>
      <p:grpSp>
        <p:nvGrpSpPr>
          <p:cNvPr id="8" name="64 Grupo"/>
          <p:cNvGrpSpPr/>
          <p:nvPr/>
        </p:nvGrpSpPr>
        <p:grpSpPr>
          <a:xfrm>
            <a:off x="6222320" y="3429000"/>
            <a:ext cx="869960" cy="1080120"/>
            <a:chOff x="5521415" y="3717032"/>
            <a:chExt cx="869960" cy="1080120"/>
          </a:xfrm>
        </p:grpSpPr>
        <p:cxnSp>
          <p:nvCxnSpPr>
            <p:cNvPr id="55" name="54 Conector recto"/>
            <p:cNvCxnSpPr/>
            <p:nvPr/>
          </p:nvCxnSpPr>
          <p:spPr>
            <a:xfrm rot="5400000">
              <a:off x="5528844" y="4257092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55 Conector recto"/>
            <p:cNvCxnSpPr/>
            <p:nvPr/>
          </p:nvCxnSpPr>
          <p:spPr>
            <a:xfrm rot="5400000">
              <a:off x="6042425" y="4257092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56 Conector recto"/>
            <p:cNvCxnSpPr/>
            <p:nvPr/>
          </p:nvCxnSpPr>
          <p:spPr>
            <a:xfrm>
              <a:off x="5722071" y="4086597"/>
              <a:ext cx="50037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59 Conector recto"/>
            <p:cNvCxnSpPr/>
            <p:nvPr/>
          </p:nvCxnSpPr>
          <p:spPr>
            <a:xfrm rot="5400000">
              <a:off x="5797752" y="3897052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50 CuadroTexto"/>
            <p:cNvSpPr txBox="1"/>
            <p:nvPr/>
          </p:nvSpPr>
          <p:spPr>
            <a:xfrm>
              <a:off x="5521415" y="4427820"/>
              <a:ext cx="360000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M</a:t>
              </a:r>
            </a:p>
          </p:txBody>
        </p:sp>
        <p:sp>
          <p:nvSpPr>
            <p:cNvPr id="52" name="51 CuadroTexto"/>
            <p:cNvSpPr txBox="1"/>
            <p:nvPr/>
          </p:nvSpPr>
          <p:spPr>
            <a:xfrm>
              <a:off x="6031375" y="4427820"/>
              <a:ext cx="360000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A</a:t>
              </a:r>
            </a:p>
          </p:txBody>
        </p:sp>
      </p:grpSp>
      <p:grpSp>
        <p:nvGrpSpPr>
          <p:cNvPr id="9" name="62 Grupo"/>
          <p:cNvGrpSpPr/>
          <p:nvPr/>
        </p:nvGrpSpPr>
        <p:grpSpPr>
          <a:xfrm>
            <a:off x="1464947" y="2348880"/>
            <a:ext cx="6040206" cy="1080120"/>
            <a:chOff x="764042" y="2492896"/>
            <a:chExt cx="6040206" cy="1080120"/>
          </a:xfrm>
        </p:grpSpPr>
        <p:cxnSp>
          <p:nvCxnSpPr>
            <p:cNvPr id="19" name="18 Conector recto"/>
            <p:cNvCxnSpPr/>
            <p:nvPr/>
          </p:nvCxnSpPr>
          <p:spPr>
            <a:xfrm rot="5400000">
              <a:off x="3330657" y="2852936"/>
              <a:ext cx="72008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 rot="5400000">
              <a:off x="1386454" y="3032956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 rot="5400000">
              <a:off x="5778942" y="3032956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>
              <a:off x="1566474" y="2862461"/>
              <a:ext cx="4392488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16 CuadroTexto"/>
            <p:cNvSpPr txBox="1"/>
            <p:nvPr/>
          </p:nvSpPr>
          <p:spPr>
            <a:xfrm>
              <a:off x="764042" y="3203684"/>
              <a:ext cx="1619599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Mostrar HOLA</a:t>
              </a:r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2767145" y="3203684"/>
              <a:ext cx="1872208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Espacio en blanco</a:t>
              </a:r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5022858" y="3203684"/>
              <a:ext cx="1781390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Mostrar MAMA</a:t>
              </a:r>
            </a:p>
          </p:txBody>
        </p:sp>
      </p:grpSp>
      <p:sp>
        <p:nvSpPr>
          <p:cNvPr id="7" name="6 CuadroTexto"/>
          <p:cNvSpPr txBox="1"/>
          <p:nvPr/>
        </p:nvSpPr>
        <p:spPr>
          <a:xfrm>
            <a:off x="3275491" y="1988840"/>
            <a:ext cx="225732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Mostrar HOLA MAMA</a:t>
            </a:r>
          </a:p>
        </p:txBody>
      </p:sp>
      <p:grpSp>
        <p:nvGrpSpPr>
          <p:cNvPr id="10" name="72 Grupo"/>
          <p:cNvGrpSpPr/>
          <p:nvPr/>
        </p:nvGrpSpPr>
        <p:grpSpPr>
          <a:xfrm>
            <a:off x="1691680" y="4900518"/>
            <a:ext cx="5446069" cy="976754"/>
            <a:chOff x="1691680" y="5044534"/>
            <a:chExt cx="5446069" cy="976754"/>
          </a:xfrm>
        </p:grpSpPr>
        <p:grpSp>
          <p:nvGrpSpPr>
            <p:cNvPr id="11" name="71 Grupo"/>
            <p:cNvGrpSpPr/>
            <p:nvPr/>
          </p:nvGrpSpPr>
          <p:grpSpPr>
            <a:xfrm>
              <a:off x="1691680" y="5651956"/>
              <a:ext cx="5446069" cy="369332"/>
              <a:chOff x="1691680" y="5651956"/>
              <a:chExt cx="5446069" cy="369332"/>
            </a:xfrm>
          </p:grpSpPr>
          <p:sp>
            <p:nvSpPr>
              <p:cNvPr id="64" name="63 CuadroTexto"/>
              <p:cNvSpPr txBox="1"/>
              <p:nvPr/>
            </p:nvSpPr>
            <p:spPr>
              <a:xfrm>
                <a:off x="6777749" y="5651956"/>
                <a:ext cx="360000" cy="36933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s-ES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M</a:t>
                </a:r>
              </a:p>
            </p:txBody>
          </p:sp>
          <p:sp>
            <p:nvSpPr>
              <p:cNvPr id="66" name="65 CuadroTexto"/>
              <p:cNvSpPr txBox="1"/>
              <p:nvPr/>
            </p:nvSpPr>
            <p:spPr>
              <a:xfrm>
                <a:off x="1691680" y="5651956"/>
                <a:ext cx="360000" cy="36933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s-ES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H</a:t>
                </a:r>
              </a:p>
            </p:txBody>
          </p:sp>
          <p:sp>
            <p:nvSpPr>
              <p:cNvPr id="67" name="66 CuadroTexto"/>
              <p:cNvSpPr txBox="1"/>
              <p:nvPr/>
            </p:nvSpPr>
            <p:spPr>
              <a:xfrm>
                <a:off x="2406452" y="5651956"/>
                <a:ext cx="360000" cy="36933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s-ES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O</a:t>
                </a:r>
              </a:p>
            </p:txBody>
          </p:sp>
          <p:sp>
            <p:nvSpPr>
              <p:cNvPr id="68" name="67 CuadroTexto"/>
              <p:cNvSpPr txBox="1"/>
              <p:nvPr/>
            </p:nvSpPr>
            <p:spPr>
              <a:xfrm>
                <a:off x="3121224" y="5651956"/>
                <a:ext cx="360000" cy="36933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s-ES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L</a:t>
                </a:r>
              </a:p>
            </p:txBody>
          </p:sp>
          <p:sp>
            <p:nvSpPr>
              <p:cNvPr id="69" name="68 CuadroTexto"/>
              <p:cNvSpPr txBox="1"/>
              <p:nvPr/>
            </p:nvSpPr>
            <p:spPr>
              <a:xfrm>
                <a:off x="3835996" y="5651956"/>
                <a:ext cx="360000" cy="36933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s-ES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A</a:t>
                </a:r>
              </a:p>
            </p:txBody>
          </p:sp>
          <p:sp>
            <p:nvSpPr>
              <p:cNvPr id="70" name="69 CuadroTexto"/>
              <p:cNvSpPr txBox="1"/>
              <p:nvPr/>
            </p:nvSpPr>
            <p:spPr>
              <a:xfrm>
                <a:off x="4550768" y="5651956"/>
                <a:ext cx="1872208" cy="36933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s-ES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Espacio en blanco </a:t>
                </a:r>
              </a:p>
            </p:txBody>
          </p:sp>
        </p:grpSp>
        <p:sp>
          <p:nvSpPr>
            <p:cNvPr id="71" name="70 CuadroTexto"/>
            <p:cNvSpPr txBox="1"/>
            <p:nvPr/>
          </p:nvSpPr>
          <p:spPr>
            <a:xfrm>
              <a:off x="3615745" y="5044534"/>
              <a:ext cx="1597938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Tareas básicas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Mensaje en letras gigantes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432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43" name="42 CuadroTexto"/>
          <p:cNvSpPr txBox="1"/>
          <p:nvPr/>
        </p:nvSpPr>
        <p:spPr>
          <a:xfrm>
            <a:off x="539552" y="980728"/>
            <a:ext cx="2428870" cy="526297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mostrarH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 {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mostrar(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"*   *"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mostrar(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"*   *"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mostrar(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"*****"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mostrar(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"*   *"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mostrar(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"*   *"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mostrarO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 {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mostrar(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"*****"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mostrar(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"*   *"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mostrar(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"*   *"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mostrar(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"*   *"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mostrar(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"*****"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  <a:p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mostrarL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 ... }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mostrarA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 ...}</a:t>
            </a:r>
          </a:p>
        </p:txBody>
      </p:sp>
      <p:sp>
        <p:nvSpPr>
          <p:cNvPr id="49" name="48 CuadroTexto"/>
          <p:cNvSpPr txBox="1"/>
          <p:nvPr/>
        </p:nvSpPr>
        <p:spPr>
          <a:xfrm>
            <a:off x="4973071" y="980728"/>
            <a:ext cx="2989921" cy="501675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espaciosEnBlanco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 {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mostrar(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   "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mostrarM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 ...}</a:t>
            </a:r>
          </a:p>
          <a:p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main() {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mostrarH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mostrarO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mostrarL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mostrarA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espaciosEnBlanco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mostrarM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mostrarA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mostrarM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mostrarA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return </a:t>
            </a:r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  <p:transition spd="med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433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795803" y="3044280"/>
            <a:ext cx="3552575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Subprogramas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Abstracción procedimental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Subprogramas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Pequeños programas dentro de otros programas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Unidades de ejecución independientes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Encapsulan código y datos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Se comunican con otros subprogramas (datos)</a:t>
            </a:r>
          </a:p>
          <a:p>
            <a:pPr lvl="1" indent="1588">
              <a:spcBef>
                <a:spcPts val="600"/>
              </a:spcBef>
              <a:spcAft>
                <a:spcPts val="1200"/>
              </a:spcAft>
              <a:buNone/>
            </a:pPr>
            <a:r>
              <a:rPr lang="es-ES" i="1" dirty="0"/>
              <a:t>Subrutinas, procedimientos, funciones, acciones, ...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Realizan tareas individuales del programa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Funcionalidad concreta, identificable y coherente (diseño)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Se ejecutan de principio a fin cuando se llaman (</a:t>
            </a:r>
            <a:r>
              <a:rPr lang="es-ES" i="1" dirty="0"/>
              <a:t>invocan</a:t>
            </a:r>
            <a:r>
              <a:rPr lang="es-ES" dirty="0"/>
              <a:t>)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Terminan devolviendo el control al punto de llamada</a:t>
            </a:r>
          </a:p>
          <a:p>
            <a:pPr lvl="1" indent="1588">
              <a:spcBef>
                <a:spcPts val="0"/>
              </a:spcBef>
              <a:spcAft>
                <a:spcPts val="18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434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pSp>
        <p:nvGrpSpPr>
          <p:cNvPr id="6" name="5 Grupo"/>
          <p:cNvGrpSpPr/>
          <p:nvPr/>
        </p:nvGrpSpPr>
        <p:grpSpPr>
          <a:xfrm>
            <a:off x="1601670" y="5589240"/>
            <a:ext cx="5940660" cy="648000"/>
            <a:chOff x="899592" y="5416649"/>
            <a:chExt cx="5819422" cy="648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6 CuadroTexto"/>
            <p:cNvSpPr txBox="1"/>
            <p:nvPr/>
          </p:nvSpPr>
          <p:spPr>
            <a:xfrm>
              <a:off x="899592" y="5416649"/>
              <a:ext cx="5819422" cy="64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Aumentan el nivel de abstracción del programa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Facilitan la prueba, la depuración y el mantenimiento</a:t>
              </a:r>
            </a:p>
          </p:txBody>
        </p:sp>
        <p:pic>
          <p:nvPicPr>
            <p:cNvPr id="8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79127"/>
              <a:ext cx="426720" cy="42672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Subprogramas</a:t>
            </a:r>
            <a:endParaRPr lang="es-ES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Flujo de ejecución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435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3203846" y="1556792"/>
            <a:ext cx="1867819" cy="463203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</a:pPr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main()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mostrarH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mostrarO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...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mostrarH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...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void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mostrarO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...</a:t>
            </a:r>
            <a:b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</a:b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...</a:t>
            </a:r>
          </a:p>
        </p:txBody>
      </p:sp>
      <p:grpSp>
        <p:nvGrpSpPr>
          <p:cNvPr id="7" name="50 Grupo"/>
          <p:cNvGrpSpPr/>
          <p:nvPr/>
        </p:nvGrpSpPr>
        <p:grpSpPr>
          <a:xfrm>
            <a:off x="1763686" y="2891270"/>
            <a:ext cx="1872207" cy="2846412"/>
            <a:chOff x="1763686" y="2891270"/>
            <a:chExt cx="1872207" cy="28464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39" name="38 Conector recto"/>
            <p:cNvCxnSpPr/>
            <p:nvPr/>
          </p:nvCxnSpPr>
          <p:spPr>
            <a:xfrm rot="10800000">
              <a:off x="1763686" y="5699582"/>
              <a:ext cx="1478261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40 Conector recto"/>
            <p:cNvCxnSpPr/>
            <p:nvPr/>
          </p:nvCxnSpPr>
          <p:spPr>
            <a:xfrm rot="5400000" flipH="1" flipV="1">
              <a:off x="369055" y="4295426"/>
              <a:ext cx="2808312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42 Conector recto de flecha"/>
            <p:cNvCxnSpPr/>
            <p:nvPr/>
          </p:nvCxnSpPr>
          <p:spPr>
            <a:xfrm>
              <a:off x="1763686" y="2891270"/>
              <a:ext cx="1872207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43 CuadroTexto"/>
            <p:cNvSpPr txBox="1"/>
            <p:nvPr/>
          </p:nvSpPr>
          <p:spPr>
            <a:xfrm>
              <a:off x="2504659" y="5276017"/>
              <a:ext cx="458780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  <a:sym typeface="Wingdings"/>
                </a:rPr>
                <a:t></a:t>
              </a:r>
              <a:endParaRPr lang="es-E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  <p:grpSp>
        <p:nvGrpSpPr>
          <p:cNvPr id="8" name="47 Grupo"/>
          <p:cNvGrpSpPr/>
          <p:nvPr/>
        </p:nvGrpSpPr>
        <p:grpSpPr>
          <a:xfrm>
            <a:off x="2953914" y="1988032"/>
            <a:ext cx="2664296" cy="1874838"/>
            <a:chOff x="2953914" y="1988032"/>
            <a:chExt cx="2664296" cy="18748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9" name="8 Conector recto"/>
            <p:cNvCxnSpPr/>
            <p:nvPr/>
          </p:nvCxnSpPr>
          <p:spPr>
            <a:xfrm>
              <a:off x="4860032" y="2421122"/>
              <a:ext cx="758178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10 Conector recto"/>
            <p:cNvCxnSpPr/>
            <p:nvPr/>
          </p:nvCxnSpPr>
          <p:spPr>
            <a:xfrm rot="5400000">
              <a:off x="5068625" y="2961182"/>
              <a:ext cx="108012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rot="10800000">
              <a:off x="2953914" y="3501242"/>
              <a:ext cx="2664296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 rot="5400000">
              <a:off x="2783419" y="3681262"/>
              <a:ext cx="360039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>
              <a:off x="2953914" y="3861282"/>
              <a:ext cx="28803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44 CuadroTexto"/>
            <p:cNvSpPr txBox="1"/>
            <p:nvPr/>
          </p:nvSpPr>
          <p:spPr>
            <a:xfrm>
              <a:off x="4860032" y="1988032"/>
              <a:ext cx="458780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  <a:sym typeface="Wingdings"/>
                </a:rPr>
                <a:t></a:t>
              </a:r>
              <a:endParaRPr lang="es-E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  <p:grpSp>
        <p:nvGrpSpPr>
          <p:cNvPr id="10" name="48 Grupo"/>
          <p:cNvGrpSpPr/>
          <p:nvPr/>
        </p:nvGrpSpPr>
        <p:grpSpPr>
          <a:xfrm>
            <a:off x="3491878" y="2570920"/>
            <a:ext cx="3168354" cy="2033682"/>
            <a:chOff x="3491878" y="2570920"/>
            <a:chExt cx="3168354" cy="20336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8" name="17 Conector recto"/>
            <p:cNvCxnSpPr/>
            <p:nvPr/>
          </p:nvCxnSpPr>
          <p:spPr>
            <a:xfrm>
              <a:off x="3491878" y="4576029"/>
              <a:ext cx="3168352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 rot="5400000">
              <a:off x="5648155" y="3573475"/>
              <a:ext cx="2014631" cy="9522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 rot="10800000">
              <a:off x="4826122" y="2578855"/>
              <a:ext cx="1834108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45 CuadroTexto"/>
            <p:cNvSpPr txBox="1"/>
            <p:nvPr/>
          </p:nvSpPr>
          <p:spPr>
            <a:xfrm>
              <a:off x="4041212" y="4142937"/>
              <a:ext cx="458780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  <a:sym typeface="Wingdings"/>
                </a:rPr>
                <a:t></a:t>
              </a:r>
              <a:endParaRPr lang="es-E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  <p:grpSp>
        <p:nvGrpSpPr>
          <p:cNvPr id="12" name="49 Grupo"/>
          <p:cNvGrpSpPr/>
          <p:nvPr/>
        </p:nvGrpSpPr>
        <p:grpSpPr>
          <a:xfrm>
            <a:off x="2339750" y="2681075"/>
            <a:ext cx="2897527" cy="2341859"/>
            <a:chOff x="2339750" y="2681075"/>
            <a:chExt cx="2897527" cy="234185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28" name="27 Conector recto"/>
            <p:cNvCxnSpPr/>
            <p:nvPr/>
          </p:nvCxnSpPr>
          <p:spPr>
            <a:xfrm>
              <a:off x="4826122" y="2747254"/>
              <a:ext cx="393948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30 Conector recto"/>
            <p:cNvCxnSpPr/>
            <p:nvPr/>
          </p:nvCxnSpPr>
          <p:spPr>
            <a:xfrm rot="5400000">
              <a:off x="5040050" y="2917749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32 Conector recto"/>
            <p:cNvCxnSpPr/>
            <p:nvPr/>
          </p:nvCxnSpPr>
          <p:spPr>
            <a:xfrm rot="10800000">
              <a:off x="2339750" y="3088244"/>
              <a:ext cx="288032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34 Conector recto"/>
            <p:cNvCxnSpPr/>
            <p:nvPr/>
          </p:nvCxnSpPr>
          <p:spPr>
            <a:xfrm rot="5400000">
              <a:off x="1367642" y="4050827"/>
              <a:ext cx="1944215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36 Conector recto de flecha"/>
            <p:cNvCxnSpPr/>
            <p:nvPr/>
          </p:nvCxnSpPr>
          <p:spPr>
            <a:xfrm>
              <a:off x="2339750" y="5013410"/>
              <a:ext cx="90219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46 CuadroTexto"/>
            <p:cNvSpPr txBox="1"/>
            <p:nvPr/>
          </p:nvSpPr>
          <p:spPr>
            <a:xfrm>
              <a:off x="4778497" y="2681075"/>
              <a:ext cx="458780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  <a:sym typeface="Wingdings"/>
                </a:rPr>
                <a:t></a:t>
              </a:r>
              <a:endParaRPr lang="es-E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  <p:cxnSp>
        <p:nvCxnSpPr>
          <p:cNvPr id="53" name="52 Conector recto de flecha"/>
          <p:cNvCxnSpPr/>
          <p:nvPr/>
        </p:nvCxnSpPr>
        <p:spPr>
          <a:xfrm>
            <a:off x="2339750" y="1772816"/>
            <a:ext cx="864096" cy="158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Subprogramas</a:t>
            </a:r>
            <a:endParaRPr lang="es-ES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Subprogramas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Forma general de un subprograma:</a:t>
            </a:r>
          </a:p>
          <a:p>
            <a:pPr marL="712788" lvl="1" indent="1588">
              <a:spcBef>
                <a:spcPts val="0"/>
              </a:spcBef>
              <a:buNone/>
            </a:pPr>
            <a:r>
              <a:rPr lang="es-ES" sz="2000" i="1" dirty="0">
                <a:solidFill>
                  <a:srgbClr val="FFC000"/>
                </a:solidFill>
                <a:latin typeface="Consolas" pitchFamily="49" charset="0"/>
              </a:rPr>
              <a:t>tipo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i="1" dirty="0">
                <a:latin typeface="Consolas" pitchFamily="49" charset="0"/>
              </a:rPr>
              <a:t>nombre</a:t>
            </a:r>
            <a:r>
              <a:rPr lang="es-ES" sz="2000" dirty="0">
                <a:latin typeface="Consolas" pitchFamily="49" charset="0"/>
              </a:rPr>
              <a:t>(</a:t>
            </a:r>
            <a:r>
              <a:rPr lang="es-ES" sz="2000" i="1" dirty="0">
                <a:latin typeface="Consolas" pitchFamily="49" charset="0"/>
              </a:rPr>
              <a:t>parámetros</a:t>
            </a:r>
            <a:r>
              <a:rPr lang="es-ES" sz="2000" dirty="0">
                <a:latin typeface="Consolas" pitchFamily="49" charset="0"/>
              </a:rPr>
              <a:t>)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Cabecera</a:t>
            </a:r>
          </a:p>
          <a:p>
            <a:pPr marL="712788" lvl="1" indent="1588">
              <a:spcBef>
                <a:spcPts val="0"/>
              </a:spcBef>
              <a:buNone/>
            </a:pPr>
            <a:r>
              <a:rPr lang="es-ES" sz="2000" dirty="0">
                <a:latin typeface="Consolas" pitchFamily="49" charset="0"/>
              </a:rPr>
              <a:t>{</a:t>
            </a:r>
          </a:p>
          <a:p>
            <a:pPr marL="712788" lvl="1" indent="1588">
              <a:spcBef>
                <a:spcPts val="0"/>
              </a:spcBef>
              <a:buNone/>
            </a:pP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   // </a:t>
            </a:r>
            <a:r>
              <a:rPr lang="es-ES" sz="2000" i="1" dirty="0">
                <a:solidFill>
                  <a:srgbClr val="92D050"/>
                </a:solidFill>
                <a:latin typeface="Consolas" pitchFamily="49" charset="0"/>
              </a:rPr>
              <a:t>Cuerpo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714375" lvl="1" indent="-352425">
              <a:spcBef>
                <a:spcPts val="0"/>
              </a:spcBef>
              <a:spcAft>
                <a:spcPts val="1200"/>
              </a:spcAft>
            </a:pPr>
            <a:r>
              <a:rPr lang="es-ES" i="1" dirty="0"/>
              <a:t>Tipo</a:t>
            </a:r>
            <a:r>
              <a:rPr lang="es-ES" dirty="0"/>
              <a:t> de dato que devuelve el subprograma como resultado</a:t>
            </a:r>
          </a:p>
          <a:p>
            <a:pPr marL="714375" lvl="1" indent="-352425">
              <a:spcBef>
                <a:spcPts val="0"/>
              </a:spcBef>
              <a:spcAft>
                <a:spcPts val="1200"/>
              </a:spcAft>
            </a:pPr>
            <a:r>
              <a:rPr lang="es-ES" i="1" dirty="0"/>
              <a:t>Parámetros</a:t>
            </a:r>
            <a:r>
              <a:rPr lang="es-ES" dirty="0"/>
              <a:t> para la comunicación con el exterior</a:t>
            </a:r>
          </a:p>
          <a:p>
            <a:pPr marL="714375" lvl="1" indent="-352425">
              <a:spcBef>
                <a:spcPts val="0"/>
              </a:spcBef>
              <a:spcAft>
                <a:spcPts val="1200"/>
              </a:spcAft>
            </a:pPr>
            <a:r>
              <a:rPr lang="es-ES" i="1" dirty="0"/>
              <a:t>Cuerpo</a:t>
            </a:r>
            <a:r>
              <a:rPr lang="es-ES" dirty="0"/>
              <a:t>: ¡Un bloque de código!</a:t>
            </a:r>
            <a:endParaRPr lang="es-ES" i="1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436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Subprogramas</a:t>
            </a:r>
            <a:endParaRPr lang="es-ES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Tipos de subprogramas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buNone/>
            </a:pPr>
            <a:r>
              <a:rPr lang="es-ES" dirty="0"/>
              <a:t>Procedimientos (</a:t>
            </a:r>
            <a:r>
              <a:rPr lang="es-ES" i="1" dirty="0"/>
              <a:t>acciones</a:t>
            </a:r>
            <a:r>
              <a:rPr lang="es-ES" dirty="0"/>
              <a:t>):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pc="-30" dirty="0"/>
              <a:t>NO devuelven ningún resultado de su ejecución con </a:t>
            </a:r>
            <a:r>
              <a:rPr lang="es-ES" spc="-3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return</a:t>
            </a:r>
            <a:br>
              <a:rPr lang="es-ES" dirty="0"/>
            </a:br>
            <a:r>
              <a:rPr lang="es-ES" dirty="0"/>
              <a:t>Tipo: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br>
              <a:rPr lang="es-ES" dirty="0"/>
            </a:br>
            <a:r>
              <a:rPr lang="es-ES" dirty="0"/>
              <a:t>Llamada: instrucción independiente</a:t>
            </a:r>
            <a:br>
              <a:rPr lang="es-ES" dirty="0"/>
            </a:br>
            <a:r>
              <a:rPr lang="es-ES" dirty="0" err="1">
                <a:latin typeface="Consolas" pitchFamily="49" charset="0"/>
              </a:rPr>
              <a:t>mostrarH</a:t>
            </a:r>
            <a:r>
              <a:rPr lang="es-ES" dirty="0">
                <a:latin typeface="Consolas" pitchFamily="49" charset="0"/>
              </a:rPr>
              <a:t>();</a:t>
            </a:r>
            <a:endParaRPr lang="es-ES" dirty="0">
              <a:solidFill>
                <a:srgbClr val="FFC000"/>
              </a:solidFill>
              <a:latin typeface="Consolas" pitchFamily="49" charset="0"/>
            </a:endParaRPr>
          </a:p>
          <a:p>
            <a:pPr marL="361950" lvl="1" indent="0">
              <a:spcBef>
                <a:spcPts val="1200"/>
              </a:spcBef>
              <a:buNone/>
            </a:pPr>
            <a:r>
              <a:rPr lang="es-ES" dirty="0"/>
              <a:t>Funciones: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SÍ devuelven un resultado con la instrucción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return</a:t>
            </a:r>
            <a:br>
              <a:rPr lang="es-ES" dirty="0"/>
            </a:br>
            <a:r>
              <a:rPr lang="es-ES" dirty="0"/>
              <a:t>Tipo distinto de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br>
              <a:rPr lang="es-ES" dirty="0"/>
            </a:br>
            <a:r>
              <a:rPr lang="es-ES" dirty="0"/>
              <a:t>Llamada: dentro de cualquier expresión</a:t>
            </a:r>
            <a:br>
              <a:rPr lang="es-ES" dirty="0"/>
            </a:br>
            <a:r>
              <a:rPr lang="es-ES" dirty="0">
                <a:latin typeface="Consolas" pitchFamily="49" charset="0"/>
              </a:rPr>
              <a:t>x = 12 * y + </a:t>
            </a:r>
            <a:r>
              <a:rPr lang="es-ES" u="sng" dirty="0">
                <a:uFill>
                  <a:solidFill>
                    <a:srgbClr val="FFC000"/>
                  </a:solidFill>
                </a:uFill>
                <a:latin typeface="Consolas" pitchFamily="49" charset="0"/>
              </a:rPr>
              <a:t>cuadrado(20)</a:t>
            </a:r>
            <a:r>
              <a:rPr lang="es-ES" dirty="0">
                <a:latin typeface="Consolas" pitchFamily="49" charset="0"/>
              </a:rPr>
              <a:t> - 3;</a:t>
            </a:r>
            <a:r>
              <a:rPr lang="es-ES" dirty="0"/>
              <a:t> </a:t>
            </a:r>
            <a:br>
              <a:rPr lang="es-ES" dirty="0"/>
            </a:br>
            <a:r>
              <a:rPr lang="es-ES" dirty="0"/>
              <a:t>Se sustituye en la expresión por el valor que devuelve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i="1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437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Subprogramas</a:t>
            </a:r>
            <a:endParaRPr lang="es-ES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Funciones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s-ES" dirty="0"/>
              <a:t>Subprogramas de tipo distinto de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endParaRPr lang="es-ES" dirty="0"/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...</a:t>
            </a:r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600" dirty="0" err="1">
                <a:solidFill>
                  <a:prstClr val="white"/>
                </a:solidFill>
                <a:latin typeface="Consolas" pitchFamily="49" charset="0"/>
              </a:rPr>
              <a:t>menu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()</a:t>
            </a:r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{</a:t>
            </a:r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16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1600" dirty="0" err="1">
                <a:solidFill>
                  <a:prstClr val="white"/>
                </a:solidFill>
                <a:latin typeface="Consolas" pitchFamily="49" charset="0"/>
              </a:rPr>
              <a:t>op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  cout &lt;&lt;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"1 – Editar" 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&lt;&lt; endl;</a:t>
            </a:r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  cout &lt;&lt;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"2 – Combinar" 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&lt;&lt; endl;</a:t>
            </a:r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  cout &lt;&lt;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"3 – Publicar" 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&lt;&lt; endl;</a:t>
            </a:r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  cout &lt;&lt;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"0 – Cancelar" 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&lt;&lt; endl;</a:t>
            </a:r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  cout &lt;&lt;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"Elija: "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  cin &gt;&gt; </a:t>
            </a:r>
            <a:r>
              <a:rPr lang="es-ES" sz="1600" dirty="0" err="1">
                <a:solidFill>
                  <a:prstClr val="white"/>
                </a:solidFill>
                <a:latin typeface="Consolas" pitchFamily="49" charset="0"/>
              </a:rPr>
              <a:t>op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16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</a:rPr>
              <a:t>return </a:t>
            </a:r>
            <a:r>
              <a:rPr lang="es-ES" sz="1600" dirty="0" err="1">
                <a:solidFill>
                  <a:prstClr val="white"/>
                </a:solidFill>
                <a:latin typeface="Consolas" pitchFamily="49" charset="0"/>
              </a:rPr>
              <a:t>op</a:t>
            </a: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marL="361950" lvl="1" indent="0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1600" dirty="0">
                <a:solidFill>
                  <a:prstClr val="white"/>
                </a:solidFill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438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5652120" y="2497124"/>
            <a:ext cx="2794355" cy="170835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361950" lvl="1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solidFill>
                  <a:srgbClr val="FFC000"/>
                </a:solidFill>
                <a:latin typeface="Consolas" pitchFamily="49" charset="0"/>
              </a:rPr>
              <a:t>int </a:t>
            </a:r>
            <a:r>
              <a:rPr lang="es-ES" sz="1600" dirty="0">
                <a:latin typeface="Consolas" pitchFamily="49" charset="0"/>
              </a:rPr>
              <a:t>main()</a:t>
            </a:r>
          </a:p>
          <a:p>
            <a:pPr marL="361950" lvl="1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latin typeface="Consolas" pitchFamily="49" charset="0"/>
              </a:rPr>
              <a:t>{</a:t>
            </a:r>
          </a:p>
          <a:p>
            <a:pPr marL="361950" lvl="1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latin typeface="Consolas" pitchFamily="49" charset="0"/>
              </a:rPr>
              <a:t>   ...</a:t>
            </a:r>
          </a:p>
          <a:p>
            <a:pPr marL="361950" lvl="1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latin typeface="Consolas" pitchFamily="49" charset="0"/>
              </a:rPr>
              <a:t>   </a:t>
            </a:r>
            <a:r>
              <a:rPr lang="es-ES" sz="16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600" dirty="0">
                <a:latin typeface="Consolas" pitchFamily="49" charset="0"/>
              </a:rPr>
              <a:t> </a:t>
            </a:r>
            <a:r>
              <a:rPr lang="es-ES" sz="1600" dirty="0" err="1">
                <a:latin typeface="Consolas" pitchFamily="49" charset="0"/>
              </a:rPr>
              <a:t>opcion</a:t>
            </a:r>
            <a:r>
              <a:rPr lang="es-ES" sz="1600" dirty="0">
                <a:latin typeface="Consolas" pitchFamily="49" charset="0"/>
              </a:rPr>
              <a:t>;</a:t>
            </a:r>
          </a:p>
          <a:p>
            <a:pPr marL="361950" lvl="1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latin typeface="Consolas" pitchFamily="49" charset="0"/>
              </a:rPr>
              <a:t>   </a:t>
            </a:r>
            <a:r>
              <a:rPr lang="es-ES" sz="1600" dirty="0" err="1">
                <a:latin typeface="Consolas" pitchFamily="49" charset="0"/>
              </a:rPr>
              <a:t>opcion</a:t>
            </a:r>
            <a:r>
              <a:rPr lang="es-ES" sz="1600" dirty="0">
                <a:latin typeface="Consolas" pitchFamily="49" charset="0"/>
              </a:rPr>
              <a:t> = </a:t>
            </a:r>
            <a:r>
              <a:rPr lang="es-ES" sz="1600" dirty="0" err="1">
                <a:latin typeface="Consolas" pitchFamily="49" charset="0"/>
              </a:rPr>
              <a:t>menu</a:t>
            </a:r>
            <a:r>
              <a:rPr lang="es-ES" sz="1600" dirty="0">
                <a:latin typeface="Consolas" pitchFamily="49" charset="0"/>
              </a:rPr>
              <a:t>() ;</a:t>
            </a:r>
          </a:p>
          <a:p>
            <a:pPr marL="361950" lvl="1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...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grpSp>
        <p:nvGrpSpPr>
          <p:cNvPr id="12" name="27 Grupo"/>
          <p:cNvGrpSpPr/>
          <p:nvPr/>
        </p:nvGrpSpPr>
        <p:grpSpPr>
          <a:xfrm>
            <a:off x="1214414" y="2185814"/>
            <a:ext cx="7390035" cy="1555602"/>
            <a:chOff x="1214414" y="2017414"/>
            <a:chExt cx="7390035" cy="1555602"/>
          </a:xfrm>
        </p:grpSpPr>
        <p:cxnSp>
          <p:nvCxnSpPr>
            <p:cNvPr id="7" name="6 Conector recto"/>
            <p:cNvCxnSpPr/>
            <p:nvPr/>
          </p:nvCxnSpPr>
          <p:spPr>
            <a:xfrm>
              <a:off x="8334265" y="3573016"/>
              <a:ext cx="270183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7 Conector recto"/>
            <p:cNvCxnSpPr/>
            <p:nvPr/>
          </p:nvCxnSpPr>
          <p:spPr>
            <a:xfrm rot="16200000" flipV="1">
              <a:off x="7821886" y="2790453"/>
              <a:ext cx="1555601" cy="9525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8 Conector recto"/>
            <p:cNvCxnSpPr/>
            <p:nvPr/>
          </p:nvCxnSpPr>
          <p:spPr>
            <a:xfrm rot="10800000" flipV="1">
              <a:off x="5508104" y="2017414"/>
              <a:ext cx="3096344" cy="1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9 Conector recto de flecha"/>
            <p:cNvCxnSpPr/>
            <p:nvPr/>
          </p:nvCxnSpPr>
          <p:spPr>
            <a:xfrm flipH="1">
              <a:off x="1214414" y="2017414"/>
              <a:ext cx="4293690" cy="667122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29 Grupo"/>
          <p:cNvGrpSpPr/>
          <p:nvPr/>
        </p:nvGrpSpPr>
        <p:grpSpPr>
          <a:xfrm>
            <a:off x="1142406" y="3886226"/>
            <a:ext cx="6022676" cy="1126950"/>
            <a:chOff x="1142406" y="3717826"/>
            <a:chExt cx="6022676" cy="1126950"/>
          </a:xfrm>
        </p:grpSpPr>
        <p:cxnSp>
          <p:nvCxnSpPr>
            <p:cNvPr id="11" name="10 Conector recto"/>
            <p:cNvCxnSpPr/>
            <p:nvPr/>
          </p:nvCxnSpPr>
          <p:spPr>
            <a:xfrm>
              <a:off x="1142406" y="4844776"/>
              <a:ext cx="6021882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 de flecha"/>
            <p:cNvCxnSpPr/>
            <p:nvPr/>
          </p:nvCxnSpPr>
          <p:spPr>
            <a:xfrm flipV="1">
              <a:off x="7165082" y="3717826"/>
              <a:ext cx="0" cy="112695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28 Grupo"/>
          <p:cNvGrpSpPr/>
          <p:nvPr/>
        </p:nvGrpSpPr>
        <p:grpSpPr>
          <a:xfrm>
            <a:off x="1941612" y="3580446"/>
            <a:ext cx="6202213" cy="1390439"/>
            <a:chOff x="1941612" y="3412046"/>
            <a:chExt cx="6202213" cy="1390439"/>
          </a:xfrm>
        </p:grpSpPr>
        <p:sp>
          <p:nvSpPr>
            <p:cNvPr id="20" name="19 Elipse"/>
            <p:cNvSpPr/>
            <p:nvPr/>
          </p:nvSpPr>
          <p:spPr>
            <a:xfrm>
              <a:off x="1941612" y="4442445"/>
              <a:ext cx="432048" cy="360040"/>
            </a:xfrm>
            <a:prstGeom prst="ellipse">
              <a:avLst/>
            </a:prstGeom>
            <a:ln w="19050">
              <a:solidFill>
                <a:schemeClr val="tx2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20 Elipse"/>
            <p:cNvSpPr/>
            <p:nvPr/>
          </p:nvSpPr>
          <p:spPr>
            <a:xfrm>
              <a:off x="7406561" y="3412046"/>
              <a:ext cx="737264" cy="360040"/>
            </a:xfrm>
            <a:prstGeom prst="ellipse">
              <a:avLst/>
            </a:prstGeom>
            <a:ln w="19050">
              <a:solidFill>
                <a:schemeClr val="tx2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4" name="23 Conector recto"/>
            <p:cNvCxnSpPr>
              <a:stCxn id="20" idx="6"/>
            </p:cNvCxnSpPr>
            <p:nvPr/>
          </p:nvCxnSpPr>
          <p:spPr>
            <a:xfrm>
              <a:off x="2373660" y="4622465"/>
              <a:ext cx="5455884" cy="0"/>
            </a:xfrm>
            <a:prstGeom prst="line">
              <a:avLst/>
            </a:prstGeom>
            <a:ln w="28575">
              <a:solidFill>
                <a:schemeClr val="tx2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26 Conector recto"/>
            <p:cNvCxnSpPr/>
            <p:nvPr/>
          </p:nvCxnSpPr>
          <p:spPr>
            <a:xfrm flipH="1" flipV="1">
              <a:off x="7800762" y="3781611"/>
              <a:ext cx="17950" cy="840854"/>
            </a:xfrm>
            <a:prstGeom prst="line">
              <a:avLst/>
            </a:prstGeom>
            <a:ln w="28575">
              <a:solidFill>
                <a:schemeClr val="tx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Subprogramas</a:t>
            </a:r>
            <a:endParaRPr lang="es-ES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Procedimientos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s-ES" dirty="0"/>
              <a:t>Subprogramas de tipo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endParaRPr lang="es-ES" dirty="0"/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...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r>
              <a:rPr lang="es-ES" sz="1600" dirty="0">
                <a:latin typeface="Consolas" pitchFamily="49" charset="0"/>
              </a:rPr>
              <a:t> </a:t>
            </a:r>
            <a:r>
              <a:rPr lang="es-ES" sz="1600" dirty="0" err="1">
                <a:latin typeface="Consolas" pitchFamily="49" charset="0"/>
              </a:rPr>
              <a:t>menu</a:t>
            </a:r>
            <a:r>
              <a:rPr lang="es-ES" sz="1600" dirty="0">
                <a:latin typeface="Consolas" pitchFamily="49" charset="0"/>
              </a:rPr>
              <a:t>()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{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</a:t>
            </a:r>
            <a:r>
              <a:rPr lang="es-ES" sz="16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600" dirty="0">
                <a:latin typeface="Consolas" pitchFamily="49" charset="0"/>
              </a:rPr>
              <a:t> </a:t>
            </a:r>
            <a:r>
              <a:rPr lang="es-ES" sz="1600" dirty="0" err="1">
                <a:latin typeface="Consolas" pitchFamily="49" charset="0"/>
              </a:rPr>
              <a:t>op</a:t>
            </a:r>
            <a:r>
              <a:rPr lang="es-ES" sz="1600" dirty="0">
                <a:latin typeface="Consolas" pitchFamily="49" charset="0"/>
              </a:rPr>
              <a:t>;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cout &lt;&lt;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"1 – Editar" </a:t>
            </a:r>
            <a:r>
              <a:rPr lang="es-ES" sz="1600" dirty="0">
                <a:latin typeface="Consolas" pitchFamily="49" charset="0"/>
              </a:rPr>
              <a:t>&lt;&lt; endl;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cout &lt;&lt;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"2 – Combinar" </a:t>
            </a:r>
            <a:r>
              <a:rPr lang="es-ES" sz="1600" dirty="0">
                <a:latin typeface="Consolas" pitchFamily="49" charset="0"/>
              </a:rPr>
              <a:t>&lt;&lt; endl;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cout &lt;&lt;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"0 – Cancelar" </a:t>
            </a:r>
            <a:r>
              <a:rPr lang="es-ES" sz="1600" dirty="0">
                <a:latin typeface="Consolas" pitchFamily="49" charset="0"/>
              </a:rPr>
              <a:t>&lt;&lt; endl;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cout &lt;&lt;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"Opción: "</a:t>
            </a:r>
            <a:r>
              <a:rPr lang="es-ES" sz="1600" dirty="0">
                <a:latin typeface="Consolas" pitchFamily="49" charset="0"/>
              </a:rPr>
              <a:t>;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cin &gt;&gt; </a:t>
            </a:r>
            <a:r>
              <a:rPr lang="es-ES" sz="1600" dirty="0" err="1">
                <a:latin typeface="Consolas" pitchFamily="49" charset="0"/>
              </a:rPr>
              <a:t>op</a:t>
            </a:r>
            <a:r>
              <a:rPr lang="es-ES" sz="1600" dirty="0">
                <a:latin typeface="Consolas" pitchFamily="49" charset="0"/>
              </a:rPr>
              <a:t>;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if </a:t>
            </a:r>
            <a:r>
              <a:rPr lang="es-ES" sz="1600" dirty="0">
                <a:latin typeface="Consolas" pitchFamily="49" charset="0"/>
              </a:rPr>
              <a:t>(</a:t>
            </a:r>
            <a:r>
              <a:rPr lang="es-ES" sz="1600" dirty="0" err="1">
                <a:latin typeface="Consolas" pitchFamily="49" charset="0"/>
              </a:rPr>
              <a:t>op</a:t>
            </a:r>
            <a:r>
              <a:rPr lang="es-ES" sz="1600" dirty="0">
                <a:latin typeface="Consolas" pitchFamily="49" charset="0"/>
              </a:rPr>
              <a:t> ==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1600" dirty="0">
                <a:latin typeface="Consolas" pitchFamily="49" charset="0"/>
              </a:rPr>
              <a:t>) {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   editar();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}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else if </a:t>
            </a:r>
            <a:r>
              <a:rPr lang="es-ES" sz="1600" dirty="0">
                <a:latin typeface="Consolas" pitchFamily="49" charset="0"/>
              </a:rPr>
              <a:t>(</a:t>
            </a:r>
            <a:r>
              <a:rPr lang="es-ES" sz="1600" dirty="0" err="1">
                <a:latin typeface="Consolas" pitchFamily="49" charset="0"/>
              </a:rPr>
              <a:t>op</a:t>
            </a:r>
            <a:r>
              <a:rPr lang="es-ES" sz="1600" dirty="0">
                <a:latin typeface="Consolas" pitchFamily="49" charset="0"/>
              </a:rPr>
              <a:t> ==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1600" dirty="0">
                <a:latin typeface="Consolas" pitchFamily="49" charset="0"/>
              </a:rPr>
              <a:t>) {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   combinar();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   }</a:t>
            </a:r>
          </a:p>
          <a:p>
            <a:pPr marL="361950" lvl="1" indent="0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</a:rPr>
              <a:t>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439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6068099" y="2501315"/>
            <a:ext cx="1672253" cy="14260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361950" lvl="1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solidFill>
                  <a:srgbClr val="FFC000"/>
                </a:solidFill>
                <a:latin typeface="Consolas" pitchFamily="49" charset="0"/>
              </a:rPr>
              <a:t>int </a:t>
            </a:r>
            <a:r>
              <a:rPr lang="es-ES" sz="1600" dirty="0">
                <a:latin typeface="Consolas" pitchFamily="49" charset="0"/>
              </a:rPr>
              <a:t>main()</a:t>
            </a:r>
          </a:p>
          <a:p>
            <a:pPr marL="361950" lvl="1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latin typeface="Consolas" pitchFamily="49" charset="0"/>
              </a:rPr>
              <a:t>{</a:t>
            </a:r>
          </a:p>
          <a:p>
            <a:pPr marL="361950" lvl="1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latin typeface="Consolas" pitchFamily="49" charset="0"/>
              </a:rPr>
              <a:t>   ...</a:t>
            </a:r>
          </a:p>
          <a:p>
            <a:pPr marL="361950" lvl="1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latin typeface="Consolas" pitchFamily="49" charset="0"/>
              </a:rPr>
              <a:t>   </a:t>
            </a:r>
            <a:r>
              <a:rPr lang="es-ES" sz="1600" dirty="0" err="1">
                <a:latin typeface="Consolas" pitchFamily="49" charset="0"/>
              </a:rPr>
              <a:t>menu</a:t>
            </a:r>
            <a:r>
              <a:rPr lang="es-ES" sz="1600" dirty="0">
                <a:latin typeface="Consolas" pitchFamily="49" charset="0"/>
              </a:rPr>
              <a:t>();</a:t>
            </a:r>
          </a:p>
          <a:p>
            <a:pPr marL="361950" lvl="1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...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grpSp>
        <p:nvGrpSpPr>
          <p:cNvPr id="15" name="14 Grupo"/>
          <p:cNvGrpSpPr/>
          <p:nvPr/>
        </p:nvGrpSpPr>
        <p:grpSpPr>
          <a:xfrm>
            <a:off x="1214414" y="2190005"/>
            <a:ext cx="7084818" cy="1296145"/>
            <a:chOff x="1214414" y="2190005"/>
            <a:chExt cx="7084818" cy="1296145"/>
          </a:xfrm>
        </p:grpSpPr>
        <p:cxnSp>
          <p:nvCxnSpPr>
            <p:cNvPr id="8" name="7 Conector recto"/>
            <p:cNvCxnSpPr/>
            <p:nvPr/>
          </p:nvCxnSpPr>
          <p:spPr>
            <a:xfrm>
              <a:off x="7740352" y="3486150"/>
              <a:ext cx="55888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9 Conector recto"/>
            <p:cNvCxnSpPr/>
            <p:nvPr/>
          </p:nvCxnSpPr>
          <p:spPr>
            <a:xfrm rot="5400000" flipH="1" flipV="1">
              <a:off x="7641635" y="2838078"/>
              <a:ext cx="129614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rot="10800000">
              <a:off x="5508104" y="2190006"/>
              <a:ext cx="2791128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1214414" y="2190005"/>
              <a:ext cx="4293690" cy="662931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16 Grupo"/>
          <p:cNvGrpSpPr/>
          <p:nvPr/>
        </p:nvGrpSpPr>
        <p:grpSpPr>
          <a:xfrm>
            <a:off x="1142406" y="3717032"/>
            <a:ext cx="5644172" cy="2232248"/>
            <a:chOff x="1142406" y="3717032"/>
            <a:chExt cx="5644172" cy="2232248"/>
          </a:xfrm>
        </p:grpSpPr>
        <p:cxnSp>
          <p:nvCxnSpPr>
            <p:cNvPr id="16" name="15 Conector recto"/>
            <p:cNvCxnSpPr/>
            <p:nvPr/>
          </p:nvCxnSpPr>
          <p:spPr>
            <a:xfrm>
              <a:off x="1142406" y="5939755"/>
              <a:ext cx="465373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 flipV="1">
              <a:off x="5796136" y="3717032"/>
              <a:ext cx="0" cy="2232248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>
              <a:off x="5796136" y="3717032"/>
              <a:ext cx="99044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440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886678" y="3044280"/>
            <a:ext cx="5370829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Subprogramas y datos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Datos en los subprogramas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 uso exclusivo del subprograma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>
                <a:solidFill>
                  <a:srgbClr val="FFC000"/>
                </a:solidFill>
                <a:latin typeface="Consolas" pitchFamily="49" charset="0"/>
              </a:rPr>
              <a:t>tipo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i="1" dirty="0">
                <a:latin typeface="Consolas" pitchFamily="49" charset="0"/>
              </a:rPr>
              <a:t>nombre</a:t>
            </a:r>
            <a:r>
              <a:rPr lang="es-ES" dirty="0">
                <a:latin typeface="Consolas" pitchFamily="49" charset="0"/>
              </a:rPr>
              <a:t>(</a:t>
            </a:r>
            <a:r>
              <a:rPr lang="es-ES" i="1" dirty="0">
                <a:latin typeface="Consolas" pitchFamily="49" charset="0"/>
              </a:rPr>
              <a:t>parámetros</a:t>
            </a:r>
            <a:r>
              <a:rPr lang="es-ES" dirty="0">
                <a:latin typeface="Consolas" pitchFamily="49" charset="0"/>
              </a:rPr>
              <a:t>) </a:t>
            </a:r>
            <a:r>
              <a:rPr lang="es-ES" dirty="0">
                <a:solidFill>
                  <a:srgbClr val="92D050"/>
                </a:solidFill>
                <a:latin typeface="Consolas" pitchFamily="49" charset="0"/>
              </a:rPr>
              <a:t>// Cabecera</a:t>
            </a:r>
            <a:br>
              <a:rPr lang="es-ES" dirty="0">
                <a:latin typeface="Consolas" pitchFamily="49" charset="0"/>
              </a:rPr>
            </a:br>
            <a:r>
              <a:rPr lang="es-ES" dirty="0">
                <a:latin typeface="Consolas" pitchFamily="49" charset="0"/>
              </a:rPr>
              <a:t>{</a:t>
            </a:r>
            <a:br>
              <a:rPr lang="es-ES" dirty="0">
                <a:latin typeface="Consolas" pitchFamily="49" charset="0"/>
              </a:rPr>
            </a:br>
            <a:r>
              <a:rPr lang="es-ES" dirty="0">
                <a:latin typeface="Consolas" pitchFamily="49" charset="0"/>
              </a:rPr>
              <a:t>   </a:t>
            </a:r>
            <a:r>
              <a:rPr lang="es-ES" i="1" dirty="0">
                <a:latin typeface="Consolas" pitchFamily="49" charset="0"/>
              </a:rPr>
              <a:t>Declaraciones locales </a:t>
            </a:r>
            <a:r>
              <a:rPr lang="es-ES" dirty="0">
                <a:solidFill>
                  <a:srgbClr val="92D050"/>
                </a:solidFill>
                <a:latin typeface="Consolas" pitchFamily="49" charset="0"/>
              </a:rPr>
              <a:t>// Cuerpo</a:t>
            </a:r>
            <a:br>
              <a:rPr lang="es-ES" dirty="0">
                <a:latin typeface="Consolas" pitchFamily="49" charset="0"/>
              </a:rPr>
            </a:br>
            <a:r>
              <a:rPr lang="es-ES" dirty="0">
                <a:latin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Declaraciones locales de tipos, constantes y variables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Dentro del cuerpo del subprograma</a:t>
            </a:r>
          </a:p>
          <a:p>
            <a:pPr marL="714375" lvl="1" indent="-352425">
              <a:spcBef>
                <a:spcPts val="1200"/>
              </a:spcBef>
              <a:spcAft>
                <a:spcPts val="600"/>
              </a:spcAft>
            </a:pPr>
            <a:r>
              <a:rPr lang="es-ES" dirty="0"/>
              <a:t>Parámetros declarados en la cabecera del subprograma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dirty="0"/>
              <a:t>Comunicación del subprograma con otros subprogramas</a:t>
            </a:r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441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Datos locales y datos globales</a:t>
            </a:r>
            <a:endParaRPr lang="es-ES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Datos en los programas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Datos globales: declarados fuera de todos los subprogramas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Existen durante toda la ejecución del programa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</a:pPr>
            <a:r>
              <a:rPr lang="es-ES" dirty="0">
                <a:solidFill>
                  <a:prstClr val="white"/>
                </a:solidFill>
              </a:rPr>
              <a:t>Datos locales: declarados en algún subprograma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</a:rPr>
              <a:t>Existen sólo durante la ejecución del subprograma</a:t>
            </a:r>
          </a:p>
          <a:p>
            <a:pPr marL="0" lvl="1" indent="0" defTabSz="1257300"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ct val="95000"/>
              <a:buNone/>
              <a:tabLst>
                <a:tab pos="7000875" algn="l"/>
              </a:tabLst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Ámbito y visibilidad de los datos	</a:t>
            </a:r>
          </a:p>
          <a:p>
            <a:pPr lvl="2" indent="-352425">
              <a:spcBef>
                <a:spcPts val="0"/>
              </a:spcBef>
            </a:pPr>
            <a:r>
              <a:rPr lang="es-ES" sz="2200" dirty="0"/>
              <a:t>Ámbito de los datos globales: resto del programa</a:t>
            </a:r>
          </a:p>
          <a:p>
            <a:pPr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Se conocen dentro de los subprogramas que siguen</a:t>
            </a:r>
          </a:p>
          <a:p>
            <a:pPr lvl="2" indent="-352425">
              <a:spcBef>
                <a:spcPts val="0"/>
              </a:spcBef>
            </a:pPr>
            <a:r>
              <a:rPr lang="es-ES" sz="2200" dirty="0"/>
              <a:t>Ámbito de los datos locales: resto del </a:t>
            </a:r>
            <a:r>
              <a:rPr lang="es-ES" sz="2200" dirty="0">
                <a:solidFill>
                  <a:prstClr val="white"/>
                </a:solidFill>
              </a:rPr>
              <a:t>subprograma</a:t>
            </a:r>
          </a:p>
          <a:p>
            <a:pPr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No se conocen fuera del subprograma</a:t>
            </a:r>
          </a:p>
          <a:p>
            <a:pPr lvl="2" indent="-352425">
              <a:spcBef>
                <a:spcPts val="0"/>
              </a:spcBef>
            </a:pPr>
            <a:r>
              <a:rPr lang="es-ES" sz="2200" dirty="0"/>
              <a:t>Visibilidad de los datos</a:t>
            </a:r>
          </a:p>
          <a:p>
            <a:pPr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prstClr val="white"/>
                </a:solidFill>
              </a:rPr>
              <a:t>Datos locales a un bloque ocultan otros externos homónimos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442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Datos locales y datos globales</a:t>
            </a:r>
            <a:endParaRPr lang="es-ES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endParaRPr lang="es-ES" sz="1800" i="0" dirty="0">
              <a:solidFill>
                <a:srgbClr val="FFCCFF"/>
              </a:solidFill>
              <a:latin typeface="Consolas" pitchFamily="49" charset="0"/>
            </a:endParaRP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endParaRPr lang="es-ES" sz="1800" i="0" dirty="0">
              <a:latin typeface="Consolas" pitchFamily="49" charset="0"/>
            </a:endParaRP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endParaRPr lang="es-ES" sz="1800" i="0" dirty="0">
              <a:latin typeface="Consolas" pitchFamily="49" charset="0"/>
            </a:endParaRP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const</a:t>
            </a:r>
            <a:r>
              <a:rPr lang="es-ES" sz="1800" i="0" dirty="0">
                <a:latin typeface="Consolas" pitchFamily="49" charset="0"/>
              </a:rPr>
              <a:t> </a:t>
            </a:r>
            <a:r>
              <a:rPr lang="es-ES" sz="1800" i="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i="0" dirty="0">
                <a:latin typeface="Consolas" pitchFamily="49" charset="0"/>
              </a:rPr>
              <a:t> MAX = </a:t>
            </a:r>
            <a:r>
              <a:rPr lang="es-ES" sz="1800" i="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1800" i="0" dirty="0">
                <a:latin typeface="Consolas" pitchFamily="49" charset="0"/>
              </a:rPr>
              <a:t>;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i="0" dirty="0">
                <a:latin typeface="Consolas" pitchFamily="49" charset="0"/>
              </a:rPr>
              <a:t> ingresos;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endParaRPr lang="es-ES" sz="1800" i="0" dirty="0">
              <a:latin typeface="Consolas" pitchFamily="49" charset="0"/>
            </a:endParaRP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latin typeface="Consolas" pitchFamily="49" charset="0"/>
              </a:rPr>
              <a:t>...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r>
              <a:rPr lang="es-ES" sz="1800" i="0" dirty="0">
                <a:latin typeface="Consolas" pitchFamily="49" charset="0"/>
              </a:rPr>
              <a:t> proc() {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latin typeface="Consolas" pitchFamily="49" charset="0"/>
              </a:rPr>
              <a:t>   </a:t>
            </a:r>
            <a:r>
              <a:rPr lang="es-ES" sz="1800" i="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i="0" dirty="0">
                <a:latin typeface="Consolas" pitchFamily="49" charset="0"/>
              </a:rPr>
              <a:t> </a:t>
            </a:r>
            <a:r>
              <a:rPr lang="es-ES" sz="1800" i="0" dirty="0" err="1">
                <a:latin typeface="Consolas" pitchFamily="49" charset="0"/>
              </a:rPr>
              <a:t>op</a:t>
            </a:r>
            <a:r>
              <a:rPr lang="es-ES" sz="1800" i="0" dirty="0">
                <a:latin typeface="Consolas" pitchFamily="49" charset="0"/>
              </a:rPr>
              <a:t>;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latin typeface="Consolas" pitchFamily="49" charset="0"/>
              </a:rPr>
              <a:t>   </a:t>
            </a:r>
            <a:r>
              <a:rPr lang="es-ES" sz="1800" i="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i="0" dirty="0">
                <a:latin typeface="Consolas" pitchFamily="49" charset="0"/>
              </a:rPr>
              <a:t> ingresos;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latin typeface="Consolas" pitchFamily="49" charset="0"/>
              </a:rPr>
              <a:t>   ...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latin typeface="Consolas" pitchFamily="49" charset="0"/>
              </a:rPr>
              <a:t>}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endParaRPr lang="es-ES" sz="1800" i="0" dirty="0">
              <a:latin typeface="Consolas" pitchFamily="49" charset="0"/>
            </a:endParaRP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i="0" dirty="0">
                <a:latin typeface="Consolas" pitchFamily="49" charset="0"/>
              </a:rPr>
              <a:t> main() {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latin typeface="Consolas" pitchFamily="49" charset="0"/>
              </a:rPr>
              <a:t>   </a:t>
            </a:r>
            <a:r>
              <a:rPr lang="es-ES" sz="1800" i="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i="0" dirty="0">
                <a:latin typeface="Consolas" pitchFamily="49" charset="0"/>
              </a:rPr>
              <a:t> </a:t>
            </a:r>
            <a:r>
              <a:rPr lang="es-ES" sz="1800" i="0" dirty="0" err="1">
                <a:latin typeface="Consolas" pitchFamily="49" charset="0"/>
              </a:rPr>
              <a:t>op</a:t>
            </a:r>
            <a:r>
              <a:rPr lang="es-ES" sz="1800" i="0" dirty="0">
                <a:latin typeface="Consolas" pitchFamily="49" charset="0"/>
              </a:rPr>
              <a:t>;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latin typeface="Consolas" pitchFamily="49" charset="0"/>
              </a:rPr>
              <a:t>   ...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latin typeface="Consolas" pitchFamily="49" charset="0"/>
              </a:rPr>
              <a:t>   </a:t>
            </a:r>
            <a:r>
              <a:rPr lang="es-ES" sz="1800" i="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return</a:t>
            </a:r>
            <a:r>
              <a:rPr lang="es-ES" sz="1800" i="0" dirty="0">
                <a:latin typeface="Consolas" pitchFamily="49" charset="0"/>
              </a:rPr>
              <a:t> </a:t>
            </a:r>
            <a:r>
              <a:rPr lang="es-ES" sz="1800" i="0" dirty="0">
                <a:solidFill>
                  <a:srgbClr val="FFFF00"/>
                </a:solidFill>
                <a:latin typeface="Consolas" pitchFamily="49" charset="0"/>
              </a:rPr>
              <a:t>0</a:t>
            </a:r>
            <a:r>
              <a:rPr lang="es-ES" sz="1800" i="0" dirty="0">
                <a:latin typeface="Consolas" pitchFamily="49" charset="0"/>
              </a:rPr>
              <a:t>;</a:t>
            </a:r>
          </a:p>
          <a:p>
            <a:pPr marL="36195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800" i="0" dirty="0">
                <a:latin typeface="Consolas" pitchFamily="49" charset="0"/>
              </a:rPr>
              <a:t>}</a:t>
            </a:r>
            <a:endParaRPr lang="es-ES" sz="1600" i="0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443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pSp>
        <p:nvGrpSpPr>
          <p:cNvPr id="13" name="21 Grupo"/>
          <p:cNvGrpSpPr/>
          <p:nvPr/>
        </p:nvGrpSpPr>
        <p:grpSpPr>
          <a:xfrm>
            <a:off x="3563888" y="1826014"/>
            <a:ext cx="1787684" cy="576064"/>
            <a:chOff x="3275856" y="1916832"/>
            <a:chExt cx="1787684" cy="576064"/>
          </a:xfrm>
        </p:grpSpPr>
        <p:sp>
          <p:nvSpPr>
            <p:cNvPr id="6" name="5 Cerrar llave"/>
            <p:cNvSpPr/>
            <p:nvPr/>
          </p:nvSpPr>
          <p:spPr>
            <a:xfrm>
              <a:off x="3275856" y="1916832"/>
              <a:ext cx="180000" cy="576064"/>
            </a:xfrm>
            <a:prstGeom prst="rightBrace">
              <a:avLst>
                <a:gd name="adj1" fmla="val 50000"/>
                <a:gd name="adj2" fmla="val 50000"/>
              </a:avLst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3455856" y="2020198"/>
              <a:ext cx="160768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Datos globales</a:t>
              </a:r>
            </a:p>
          </p:txBody>
        </p:sp>
      </p:grpSp>
      <p:grpSp>
        <p:nvGrpSpPr>
          <p:cNvPr id="14" name="22 Grupo"/>
          <p:cNvGrpSpPr/>
          <p:nvPr/>
        </p:nvGrpSpPr>
        <p:grpSpPr>
          <a:xfrm>
            <a:off x="3275856" y="3194166"/>
            <a:ext cx="2624452" cy="576064"/>
            <a:chOff x="3275856" y="3284984"/>
            <a:chExt cx="2624452" cy="576064"/>
          </a:xfrm>
        </p:grpSpPr>
        <p:sp>
          <p:nvSpPr>
            <p:cNvPr id="7" name="6 Cerrar llave"/>
            <p:cNvSpPr/>
            <p:nvPr/>
          </p:nvSpPr>
          <p:spPr>
            <a:xfrm>
              <a:off x="3275856" y="3284984"/>
              <a:ext cx="180000" cy="576064"/>
            </a:xfrm>
            <a:prstGeom prst="rightBrace">
              <a:avLst>
                <a:gd name="adj1" fmla="val 50000"/>
                <a:gd name="adj2" fmla="val 50000"/>
              </a:avLst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9 CuadroTexto"/>
            <p:cNvSpPr txBox="1"/>
            <p:nvPr/>
          </p:nvSpPr>
          <p:spPr>
            <a:xfrm>
              <a:off x="3455856" y="3400658"/>
              <a:ext cx="2444452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Datos locales a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proc()</a:t>
              </a:r>
            </a:p>
          </p:txBody>
        </p:sp>
      </p:grpSp>
      <p:grpSp>
        <p:nvGrpSpPr>
          <p:cNvPr id="15" name="24 Grupo"/>
          <p:cNvGrpSpPr/>
          <p:nvPr/>
        </p:nvGrpSpPr>
        <p:grpSpPr>
          <a:xfrm>
            <a:off x="3275856" y="4850350"/>
            <a:ext cx="2624452" cy="576064"/>
            <a:chOff x="3275856" y="4941168"/>
            <a:chExt cx="2624452" cy="576064"/>
          </a:xfrm>
        </p:grpSpPr>
        <p:sp>
          <p:nvSpPr>
            <p:cNvPr id="8" name="7 Cerrar llave"/>
            <p:cNvSpPr/>
            <p:nvPr/>
          </p:nvSpPr>
          <p:spPr>
            <a:xfrm>
              <a:off x="3275856" y="4941168"/>
              <a:ext cx="180000" cy="576064"/>
            </a:xfrm>
            <a:prstGeom prst="rightBrace">
              <a:avLst>
                <a:gd name="adj1" fmla="val 50000"/>
                <a:gd name="adj2" fmla="val 50000"/>
              </a:avLst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3455856" y="5041984"/>
              <a:ext cx="2444452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Datos locales a </a:t>
              </a: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main()</a:t>
              </a:r>
            </a:p>
          </p:txBody>
        </p:sp>
      </p:grpSp>
      <p:grpSp>
        <p:nvGrpSpPr>
          <p:cNvPr id="17" name="23 Grupo"/>
          <p:cNvGrpSpPr/>
          <p:nvPr/>
        </p:nvGrpSpPr>
        <p:grpSpPr>
          <a:xfrm>
            <a:off x="1763688" y="3770230"/>
            <a:ext cx="6014434" cy="646331"/>
            <a:chOff x="1763688" y="3861048"/>
            <a:chExt cx="6014434" cy="646331"/>
          </a:xfrm>
        </p:grpSpPr>
        <p:sp>
          <p:nvSpPr>
            <p:cNvPr id="12" name="11 CuadroTexto"/>
            <p:cNvSpPr txBox="1"/>
            <p:nvPr/>
          </p:nvSpPr>
          <p:spPr>
            <a:xfrm>
              <a:off x="3779912" y="3861048"/>
              <a:ext cx="3998210" cy="64633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Se conocen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MAX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(global), </a:t>
              </a:r>
              <a:r>
                <a:rPr lang="es-ES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op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(local) 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ingresos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(local que oculta la global)</a:t>
              </a:r>
            </a:p>
          </p:txBody>
        </p:sp>
        <p:cxnSp>
          <p:nvCxnSpPr>
            <p:cNvPr id="16" name="15 Conector recto de flecha"/>
            <p:cNvCxnSpPr>
              <a:stCxn id="12" idx="1"/>
            </p:cNvCxnSpPr>
            <p:nvPr/>
          </p:nvCxnSpPr>
          <p:spPr>
            <a:xfrm flipH="1" flipV="1">
              <a:off x="1763688" y="4005064"/>
              <a:ext cx="2016224" cy="179150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25 Grupo"/>
          <p:cNvGrpSpPr/>
          <p:nvPr/>
        </p:nvGrpSpPr>
        <p:grpSpPr>
          <a:xfrm>
            <a:off x="1763688" y="5320498"/>
            <a:ext cx="5640934" cy="646331"/>
            <a:chOff x="1763688" y="5411316"/>
            <a:chExt cx="5640934" cy="646331"/>
          </a:xfrm>
        </p:grpSpPr>
        <p:sp>
          <p:nvSpPr>
            <p:cNvPr id="18" name="17 CuadroTexto"/>
            <p:cNvSpPr txBox="1"/>
            <p:nvPr/>
          </p:nvSpPr>
          <p:spPr>
            <a:xfrm>
              <a:off x="3779912" y="5411316"/>
              <a:ext cx="3624710" cy="64633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Se conocen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MAX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(global), </a:t>
              </a:r>
              <a:r>
                <a:rPr lang="es-ES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op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(local) 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ingresos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(global)</a:t>
              </a:r>
            </a:p>
          </p:txBody>
        </p:sp>
        <p:cxnSp>
          <p:nvCxnSpPr>
            <p:cNvPr id="19" name="18 Conector recto de flecha"/>
            <p:cNvCxnSpPr>
              <a:stCxn id="18" idx="1"/>
            </p:cNvCxnSpPr>
            <p:nvPr/>
          </p:nvCxnSpPr>
          <p:spPr>
            <a:xfrm flipH="1" flipV="1">
              <a:off x="1763688" y="5411316"/>
              <a:ext cx="2016224" cy="323166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27 Grupo"/>
          <p:cNvGrpSpPr/>
          <p:nvPr/>
        </p:nvGrpSpPr>
        <p:grpSpPr>
          <a:xfrm>
            <a:off x="6185658" y="1973855"/>
            <a:ext cx="2437928" cy="967462"/>
            <a:chOff x="899593" y="5401791"/>
            <a:chExt cx="2775628" cy="9674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28 CuadroTexto"/>
            <p:cNvSpPr txBox="1"/>
            <p:nvPr/>
          </p:nvSpPr>
          <p:spPr>
            <a:xfrm>
              <a:off x="899593" y="5416649"/>
              <a:ext cx="2775628" cy="95260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op</a:t>
              </a: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de </a:t>
              </a: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proc()</a:t>
              </a:r>
              <a:b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</a:b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es distinta </a:t>
              </a:r>
              <a:b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de </a:t>
              </a: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op</a:t>
              </a: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de </a:t>
              </a:r>
              <a:r>
                <a:rPr lang="nl-NL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main()</a:t>
              </a:r>
              <a:endParaRPr lang="nl-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  <p:pic>
          <p:nvPicPr>
            <p:cNvPr id="30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Datos locales y datos globales</a:t>
            </a:r>
            <a:endParaRPr lang="es-ES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Sobre el uso de datos globales en los subprogramas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NO SE DEBEN USAR datos globales en subprogramas</a:t>
            </a: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</a:pPr>
            <a:r>
              <a:rPr lang="es-ES" i="1" dirty="0">
                <a:solidFill>
                  <a:prstClr val="white"/>
                </a:solidFill>
              </a:rPr>
              <a:t>¿Necesidad de datos externos?</a:t>
            </a:r>
          </a:p>
          <a:p>
            <a:pPr marL="628650" lvl="1" indent="0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Define parámetros en el subprograma</a:t>
            </a:r>
          </a:p>
          <a:p>
            <a:pPr marL="628650" lvl="1" indent="0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Los datos externos se pasan como argumentos en la llamada</a:t>
            </a: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</a:pPr>
            <a:r>
              <a:rPr lang="es-ES" dirty="0">
                <a:solidFill>
                  <a:prstClr val="white"/>
                </a:solidFill>
              </a:rPr>
              <a:t>Uso de datos globales en los subprogramas:</a:t>
            </a:r>
          </a:p>
          <a:p>
            <a:pPr marL="628650" lvl="1" indent="0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Riesgo de </a:t>
            </a:r>
            <a:r>
              <a:rPr lang="es-ES" i="1" dirty="0">
                <a:solidFill>
                  <a:prstClr val="white"/>
                </a:solidFill>
              </a:rPr>
              <a:t>efectos laterales</a:t>
            </a:r>
          </a:p>
          <a:p>
            <a:pPr marL="628650" lvl="1" indent="0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Modificación inadvertida de esos datos afectando otros sitios</a:t>
            </a:r>
          </a:p>
          <a:p>
            <a:pPr marL="628650" lvl="1" indent="-266700">
              <a:spcBef>
                <a:spcPts val="12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Excepciones:</a:t>
            </a: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</a:pPr>
            <a:r>
              <a:rPr lang="es-ES" dirty="0">
                <a:solidFill>
                  <a:prstClr val="white"/>
                </a:solidFill>
              </a:rPr>
              <a:t>Constantes globales (valores inalterables)</a:t>
            </a: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</a:pPr>
            <a:r>
              <a:rPr lang="es-ES" dirty="0">
                <a:solidFill>
                  <a:prstClr val="white"/>
                </a:solidFill>
              </a:rPr>
              <a:t>Tipos globales (necesarios en varios subprogramas)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444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445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135066" y="3044280"/>
            <a:ext cx="2874057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Parámetros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Comunicación con el exterior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Datos de entrada, datos de salida y datos de entrada/salida</a:t>
            </a:r>
          </a:p>
          <a:p>
            <a:pPr marL="361950" lvl="1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Datos de entrada: Aceptados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ym typeface="Wingdings" pitchFamily="2" charset="2"/>
              </a:rPr>
              <a:t>Subprograma que dado un número</a:t>
            </a:r>
            <a:br>
              <a:rPr lang="es-ES" sz="2000" dirty="0">
                <a:sym typeface="Wingdings" pitchFamily="2" charset="2"/>
              </a:rPr>
            </a:br>
            <a:r>
              <a:rPr lang="es-ES" sz="2000" dirty="0">
                <a:sym typeface="Wingdings" pitchFamily="2" charset="2"/>
              </a:rPr>
              <a:t>muestra en la pantalla su cuadrado:</a:t>
            </a:r>
          </a:p>
          <a:p>
            <a:pPr marL="361950" lvl="1" indent="0">
              <a:spcBef>
                <a:spcPts val="240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Datos de salida: Devueltos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ym typeface="Wingdings" pitchFamily="2" charset="2"/>
              </a:rPr>
              <a:t>Subprograma que dado un número</a:t>
            </a:r>
            <a:br>
              <a:rPr lang="es-ES" sz="2000" dirty="0">
                <a:sym typeface="Wingdings" pitchFamily="2" charset="2"/>
              </a:rPr>
            </a:br>
            <a:r>
              <a:rPr lang="es-ES" sz="2000" dirty="0">
                <a:sym typeface="Wingdings" pitchFamily="2" charset="2"/>
              </a:rPr>
              <a:t>devuelve su cuadrado:</a:t>
            </a:r>
          </a:p>
          <a:p>
            <a:pPr marL="361950" lvl="1" indent="0">
              <a:spcBef>
                <a:spcPts val="2400"/>
              </a:spcBef>
              <a:buNone/>
            </a:pPr>
            <a:r>
              <a:rPr lang="es-ES" dirty="0">
                <a:sym typeface="Wingdings" pitchFamily="2" charset="2"/>
              </a:rPr>
              <a:t>Datos de entrada/salida: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Aceptados y modificados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Subprograma que dada una </a:t>
            </a:r>
            <a:r>
              <a:rPr lang="es-ES" sz="2000" dirty="0">
                <a:solidFill>
                  <a:srgbClr val="FFC000"/>
                </a:solidFill>
                <a:sym typeface="Wingdings" pitchFamily="2" charset="2"/>
              </a:rPr>
              <a:t>variable</a:t>
            </a:r>
            <a:br>
              <a:rPr lang="es-ES" sz="2000" dirty="0">
                <a:solidFill>
                  <a:prstClr val="white"/>
                </a:solidFill>
                <a:sym typeface="Wingdings" pitchFamily="2" charset="2"/>
              </a:rPr>
            </a:b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numérica la eleva al cuadrado: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446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pSp>
        <p:nvGrpSpPr>
          <p:cNvPr id="43" name="42 Grupo"/>
          <p:cNvGrpSpPr/>
          <p:nvPr/>
        </p:nvGrpSpPr>
        <p:grpSpPr>
          <a:xfrm>
            <a:off x="5004048" y="1594659"/>
            <a:ext cx="2592288" cy="369332"/>
            <a:chOff x="5004048" y="1594659"/>
            <a:chExt cx="2592288" cy="369332"/>
          </a:xfrm>
        </p:grpSpPr>
        <p:sp>
          <p:nvSpPr>
            <p:cNvPr id="6" name="5 CuadroTexto"/>
            <p:cNvSpPr txBox="1"/>
            <p:nvPr/>
          </p:nvSpPr>
          <p:spPr>
            <a:xfrm>
              <a:off x="6137282" y="1594659"/>
              <a:ext cx="1459054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r>
                <a:rPr lang="es-ES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Subprograma</a:t>
              </a:r>
            </a:p>
          </p:txBody>
        </p:sp>
        <p:cxnSp>
          <p:nvCxnSpPr>
            <p:cNvPr id="8" name="7 Conector recto de flecha"/>
            <p:cNvCxnSpPr/>
            <p:nvPr/>
          </p:nvCxnSpPr>
          <p:spPr>
            <a:xfrm>
              <a:off x="5004048" y="1782108"/>
              <a:ext cx="1133234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44 Grupo"/>
          <p:cNvGrpSpPr/>
          <p:nvPr/>
        </p:nvGrpSpPr>
        <p:grpSpPr>
          <a:xfrm>
            <a:off x="6156176" y="3018552"/>
            <a:ext cx="2530624" cy="369332"/>
            <a:chOff x="6156176" y="3018552"/>
            <a:chExt cx="2530624" cy="369332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7596336" y="3204413"/>
              <a:ext cx="1090464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8 CuadroTexto"/>
            <p:cNvSpPr txBox="1"/>
            <p:nvPr/>
          </p:nvSpPr>
          <p:spPr>
            <a:xfrm>
              <a:off x="6156176" y="3018552"/>
              <a:ext cx="1459054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Subprograma</a:t>
              </a:r>
            </a:p>
          </p:txBody>
        </p:sp>
      </p:grpSp>
      <p:grpSp>
        <p:nvGrpSpPr>
          <p:cNvPr id="47" name="46 Grupo"/>
          <p:cNvGrpSpPr/>
          <p:nvPr/>
        </p:nvGrpSpPr>
        <p:grpSpPr>
          <a:xfrm>
            <a:off x="5004048" y="4581128"/>
            <a:ext cx="3627070" cy="369332"/>
            <a:chOff x="5004048" y="4581128"/>
            <a:chExt cx="3627070" cy="369332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7596336" y="4766989"/>
              <a:ext cx="1034782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11 CuadroTexto"/>
            <p:cNvSpPr txBox="1"/>
            <p:nvPr/>
          </p:nvSpPr>
          <p:spPr>
            <a:xfrm>
              <a:off x="6156176" y="4581128"/>
              <a:ext cx="1459054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r>
                <a:rPr lang="es-ES" i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Subprograma</a:t>
              </a:r>
            </a:p>
          </p:txBody>
        </p:sp>
        <p:cxnSp>
          <p:nvCxnSpPr>
            <p:cNvPr id="13" name="12 Conector recto de flecha"/>
            <p:cNvCxnSpPr/>
            <p:nvPr/>
          </p:nvCxnSpPr>
          <p:spPr>
            <a:xfrm>
              <a:off x="5004048" y="4770165"/>
              <a:ext cx="1152128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43 Grupo"/>
          <p:cNvGrpSpPr/>
          <p:nvPr/>
        </p:nvGrpSpPr>
        <p:grpSpPr>
          <a:xfrm>
            <a:off x="5004048" y="2003698"/>
            <a:ext cx="2592288" cy="735881"/>
            <a:chOff x="5004048" y="2003698"/>
            <a:chExt cx="2592288" cy="735881"/>
          </a:xfrm>
        </p:grpSpPr>
        <p:sp>
          <p:nvSpPr>
            <p:cNvPr id="19" name="18 CuadroTexto"/>
            <p:cNvSpPr txBox="1"/>
            <p:nvPr/>
          </p:nvSpPr>
          <p:spPr>
            <a:xfrm>
              <a:off x="6137282" y="2185581"/>
              <a:ext cx="1459054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algn="ctr"/>
              <a:r>
                <a:rPr lang="es-E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cuadrado()</a:t>
              </a:r>
            </a:p>
          </p:txBody>
        </p:sp>
        <p:cxnSp>
          <p:nvCxnSpPr>
            <p:cNvPr id="20" name="19 Conector recto de flecha"/>
            <p:cNvCxnSpPr/>
            <p:nvPr/>
          </p:nvCxnSpPr>
          <p:spPr>
            <a:xfrm>
              <a:off x="5004048" y="2373030"/>
              <a:ext cx="1133234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20 CuadroTexto"/>
            <p:cNvSpPr txBox="1"/>
            <p:nvPr/>
          </p:nvSpPr>
          <p:spPr>
            <a:xfrm>
              <a:off x="5417202" y="2003698"/>
              <a:ext cx="31130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x</a:t>
              </a:r>
            </a:p>
          </p:txBody>
        </p:sp>
        <p:sp>
          <p:nvSpPr>
            <p:cNvPr id="22" name="21 CuadroTexto"/>
            <p:cNvSpPr txBox="1"/>
            <p:nvPr/>
          </p:nvSpPr>
          <p:spPr>
            <a:xfrm>
              <a:off x="5417202" y="2370247"/>
              <a:ext cx="31130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5</a:t>
              </a:r>
            </a:p>
          </p:txBody>
        </p:sp>
      </p:grpSp>
      <p:grpSp>
        <p:nvGrpSpPr>
          <p:cNvPr id="46" name="45 Grupo"/>
          <p:cNvGrpSpPr/>
          <p:nvPr/>
        </p:nvGrpSpPr>
        <p:grpSpPr>
          <a:xfrm>
            <a:off x="5004048" y="3429000"/>
            <a:ext cx="3682752" cy="738664"/>
            <a:chOff x="5004048" y="3429000"/>
            <a:chExt cx="3682752" cy="738664"/>
          </a:xfrm>
        </p:grpSpPr>
        <p:cxnSp>
          <p:nvCxnSpPr>
            <p:cNvPr id="23" name="22 Conector recto de flecha"/>
            <p:cNvCxnSpPr/>
            <p:nvPr/>
          </p:nvCxnSpPr>
          <p:spPr>
            <a:xfrm>
              <a:off x="7596336" y="3795156"/>
              <a:ext cx="1090464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23 CuadroTexto"/>
            <p:cNvSpPr txBox="1"/>
            <p:nvPr/>
          </p:nvSpPr>
          <p:spPr>
            <a:xfrm>
              <a:off x="6156176" y="3609295"/>
              <a:ext cx="1459054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algn="ctr"/>
              <a:r>
                <a:rPr lang="es-E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cuadrado()</a:t>
              </a:r>
            </a:p>
          </p:txBody>
        </p:sp>
        <p:cxnSp>
          <p:nvCxnSpPr>
            <p:cNvPr id="25" name="24 Conector recto de flecha"/>
            <p:cNvCxnSpPr/>
            <p:nvPr/>
          </p:nvCxnSpPr>
          <p:spPr>
            <a:xfrm>
              <a:off x="5004048" y="3798332"/>
              <a:ext cx="1152128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25 CuadroTexto"/>
            <p:cNvSpPr txBox="1"/>
            <p:nvPr/>
          </p:nvSpPr>
          <p:spPr>
            <a:xfrm>
              <a:off x="5436096" y="3429000"/>
              <a:ext cx="31130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x</a:t>
              </a:r>
            </a:p>
          </p:txBody>
        </p:sp>
        <p:sp>
          <p:nvSpPr>
            <p:cNvPr id="27" name="26 CuadroTexto"/>
            <p:cNvSpPr txBox="1"/>
            <p:nvPr/>
          </p:nvSpPr>
          <p:spPr>
            <a:xfrm>
              <a:off x="7649294" y="3429000"/>
              <a:ext cx="94769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y</a:t>
              </a: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(=x</a:t>
              </a:r>
              <a:r>
                <a:rPr lang="es-ES" sz="1600" baseline="30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2</a:t>
              </a: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)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sp>
          <p:nvSpPr>
            <p:cNvPr id="31" name="30 CuadroTexto"/>
            <p:cNvSpPr txBox="1"/>
            <p:nvPr/>
          </p:nvSpPr>
          <p:spPr>
            <a:xfrm>
              <a:off x="5417202" y="3798332"/>
              <a:ext cx="31130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5</a:t>
              </a:r>
            </a:p>
          </p:txBody>
        </p:sp>
      </p:grpSp>
      <p:grpSp>
        <p:nvGrpSpPr>
          <p:cNvPr id="48" name="47 Grupo"/>
          <p:cNvGrpSpPr/>
          <p:nvPr/>
        </p:nvGrpSpPr>
        <p:grpSpPr>
          <a:xfrm>
            <a:off x="5004048" y="5145296"/>
            <a:ext cx="3627070" cy="549627"/>
            <a:chOff x="5004048" y="5145296"/>
            <a:chExt cx="3627070" cy="549627"/>
          </a:xfrm>
        </p:grpSpPr>
        <p:cxnSp>
          <p:nvCxnSpPr>
            <p:cNvPr id="32" name="31 Conector recto de flecha"/>
            <p:cNvCxnSpPr/>
            <p:nvPr/>
          </p:nvCxnSpPr>
          <p:spPr>
            <a:xfrm>
              <a:off x="7596336" y="5511452"/>
              <a:ext cx="1034782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32 CuadroTexto"/>
            <p:cNvSpPr txBox="1"/>
            <p:nvPr/>
          </p:nvSpPr>
          <p:spPr>
            <a:xfrm>
              <a:off x="6156176" y="5325591"/>
              <a:ext cx="1459054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algn="ctr"/>
              <a:r>
                <a:rPr lang="es-E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cuadrado()</a:t>
              </a:r>
            </a:p>
          </p:txBody>
        </p:sp>
        <p:cxnSp>
          <p:nvCxnSpPr>
            <p:cNvPr id="34" name="33 Conector recto de flecha"/>
            <p:cNvCxnSpPr/>
            <p:nvPr/>
          </p:nvCxnSpPr>
          <p:spPr>
            <a:xfrm>
              <a:off x="5004048" y="5514628"/>
              <a:ext cx="1152128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34 CuadroTexto"/>
            <p:cNvSpPr txBox="1"/>
            <p:nvPr/>
          </p:nvSpPr>
          <p:spPr>
            <a:xfrm>
              <a:off x="5436096" y="5145296"/>
              <a:ext cx="31130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x</a:t>
              </a:r>
            </a:p>
          </p:txBody>
        </p:sp>
        <p:sp>
          <p:nvSpPr>
            <p:cNvPr id="36" name="35 CuadroTexto"/>
            <p:cNvSpPr txBox="1"/>
            <p:nvPr/>
          </p:nvSpPr>
          <p:spPr>
            <a:xfrm>
              <a:off x="7812360" y="5154821"/>
              <a:ext cx="31130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x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Parámetros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Declaración de parámetros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Sólo dos clases de parámetros:</a:t>
            </a:r>
          </a:p>
          <a:p>
            <a:pPr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ym typeface="Wingdings" pitchFamily="2" charset="2"/>
              </a:rPr>
              <a:t>Sólo de entrada (</a:t>
            </a:r>
            <a:r>
              <a:rPr lang="es-ES" sz="2200" i="1" dirty="0">
                <a:sym typeface="Wingdings" pitchFamily="2" charset="2"/>
              </a:rPr>
              <a:t>por valor</a:t>
            </a:r>
            <a:r>
              <a:rPr lang="es-ES" sz="2200" dirty="0">
                <a:sym typeface="Wingdings" pitchFamily="2" charset="2"/>
              </a:rPr>
              <a:t>)</a:t>
            </a:r>
          </a:p>
          <a:p>
            <a:pPr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ym typeface="Wingdings" pitchFamily="2" charset="2"/>
              </a:rPr>
              <a:t>De salida (sólo salida o E/S) (</a:t>
            </a:r>
            <a:r>
              <a:rPr lang="es-ES" sz="2200" i="1" dirty="0">
                <a:sym typeface="Wingdings" pitchFamily="2" charset="2"/>
              </a:rPr>
              <a:t>por referencia</a:t>
            </a:r>
            <a:r>
              <a:rPr lang="es-ES" sz="2200" dirty="0">
                <a:sym typeface="Wingdings" pitchFamily="2" charset="2"/>
              </a:rPr>
              <a:t> / </a:t>
            </a:r>
            <a:r>
              <a:rPr lang="es-ES" sz="2200" i="1" dirty="0">
                <a:sym typeface="Wingdings" pitchFamily="2" charset="2"/>
              </a:rPr>
              <a:t>por variable</a:t>
            </a:r>
            <a:r>
              <a:rPr lang="es-ES" sz="2200" dirty="0">
                <a:sym typeface="Wingdings" pitchFamily="2" charset="2"/>
              </a:rPr>
              <a:t>)</a:t>
            </a:r>
          </a:p>
          <a:p>
            <a:pPr marL="0" lvl="1" indent="0">
              <a:spcBef>
                <a:spcPts val="1800"/>
              </a:spcBef>
              <a:spcAft>
                <a:spcPts val="1200"/>
              </a:spcAft>
              <a:buClr>
                <a:schemeClr val="accent3"/>
              </a:buClr>
              <a:buSzPct val="95000"/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  <a:sym typeface="Wingdings" pitchFamily="2" charset="2"/>
              </a:rPr>
              <a:t>Lista de parámetros formales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Entre los paréntesis de la cabecera del subprograma</a:t>
            </a:r>
          </a:p>
          <a:p>
            <a:pPr marL="36195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i="1" dirty="0">
                <a:solidFill>
                  <a:srgbClr val="FFC000"/>
                </a:solidFill>
                <a:latin typeface="Consolas" pitchFamily="49" charset="0"/>
              </a:rPr>
              <a:t>tipo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i="1" dirty="0">
                <a:latin typeface="Consolas" pitchFamily="49" charset="0"/>
              </a:rPr>
              <a:t>nombre</a:t>
            </a:r>
            <a:r>
              <a:rPr lang="es-ES" sz="2000" dirty="0">
                <a:latin typeface="Consolas" pitchFamily="49" charset="0"/>
              </a:rPr>
              <a:t>(</a:t>
            </a:r>
            <a:r>
              <a:rPr lang="es-ES" sz="2000" i="1" dirty="0">
                <a:latin typeface="Consolas" pitchFamily="49" charset="0"/>
              </a:rPr>
              <a:t>parámetros</a:t>
            </a:r>
            <a:r>
              <a:rPr lang="es-ES" sz="2000" dirty="0">
                <a:latin typeface="Consolas" pitchFamily="49" charset="0"/>
              </a:rPr>
              <a:t>)</a:t>
            </a:r>
            <a:endParaRPr lang="es-ES" sz="2000" dirty="0">
              <a:sym typeface="Wingdings" pitchFamily="2" charset="2"/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>
              <a:sym typeface="Wingdings" pitchFamily="2" charset="2"/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dirty="0">
              <a:sym typeface="Wingdings" pitchFamily="2" charset="2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447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pSp>
        <p:nvGrpSpPr>
          <p:cNvPr id="24" name="23 Grupo"/>
          <p:cNvGrpSpPr/>
          <p:nvPr/>
        </p:nvGrpSpPr>
        <p:grpSpPr>
          <a:xfrm>
            <a:off x="3504806" y="5230377"/>
            <a:ext cx="3872678" cy="369332"/>
            <a:chOff x="3504806" y="5230377"/>
            <a:chExt cx="3872678" cy="369332"/>
          </a:xfrm>
        </p:grpSpPr>
        <p:cxnSp>
          <p:nvCxnSpPr>
            <p:cNvPr id="31" name="30 Conector recto de flecha"/>
            <p:cNvCxnSpPr/>
            <p:nvPr/>
          </p:nvCxnSpPr>
          <p:spPr>
            <a:xfrm>
              <a:off x="3504806" y="5417611"/>
              <a:ext cx="183812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33 Conector recto de flecha"/>
            <p:cNvCxnSpPr/>
            <p:nvPr/>
          </p:nvCxnSpPr>
          <p:spPr>
            <a:xfrm>
              <a:off x="6729412" y="5434093"/>
              <a:ext cx="64807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34 CuadroTexto"/>
            <p:cNvSpPr txBox="1"/>
            <p:nvPr/>
          </p:nvSpPr>
          <p:spPr>
            <a:xfrm>
              <a:off x="5342926" y="5230377"/>
              <a:ext cx="1365567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s-ES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identificador</a:t>
              </a:r>
            </a:p>
          </p:txBody>
        </p:sp>
      </p:grpSp>
      <p:grpSp>
        <p:nvGrpSpPr>
          <p:cNvPr id="23" name="22 Grupo"/>
          <p:cNvGrpSpPr/>
          <p:nvPr/>
        </p:nvGrpSpPr>
        <p:grpSpPr>
          <a:xfrm>
            <a:off x="2424686" y="5237119"/>
            <a:ext cx="1080120" cy="369332"/>
            <a:chOff x="2424686" y="5237119"/>
            <a:chExt cx="1080120" cy="369332"/>
          </a:xfrm>
        </p:grpSpPr>
        <p:cxnSp>
          <p:nvCxnSpPr>
            <p:cNvPr id="37" name="36 Conector recto de flecha"/>
            <p:cNvCxnSpPr/>
            <p:nvPr/>
          </p:nvCxnSpPr>
          <p:spPr>
            <a:xfrm>
              <a:off x="2424686" y="5415043"/>
              <a:ext cx="50405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37 CuadroTexto"/>
            <p:cNvSpPr txBox="1"/>
            <p:nvPr/>
          </p:nvSpPr>
          <p:spPr>
            <a:xfrm>
              <a:off x="2953052" y="5237119"/>
              <a:ext cx="551754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s-ES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tipo</a:t>
              </a:r>
            </a:p>
          </p:txBody>
        </p:sp>
      </p:grpSp>
      <p:grpSp>
        <p:nvGrpSpPr>
          <p:cNvPr id="26" name="25 Grupo"/>
          <p:cNvGrpSpPr/>
          <p:nvPr/>
        </p:nvGrpSpPr>
        <p:grpSpPr>
          <a:xfrm>
            <a:off x="2678630" y="5434093"/>
            <a:ext cx="4248472" cy="731211"/>
            <a:chOff x="2678630" y="5434093"/>
            <a:chExt cx="4248472" cy="731211"/>
          </a:xfrm>
        </p:grpSpPr>
        <p:cxnSp>
          <p:nvCxnSpPr>
            <p:cNvPr id="27" name="26 Conector recto"/>
            <p:cNvCxnSpPr/>
            <p:nvPr/>
          </p:nvCxnSpPr>
          <p:spPr>
            <a:xfrm rot="5400000" flipH="1" flipV="1">
              <a:off x="6634994" y="5718264"/>
              <a:ext cx="565166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27 Conector recto"/>
            <p:cNvCxnSpPr/>
            <p:nvPr/>
          </p:nvCxnSpPr>
          <p:spPr>
            <a:xfrm>
              <a:off x="2678630" y="5999260"/>
              <a:ext cx="4248472" cy="1587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28 Conector recto"/>
            <p:cNvCxnSpPr/>
            <p:nvPr/>
          </p:nvCxnSpPr>
          <p:spPr>
            <a:xfrm rot="5400000" flipH="1" flipV="1">
              <a:off x="2405572" y="5716676"/>
              <a:ext cx="565166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39 Elipse"/>
            <p:cNvSpPr/>
            <p:nvPr/>
          </p:nvSpPr>
          <p:spPr>
            <a:xfrm>
              <a:off x="4766862" y="5805264"/>
              <a:ext cx="360040" cy="36004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,</a:t>
              </a:r>
            </a:p>
          </p:txBody>
        </p:sp>
      </p:grpSp>
      <p:sp>
        <p:nvSpPr>
          <p:cNvPr id="43" name="42 CuadroTexto"/>
          <p:cNvSpPr txBox="1"/>
          <p:nvPr/>
        </p:nvSpPr>
        <p:spPr>
          <a:xfrm>
            <a:off x="971600" y="5208544"/>
            <a:ext cx="1393779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/>
            <a:r>
              <a:rPr lang="es-E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parámetros</a:t>
            </a:r>
          </a:p>
        </p:txBody>
      </p:sp>
      <p:grpSp>
        <p:nvGrpSpPr>
          <p:cNvPr id="30" name="29 Grupo"/>
          <p:cNvGrpSpPr/>
          <p:nvPr/>
        </p:nvGrpSpPr>
        <p:grpSpPr>
          <a:xfrm>
            <a:off x="4286473" y="4342059"/>
            <a:ext cx="4243139" cy="845302"/>
            <a:chOff x="4286473" y="4342059"/>
            <a:chExt cx="4243139" cy="845302"/>
          </a:xfrm>
        </p:grpSpPr>
        <p:sp>
          <p:nvSpPr>
            <p:cNvPr id="58" name="57 Flecha curvada hacia abajo"/>
            <p:cNvSpPr/>
            <p:nvPr/>
          </p:nvSpPr>
          <p:spPr>
            <a:xfrm>
              <a:off x="4286473" y="4342059"/>
              <a:ext cx="3744416" cy="521500"/>
            </a:xfrm>
            <a:prstGeom prst="curvedDownArrow">
              <a:avLst>
                <a:gd name="adj1" fmla="val 42909"/>
                <a:gd name="adj2" fmla="val 67228"/>
                <a:gd name="adj3" fmla="val 30420"/>
              </a:avLst>
            </a:prstGeom>
            <a:ln>
              <a:solidFill>
                <a:schemeClr val="accent5">
                  <a:lumMod val="20000"/>
                  <a:lumOff val="80000"/>
                </a:schemeClr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59" name="58 CuadroTexto"/>
            <p:cNvSpPr txBox="1"/>
            <p:nvPr/>
          </p:nvSpPr>
          <p:spPr>
            <a:xfrm>
              <a:off x="7450470" y="4818029"/>
              <a:ext cx="1079142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De salida</a:t>
              </a:r>
            </a:p>
          </p:txBody>
        </p:sp>
      </p:grpSp>
      <p:grpSp>
        <p:nvGrpSpPr>
          <p:cNvPr id="25" name="24 Grupo"/>
          <p:cNvGrpSpPr/>
          <p:nvPr/>
        </p:nvGrpSpPr>
        <p:grpSpPr>
          <a:xfrm>
            <a:off x="3758750" y="4674013"/>
            <a:ext cx="1152922" cy="745186"/>
            <a:chOff x="3758750" y="4674013"/>
            <a:chExt cx="1152922" cy="745186"/>
          </a:xfrm>
        </p:grpSpPr>
        <p:cxnSp>
          <p:nvCxnSpPr>
            <p:cNvPr id="47" name="46 Conector recto"/>
            <p:cNvCxnSpPr/>
            <p:nvPr/>
          </p:nvCxnSpPr>
          <p:spPr>
            <a:xfrm rot="5400000" flipH="1" flipV="1">
              <a:off x="3476167" y="5136616"/>
              <a:ext cx="565166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47 Conector recto"/>
            <p:cNvCxnSpPr/>
            <p:nvPr/>
          </p:nvCxnSpPr>
          <p:spPr>
            <a:xfrm flipV="1">
              <a:off x="3758750" y="4863558"/>
              <a:ext cx="432048" cy="1"/>
            </a:xfrm>
            <a:prstGeom prst="line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49 Elipse"/>
            <p:cNvSpPr/>
            <p:nvPr/>
          </p:nvSpPr>
          <p:spPr>
            <a:xfrm>
              <a:off x="4190798" y="4674013"/>
              <a:ext cx="360040" cy="36004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&amp;</a:t>
              </a:r>
            </a:p>
          </p:txBody>
        </p:sp>
        <p:cxnSp>
          <p:nvCxnSpPr>
            <p:cNvPr id="52" name="51 Conector recto"/>
            <p:cNvCxnSpPr/>
            <p:nvPr/>
          </p:nvCxnSpPr>
          <p:spPr>
            <a:xfrm>
              <a:off x="4551632" y="4854033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53 Conector recto de flecha"/>
            <p:cNvCxnSpPr/>
            <p:nvPr/>
          </p:nvCxnSpPr>
          <p:spPr>
            <a:xfrm rot="5400000">
              <a:off x="4625611" y="5130588"/>
              <a:ext cx="570534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Parámetros por valor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Reciben copias de los argumentos usados en la llamada</a:t>
            </a:r>
          </a:p>
          <a:p>
            <a:pPr marL="36195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cuadrado(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num)</a:t>
            </a:r>
          </a:p>
          <a:p>
            <a:pPr marL="36195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latin typeface="Consolas" pitchFamily="49" charset="0"/>
              </a:rPr>
              <a:t> potencia(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latin typeface="Consolas" pitchFamily="49" charset="0"/>
              </a:rPr>
              <a:t> base,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 err="1">
                <a:latin typeface="Consolas" pitchFamily="49" charset="0"/>
              </a:rPr>
              <a:t>exp</a:t>
            </a:r>
            <a:r>
              <a:rPr lang="es-ES" sz="2000" dirty="0">
                <a:latin typeface="Consolas" pitchFamily="49" charset="0"/>
              </a:rPr>
              <a:t>)</a:t>
            </a:r>
          </a:p>
          <a:p>
            <a:pPr marL="36195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r>
              <a:rPr lang="es-ES" sz="2000" dirty="0">
                <a:latin typeface="Consolas" pitchFamily="49" charset="0"/>
              </a:rPr>
              <a:t> muestra(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000" dirty="0">
                <a:latin typeface="Consolas" pitchFamily="49" charset="0"/>
              </a:rPr>
              <a:t> nombre,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edad,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 err="1">
                <a:latin typeface="Consolas" pitchFamily="49" charset="0"/>
              </a:rPr>
              <a:t>nif</a:t>
            </a:r>
            <a:r>
              <a:rPr lang="es-ES" sz="2000" dirty="0">
                <a:latin typeface="Consolas" pitchFamily="49" charset="0"/>
              </a:rPr>
              <a:t>)</a:t>
            </a:r>
          </a:p>
          <a:p>
            <a:pPr marL="361950" lvl="1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r>
              <a:rPr lang="es-ES" sz="2000" dirty="0">
                <a:latin typeface="Consolas" pitchFamily="49" charset="0"/>
              </a:rPr>
              <a:t> proc(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sz="2000" dirty="0">
                <a:latin typeface="Consolas" pitchFamily="49" charset="0"/>
              </a:rPr>
              <a:t> c,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x,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latin typeface="Consolas" pitchFamily="49" charset="0"/>
              </a:rPr>
              <a:t> a,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bool</a:t>
            </a:r>
            <a:r>
              <a:rPr lang="es-ES" sz="2000" dirty="0">
                <a:latin typeface="Consolas" pitchFamily="49" charset="0"/>
              </a:rPr>
              <a:t> b)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Reciben sus valores en la llamada del subprograma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Argumentos: Expresiones en general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Variables, constantes, literales, llamadas a función, operaciones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Se destruyen al terminar la ejecución del subprograma</a:t>
            </a:r>
          </a:p>
          <a:p>
            <a:pPr marL="361950" lvl="1" indent="0">
              <a:spcBef>
                <a:spcPts val="1200"/>
              </a:spcBef>
              <a:spcAft>
                <a:spcPts val="600"/>
              </a:spcAft>
              <a:buNone/>
            </a:pPr>
            <a:endParaRPr lang="es-ES" dirty="0">
              <a:sym typeface="Wingdings" pitchFamily="2" charset="2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448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Parámetros por referencia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Misma identidad que la variable pasada como argumento</a:t>
            </a:r>
          </a:p>
          <a:p>
            <a:pPr marL="36195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r>
              <a:rPr lang="es-ES" sz="2000" dirty="0">
                <a:latin typeface="Consolas" pitchFamily="49" charset="0"/>
              </a:rPr>
              <a:t> incrementa(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 </a:t>
            </a:r>
            <a:r>
              <a:rPr lang="es-ES" sz="2000" dirty="0">
                <a:solidFill>
                  <a:srgbClr val="FFCCFF"/>
                </a:solidFill>
                <a:latin typeface="Consolas" pitchFamily="49" charset="0"/>
              </a:rPr>
              <a:t>&amp;</a:t>
            </a:r>
            <a:r>
              <a:rPr lang="es-ES" sz="2000" dirty="0">
                <a:latin typeface="Consolas" pitchFamily="49" charset="0"/>
              </a:rPr>
              <a:t>x)</a:t>
            </a:r>
          </a:p>
          <a:p>
            <a:pPr marL="36195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r>
              <a:rPr lang="es-ES" sz="2000" dirty="0">
                <a:latin typeface="Consolas" pitchFamily="49" charset="0"/>
              </a:rPr>
              <a:t> intercambia(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 </a:t>
            </a:r>
            <a:r>
              <a:rPr lang="es-ES" sz="2000" dirty="0">
                <a:solidFill>
                  <a:srgbClr val="FFCCFF"/>
                </a:solidFill>
                <a:latin typeface="Consolas" pitchFamily="49" charset="0"/>
              </a:rPr>
              <a:t>&amp;</a:t>
            </a:r>
            <a:r>
              <a:rPr lang="es-ES" sz="2000" dirty="0">
                <a:latin typeface="Consolas" pitchFamily="49" charset="0"/>
              </a:rPr>
              <a:t>x,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 </a:t>
            </a:r>
            <a:r>
              <a:rPr lang="es-ES" sz="2000" dirty="0">
                <a:solidFill>
                  <a:srgbClr val="FFCCFF"/>
                </a:solidFill>
                <a:latin typeface="Consolas" pitchFamily="49" charset="0"/>
              </a:rPr>
              <a:t>&amp;</a:t>
            </a:r>
            <a:r>
              <a:rPr lang="es-ES" sz="2000" dirty="0">
                <a:latin typeface="Consolas" pitchFamily="49" charset="0"/>
              </a:rPr>
              <a:t>y)</a:t>
            </a:r>
          </a:p>
          <a:p>
            <a:pPr marL="36195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r>
              <a:rPr lang="es-ES" sz="2000" dirty="0">
                <a:latin typeface="Consolas" pitchFamily="49" charset="0"/>
              </a:rPr>
              <a:t> proc(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char </a:t>
            </a:r>
            <a:r>
              <a:rPr lang="es-ES" sz="2000" dirty="0">
                <a:solidFill>
                  <a:srgbClr val="FFCCFF"/>
                </a:solidFill>
                <a:latin typeface="Consolas" pitchFamily="49" charset="0"/>
              </a:rPr>
              <a:t>&amp;</a:t>
            </a:r>
            <a:r>
              <a:rPr lang="es-ES" sz="2000" dirty="0">
                <a:latin typeface="Consolas" pitchFamily="49" charset="0"/>
              </a:rPr>
              <a:t>c,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 </a:t>
            </a:r>
            <a:r>
              <a:rPr lang="es-ES" sz="2000" dirty="0">
                <a:solidFill>
                  <a:srgbClr val="FFCCFF"/>
                </a:solidFill>
                <a:latin typeface="Consolas" pitchFamily="49" charset="0"/>
              </a:rPr>
              <a:t>&amp;</a:t>
            </a:r>
            <a:r>
              <a:rPr lang="es-ES" sz="2000" dirty="0">
                <a:latin typeface="Consolas" pitchFamily="49" charset="0"/>
              </a:rPr>
              <a:t>x,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 </a:t>
            </a:r>
            <a:r>
              <a:rPr lang="es-ES" sz="2000" dirty="0">
                <a:solidFill>
                  <a:srgbClr val="FFCCFF"/>
                </a:solidFill>
                <a:latin typeface="Consolas" pitchFamily="49" charset="0"/>
              </a:rPr>
              <a:t>&amp;</a:t>
            </a:r>
            <a:r>
              <a:rPr lang="es-ES" sz="2000" dirty="0">
                <a:latin typeface="Consolas" pitchFamily="49" charset="0"/>
              </a:rPr>
              <a:t>a,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bool </a:t>
            </a:r>
            <a:r>
              <a:rPr lang="es-ES" sz="2000" dirty="0">
                <a:solidFill>
                  <a:srgbClr val="FFCCFF"/>
                </a:solidFill>
                <a:latin typeface="Consolas" pitchFamily="49" charset="0"/>
              </a:rPr>
              <a:t>&amp;</a:t>
            </a:r>
            <a:r>
              <a:rPr lang="es-ES" sz="2000" dirty="0">
                <a:latin typeface="Consolas" pitchFamily="49" charset="0"/>
              </a:rPr>
              <a:t>b)</a:t>
            </a:r>
          </a:p>
          <a:p>
            <a:pPr marL="36195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Reciben las variables en la llamada del subprograma: </a:t>
            </a:r>
            <a:r>
              <a:rPr lang="es-ES" i="1" dirty="0">
                <a:solidFill>
                  <a:srgbClr val="FFC000"/>
                </a:solidFill>
                <a:sym typeface="Wingdings" pitchFamily="2" charset="2"/>
              </a:rPr>
              <a:t>¡Variables!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Los argumentos pueden quedar modificados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dirty="0">
              <a:sym typeface="Wingdings" pitchFamily="2" charset="2"/>
            </a:endParaRPr>
          </a:p>
          <a:p>
            <a:pPr marL="361950" lvl="1" indent="0">
              <a:spcBef>
                <a:spcPts val="0"/>
              </a:spcBef>
              <a:spcAft>
                <a:spcPts val="1800"/>
              </a:spcAft>
              <a:buNone/>
            </a:pPr>
            <a:endParaRPr lang="es-ES" dirty="0">
              <a:sym typeface="Wingdings" pitchFamily="2" charset="2"/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>
              <a:sym typeface="Wingdings" pitchFamily="2" charset="2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449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pSp>
        <p:nvGrpSpPr>
          <p:cNvPr id="7" name="6 Grupo"/>
          <p:cNvGrpSpPr/>
          <p:nvPr/>
        </p:nvGrpSpPr>
        <p:grpSpPr>
          <a:xfrm>
            <a:off x="1776634" y="4586456"/>
            <a:ext cx="5590733" cy="426720"/>
            <a:chOff x="899592" y="5401791"/>
            <a:chExt cx="6365159" cy="426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7 CuadroTexto"/>
            <p:cNvSpPr txBox="1"/>
            <p:nvPr/>
          </p:nvSpPr>
          <p:spPr>
            <a:xfrm>
              <a:off x="899592" y="5416649"/>
              <a:ext cx="6365159" cy="41186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Puede haber tanto por valor como por referencia</a:t>
              </a:r>
            </a:p>
          </p:txBody>
        </p:sp>
        <p:pic>
          <p:nvPicPr>
            <p:cNvPr id="9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450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048154" y="3044280"/>
            <a:ext cx="3047887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Argumentos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Llamada a subprogramas con parámetros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400" i="1" dirty="0">
                <a:latin typeface="Consolas" pitchFamily="49" charset="0"/>
              </a:rPr>
              <a:t>nombre</a:t>
            </a:r>
            <a:r>
              <a:rPr lang="es-ES" sz="2400" dirty="0">
                <a:latin typeface="Consolas" pitchFamily="49" charset="0"/>
              </a:rPr>
              <a:t>(</a:t>
            </a:r>
            <a:r>
              <a:rPr lang="es-ES" sz="2400" i="1" dirty="0">
                <a:latin typeface="Consolas" pitchFamily="49" charset="0"/>
              </a:rPr>
              <a:t>argumentos</a:t>
            </a:r>
            <a:r>
              <a:rPr lang="es-ES" sz="2400" dirty="0">
                <a:latin typeface="Consolas" pitchFamily="49" charset="0"/>
              </a:rPr>
              <a:t>)</a:t>
            </a:r>
            <a:endParaRPr lang="es-ES" sz="2400" dirty="0">
              <a:sym typeface="Wingdings" pitchFamily="2" charset="2"/>
            </a:endParaRPr>
          </a:p>
          <a:p>
            <a:pPr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ym typeface="Wingdings" pitchFamily="2" charset="2"/>
              </a:rPr>
              <a:t>Tantos argumentos como parámetros y en el mismo orden</a:t>
            </a:r>
          </a:p>
          <a:p>
            <a:pPr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ym typeface="Wingdings" pitchFamily="2" charset="2"/>
              </a:rPr>
              <a:t>Concordancia de tipos argumento-parámetro</a:t>
            </a:r>
          </a:p>
          <a:p>
            <a:pPr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ym typeface="Wingdings" pitchFamily="2" charset="2"/>
              </a:rPr>
              <a:t>Por valor: Expresiones válidas (se pasa el resultado)</a:t>
            </a:r>
          </a:p>
          <a:p>
            <a:pPr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ym typeface="Wingdings" pitchFamily="2" charset="2"/>
              </a:rPr>
              <a:t>Por referencia: </a:t>
            </a:r>
            <a:r>
              <a:rPr lang="es-ES" sz="2200" i="1" dirty="0">
                <a:sym typeface="Wingdings" pitchFamily="2" charset="2"/>
              </a:rPr>
              <a:t>¡Sólo variables!</a:t>
            </a:r>
          </a:p>
          <a:p>
            <a:pPr marL="361950" lvl="1" indent="0" algn="ctr">
              <a:spcBef>
                <a:spcPts val="180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Se copian los valores de las expresiones pasadas por valor</a:t>
            </a:r>
            <a:br>
              <a:rPr lang="es-ES" dirty="0">
                <a:sym typeface="Wingdings" pitchFamily="2" charset="2"/>
              </a:rPr>
            </a:br>
            <a:r>
              <a:rPr lang="es-ES" dirty="0">
                <a:sym typeface="Wingdings" pitchFamily="2" charset="2"/>
              </a:rPr>
              <a:t>en los correspondientes parámetros</a:t>
            </a:r>
          </a:p>
          <a:p>
            <a:pPr marL="361950" lvl="1" indent="0" algn="ctr">
              <a:spcBef>
                <a:spcPts val="180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Se hacen corresponder los argumentos pasados por referencia</a:t>
            </a:r>
            <a:br>
              <a:rPr lang="es-ES" dirty="0">
                <a:sym typeface="Wingdings" pitchFamily="2" charset="2"/>
              </a:rPr>
            </a:br>
            <a:r>
              <a:rPr lang="es-ES" dirty="0">
                <a:sym typeface="Wingdings" pitchFamily="2" charset="2"/>
              </a:rPr>
              <a:t>(variables) con sus correspondientes parámetros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>
              <a:sym typeface="Wingdings" pitchFamily="2" charset="2"/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>
              <a:sym typeface="Wingdings" pitchFamily="2" charset="2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451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Argumentos pasados por valor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507288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>
                <a:sym typeface="Wingdings" pitchFamily="2" charset="2"/>
              </a:rPr>
              <a:t>Expresiones válidas con concordancia de tipo: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  <a:tabLst>
                <a:tab pos="3771900" algn="l"/>
                <a:tab pos="4305300" algn="l"/>
              </a:tabLst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r>
              <a:rPr lang="es-ES" sz="1800" dirty="0">
                <a:latin typeface="Consolas" pitchFamily="49" charset="0"/>
              </a:rPr>
              <a:t> proc(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x,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dirty="0">
                <a:latin typeface="Consolas" pitchFamily="49" charset="0"/>
              </a:rPr>
              <a:t> a)	</a:t>
            </a:r>
            <a:r>
              <a:rPr lang="es-ES" sz="1800" dirty="0">
                <a:solidFill>
                  <a:srgbClr val="FFC000"/>
                </a:solidFill>
                <a:sym typeface="Wingdings" pitchFamily="2" charset="2"/>
              </a:rPr>
              <a:t></a:t>
            </a:r>
            <a:r>
              <a:rPr lang="es-ES" sz="1800" dirty="0">
                <a:sym typeface="Wingdings" pitchFamily="2" charset="2"/>
              </a:rPr>
              <a:t>	</a:t>
            </a:r>
            <a:r>
              <a:rPr lang="es-ES" sz="1800" dirty="0">
                <a:latin typeface="Consolas" pitchFamily="49" charset="0"/>
              </a:rPr>
              <a:t>proc(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23</a:t>
            </a:r>
            <a:r>
              <a:rPr lang="es-ES" sz="1800" dirty="0">
                <a:latin typeface="Consolas" pitchFamily="49" charset="0"/>
              </a:rPr>
              <a:t> *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</a:rPr>
              <a:t> /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sz="1800" dirty="0">
                <a:latin typeface="Consolas" pitchFamily="49" charset="0"/>
              </a:rPr>
              <a:t>,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13.5</a:t>
            </a:r>
            <a:r>
              <a:rPr lang="es-ES" sz="1800" dirty="0">
                <a:latin typeface="Consolas" pitchFamily="49" charset="0"/>
              </a:rPr>
              <a:t>);</a:t>
            </a:r>
          </a:p>
          <a:p>
            <a:pPr marL="361950" lvl="1" indent="0" defTabSz="419100">
              <a:spcBef>
                <a:spcPts val="1200"/>
              </a:spcBef>
              <a:spcAft>
                <a:spcPts val="600"/>
              </a:spcAft>
              <a:buNone/>
              <a:tabLst>
                <a:tab pos="3771900" algn="l"/>
                <a:tab pos="4305300" algn="l"/>
              </a:tabLst>
            </a:pPr>
            <a:r>
              <a:rPr lang="es-ES" sz="1800" dirty="0">
                <a:solidFill>
                  <a:srgbClr val="FFC000"/>
                </a:solidFill>
                <a:sym typeface="Wingdings" pitchFamily="2" charset="2"/>
              </a:rPr>
              <a:t>		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dirty="0">
                <a:latin typeface="Consolas" pitchFamily="49" charset="0"/>
              </a:rPr>
              <a:t> d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</a:rPr>
              <a:t>; </a:t>
            </a:r>
            <a:br>
              <a:rPr lang="es-ES" sz="1800" dirty="0">
                <a:sym typeface="Wingdings" pitchFamily="2" charset="2"/>
              </a:rPr>
            </a:br>
            <a:r>
              <a:rPr lang="es-ES" sz="1800" dirty="0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s-ES" sz="1800" dirty="0">
                <a:sym typeface="Wingdings" pitchFamily="2" charset="2"/>
              </a:rPr>
              <a:t>		</a:t>
            </a:r>
            <a:r>
              <a:rPr lang="es-ES" sz="1800" dirty="0" err="1">
                <a:latin typeface="Consolas" pitchFamily="49" charset="0"/>
              </a:rPr>
              <a:t>proc</a:t>
            </a:r>
            <a:r>
              <a:rPr lang="es-ES" sz="1800" dirty="0">
                <a:latin typeface="Consolas" pitchFamily="49" charset="0"/>
              </a:rPr>
              <a:t>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12</a:t>
            </a:r>
            <a:r>
              <a:rPr lang="es-ES" sz="1800" dirty="0">
                <a:latin typeface="Consolas" pitchFamily="49" charset="0"/>
              </a:rPr>
              <a:t>, d);</a:t>
            </a:r>
          </a:p>
          <a:p>
            <a:pPr marL="361950" lvl="1" indent="0">
              <a:spcBef>
                <a:spcPts val="1200"/>
              </a:spcBef>
              <a:spcAft>
                <a:spcPts val="600"/>
              </a:spcAft>
              <a:buNone/>
              <a:tabLst>
                <a:tab pos="3771900" algn="l"/>
                <a:tab pos="4305300" algn="l"/>
              </a:tabLst>
            </a:pPr>
            <a:r>
              <a:rPr lang="es-ES" sz="1800" dirty="0">
                <a:latin typeface="Consolas" pitchFamily="49" charset="0"/>
              </a:rPr>
              <a:t>	</a:t>
            </a:r>
            <a:r>
              <a:rPr lang="es-ES" sz="1800" dirty="0">
                <a:solidFill>
                  <a:srgbClr val="FFC000"/>
                </a:solidFill>
                <a:sym typeface="Wingdings" pitchFamily="2" charset="2"/>
              </a:rPr>
              <a:t>	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dirty="0">
                <a:latin typeface="Consolas" pitchFamily="49" charset="0"/>
              </a:rPr>
              <a:t> d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</a:rPr>
              <a:t>; </a:t>
            </a:r>
            <a:br>
              <a:rPr lang="es-ES" sz="1800" dirty="0">
                <a:sym typeface="Wingdings" pitchFamily="2" charset="2"/>
              </a:rPr>
            </a:br>
            <a:r>
              <a:rPr lang="es-ES" sz="1800" dirty="0">
                <a:sym typeface="Wingdings" pitchFamily="2" charset="2"/>
              </a:rPr>
              <a:t>		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i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124</a:t>
            </a:r>
            <a:r>
              <a:rPr lang="es-ES" sz="1800" dirty="0">
                <a:latin typeface="Consolas" pitchFamily="49" charset="0"/>
              </a:rPr>
              <a:t>; </a:t>
            </a:r>
            <a:br>
              <a:rPr lang="es-ES" sz="1800" dirty="0">
                <a:sym typeface="Wingdings" pitchFamily="2" charset="2"/>
              </a:rPr>
            </a:br>
            <a:r>
              <a:rPr lang="es-ES" sz="1800" dirty="0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s-ES" sz="1800" dirty="0">
                <a:latin typeface="Consolas" pitchFamily="49" charset="0"/>
                <a:sym typeface="Wingdings" pitchFamily="2" charset="2"/>
              </a:rPr>
              <a:t>		</a:t>
            </a:r>
            <a:r>
              <a:rPr lang="es-ES" sz="1800" dirty="0" err="1">
                <a:latin typeface="Consolas" pitchFamily="49" charset="0"/>
                <a:sym typeface="Wingdings" pitchFamily="2" charset="2"/>
              </a:rPr>
              <a:t>proc</a:t>
            </a:r>
            <a:r>
              <a:rPr lang="es-ES" sz="1800" dirty="0">
                <a:latin typeface="Consolas" pitchFamily="49" charset="0"/>
                <a:sym typeface="Wingdings" pitchFamily="2" charset="2"/>
              </a:rPr>
              <a:t>(i,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sym typeface="Wingdings" pitchFamily="2" charset="2"/>
              </a:rPr>
              <a:t>33</a:t>
            </a:r>
            <a:r>
              <a:rPr lang="es-ES" sz="1800" dirty="0">
                <a:latin typeface="Consolas" pitchFamily="49" charset="0"/>
                <a:sym typeface="Wingdings" pitchFamily="2" charset="2"/>
              </a:rPr>
              <a:t> * d);</a:t>
            </a:r>
          </a:p>
          <a:p>
            <a:pPr marL="361950" lvl="1" indent="0">
              <a:spcBef>
                <a:spcPts val="1200"/>
              </a:spcBef>
              <a:spcAft>
                <a:spcPts val="600"/>
              </a:spcAft>
              <a:buNone/>
              <a:tabLst>
                <a:tab pos="3771900" algn="l"/>
                <a:tab pos="4305300" algn="l"/>
              </a:tabLst>
            </a:pPr>
            <a:r>
              <a:rPr lang="es-ES" sz="1800" dirty="0">
                <a:latin typeface="Consolas" pitchFamily="49" charset="0"/>
              </a:rPr>
              <a:t>	</a:t>
            </a:r>
            <a:r>
              <a:rPr lang="es-ES" sz="1800" dirty="0">
                <a:solidFill>
                  <a:srgbClr val="FFC000"/>
                </a:solidFill>
                <a:sym typeface="Wingdings" pitchFamily="2" charset="2"/>
              </a:rPr>
              <a:t>	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dirty="0">
                <a:latin typeface="Consolas" pitchFamily="49" charset="0"/>
              </a:rPr>
              <a:t> d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</a:rPr>
              <a:t>; </a:t>
            </a:r>
            <a:br>
              <a:rPr lang="es-ES" sz="1800" dirty="0">
                <a:sym typeface="Wingdings" pitchFamily="2" charset="2"/>
              </a:rPr>
            </a:br>
            <a:r>
              <a:rPr lang="es-ES" sz="1800" dirty="0">
                <a:sym typeface="Wingdings" pitchFamily="2" charset="2"/>
              </a:rPr>
              <a:t>		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i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124</a:t>
            </a:r>
            <a:r>
              <a:rPr lang="es-ES" sz="1800" dirty="0">
                <a:latin typeface="Consolas" pitchFamily="49" charset="0"/>
              </a:rPr>
              <a:t>; </a:t>
            </a:r>
            <a:br>
              <a:rPr lang="es-ES" sz="1800" dirty="0">
                <a:sym typeface="Wingdings" pitchFamily="2" charset="2"/>
              </a:rPr>
            </a:br>
            <a:r>
              <a:rPr lang="es-ES" sz="1800" dirty="0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s-ES" sz="1800" dirty="0">
                <a:latin typeface="Consolas" pitchFamily="49" charset="0"/>
                <a:sym typeface="Wingdings" pitchFamily="2" charset="2"/>
              </a:rPr>
              <a:t>		</a:t>
            </a:r>
            <a:r>
              <a:rPr lang="es-ES" sz="1800" dirty="0" err="1">
                <a:latin typeface="Consolas" pitchFamily="49" charset="0"/>
                <a:sym typeface="Wingdings" pitchFamily="2" charset="2"/>
              </a:rPr>
              <a:t>proc</a:t>
            </a:r>
            <a:r>
              <a:rPr lang="es-ES" sz="1800" dirty="0">
                <a:latin typeface="Consolas" pitchFamily="49" charset="0"/>
                <a:sym typeface="Wingdings" pitchFamily="2" charset="2"/>
              </a:rPr>
              <a:t>(</a:t>
            </a:r>
            <a:r>
              <a:rPr lang="es-ES" sz="1800" dirty="0" err="1">
                <a:latin typeface="Consolas" pitchFamily="49" charset="0"/>
                <a:sym typeface="Wingdings" pitchFamily="2" charset="2"/>
              </a:rPr>
              <a:t>cuad</a:t>
            </a:r>
            <a:r>
              <a:rPr lang="es-ES" sz="1800" dirty="0">
                <a:latin typeface="Consolas" pitchFamily="49" charset="0"/>
                <a:sym typeface="Wingdings" pitchFamily="2" charset="2"/>
              </a:rPr>
              <a:t>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sym typeface="Wingdings" pitchFamily="2" charset="2"/>
              </a:rPr>
              <a:t>20</a:t>
            </a:r>
            <a:r>
              <a:rPr lang="es-ES" sz="1800" dirty="0">
                <a:latin typeface="Consolas" pitchFamily="49" charset="0"/>
                <a:sym typeface="Wingdings" pitchFamily="2" charset="2"/>
              </a:rPr>
              <a:t>) *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sym typeface="Wingdings" pitchFamily="2" charset="2"/>
              </a:rPr>
              <a:t>34</a:t>
            </a:r>
            <a:r>
              <a:rPr lang="es-ES" sz="1800" dirty="0">
                <a:latin typeface="Consolas" pitchFamily="49" charset="0"/>
                <a:sym typeface="Wingdings" pitchFamily="2" charset="2"/>
              </a:rPr>
              <a:t> + i, i * d);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dirty="0">
              <a:sym typeface="Wingdings" pitchFamily="2" charset="2"/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dirty="0">
              <a:sym typeface="Wingdings" pitchFamily="2" charset="2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452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Flecha derecha"/>
          <p:cNvSpPr/>
          <p:nvPr/>
        </p:nvSpPr>
        <p:spPr>
          <a:xfrm>
            <a:off x="6133334" y="5301208"/>
            <a:ext cx="1306488" cy="432048"/>
          </a:xfrm>
          <a:prstGeom prst="rightArrow">
            <a:avLst/>
          </a:prstGeom>
          <a:ln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Argumentos pasados por valor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r>
              <a:rPr lang="es-ES" sz="1800" dirty="0">
                <a:latin typeface="Consolas" pitchFamily="49" charset="0"/>
              </a:rPr>
              <a:t> proc(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x,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1800" dirty="0">
                <a:latin typeface="Consolas" pitchFamily="49" charset="0"/>
              </a:rPr>
              <a:t> a)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{ ... }</a:t>
            </a:r>
            <a:br>
              <a:rPr lang="es-ES" sz="1800" dirty="0">
                <a:latin typeface="Consolas" pitchFamily="49" charset="0"/>
              </a:rPr>
            </a:br>
            <a:br>
              <a:rPr lang="es-ES" sz="1800" dirty="0">
                <a:latin typeface="Consolas" pitchFamily="49" charset="0"/>
              </a:rPr>
            </a:b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main()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{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  <a:sym typeface="Wingdings" pitchFamily="2" charset="2"/>
              </a:rPr>
              <a:t> 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i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124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 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 </a:t>
            </a:r>
            <a:r>
              <a:rPr lang="es-ES" sz="1800" dirty="0">
                <a:latin typeface="Consolas" pitchFamily="49" charset="0"/>
              </a:rPr>
              <a:t> d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  <a:sym typeface="Wingdings" pitchFamily="2" charset="2"/>
              </a:rPr>
              <a:t>  proc(i,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sym typeface="Wingdings" pitchFamily="2" charset="2"/>
              </a:rPr>
              <a:t>33</a:t>
            </a:r>
            <a:r>
              <a:rPr lang="es-ES" sz="1800" dirty="0">
                <a:latin typeface="Consolas" pitchFamily="49" charset="0"/>
                <a:sym typeface="Wingdings" pitchFamily="2" charset="2"/>
              </a:rPr>
              <a:t> * d);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  <a:sym typeface="Wingdings" pitchFamily="2" charset="2"/>
              </a:rPr>
              <a:t>  ...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1800" dirty="0">
              <a:latin typeface="Consolas" pitchFamily="49" charset="0"/>
              <a:sym typeface="Wingdings" pitchFamily="2" charset="2"/>
            </a:endParaRP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  <a:sym typeface="Wingdings" pitchFamily="2" charset="2"/>
              </a:rPr>
              <a:t>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sym typeface="Wingdings" pitchFamily="2" charset="2"/>
              </a:rPr>
              <a:t>return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sym typeface="Wingdings" pitchFamily="2" charset="2"/>
              </a:rPr>
              <a:t>0</a:t>
            </a:r>
            <a:r>
              <a:rPr lang="es-ES" sz="1800" dirty="0">
                <a:latin typeface="Consolas" pitchFamily="49" charset="0"/>
                <a:sym typeface="Wingdings" pitchFamily="2" charset="2"/>
              </a:rPr>
              <a:t>;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  <a:sym typeface="Wingdings" pitchFamily="2" charset="2"/>
              </a:rPr>
              <a:t>}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400" dirty="0">
              <a:sym typeface="Wingdings" pitchFamily="2" charset="2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453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6480408" y="1583824"/>
          <a:ext cx="1619984" cy="134112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endParaRPr lang="es-ES" sz="16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Memoria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60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124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60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3.0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endParaRPr lang="es-ES" sz="1600"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480408" y="3384024"/>
          <a:ext cx="1619984" cy="134112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endParaRPr lang="es-ES" sz="1600" dirty="0"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60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124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60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99.0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endParaRPr lang="es-ES" sz="1600"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" name="51 Grupo"/>
          <p:cNvGrpSpPr/>
          <p:nvPr/>
        </p:nvGrpSpPr>
        <p:grpSpPr>
          <a:xfrm>
            <a:off x="6984464" y="2924944"/>
            <a:ext cx="1115928" cy="459080"/>
            <a:chOff x="6984464" y="2924944"/>
            <a:chExt cx="1115928" cy="459080"/>
          </a:xfrm>
        </p:grpSpPr>
        <p:cxnSp>
          <p:nvCxnSpPr>
            <p:cNvPr id="9" name="8 Conector recto"/>
            <p:cNvCxnSpPr/>
            <p:nvPr/>
          </p:nvCxnSpPr>
          <p:spPr>
            <a:xfrm rot="5400000">
              <a:off x="6754924" y="3154484"/>
              <a:ext cx="45908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9 Conector recto"/>
            <p:cNvCxnSpPr/>
            <p:nvPr/>
          </p:nvCxnSpPr>
          <p:spPr>
            <a:xfrm rot="5400000">
              <a:off x="7870852" y="3154484"/>
              <a:ext cx="45908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48 Grupo"/>
          <p:cNvGrpSpPr/>
          <p:nvPr/>
        </p:nvGrpSpPr>
        <p:grpSpPr>
          <a:xfrm>
            <a:off x="2638129" y="1916832"/>
            <a:ext cx="1872208" cy="2402189"/>
            <a:chOff x="2638129" y="1799849"/>
            <a:chExt cx="1872208" cy="24021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15 Elipse"/>
            <p:cNvSpPr/>
            <p:nvPr/>
          </p:nvSpPr>
          <p:spPr>
            <a:xfrm>
              <a:off x="2638129" y="3841998"/>
              <a:ext cx="864096" cy="360040"/>
            </a:xfrm>
            <a:prstGeom prst="ellipse">
              <a:avLst/>
            </a:prstGeom>
            <a:ln w="19050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7" name="16 Conector recto de flecha"/>
            <p:cNvCxnSpPr>
              <a:stCxn id="16" idx="7"/>
            </p:cNvCxnSpPr>
            <p:nvPr/>
          </p:nvCxnSpPr>
          <p:spPr>
            <a:xfrm rot="5400000" flipH="1" flipV="1">
              <a:off x="2895571" y="2279959"/>
              <a:ext cx="2094876" cy="1134656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49 Grupo"/>
          <p:cNvGrpSpPr/>
          <p:nvPr/>
        </p:nvGrpSpPr>
        <p:grpSpPr>
          <a:xfrm>
            <a:off x="971601" y="2177831"/>
            <a:ext cx="3106688" cy="2520280"/>
            <a:chOff x="971601" y="2060848"/>
            <a:chExt cx="3106688" cy="25202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20" name="19 Conector recto"/>
            <p:cNvCxnSpPr/>
            <p:nvPr/>
          </p:nvCxnSpPr>
          <p:spPr>
            <a:xfrm>
              <a:off x="3718249" y="4005064"/>
              <a:ext cx="36004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 rot="5400000">
              <a:off x="3780732" y="4293096"/>
              <a:ext cx="57606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23 Conector recto"/>
            <p:cNvCxnSpPr/>
            <p:nvPr/>
          </p:nvCxnSpPr>
          <p:spPr>
            <a:xfrm rot="10800000">
              <a:off x="971601" y="4581128"/>
              <a:ext cx="3106688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25 Conector recto"/>
            <p:cNvCxnSpPr/>
            <p:nvPr/>
          </p:nvCxnSpPr>
          <p:spPr>
            <a:xfrm rot="5400000" flipH="1" flipV="1">
              <a:off x="-279014" y="3320988"/>
              <a:ext cx="252028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27 Conector recto de flecha"/>
            <p:cNvCxnSpPr/>
            <p:nvPr/>
          </p:nvCxnSpPr>
          <p:spPr>
            <a:xfrm>
              <a:off x="971601" y="2060848"/>
              <a:ext cx="44239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50 Grupo"/>
          <p:cNvGrpSpPr/>
          <p:nvPr/>
        </p:nvGrpSpPr>
        <p:grpSpPr>
          <a:xfrm>
            <a:off x="2172173" y="2179419"/>
            <a:ext cx="2770212" cy="2304256"/>
            <a:chOff x="2172173" y="2062436"/>
            <a:chExt cx="2770212" cy="23042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30" name="29 Conector recto"/>
            <p:cNvCxnSpPr/>
            <p:nvPr/>
          </p:nvCxnSpPr>
          <p:spPr>
            <a:xfrm>
              <a:off x="2350097" y="2062436"/>
              <a:ext cx="2592288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31 Conector recto"/>
            <p:cNvCxnSpPr/>
            <p:nvPr/>
          </p:nvCxnSpPr>
          <p:spPr>
            <a:xfrm rot="5400000">
              <a:off x="3781526" y="3213770"/>
              <a:ext cx="2302668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33 Conector recto de flecha"/>
            <p:cNvCxnSpPr/>
            <p:nvPr/>
          </p:nvCxnSpPr>
          <p:spPr>
            <a:xfrm rot="10800000">
              <a:off x="2172173" y="4365104"/>
              <a:ext cx="277021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45 Grupo"/>
          <p:cNvGrpSpPr/>
          <p:nvPr/>
        </p:nvGrpSpPr>
        <p:grpSpPr>
          <a:xfrm>
            <a:off x="1629312" y="1945408"/>
            <a:ext cx="1195446" cy="1612751"/>
            <a:chOff x="1629312" y="1828425"/>
            <a:chExt cx="1195446" cy="16127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37" name="36 Conector recto"/>
            <p:cNvCxnSpPr/>
            <p:nvPr/>
          </p:nvCxnSpPr>
          <p:spPr>
            <a:xfrm rot="5400000" flipH="1" flipV="1">
              <a:off x="1686147" y="2030932"/>
              <a:ext cx="1341118" cy="936104"/>
            </a:xfrm>
            <a:prstGeom prst="line">
              <a:avLst/>
            </a:prstGeom>
            <a:ln w="28575">
              <a:solidFill>
                <a:schemeClr val="accent2">
                  <a:lumMod val="40000"/>
                  <a:lumOff val="6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40 Elipse"/>
            <p:cNvSpPr/>
            <p:nvPr/>
          </p:nvSpPr>
          <p:spPr>
            <a:xfrm>
              <a:off x="1629312" y="3169543"/>
              <a:ext cx="518684" cy="271633"/>
            </a:xfrm>
            <a:prstGeom prst="ellipse">
              <a:avLst/>
            </a:prstGeom>
            <a:ln w="19050">
              <a:solidFill>
                <a:schemeClr val="accent2">
                  <a:lumMod val="40000"/>
                  <a:lumOff val="6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8" name="47 Grupo"/>
          <p:cNvGrpSpPr/>
          <p:nvPr/>
        </p:nvGrpSpPr>
        <p:grpSpPr>
          <a:xfrm>
            <a:off x="1547664" y="1916833"/>
            <a:ext cx="2323312" cy="1994523"/>
            <a:chOff x="1547664" y="1799850"/>
            <a:chExt cx="2323312" cy="1994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39" name="38 Conector recto"/>
            <p:cNvCxnSpPr/>
            <p:nvPr/>
          </p:nvCxnSpPr>
          <p:spPr>
            <a:xfrm rot="5400000" flipH="1" flipV="1">
              <a:off x="2169100" y="1821974"/>
              <a:ext cx="1724000" cy="1679752"/>
            </a:xfrm>
            <a:prstGeom prst="line">
              <a:avLst/>
            </a:prstGeom>
            <a:ln w="28575">
              <a:solidFill>
                <a:schemeClr val="accent2">
                  <a:lumMod val="40000"/>
                  <a:lumOff val="6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41 Elipse"/>
            <p:cNvSpPr/>
            <p:nvPr/>
          </p:nvSpPr>
          <p:spPr>
            <a:xfrm>
              <a:off x="1547664" y="3522740"/>
              <a:ext cx="1008817" cy="271633"/>
            </a:xfrm>
            <a:prstGeom prst="ellipse">
              <a:avLst/>
            </a:prstGeom>
            <a:ln w="19050">
              <a:solidFill>
                <a:schemeClr val="accent2">
                  <a:lumMod val="40000"/>
                  <a:lumOff val="6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33" name="32 Conector recto de flecha"/>
          <p:cNvCxnSpPr/>
          <p:nvPr/>
        </p:nvCxnSpPr>
        <p:spPr>
          <a:xfrm>
            <a:off x="1214414" y="4122047"/>
            <a:ext cx="41489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/>
          <p:nvPr/>
        </p:nvCxnSpPr>
        <p:spPr>
          <a:xfrm rot="5400000" flipH="1" flipV="1">
            <a:off x="1820719" y="2584788"/>
            <a:ext cx="2070723" cy="791964"/>
          </a:xfrm>
          <a:prstGeom prst="straightConnector1">
            <a:avLst/>
          </a:prstGeom>
          <a:ln w="28575">
            <a:solidFill>
              <a:srgbClr val="FFC000"/>
            </a:solidFill>
            <a:headEnd type="none" w="lg" len="lg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Argumentos pasados por referencia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r>
              <a:rPr lang="es-ES" sz="1800" dirty="0">
                <a:latin typeface="Consolas" pitchFamily="49" charset="0"/>
              </a:rPr>
              <a:t> proc(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 </a:t>
            </a:r>
            <a:r>
              <a:rPr lang="es-ES" sz="1800" dirty="0">
                <a:latin typeface="Consolas" pitchFamily="49" charset="0"/>
              </a:rPr>
              <a:t>&amp;x,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 </a:t>
            </a:r>
            <a:r>
              <a:rPr lang="es-ES" sz="1800" dirty="0">
                <a:latin typeface="Consolas" pitchFamily="49" charset="0"/>
              </a:rPr>
              <a:t>&amp;a)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{ ... }</a:t>
            </a:r>
            <a:br>
              <a:rPr lang="es-ES" sz="1800" dirty="0">
                <a:latin typeface="Consolas" pitchFamily="49" charset="0"/>
              </a:rPr>
            </a:br>
            <a:br>
              <a:rPr lang="es-ES" sz="1800" dirty="0">
                <a:latin typeface="Consolas" pitchFamily="49" charset="0"/>
              </a:rPr>
            </a:b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main()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{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  <a:sym typeface="Wingdings" pitchFamily="2" charset="2"/>
              </a:rPr>
              <a:t> 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</a:rPr>
              <a:t> i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124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</a:rPr>
              <a:t> 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</a:rPr>
              <a:t>double </a:t>
            </a:r>
            <a:r>
              <a:rPr lang="es-ES" sz="1800" dirty="0">
                <a:latin typeface="Consolas" pitchFamily="49" charset="0"/>
              </a:rPr>
              <a:t> d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</a:rPr>
              <a:t>;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  <a:sym typeface="Wingdings" pitchFamily="2" charset="2"/>
              </a:rPr>
              <a:t>  proc(i, d);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  <a:sym typeface="Wingdings" pitchFamily="2" charset="2"/>
              </a:rPr>
              <a:t>  ...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1800" dirty="0">
              <a:latin typeface="Consolas" pitchFamily="49" charset="0"/>
              <a:sym typeface="Wingdings" pitchFamily="2" charset="2"/>
            </a:endParaRP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  <a:sym typeface="Wingdings" pitchFamily="2" charset="2"/>
              </a:rPr>
              <a:t>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sym typeface="Wingdings" pitchFamily="2" charset="2"/>
              </a:rPr>
              <a:t>return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sym typeface="Wingdings" pitchFamily="2" charset="2"/>
              </a:rPr>
              <a:t>0</a:t>
            </a:r>
            <a:r>
              <a:rPr lang="es-ES" sz="1800" dirty="0">
                <a:latin typeface="Consolas" pitchFamily="49" charset="0"/>
                <a:sym typeface="Wingdings" pitchFamily="2" charset="2"/>
              </a:rPr>
              <a:t>;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>
                <a:latin typeface="Consolas" pitchFamily="49" charset="0"/>
                <a:sym typeface="Wingdings" pitchFamily="2" charset="2"/>
              </a:rPr>
              <a:t>}</a:t>
            </a:r>
          </a:p>
          <a:p>
            <a:pPr marL="8953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400" dirty="0">
              <a:sym typeface="Wingdings" pitchFamily="2" charset="2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454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6480408" y="1583824"/>
          <a:ext cx="1619984" cy="134112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endParaRPr lang="es-ES" sz="16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2"/>
                          </a:solidFill>
                          <a:latin typeface="+mj-lt"/>
                        </a:rPr>
                        <a:t>Memoria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60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124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60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3.0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endParaRPr lang="es-ES" sz="1600"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43 Grupo"/>
          <p:cNvGrpSpPr/>
          <p:nvPr/>
        </p:nvGrpSpPr>
        <p:grpSpPr>
          <a:xfrm>
            <a:off x="2441049" y="1916833"/>
            <a:ext cx="2274968" cy="2186164"/>
            <a:chOff x="2441049" y="1943867"/>
            <a:chExt cx="2274968" cy="2186164"/>
          </a:xfrm>
        </p:grpSpPr>
        <p:cxnSp>
          <p:nvCxnSpPr>
            <p:cNvPr id="14" name="13 Conector recto de flecha"/>
            <p:cNvCxnSpPr/>
            <p:nvPr/>
          </p:nvCxnSpPr>
          <p:spPr>
            <a:xfrm rot="5400000" flipH="1" flipV="1">
              <a:off x="1815284" y="2579158"/>
              <a:ext cx="2176638" cy="925107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rot="5400000" flipH="1" flipV="1">
              <a:off x="2722949" y="2045674"/>
              <a:ext cx="2094876" cy="1891261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49 Grupo"/>
          <p:cNvGrpSpPr/>
          <p:nvPr/>
        </p:nvGrpSpPr>
        <p:grpSpPr>
          <a:xfrm>
            <a:off x="971601" y="2177830"/>
            <a:ext cx="3106688" cy="2520280"/>
            <a:chOff x="971601" y="2060848"/>
            <a:chExt cx="3106688" cy="2520280"/>
          </a:xfrm>
        </p:grpSpPr>
        <p:cxnSp>
          <p:nvCxnSpPr>
            <p:cNvPr id="20" name="19 Conector recto"/>
            <p:cNvCxnSpPr/>
            <p:nvPr/>
          </p:nvCxnSpPr>
          <p:spPr>
            <a:xfrm>
              <a:off x="3131840" y="4014589"/>
              <a:ext cx="946449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 rot="5400000">
              <a:off x="3790257" y="4293096"/>
              <a:ext cx="57606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23 Conector recto"/>
            <p:cNvCxnSpPr/>
            <p:nvPr/>
          </p:nvCxnSpPr>
          <p:spPr>
            <a:xfrm rot="10800000">
              <a:off x="971601" y="4571603"/>
              <a:ext cx="3106688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25 Conector recto"/>
            <p:cNvCxnSpPr/>
            <p:nvPr/>
          </p:nvCxnSpPr>
          <p:spPr>
            <a:xfrm rot="5400000" flipH="1" flipV="1">
              <a:off x="-279014" y="3320988"/>
              <a:ext cx="252028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27 Conector recto de flecha"/>
            <p:cNvCxnSpPr/>
            <p:nvPr/>
          </p:nvCxnSpPr>
          <p:spPr>
            <a:xfrm>
              <a:off x="971601" y="2060848"/>
              <a:ext cx="44239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50 Grupo"/>
          <p:cNvGrpSpPr/>
          <p:nvPr/>
        </p:nvGrpSpPr>
        <p:grpSpPr>
          <a:xfrm>
            <a:off x="2172173" y="2179418"/>
            <a:ext cx="2770212" cy="2304256"/>
            <a:chOff x="2172173" y="2062436"/>
            <a:chExt cx="2770212" cy="2304256"/>
          </a:xfrm>
        </p:grpSpPr>
        <p:cxnSp>
          <p:nvCxnSpPr>
            <p:cNvPr id="30" name="29 Conector recto"/>
            <p:cNvCxnSpPr/>
            <p:nvPr/>
          </p:nvCxnSpPr>
          <p:spPr>
            <a:xfrm>
              <a:off x="2350097" y="2062436"/>
              <a:ext cx="2592288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31 Conector recto"/>
            <p:cNvCxnSpPr/>
            <p:nvPr/>
          </p:nvCxnSpPr>
          <p:spPr>
            <a:xfrm rot="5400000">
              <a:off x="3781526" y="3213770"/>
              <a:ext cx="2302668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33 Conector recto de flecha"/>
            <p:cNvCxnSpPr/>
            <p:nvPr/>
          </p:nvCxnSpPr>
          <p:spPr>
            <a:xfrm rot="10800000">
              <a:off x="2172173" y="4365104"/>
              <a:ext cx="277021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45 Grupo"/>
          <p:cNvGrpSpPr/>
          <p:nvPr/>
        </p:nvGrpSpPr>
        <p:grpSpPr>
          <a:xfrm>
            <a:off x="1629312" y="1945407"/>
            <a:ext cx="1195446" cy="1612751"/>
            <a:chOff x="1629312" y="1828425"/>
            <a:chExt cx="1195446" cy="1612751"/>
          </a:xfrm>
        </p:grpSpPr>
        <p:cxnSp>
          <p:nvCxnSpPr>
            <p:cNvPr id="37" name="36 Conector recto"/>
            <p:cNvCxnSpPr/>
            <p:nvPr/>
          </p:nvCxnSpPr>
          <p:spPr>
            <a:xfrm rot="5400000" flipH="1" flipV="1">
              <a:off x="1686147" y="2030932"/>
              <a:ext cx="1341118" cy="936104"/>
            </a:xfrm>
            <a:prstGeom prst="line">
              <a:avLst/>
            </a:prstGeom>
            <a:ln w="28575">
              <a:solidFill>
                <a:schemeClr val="accent2">
                  <a:lumMod val="40000"/>
                  <a:lumOff val="6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40 Elipse"/>
            <p:cNvSpPr/>
            <p:nvPr/>
          </p:nvSpPr>
          <p:spPr>
            <a:xfrm>
              <a:off x="1629312" y="3169543"/>
              <a:ext cx="518684" cy="271633"/>
            </a:xfrm>
            <a:prstGeom prst="ellipse">
              <a:avLst/>
            </a:prstGeom>
            <a:ln w="19050">
              <a:solidFill>
                <a:schemeClr val="accent2">
                  <a:lumMod val="40000"/>
                  <a:lumOff val="6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1" name="47 Grupo"/>
          <p:cNvGrpSpPr/>
          <p:nvPr/>
        </p:nvGrpSpPr>
        <p:grpSpPr>
          <a:xfrm>
            <a:off x="1547664" y="1916832"/>
            <a:ext cx="2323312" cy="1994523"/>
            <a:chOff x="1547664" y="1799850"/>
            <a:chExt cx="2323312" cy="1994523"/>
          </a:xfrm>
        </p:grpSpPr>
        <p:cxnSp>
          <p:nvCxnSpPr>
            <p:cNvPr id="39" name="38 Conector recto"/>
            <p:cNvCxnSpPr/>
            <p:nvPr/>
          </p:nvCxnSpPr>
          <p:spPr>
            <a:xfrm rot="5400000" flipH="1" flipV="1">
              <a:off x="2169100" y="1821974"/>
              <a:ext cx="1724000" cy="1679752"/>
            </a:xfrm>
            <a:prstGeom prst="line">
              <a:avLst/>
            </a:prstGeom>
            <a:ln w="28575">
              <a:solidFill>
                <a:schemeClr val="accent2">
                  <a:lumMod val="40000"/>
                  <a:lumOff val="6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41 Elipse"/>
            <p:cNvSpPr/>
            <p:nvPr/>
          </p:nvSpPr>
          <p:spPr>
            <a:xfrm>
              <a:off x="1547664" y="3522740"/>
              <a:ext cx="1008817" cy="271633"/>
            </a:xfrm>
            <a:prstGeom prst="ellipse">
              <a:avLst/>
            </a:prstGeom>
            <a:ln w="19050">
              <a:solidFill>
                <a:schemeClr val="accent2">
                  <a:lumMod val="40000"/>
                  <a:lumOff val="6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" name="44 Grupo"/>
          <p:cNvGrpSpPr/>
          <p:nvPr/>
        </p:nvGrpSpPr>
        <p:grpSpPr>
          <a:xfrm>
            <a:off x="6138488" y="1893159"/>
            <a:ext cx="305720" cy="693692"/>
            <a:chOff x="6138488" y="1893159"/>
            <a:chExt cx="305720" cy="693692"/>
          </a:xfrm>
        </p:grpSpPr>
        <p:sp>
          <p:nvSpPr>
            <p:cNvPr id="36" name="35 CuadroTexto"/>
            <p:cNvSpPr txBox="1"/>
            <p:nvPr/>
          </p:nvSpPr>
          <p:spPr>
            <a:xfrm>
              <a:off x="6147332" y="1893159"/>
              <a:ext cx="296876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16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x</a:t>
              </a:r>
            </a:p>
          </p:txBody>
        </p:sp>
        <p:sp>
          <p:nvSpPr>
            <p:cNvPr id="38" name="37 CuadroTexto"/>
            <p:cNvSpPr txBox="1"/>
            <p:nvPr/>
          </p:nvSpPr>
          <p:spPr>
            <a:xfrm>
              <a:off x="6138488" y="2248297"/>
              <a:ext cx="296876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16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a</a:t>
              </a:r>
            </a:p>
          </p:txBody>
        </p:sp>
      </p:grpSp>
      <p:grpSp>
        <p:nvGrpSpPr>
          <p:cNvPr id="13" name="47 Grupo"/>
          <p:cNvGrpSpPr/>
          <p:nvPr/>
        </p:nvGrpSpPr>
        <p:grpSpPr>
          <a:xfrm>
            <a:off x="6136427" y="1893159"/>
            <a:ext cx="639246" cy="710276"/>
            <a:chOff x="6136427" y="1893159"/>
            <a:chExt cx="639246" cy="710276"/>
          </a:xfrm>
        </p:grpSpPr>
        <p:sp>
          <p:nvSpPr>
            <p:cNvPr id="46" name="45 Elipse"/>
            <p:cNvSpPr/>
            <p:nvPr/>
          </p:nvSpPr>
          <p:spPr>
            <a:xfrm>
              <a:off x="6136427" y="2248297"/>
              <a:ext cx="639246" cy="355138"/>
            </a:xfrm>
            <a:prstGeom prst="ellipse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46 Elipse"/>
            <p:cNvSpPr/>
            <p:nvPr/>
          </p:nvSpPr>
          <p:spPr>
            <a:xfrm>
              <a:off x="6136427" y="1893159"/>
              <a:ext cx="639246" cy="355138"/>
            </a:xfrm>
            <a:prstGeom prst="ellipse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33" name="32 Conector recto de flecha"/>
          <p:cNvCxnSpPr/>
          <p:nvPr/>
        </p:nvCxnSpPr>
        <p:spPr>
          <a:xfrm>
            <a:off x="1214414" y="4122046"/>
            <a:ext cx="41489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¿Qué llamadas son correctas?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>
              <a:spcBef>
                <a:spcPts val="0"/>
              </a:spcBef>
              <a:spcAft>
                <a:spcPts val="600"/>
              </a:spcAft>
            </a:pPr>
            <a:r>
              <a:rPr lang="es-ES" sz="2200" i="0" dirty="0"/>
              <a:t>Dadas las siguientes declaraciones: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i;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 </a:t>
            </a:r>
            <a:r>
              <a:rPr lang="es-ES" sz="2000" dirty="0">
                <a:latin typeface="Consolas" pitchFamily="49" charset="0"/>
              </a:rPr>
              <a:t>d;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void</a:t>
            </a:r>
            <a:r>
              <a:rPr lang="es-ES" sz="2000" dirty="0">
                <a:latin typeface="Consolas" pitchFamily="49" charset="0"/>
              </a:rPr>
              <a:t> proc(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x,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 </a:t>
            </a:r>
            <a:r>
              <a:rPr lang="es-ES" sz="2000" dirty="0">
                <a:latin typeface="Consolas" pitchFamily="49" charset="0"/>
              </a:rPr>
              <a:t>&amp;a);</a:t>
            </a:r>
          </a:p>
          <a:p>
            <a:pPr marL="361950" lvl="0">
              <a:spcBef>
                <a:spcPts val="600"/>
              </a:spcBef>
              <a:spcAft>
                <a:spcPts val="1200"/>
              </a:spcAft>
              <a:buClr>
                <a:srgbClr val="0BD0D9"/>
              </a:buClr>
            </a:pPr>
            <a:r>
              <a:rPr lang="es-ES" sz="2200" dirty="0">
                <a:solidFill>
                  <a:prstClr val="white"/>
                </a:solidFill>
              </a:rPr>
              <a:t>¿Qué pasos de argumentos son correctos? ¿Por qué no?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proc(3, i, d);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proc(i, d);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proc(3 * i + 12, d);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proc(i, 23);	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proc(d, i);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proc(3.5, d);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proc(i);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455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pSp>
        <p:nvGrpSpPr>
          <p:cNvPr id="18" name="17 Grupo"/>
          <p:cNvGrpSpPr/>
          <p:nvPr/>
        </p:nvGrpSpPr>
        <p:grpSpPr>
          <a:xfrm>
            <a:off x="3716326" y="3030860"/>
            <a:ext cx="4471735" cy="584775"/>
            <a:chOff x="3388079" y="3572605"/>
            <a:chExt cx="4471735" cy="584775"/>
          </a:xfrm>
        </p:grpSpPr>
        <p:sp>
          <p:nvSpPr>
            <p:cNvPr id="6" name="5 CuadroTexto"/>
            <p:cNvSpPr txBox="1"/>
            <p:nvPr/>
          </p:nvSpPr>
          <p:spPr>
            <a:xfrm>
              <a:off x="3388079" y="3572605"/>
              <a:ext cx="445956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3200">
                  <a:solidFill>
                    <a:srgbClr val="FF0000"/>
                  </a:solidFill>
                  <a:latin typeface="Cambria" pitchFamily="18" charset="0"/>
                  <a:sym typeface="Wingdings"/>
                </a:rPr>
                <a:t></a:t>
              </a:r>
              <a:endParaRPr lang="es-E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3923928" y="3664074"/>
              <a:ext cx="3935886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latin typeface="Cambria" pitchFamily="18" charset="0"/>
                  <a:sym typeface="Wingdings"/>
                </a:rPr>
                <a:t>Nº de argumentos ≠ Nº de parámetros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  <p:sp>
        <p:nvSpPr>
          <p:cNvPr id="8" name="7 CuadroTexto"/>
          <p:cNvSpPr txBox="1"/>
          <p:nvPr/>
        </p:nvSpPr>
        <p:spPr>
          <a:xfrm>
            <a:off x="3716326" y="3413451"/>
            <a:ext cx="506870" cy="584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3200">
                <a:solidFill>
                  <a:srgbClr val="92D050"/>
                </a:solidFill>
                <a:latin typeface="Cambria" pitchFamily="18" charset="0"/>
                <a:sym typeface="Wingdings"/>
              </a:rPr>
              <a:t></a:t>
            </a:r>
            <a:endParaRPr lang="es-ES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716326" y="3796042"/>
            <a:ext cx="506870" cy="584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3200">
                <a:solidFill>
                  <a:srgbClr val="92D050"/>
                </a:solidFill>
                <a:latin typeface="Cambria" pitchFamily="18" charset="0"/>
                <a:sym typeface="Wingdings"/>
              </a:rPr>
              <a:t></a:t>
            </a:r>
            <a:endParaRPr lang="es-ES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grpSp>
        <p:nvGrpSpPr>
          <p:cNvPr id="19" name="18 Grupo"/>
          <p:cNvGrpSpPr/>
          <p:nvPr/>
        </p:nvGrpSpPr>
        <p:grpSpPr>
          <a:xfrm>
            <a:off x="3716326" y="4178633"/>
            <a:ext cx="4464360" cy="584775"/>
            <a:chOff x="3388079" y="4591467"/>
            <a:chExt cx="4464360" cy="584775"/>
          </a:xfrm>
        </p:grpSpPr>
        <p:sp>
          <p:nvSpPr>
            <p:cNvPr id="10" name="9 CuadroTexto"/>
            <p:cNvSpPr txBox="1"/>
            <p:nvPr/>
          </p:nvSpPr>
          <p:spPr>
            <a:xfrm>
              <a:off x="3388079" y="4591467"/>
              <a:ext cx="445956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3200">
                  <a:solidFill>
                    <a:srgbClr val="FF0000"/>
                  </a:solidFill>
                  <a:latin typeface="Cambria" pitchFamily="18" charset="0"/>
                  <a:sym typeface="Wingdings"/>
                </a:rPr>
                <a:t></a:t>
              </a:r>
              <a:endParaRPr lang="es-E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3923928" y="4682936"/>
              <a:ext cx="3928511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latin typeface="Cambria" pitchFamily="18" charset="0"/>
                  <a:sym typeface="Wingdings"/>
                </a:rPr>
                <a:t>Parámetro por referencia </a:t>
              </a:r>
              <a:r>
                <a:rPr lang="es-ES" dirty="0">
                  <a:latin typeface="Cambria" pitchFamily="18" charset="0"/>
                  <a:sym typeface="Wingdings" pitchFamily="2" charset="2"/>
                </a:rPr>
                <a:t> ¡variable!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  <p:grpSp>
        <p:nvGrpSpPr>
          <p:cNvPr id="20" name="19 Grupo"/>
          <p:cNvGrpSpPr/>
          <p:nvPr/>
        </p:nvGrpSpPr>
        <p:grpSpPr>
          <a:xfrm>
            <a:off x="3716326" y="4561224"/>
            <a:ext cx="4796374" cy="584775"/>
            <a:chOff x="3388079" y="4951274"/>
            <a:chExt cx="4796374" cy="584775"/>
          </a:xfrm>
        </p:grpSpPr>
        <p:sp>
          <p:nvSpPr>
            <p:cNvPr id="12" name="11 CuadroTexto"/>
            <p:cNvSpPr txBox="1"/>
            <p:nvPr/>
          </p:nvSpPr>
          <p:spPr>
            <a:xfrm>
              <a:off x="3388079" y="4951274"/>
              <a:ext cx="445956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3200">
                  <a:solidFill>
                    <a:srgbClr val="FF0000"/>
                  </a:solidFill>
                  <a:latin typeface="Cambria" pitchFamily="18" charset="0"/>
                  <a:sym typeface="Wingdings"/>
                </a:rPr>
                <a:t></a:t>
              </a:r>
              <a:endParaRPr lang="es-E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3923928" y="5042743"/>
              <a:ext cx="426052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>
                  <a:latin typeface="Cambria" pitchFamily="18" charset="0"/>
                  <a:sym typeface="Wingdings"/>
                </a:rPr>
                <a:t>¡Argumento </a:t>
              </a:r>
              <a:r>
                <a:rPr lang="es-ES">
                  <a:solidFill>
                    <a:srgbClr val="FFC000"/>
                  </a:solidFill>
                  <a:latin typeface="Consolas" pitchFamily="49" charset="0"/>
                  <a:sym typeface="Wingdings"/>
                </a:rPr>
                <a:t>double</a:t>
              </a:r>
              <a:r>
                <a:rPr lang="es-ES">
                  <a:latin typeface="Cambria" pitchFamily="18" charset="0"/>
                  <a:sym typeface="Wingdings"/>
                </a:rPr>
                <a:t> para parámetro </a:t>
              </a:r>
              <a:r>
                <a:rPr lang="es-ES">
                  <a:solidFill>
                    <a:srgbClr val="FFC000"/>
                  </a:solidFill>
                  <a:latin typeface="Consolas" pitchFamily="49" charset="0"/>
                  <a:sym typeface="Wingdings"/>
                </a:rPr>
                <a:t>int</a:t>
              </a:r>
              <a:r>
                <a:rPr lang="es-ES">
                  <a:latin typeface="Cambria" pitchFamily="18" charset="0"/>
                  <a:sym typeface="Wingdings"/>
                </a:rPr>
                <a:t>!</a:t>
              </a:r>
              <a:endParaRPr lang="es-E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  <p:grpSp>
        <p:nvGrpSpPr>
          <p:cNvPr id="21" name="20 Grupo"/>
          <p:cNvGrpSpPr/>
          <p:nvPr/>
        </p:nvGrpSpPr>
        <p:grpSpPr>
          <a:xfrm>
            <a:off x="3716326" y="4943815"/>
            <a:ext cx="4796374" cy="584775"/>
            <a:chOff x="3388079" y="5311081"/>
            <a:chExt cx="4796374" cy="584775"/>
          </a:xfrm>
        </p:grpSpPr>
        <p:sp>
          <p:nvSpPr>
            <p:cNvPr id="14" name="13 CuadroTexto"/>
            <p:cNvSpPr txBox="1"/>
            <p:nvPr/>
          </p:nvSpPr>
          <p:spPr>
            <a:xfrm>
              <a:off x="3388079" y="5311081"/>
              <a:ext cx="445956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3200">
                  <a:solidFill>
                    <a:srgbClr val="FF0000"/>
                  </a:solidFill>
                  <a:latin typeface="Cambria" pitchFamily="18" charset="0"/>
                  <a:sym typeface="Wingdings"/>
                </a:rPr>
                <a:t></a:t>
              </a:r>
              <a:endParaRPr lang="es-E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3923928" y="5402550"/>
              <a:ext cx="426052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>
                  <a:latin typeface="Cambria" pitchFamily="18" charset="0"/>
                  <a:sym typeface="Wingdings"/>
                </a:rPr>
                <a:t>¡Argumento </a:t>
              </a:r>
              <a:r>
                <a:rPr lang="es-ES">
                  <a:solidFill>
                    <a:srgbClr val="FFC000"/>
                  </a:solidFill>
                  <a:latin typeface="Consolas" pitchFamily="49" charset="0"/>
                  <a:sym typeface="Wingdings"/>
                </a:rPr>
                <a:t>double</a:t>
              </a:r>
              <a:r>
                <a:rPr lang="es-ES">
                  <a:latin typeface="Cambria" pitchFamily="18" charset="0"/>
                  <a:sym typeface="Wingdings"/>
                </a:rPr>
                <a:t> para parámetro </a:t>
              </a:r>
              <a:r>
                <a:rPr lang="es-ES">
                  <a:solidFill>
                    <a:srgbClr val="FFC000"/>
                  </a:solidFill>
                  <a:latin typeface="Consolas" pitchFamily="49" charset="0"/>
                  <a:sym typeface="Wingdings"/>
                </a:rPr>
                <a:t>int</a:t>
              </a:r>
              <a:r>
                <a:rPr lang="es-ES">
                  <a:latin typeface="Cambria" pitchFamily="18" charset="0"/>
                  <a:sym typeface="Wingdings"/>
                </a:rPr>
                <a:t>!</a:t>
              </a:r>
              <a:endParaRPr lang="es-E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  <p:grpSp>
        <p:nvGrpSpPr>
          <p:cNvPr id="22" name="21 Grupo"/>
          <p:cNvGrpSpPr/>
          <p:nvPr/>
        </p:nvGrpSpPr>
        <p:grpSpPr>
          <a:xfrm>
            <a:off x="3716326" y="5326405"/>
            <a:ext cx="4471735" cy="584775"/>
            <a:chOff x="3388079" y="5670888"/>
            <a:chExt cx="4471735" cy="584775"/>
          </a:xfrm>
        </p:grpSpPr>
        <p:sp>
          <p:nvSpPr>
            <p:cNvPr id="16" name="15 CuadroTexto"/>
            <p:cNvSpPr txBox="1"/>
            <p:nvPr/>
          </p:nvSpPr>
          <p:spPr>
            <a:xfrm>
              <a:off x="3388079" y="5670888"/>
              <a:ext cx="445956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3200">
                  <a:solidFill>
                    <a:srgbClr val="FF0000"/>
                  </a:solidFill>
                  <a:latin typeface="Cambria" pitchFamily="18" charset="0"/>
                  <a:sym typeface="Wingdings"/>
                </a:rPr>
                <a:t></a:t>
              </a:r>
              <a:endParaRPr lang="es-E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3923928" y="5762357"/>
              <a:ext cx="3935886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latin typeface="Cambria" pitchFamily="18" charset="0"/>
                  <a:sym typeface="Wingdings"/>
                </a:rPr>
                <a:t>Nº de argumentos ≠ Nº de parámetros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456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737511" y="3044280"/>
            <a:ext cx="5669181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Resultado de </a:t>
            </a:r>
            <a:r>
              <a:rPr lang="es-ES" sz="4400" b="1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la función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 de </a:t>
            </a:r>
            <a:r>
              <a:rPr lang="es-ES"/>
              <a:t>la función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Una función ha de devolver un resultado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La función ha de terminar su ejecución devolviendo el resultado</a:t>
            </a:r>
          </a:p>
          <a:p>
            <a:pPr marL="36195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La instrucción </a:t>
            </a:r>
            <a:r>
              <a:rPr lang="es-E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sym typeface="Wingdings" pitchFamily="2" charset="2"/>
              </a:rPr>
              <a:t>return</a:t>
            </a:r>
            <a:r>
              <a:rPr lang="es-ES" dirty="0">
                <a:sym typeface="Wingdings" pitchFamily="2" charset="2"/>
              </a:rPr>
              <a:t>:</a:t>
            </a:r>
            <a:endParaRPr lang="es-ES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  <a:sym typeface="Wingdings" pitchFamily="2" charset="2"/>
            </a:endParaRPr>
          </a:p>
          <a:p>
            <a:pPr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ym typeface="Wingdings" pitchFamily="2" charset="2"/>
              </a:rPr>
              <a:t>Devuelve el dato que se indica a continuación como resultado</a:t>
            </a:r>
          </a:p>
          <a:p>
            <a:pPr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ym typeface="Wingdings" pitchFamily="2" charset="2"/>
              </a:rPr>
              <a:t>Termina la ejecución de la función</a:t>
            </a:r>
          </a:p>
          <a:p>
            <a:pPr marL="36195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pc="-30" dirty="0">
                <a:sym typeface="Wingdings" pitchFamily="2" charset="2"/>
              </a:rPr>
              <a:t>El dato devuelto sustituye a la llamada de la función en la expresión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  <a:tabLst>
                <a:tab pos="4305300" algn="l"/>
              </a:tabLst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  <a:sym typeface="Wingdings" pitchFamily="2" charset="2"/>
              </a:rPr>
              <a:t>int</a:t>
            </a:r>
            <a:r>
              <a:rPr lang="es-ES" sz="2000" dirty="0">
                <a:latin typeface="Consolas" pitchFamily="49" charset="0"/>
                <a:sym typeface="Wingdings" pitchFamily="2" charset="2"/>
              </a:rPr>
              <a:t> </a:t>
            </a:r>
            <a:r>
              <a:rPr lang="es-ES" sz="2000" dirty="0" err="1">
                <a:latin typeface="Consolas" pitchFamily="49" charset="0"/>
                <a:sym typeface="Wingdings" pitchFamily="2" charset="2"/>
              </a:rPr>
              <a:t>cuad</a:t>
            </a:r>
            <a:r>
              <a:rPr lang="es-ES" sz="2000" dirty="0">
                <a:latin typeface="Consolas" pitchFamily="49" charset="0"/>
                <a:sym typeface="Wingdings" pitchFamily="2" charset="2"/>
              </a:rPr>
              <a:t>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  <a:sym typeface="Wingdings" pitchFamily="2" charset="2"/>
              </a:rPr>
              <a:t>int</a:t>
            </a:r>
            <a:r>
              <a:rPr lang="es-ES" sz="2000" dirty="0">
                <a:latin typeface="Consolas" pitchFamily="49" charset="0"/>
                <a:sym typeface="Wingdings" pitchFamily="2" charset="2"/>
              </a:rPr>
              <a:t> x) {	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  <a:sym typeface="Wingdings" pitchFamily="2" charset="2"/>
              </a:rPr>
              <a:t>int</a:t>
            </a:r>
            <a:r>
              <a:rPr lang="es-ES" sz="2000" dirty="0">
                <a:latin typeface="Consolas" pitchFamily="49" charset="0"/>
                <a:sym typeface="Wingdings" pitchFamily="2" charset="2"/>
              </a:rPr>
              <a:t> main() {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  <a:tabLst>
                <a:tab pos="4305300" algn="l"/>
              </a:tabLst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sym typeface="Wingdings" pitchFamily="2" charset="2"/>
              </a:rPr>
              <a:t>   return</a:t>
            </a:r>
            <a:r>
              <a:rPr lang="es-ES" sz="2000" dirty="0">
                <a:latin typeface="Consolas" pitchFamily="49" charset="0"/>
                <a:sym typeface="Wingdings" pitchFamily="2" charset="2"/>
              </a:rPr>
              <a:t> x * x;	   Mostrar(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  <a:sym typeface="Wingdings" pitchFamily="2" charset="2"/>
              </a:rPr>
              <a:t>2</a:t>
            </a:r>
            <a:r>
              <a:rPr lang="es-ES" sz="2000" dirty="0">
                <a:latin typeface="Consolas" pitchFamily="49" charset="0"/>
                <a:sym typeface="Wingdings" pitchFamily="2" charset="2"/>
              </a:rPr>
              <a:t> * </a:t>
            </a:r>
            <a:r>
              <a:rPr lang="es-ES" sz="2000" dirty="0" err="1">
                <a:latin typeface="Consolas" pitchFamily="49" charset="0"/>
                <a:sym typeface="Wingdings" pitchFamily="2" charset="2"/>
              </a:rPr>
              <a:t>cuad</a:t>
            </a:r>
            <a:r>
              <a:rPr lang="es-ES" sz="2000" dirty="0">
                <a:latin typeface="Consolas" pitchFamily="49" charset="0"/>
                <a:sym typeface="Wingdings" pitchFamily="2" charset="2"/>
              </a:rPr>
              <a:t>(</a:t>
            </a:r>
            <a:r>
              <a:rPr lang="es-ES" sz="2000">
                <a:solidFill>
                  <a:srgbClr val="FFFF00"/>
                </a:solidFill>
                <a:latin typeface="Consolas" pitchFamily="49" charset="0"/>
                <a:sym typeface="Wingdings" pitchFamily="2" charset="2"/>
              </a:rPr>
              <a:t>16</a:t>
            </a:r>
            <a:r>
              <a:rPr lang="es-ES" sz="2000">
                <a:latin typeface="Consolas" pitchFamily="49" charset="0"/>
                <a:sym typeface="Wingdings" pitchFamily="2" charset="2"/>
              </a:rPr>
              <a:t>));</a:t>
            </a:r>
            <a:endParaRPr lang="es-ES" sz="2000" dirty="0">
              <a:latin typeface="Consolas" pitchFamily="49" charset="0"/>
              <a:sym typeface="Wingdings" pitchFamily="2" charset="2"/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  <a:tabLst>
                <a:tab pos="4305300" algn="l"/>
              </a:tabLst>
            </a:pPr>
            <a:r>
              <a:rPr lang="es-ES" sz="2000" dirty="0">
                <a:latin typeface="Consolas" pitchFamily="49" charset="0"/>
                <a:sym typeface="Wingdings" pitchFamily="2" charset="2"/>
              </a:rPr>
              <a:t>   x = x * x;	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  <a:tabLst>
                <a:tab pos="4305300" algn="l"/>
              </a:tabLst>
            </a:pPr>
            <a:r>
              <a:rPr lang="es-ES" sz="2000" dirty="0">
                <a:latin typeface="Consolas" pitchFamily="49" charset="0"/>
                <a:sym typeface="Wingdings" pitchFamily="2" charset="2"/>
              </a:rPr>
              <a:t>}	   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sym typeface="Wingdings" pitchFamily="2" charset="2"/>
              </a:rPr>
              <a:t>return</a:t>
            </a:r>
            <a:r>
              <a:rPr lang="es-ES" sz="2000" dirty="0">
                <a:latin typeface="Consolas" pitchFamily="49" charset="0"/>
                <a:sym typeface="Wingdings" pitchFamily="2" charset="2"/>
              </a:rPr>
              <a:t>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  <a:sym typeface="Wingdings" pitchFamily="2" charset="2"/>
              </a:rPr>
              <a:t>0</a:t>
            </a:r>
            <a:r>
              <a:rPr lang="es-ES" sz="2000" dirty="0">
                <a:latin typeface="Consolas" pitchFamily="49" charset="0"/>
                <a:sym typeface="Wingdings" pitchFamily="2" charset="2"/>
              </a:rPr>
              <a:t>;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  <a:tabLst>
                <a:tab pos="4305300" algn="l"/>
              </a:tabLst>
            </a:pPr>
            <a:r>
              <a:rPr lang="es-ES" sz="2000" dirty="0">
                <a:latin typeface="Consolas" pitchFamily="49" charset="0"/>
                <a:sym typeface="Wingdings" pitchFamily="2" charset="2"/>
              </a:rPr>
              <a:t>	}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457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pSp>
        <p:nvGrpSpPr>
          <p:cNvPr id="6" name="21 Grupo"/>
          <p:cNvGrpSpPr/>
          <p:nvPr/>
        </p:nvGrpSpPr>
        <p:grpSpPr>
          <a:xfrm>
            <a:off x="3419872" y="4005064"/>
            <a:ext cx="4680519" cy="540017"/>
            <a:chOff x="2555777" y="4418061"/>
            <a:chExt cx="4680519" cy="540017"/>
          </a:xfrm>
        </p:grpSpPr>
        <p:cxnSp>
          <p:nvCxnSpPr>
            <p:cNvPr id="8" name="7 Conector recto de flecha"/>
            <p:cNvCxnSpPr>
              <a:stCxn id="9" idx="2"/>
            </p:cNvCxnSpPr>
            <p:nvPr/>
          </p:nvCxnSpPr>
          <p:spPr>
            <a:xfrm flipH="1" flipV="1">
              <a:off x="2555777" y="4418061"/>
              <a:ext cx="3456382" cy="342017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8 Elipse"/>
            <p:cNvSpPr/>
            <p:nvPr/>
          </p:nvSpPr>
          <p:spPr>
            <a:xfrm>
              <a:off x="6012159" y="4562078"/>
              <a:ext cx="1224137" cy="396000"/>
            </a:xfrm>
            <a:prstGeom prst="ellipse">
              <a:avLst/>
            </a:prstGeom>
            <a:ln w="19050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7" name="22 Grupo"/>
          <p:cNvGrpSpPr/>
          <p:nvPr/>
        </p:nvGrpSpPr>
        <p:grpSpPr>
          <a:xfrm>
            <a:off x="3275856" y="4399692"/>
            <a:ext cx="4553688" cy="945396"/>
            <a:chOff x="2232889" y="4797152"/>
            <a:chExt cx="4553688" cy="945396"/>
          </a:xfrm>
        </p:grpSpPr>
        <p:cxnSp>
          <p:nvCxnSpPr>
            <p:cNvPr id="15" name="14 Conector recto de flecha"/>
            <p:cNvCxnSpPr/>
            <p:nvPr/>
          </p:nvCxnSpPr>
          <p:spPr>
            <a:xfrm>
              <a:off x="2232889" y="4797152"/>
              <a:ext cx="4211319" cy="576064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rot="5400000" flipH="1" flipV="1">
              <a:off x="6235845" y="5174378"/>
              <a:ext cx="415138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17 CuadroTexto"/>
            <p:cNvSpPr txBox="1"/>
            <p:nvPr/>
          </p:nvSpPr>
          <p:spPr>
            <a:xfrm>
              <a:off x="6217190" y="5373216"/>
              <a:ext cx="569387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256</a:t>
              </a:r>
            </a:p>
          </p:txBody>
        </p:sp>
      </p:grpSp>
      <p:grpSp>
        <p:nvGrpSpPr>
          <p:cNvPr id="10" name="29 Grupo"/>
          <p:cNvGrpSpPr/>
          <p:nvPr/>
        </p:nvGrpSpPr>
        <p:grpSpPr>
          <a:xfrm>
            <a:off x="2121918" y="4764114"/>
            <a:ext cx="2307876" cy="930171"/>
            <a:chOff x="1739783" y="5113759"/>
            <a:chExt cx="2307876" cy="930171"/>
          </a:xfrm>
        </p:grpSpPr>
        <p:cxnSp>
          <p:nvCxnSpPr>
            <p:cNvPr id="25" name="24 Conector recto de flecha"/>
            <p:cNvCxnSpPr/>
            <p:nvPr/>
          </p:nvCxnSpPr>
          <p:spPr>
            <a:xfrm rot="10800000">
              <a:off x="2468911" y="5113759"/>
              <a:ext cx="432049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26 Conector recto"/>
            <p:cNvCxnSpPr/>
            <p:nvPr/>
          </p:nvCxnSpPr>
          <p:spPr>
            <a:xfrm>
              <a:off x="2891436" y="5115345"/>
              <a:ext cx="0" cy="267398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27 CuadroTexto"/>
            <p:cNvSpPr txBox="1"/>
            <p:nvPr/>
          </p:nvSpPr>
          <p:spPr>
            <a:xfrm>
              <a:off x="1739783" y="5397599"/>
              <a:ext cx="2307876" cy="64633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Esta instrucción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no se ejecutará nunca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¿Cuándo termina el subprograma?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Procedimientos (tipo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  <a:sym typeface="Wingdings" pitchFamily="2" charset="2"/>
              </a:rPr>
              <a:t>void</a:t>
            </a:r>
            <a:r>
              <a:rPr lang="es-ES" dirty="0">
                <a:sym typeface="Wingdings" pitchFamily="2" charset="2"/>
              </a:rPr>
              <a:t>):</a:t>
            </a:r>
          </a:p>
          <a:p>
            <a:pPr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ym typeface="Wingdings" pitchFamily="2" charset="2"/>
              </a:rPr>
              <a:t>Al encontrar la llave de cierre que termina el subprograma     o</a:t>
            </a:r>
          </a:p>
          <a:p>
            <a:pPr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ym typeface="Wingdings" pitchFamily="2" charset="2"/>
              </a:rPr>
              <a:t>Al encontrar una instrucción </a:t>
            </a: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sym typeface="Wingdings" pitchFamily="2" charset="2"/>
              </a:rPr>
              <a:t>return</a:t>
            </a:r>
            <a:r>
              <a:rPr lang="es-ES" sz="2200" dirty="0">
                <a:sym typeface="Wingdings" pitchFamily="2" charset="2"/>
              </a:rPr>
              <a:t> (sin resultado)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Funciones (tipo distinto de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  <a:sym typeface="Wingdings" pitchFamily="2" charset="2"/>
              </a:rPr>
              <a:t>void</a:t>
            </a:r>
            <a:r>
              <a:rPr lang="es-ES" dirty="0">
                <a:sym typeface="Wingdings" pitchFamily="2" charset="2"/>
              </a:rPr>
              <a:t>):</a:t>
            </a:r>
          </a:p>
          <a:p>
            <a:pPr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ym typeface="Wingdings" pitchFamily="2" charset="2"/>
              </a:rPr>
              <a:t>SÓLO al encontrar una instrucción </a:t>
            </a: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sym typeface="Wingdings" pitchFamily="2" charset="2"/>
              </a:rPr>
              <a:t>return</a:t>
            </a:r>
            <a:r>
              <a:rPr lang="es-ES" sz="2200" dirty="0">
                <a:sym typeface="Wingdings" pitchFamily="2" charset="2"/>
              </a:rPr>
              <a:t> (con resultado)</a:t>
            </a:r>
          </a:p>
          <a:p>
            <a:pPr marL="361950" lvl="2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200" dirty="0">
              <a:sym typeface="Wingdings" pitchFamily="2" charset="2"/>
            </a:endParaRPr>
          </a:p>
          <a:p>
            <a:pPr marL="36195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sym typeface="Wingdings" pitchFamily="2" charset="2"/>
              </a:rPr>
              <a:t>Nuestros subprogramas siempre terminarán al final:</a:t>
            </a:r>
          </a:p>
          <a:p>
            <a:pPr lvl="2" indent="-352425">
              <a:spcBef>
                <a:spcPts val="0"/>
              </a:spcBef>
              <a:spcAft>
                <a:spcPts val="600"/>
              </a:spcAft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es-ES" sz="2200" dirty="0">
                <a:sym typeface="Wingdings" pitchFamily="2" charset="2"/>
              </a:rPr>
              <a:t>No usaremos </a:t>
            </a: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sym typeface="Wingdings" pitchFamily="2" charset="2"/>
              </a:rPr>
              <a:t>return</a:t>
            </a:r>
            <a:r>
              <a:rPr lang="es-ES" sz="2200" dirty="0">
                <a:sym typeface="Wingdings" pitchFamily="2" charset="2"/>
              </a:rPr>
              <a:t> en los procedimientos</a:t>
            </a:r>
          </a:p>
          <a:p>
            <a:pPr lvl="2" indent="-352425">
              <a:spcBef>
                <a:spcPts val="0"/>
              </a:spcBef>
              <a:spcAft>
                <a:spcPts val="600"/>
              </a:spcAft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es-ES" sz="2200" dirty="0">
                <a:sym typeface="Wingdings" pitchFamily="2" charset="2"/>
              </a:rPr>
              <a:t>Funciones: se intentará un sólo un </a:t>
            </a:r>
            <a:r>
              <a:rPr lang="es-E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sym typeface="Wingdings" pitchFamily="2" charset="2"/>
              </a:rPr>
              <a:t>return</a:t>
            </a:r>
            <a:r>
              <a:rPr lang="es-ES" sz="2200" dirty="0">
                <a:sym typeface="Wingdings" pitchFamily="2" charset="2"/>
              </a:rPr>
              <a:t> y estará al final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458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pSp>
        <p:nvGrpSpPr>
          <p:cNvPr id="6" name="18 Grupo"/>
          <p:cNvGrpSpPr/>
          <p:nvPr/>
        </p:nvGrpSpPr>
        <p:grpSpPr>
          <a:xfrm>
            <a:off x="1532423" y="5157192"/>
            <a:ext cx="6079155" cy="710550"/>
            <a:chOff x="899592" y="5193485"/>
            <a:chExt cx="5955092" cy="7105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19 CuadroTexto"/>
            <p:cNvSpPr txBox="1"/>
            <p:nvPr/>
          </p:nvSpPr>
          <p:spPr>
            <a:xfrm>
              <a:off x="899592" y="5193485"/>
              <a:ext cx="5955092" cy="71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 lvl="1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Para facilitar la depuración y el mantenimiento,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codifica los subprogramas con un único punto de salida</a:t>
              </a:r>
            </a:p>
          </p:txBody>
        </p:sp>
        <p:pic>
          <p:nvPicPr>
            <p:cNvPr id="21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213671"/>
              <a:ext cx="426720" cy="42672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459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116579" y="3044280"/>
            <a:ext cx="4911023" cy="1446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Diseño descendente</a:t>
            </a:r>
            <a:b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</a:br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(un ejemplo)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Refinamientos sucesivos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Especificación inicial (Paso 0).-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Desarrollar un programa que haga operaciones de conversión </a:t>
            </a:r>
            <a:br>
              <a:rPr lang="es-ES" i="1" dirty="0"/>
            </a:br>
            <a:r>
              <a:rPr lang="es-ES" i="1" dirty="0"/>
              <a:t>de medidas hasta que el usuario decida que no quiere hacer más</a:t>
            </a:r>
            <a:endParaRPr lang="es-ES" i="1" dirty="0">
              <a:sym typeface="Wingdings" pitchFamily="2" charset="2"/>
            </a:endParaRPr>
          </a:p>
          <a:p>
            <a:pPr marL="361950" lvl="1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Análisis y diseño aumentando el nivel de detalle en cada paso</a:t>
            </a:r>
          </a:p>
          <a:p>
            <a:pPr marL="361950" lvl="1" indent="0" algn="ctr">
              <a:spcBef>
                <a:spcPts val="0"/>
              </a:spcBef>
              <a:buNone/>
            </a:pPr>
            <a:r>
              <a:rPr lang="es-ES" i="1" dirty="0">
                <a:sym typeface="Wingdings" pitchFamily="2" charset="2"/>
              </a:rPr>
              <a:t>¿Qué operaciones de conversión?</a:t>
            </a:r>
          </a:p>
          <a:p>
            <a:pPr marL="361950" lvl="1" indent="0">
              <a:spcBef>
                <a:spcPts val="180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Paso 1.-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Desarrollar un programa que haga operaciones de conversión </a:t>
            </a:r>
            <a:br>
              <a:rPr lang="es-ES" i="1" dirty="0"/>
            </a:br>
            <a:r>
              <a:rPr lang="es-ES" i="1" dirty="0"/>
              <a:t>de medidas hasta que el usuario decida que no quiere hacer más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Pulgadas a centímetros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Libras a gramos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Grados Fahrenheit a centígrados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Galones a litros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460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Refinamientos sucesivos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Paso 2.-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Desarrollar un programa que muestre al usuario un menú con cuatro operaciones de conversión de medidas: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Pulgadas a centímetros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Libras a gramos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Grados Fahrenheit a centígrados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Galones a litros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None/>
            </a:pPr>
            <a:r>
              <a:rPr lang="es-ES" i="1" dirty="0"/>
              <a:t>Y lea la elección del usuario y proceda con la conversión, hasta que el usuario decida que no quiere hacer más</a:t>
            </a:r>
          </a:p>
          <a:p>
            <a:pPr marL="361950" lvl="1" indent="0">
              <a:spcBef>
                <a:spcPts val="1200"/>
              </a:spcBef>
              <a:spcAft>
                <a:spcPts val="600"/>
              </a:spcAft>
              <a:buClr>
                <a:srgbClr val="FFC000"/>
              </a:buClr>
              <a:buNone/>
            </a:pPr>
            <a:r>
              <a:rPr lang="es-ES" dirty="0">
                <a:sym typeface="Wingdings" pitchFamily="2" charset="2"/>
              </a:rPr>
              <a:t>6 grandes tareas: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None/>
            </a:pPr>
            <a:r>
              <a:rPr lang="es-ES" dirty="0">
                <a:sym typeface="Wingdings" pitchFamily="2" charset="2"/>
              </a:rPr>
              <a:t>Menú, cuatro funciones de conversión y </a:t>
            </a:r>
            <a:r>
              <a:rPr lang="es-ES" dirty="0">
                <a:latin typeface="Consolas" pitchFamily="49" charset="0"/>
                <a:sym typeface="Wingdings" pitchFamily="2" charset="2"/>
              </a:rPr>
              <a:t>main()</a:t>
            </a:r>
            <a:endParaRPr lang="es-ES" dirty="0">
              <a:sym typeface="Wingdings" pitchFamily="2" charset="2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461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Refinamientos sucesivos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Paso 2.-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462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cxnSp>
        <p:nvCxnSpPr>
          <p:cNvPr id="8" name="7 Conector recto"/>
          <p:cNvCxnSpPr/>
          <p:nvPr/>
        </p:nvCxnSpPr>
        <p:spPr>
          <a:xfrm rot="5400000">
            <a:off x="1161144" y="3114489"/>
            <a:ext cx="360040" cy="0"/>
          </a:xfrm>
          <a:prstGeom prst="line">
            <a:avLst/>
          </a:prstGeom>
          <a:ln w="28575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5400000">
            <a:off x="6912259" y="3114489"/>
            <a:ext cx="360040" cy="0"/>
          </a:xfrm>
          <a:prstGeom prst="line">
            <a:avLst/>
          </a:prstGeom>
          <a:ln w="28575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rot="5400000">
            <a:off x="2519771" y="3133539"/>
            <a:ext cx="360040" cy="0"/>
          </a:xfrm>
          <a:prstGeom prst="line">
            <a:avLst/>
          </a:prstGeom>
          <a:ln w="28575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rot="5400000">
            <a:off x="4103947" y="3133539"/>
            <a:ext cx="360040" cy="0"/>
          </a:xfrm>
          <a:prstGeom prst="line">
            <a:avLst/>
          </a:prstGeom>
          <a:ln w="28575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rot="5400000">
            <a:off x="5544107" y="3124247"/>
            <a:ext cx="360040" cy="0"/>
          </a:xfrm>
          <a:prstGeom prst="line">
            <a:avLst/>
          </a:prstGeom>
          <a:ln w="28575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rot="5400000">
            <a:off x="4104313" y="2754216"/>
            <a:ext cx="360040" cy="0"/>
          </a:xfrm>
          <a:prstGeom prst="line">
            <a:avLst/>
          </a:prstGeom>
          <a:ln w="28575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/>
          <p:cNvSpPr txBox="1"/>
          <p:nvPr/>
        </p:nvSpPr>
        <p:spPr>
          <a:xfrm>
            <a:off x="827584" y="3275692"/>
            <a:ext cx="936104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Menú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3715428" y="3275692"/>
            <a:ext cx="1224136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Libras a gr.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6459256" y="3275692"/>
            <a:ext cx="1277334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Galones a l.</a:t>
            </a:r>
          </a:p>
        </p:txBody>
      </p:sp>
      <p:sp>
        <p:nvSpPr>
          <p:cNvPr id="15" name="14 CuadroTexto"/>
          <p:cNvSpPr txBox="1"/>
          <p:nvPr/>
        </p:nvSpPr>
        <p:spPr>
          <a:xfrm>
            <a:off x="1911466" y="3284984"/>
            <a:ext cx="1656184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Pulgadas a cm.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5087342" y="3284984"/>
            <a:ext cx="1224136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ºF a ºC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3131840" y="2204864"/>
            <a:ext cx="225732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Conversiones</a:t>
            </a:r>
          </a:p>
        </p:txBody>
      </p:sp>
      <p:cxnSp>
        <p:nvCxnSpPr>
          <p:cNvPr id="24" name="23 Conector recto"/>
          <p:cNvCxnSpPr/>
          <p:nvPr/>
        </p:nvCxnSpPr>
        <p:spPr>
          <a:xfrm rot="5400000">
            <a:off x="8198878" y="3124014"/>
            <a:ext cx="360040" cy="0"/>
          </a:xfrm>
          <a:prstGeom prst="line">
            <a:avLst/>
          </a:prstGeom>
          <a:ln w="28575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CuadroTexto"/>
          <p:cNvSpPr txBox="1"/>
          <p:nvPr/>
        </p:nvSpPr>
        <p:spPr>
          <a:xfrm>
            <a:off x="7884367" y="3275692"/>
            <a:ext cx="936104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main()</a:t>
            </a:r>
          </a:p>
        </p:txBody>
      </p:sp>
      <p:cxnSp>
        <p:nvCxnSpPr>
          <p:cNvPr id="22" name="21 Conector recto"/>
          <p:cNvCxnSpPr/>
          <p:nvPr/>
        </p:nvCxnSpPr>
        <p:spPr>
          <a:xfrm rot="10800000">
            <a:off x="1331641" y="2943994"/>
            <a:ext cx="7056782" cy="0"/>
          </a:xfrm>
          <a:prstGeom prst="line">
            <a:avLst/>
          </a:prstGeom>
          <a:ln w="28575">
            <a:solidFill>
              <a:srgbClr val="FFC000"/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Refinamientos sucesivos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Paso 3.-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Menú:</a:t>
            </a:r>
            <a:br>
              <a:rPr lang="es-ES" i="1" dirty="0">
                <a:sym typeface="Wingdings" pitchFamily="2" charset="2"/>
              </a:rPr>
            </a:br>
            <a:r>
              <a:rPr lang="es-ES" dirty="0">
                <a:sym typeface="Wingdings" pitchFamily="2" charset="2"/>
              </a:rPr>
              <a:t>Mostrar las cuatro opciones más una para salir</a:t>
            </a:r>
            <a:br>
              <a:rPr lang="es-ES" dirty="0">
                <a:sym typeface="Wingdings" pitchFamily="2" charset="2"/>
              </a:rPr>
            </a:br>
            <a:r>
              <a:rPr lang="es-ES" dirty="0">
                <a:sym typeface="Wingdings" pitchFamily="2" charset="2"/>
              </a:rPr>
              <a:t>Validar la entrada y devolver la elegida</a:t>
            </a:r>
            <a:endParaRPr lang="es-ES" i="1" dirty="0">
              <a:sym typeface="Wingdings" pitchFamily="2" charset="2"/>
            </a:endParaRP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Pulgadas a centímetros:</a:t>
            </a:r>
            <a:br>
              <a:rPr lang="es-ES" i="1" dirty="0">
                <a:sym typeface="Wingdings" pitchFamily="2" charset="2"/>
              </a:rPr>
            </a:br>
            <a:r>
              <a:rPr lang="es-ES" dirty="0">
                <a:sym typeface="Wingdings" pitchFamily="2" charset="2"/>
              </a:rPr>
              <a:t>Devolver el equivalente en centímetros del valor en pulgadas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Libras a gramos:</a:t>
            </a:r>
            <a:br>
              <a:rPr lang="es-ES" i="1" dirty="0">
                <a:sym typeface="Wingdings" pitchFamily="2" charset="2"/>
              </a:rPr>
            </a:br>
            <a:r>
              <a:rPr lang="es-ES" dirty="0">
                <a:sym typeface="Wingdings" pitchFamily="2" charset="2"/>
              </a:rPr>
              <a:t>Devolver el equivalente en gramos del valor en libras</a:t>
            </a:r>
            <a:endParaRPr lang="es-ES" i="1" dirty="0">
              <a:sym typeface="Wingdings" pitchFamily="2" charset="2"/>
            </a:endParaRP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Grados Fahrenheit a centígrados:</a:t>
            </a:r>
            <a:br>
              <a:rPr lang="es-ES" i="1" dirty="0">
                <a:sym typeface="Wingdings" pitchFamily="2" charset="2"/>
              </a:rPr>
            </a:br>
            <a:r>
              <a:rPr lang="es-ES" dirty="0">
                <a:sym typeface="Wingdings" pitchFamily="2" charset="2"/>
              </a:rPr>
              <a:t>Devolver el equivalente en centígrados del valor en Fahrenheit</a:t>
            </a:r>
            <a:endParaRPr lang="es-ES" i="1" dirty="0">
              <a:sym typeface="Wingdings" pitchFamily="2" charset="2"/>
            </a:endParaRP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Galones a litros:</a:t>
            </a:r>
            <a:br>
              <a:rPr lang="es-ES" i="1" dirty="0">
                <a:sym typeface="Wingdings" pitchFamily="2" charset="2"/>
              </a:rPr>
            </a:br>
            <a:r>
              <a:rPr lang="es-ES" dirty="0">
                <a:sym typeface="Wingdings" pitchFamily="2" charset="2"/>
              </a:rPr>
              <a:t>Devolver el equivalente en litros del valor en galones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Clr>
                <a:srgbClr val="FFC000"/>
              </a:buClr>
              <a:buFont typeface="Wingdings 2" pitchFamily="18" charset="2"/>
              <a:buChar char=""/>
            </a:pPr>
            <a:r>
              <a:rPr lang="es-ES" i="1" dirty="0">
                <a:sym typeface="Wingdings" pitchFamily="2" charset="2"/>
              </a:rPr>
              <a:t>Programa principal </a:t>
            </a:r>
            <a:r>
              <a:rPr lang="es-ES" dirty="0">
                <a:sym typeface="Wingdings" pitchFamily="2" charset="2"/>
              </a:rPr>
              <a:t>(</a:t>
            </a:r>
            <a:r>
              <a:rPr lang="es-ES" dirty="0">
                <a:latin typeface="Consolas" pitchFamily="49" charset="0"/>
                <a:sym typeface="Wingdings" pitchFamily="2" charset="2"/>
              </a:rPr>
              <a:t>main()</a:t>
            </a:r>
            <a:r>
              <a:rPr lang="es-ES" dirty="0">
                <a:sym typeface="Wingdings" pitchFamily="2" charset="2"/>
              </a:rPr>
              <a:t>)</a:t>
            </a:r>
            <a:br>
              <a:rPr lang="es-ES" i="1" dirty="0">
                <a:sym typeface="Wingdings" pitchFamily="2" charset="2"/>
              </a:rPr>
            </a:br>
            <a:endParaRPr lang="es-ES" dirty="0">
              <a:sym typeface="Wingdings" pitchFamily="2" charset="2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i="1"/>
              <a:t>Página</a:t>
            </a:r>
            <a:r>
              <a:rPr lang="en-US" i="1"/>
              <a:t> </a:t>
            </a:r>
            <a:fld id="{042AED99-7FB4-404E-8A97-64753DCE42EC}" type="slidenum">
              <a:rPr lang="en-US" i="1" smtClean="0"/>
              <a:pPr/>
              <a:t>463</a:t>
            </a:fld>
            <a:endParaRPr lang="en-US" i="1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Refinamientos sucesivos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Paso 3.- Cada tarea, un subprograma</a:t>
            </a:r>
          </a:p>
          <a:p>
            <a:pPr marL="361950" lvl="1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Comunicación entre los subprogramas: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dirty="0">
              <a:sym typeface="Wingdings" pitchFamily="2" charset="2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i="1"/>
              <a:t>Página</a:t>
            </a:r>
            <a:r>
              <a:rPr lang="en-US" i="1"/>
              <a:t> </a:t>
            </a:r>
            <a:fld id="{042AED99-7FB4-404E-8A97-64753DCE42EC}" type="slidenum">
              <a:rPr lang="en-US" i="1" smtClean="0"/>
              <a:pPr/>
              <a:t>464</a:t>
            </a:fld>
            <a:endParaRPr lang="en-US" i="1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1143028" y="2276872"/>
          <a:ext cx="6857945" cy="2773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2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9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Función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Entrada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Salida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Valor devuelto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b="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menu</a:t>
                      </a:r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int</a:t>
                      </a:r>
                      <a:endParaRPr lang="es-ES" sz="2000" b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b="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pulgACm</a:t>
                      </a:r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double</a:t>
                      </a:r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 </a:t>
                      </a:r>
                      <a:r>
                        <a:rPr lang="es-ES" sz="2000" b="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pulg</a:t>
                      </a:r>
                      <a:endParaRPr lang="es-ES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double</a:t>
                      </a:r>
                      <a:endParaRPr lang="es-ES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b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lbAGr</a:t>
                      </a:r>
                      <a:r>
                        <a:rPr lang="es-ES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double</a:t>
                      </a:r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 libras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double</a:t>
                      </a:r>
                      <a:endParaRPr lang="es-ES" sz="2000" b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b="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grFAGrC</a:t>
                      </a:r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double</a:t>
                      </a:r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 </a:t>
                      </a:r>
                      <a:r>
                        <a:rPr lang="es-ES" sz="2000" b="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grF</a:t>
                      </a:r>
                      <a:endParaRPr lang="es-ES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double</a:t>
                      </a:r>
                      <a:endParaRPr lang="es-ES" sz="2000" b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b="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galALtr</a:t>
                      </a:r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double</a:t>
                      </a:r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 galones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double</a:t>
                      </a:r>
                      <a:endParaRPr lang="es-ES" sz="2000" b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main()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int</a:t>
                      </a:r>
                      <a:endParaRPr lang="es-ES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2A4B4A2-B177-4453-9890-300A12A4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Refinamiento Sucesivo</a:t>
            </a:r>
          </a:p>
        </p:txBody>
      </p:sp>
    </p:spTree>
    <p:extLst>
      <p:ext uri="{BB962C8B-B14F-4D97-AF65-F5344CB8AC3E}">
        <p14:creationId xmlns:p14="http://schemas.microsoft.com/office/powerpoint/2010/main" val="610316877"/>
      </p:ext>
    </p:extLst>
  </p:cSld>
  <p:clrMapOvr>
    <a:masterClrMapping/>
  </p:clrMapOvr>
  <p:transition spd="med"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C2B9E87-8B13-47E9-8006-23EA2F84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Laboratorio de Análisis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012841-5AD0-4B7A-95DF-38D460225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Escenarios disponibles</a:t>
            </a:r>
          </a:p>
          <a:p>
            <a:pPr lvl="1"/>
            <a:r>
              <a:rPr lang="es-ES" sz="2400" dirty="0"/>
              <a:t>Venta de billetes de avión</a:t>
            </a:r>
          </a:p>
          <a:p>
            <a:pPr lvl="1"/>
            <a:r>
              <a:rPr lang="es-ES" sz="2400" dirty="0"/>
              <a:t>Cajero automático aparcamiento</a:t>
            </a:r>
          </a:p>
          <a:p>
            <a:pPr lvl="1"/>
            <a:r>
              <a:rPr lang="es-ES" sz="2400" dirty="0"/>
              <a:t>Control horario</a:t>
            </a:r>
          </a:p>
          <a:p>
            <a:pPr lvl="1"/>
            <a:r>
              <a:rPr lang="es-ES" sz="2400" dirty="0"/>
              <a:t>Cajero automático banco</a:t>
            </a:r>
          </a:p>
          <a:p>
            <a:pPr lvl="1"/>
            <a:r>
              <a:rPr lang="es-ES" sz="2400" dirty="0"/>
              <a:t>Captura de cita médica</a:t>
            </a:r>
          </a:p>
          <a:p>
            <a:pPr lvl="1"/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2218354"/>
      </p:ext>
    </p:extLst>
  </p:cSld>
  <p:clrMapOvr>
    <a:masterClrMapping/>
  </p:clrMapOvr>
  <p:transition spd="med"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90736"/>
            <a:ext cx="8229600" cy="500066"/>
          </a:xfrm>
        </p:spPr>
        <p:txBody>
          <a:bodyPr/>
          <a:lstStyle/>
          <a:p>
            <a:r>
              <a:rPr lang="es-ES" dirty="0"/>
              <a:t>Acerca de </a:t>
            </a:r>
            <a:r>
              <a:rPr lang="es-ES" i="1" dirty="0" err="1"/>
              <a:t>Creative</a:t>
            </a:r>
            <a:r>
              <a:rPr lang="es-ES" i="1" dirty="0"/>
              <a:t> </a:t>
            </a:r>
            <a:r>
              <a:rPr lang="es-ES" i="1" dirty="0" err="1"/>
              <a:t>Commons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2898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Licencia CC (</a:t>
            </a:r>
            <a:r>
              <a:rPr lang="es-ES" dirty="0" err="1">
                <a:hlinkClick r:id="rId2"/>
              </a:rPr>
              <a:t>Creative</a:t>
            </a:r>
            <a:r>
              <a:rPr lang="es-ES" dirty="0">
                <a:hlinkClick r:id="rId2"/>
              </a:rPr>
              <a:t> </a:t>
            </a:r>
            <a:r>
              <a:rPr lang="es-ES" dirty="0" err="1">
                <a:hlinkClick r:id="rId2"/>
              </a:rPr>
              <a:t>Commons</a:t>
            </a:r>
            <a:r>
              <a:rPr lang="es-ES" dirty="0"/>
              <a:t>)</a:t>
            </a:r>
            <a:endParaRPr lang="es-ES" i="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Este tipo de licencias ofrecen algunos derechos a terceras personas bajo ciertas condiciones.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Este documento tiene establecidas las siguientes: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Pulsa en la imagen de arriba a la derecha para saber más.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La abstracción procedimental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467</a:t>
            </a:fld>
            <a:endParaRPr lang="en-US" dirty="0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1547664" y="2757115"/>
            <a:ext cx="6543458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Reconocimiento (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Attribution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En cualquier explotación de la obra autorizada por la licencia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hará falta reconocer la autoría.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No comercial (</a:t>
            </a:r>
            <a:r>
              <a:rPr kumimoji="0" lang="es-E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Non 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commercial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La explotación de la obra queda limitada a usos no comerciales.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Compartir igual (</a:t>
            </a:r>
            <a:r>
              <a:rPr kumimoji="0" lang="es-E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Share 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alike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La explotación autorizada incluye la creación de obras derivadas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siempre que mantengan la misma licencia al ser divulgadas.</a:t>
            </a:r>
          </a:p>
        </p:txBody>
      </p:sp>
      <p:pic>
        <p:nvPicPr>
          <p:cNvPr id="45065" name="Picture 9" descr="attribution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2757115"/>
            <a:ext cx="409575" cy="409575"/>
          </a:xfrm>
          <a:prstGeom prst="rect">
            <a:avLst/>
          </a:prstGeom>
          <a:noFill/>
        </p:spPr>
      </p:pic>
      <p:pic>
        <p:nvPicPr>
          <p:cNvPr id="45066" name="Picture 10" descr="non commercial"/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3746155"/>
            <a:ext cx="409575" cy="409575"/>
          </a:xfrm>
          <a:prstGeom prst="rect">
            <a:avLst/>
          </a:prstGeom>
          <a:noFill/>
        </p:spPr>
      </p:pic>
      <p:pic>
        <p:nvPicPr>
          <p:cNvPr id="45068" name="Picture 12" descr="share alike"/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4416700"/>
            <a:ext cx="409575" cy="409575"/>
          </a:xfrm>
          <a:prstGeom prst="rect">
            <a:avLst/>
          </a:prstGeom>
          <a:noFill/>
        </p:spPr>
      </p:pic>
      <p:pic>
        <p:nvPicPr>
          <p:cNvPr id="18" name="17 Imagen" descr="CreativeCommons.png">
            <a:hlinkClick r:id="rId6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29454" y="381223"/>
            <a:ext cx="1919288" cy="671513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>
        <a:noFill/>
        <a:ln>
          <a:solidFill>
            <a:srgbClr val="FFC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C000"/>
          </a:solidFill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/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none" rtlCol="0">
        <a:spAutoFit/>
      </a:bodyPr>
      <a:lstStyle>
        <a:defPPr algn="ctr">
          <a:spcAft>
            <a:spcPts val="600"/>
          </a:spcAft>
          <a:defRPr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3045</Words>
  <Application>Microsoft Office PowerPoint</Application>
  <PresentationFormat>Presentación en pantalla (4:3)</PresentationFormat>
  <Paragraphs>579</Paragraphs>
  <Slides>43</Slides>
  <Notes>1</Notes>
  <HiddenSlides>2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0" baseType="lpstr">
      <vt:lpstr>Calibri</vt:lpstr>
      <vt:lpstr>Cambria</vt:lpstr>
      <vt:lpstr>Consolas</vt:lpstr>
      <vt:lpstr>Constantia</vt:lpstr>
      <vt:lpstr>Wingdings</vt:lpstr>
      <vt:lpstr>Wingdings 2</vt:lpstr>
      <vt:lpstr>Flow</vt:lpstr>
      <vt:lpstr>La abstracción procedimental</vt:lpstr>
      <vt:lpstr>Fundamentos de la programación</vt:lpstr>
      <vt:lpstr>Tareas y subtareas</vt:lpstr>
      <vt:lpstr>Un dibujo</vt:lpstr>
      <vt:lpstr>Un dibujo</vt:lpstr>
      <vt:lpstr>Un dibujo</vt:lpstr>
      <vt:lpstr>Mensaje en letras gigantes</vt:lpstr>
      <vt:lpstr>Mensaje en letras gigantes</vt:lpstr>
      <vt:lpstr>Fundamentos de la programación</vt:lpstr>
      <vt:lpstr>Abstracción procedimental</vt:lpstr>
      <vt:lpstr>Subprogramas</vt:lpstr>
      <vt:lpstr>Subprogramas</vt:lpstr>
      <vt:lpstr>Subprogramas</vt:lpstr>
      <vt:lpstr>Subprogramas</vt:lpstr>
      <vt:lpstr>Subprogramas</vt:lpstr>
      <vt:lpstr>Fundamentos de la programación</vt:lpstr>
      <vt:lpstr>Datos en los subprogramas</vt:lpstr>
      <vt:lpstr>Datos locales y datos globales</vt:lpstr>
      <vt:lpstr>Datos locales y datos globales</vt:lpstr>
      <vt:lpstr>Datos locales y datos globales</vt:lpstr>
      <vt:lpstr>Fundamentos de la programación</vt:lpstr>
      <vt:lpstr>Comunicación con el exterior</vt:lpstr>
      <vt:lpstr>Parámetros</vt:lpstr>
      <vt:lpstr>Parámetros por valor</vt:lpstr>
      <vt:lpstr>Parámetros por referencia</vt:lpstr>
      <vt:lpstr>Fundamentos de la programación</vt:lpstr>
      <vt:lpstr>Llamada a subprogramas con parámetros</vt:lpstr>
      <vt:lpstr>Argumentos pasados por valor</vt:lpstr>
      <vt:lpstr>Argumentos pasados por valor</vt:lpstr>
      <vt:lpstr>Argumentos pasados por referencia</vt:lpstr>
      <vt:lpstr>¿Qué llamadas son correctas?</vt:lpstr>
      <vt:lpstr>Fundamentos de la programación</vt:lpstr>
      <vt:lpstr>Resultado de la función</vt:lpstr>
      <vt:lpstr>¿Cuándo termina el subprograma?</vt:lpstr>
      <vt:lpstr>Fundamentos de la programación</vt:lpstr>
      <vt:lpstr>Refinamientos sucesivos</vt:lpstr>
      <vt:lpstr>Refinamientos sucesivos</vt:lpstr>
      <vt:lpstr>Refinamientos sucesivos</vt:lpstr>
      <vt:lpstr>Refinamientos sucesivos</vt:lpstr>
      <vt:lpstr>Refinamientos sucesivos</vt:lpstr>
      <vt:lpstr>Refinamiento Sucesivo</vt:lpstr>
      <vt:lpstr>Laboratorio de Análisis</vt:lpstr>
      <vt:lpstr>Acerca de Creative Commons</vt:lpstr>
    </vt:vector>
  </TitlesOfParts>
  <Company>UCM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</dc:title>
  <dc:creator>Luis</dc:creator>
  <cp:lastModifiedBy>Miguel Ángel Campos Méndez</cp:lastModifiedBy>
  <cp:revision>881</cp:revision>
  <dcterms:created xsi:type="dcterms:W3CDTF">2010-03-20T08:32:51Z</dcterms:created>
  <dcterms:modified xsi:type="dcterms:W3CDTF">2021-11-14T19:12:43Z</dcterms:modified>
</cp:coreProperties>
</file>