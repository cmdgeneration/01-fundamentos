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25" saveSubsetFonts="1">
  <p:sldMasterIdLst>
    <p:sldMasterId id="2147483660" r:id="rId1"/>
  </p:sldMasterIdLst>
  <p:notesMasterIdLst>
    <p:notesMasterId r:id="rId115"/>
  </p:notesMasterIdLst>
  <p:handoutMasterIdLst>
    <p:handoutMasterId r:id="rId116"/>
  </p:handoutMasterIdLst>
  <p:sldIdLst>
    <p:sldId id="256" r:id="rId2"/>
    <p:sldId id="487" r:id="rId3"/>
    <p:sldId id="423" r:id="rId4"/>
    <p:sldId id="708" r:id="rId5"/>
    <p:sldId id="425" r:id="rId6"/>
    <p:sldId id="488" r:id="rId7"/>
    <p:sldId id="426" r:id="rId8"/>
    <p:sldId id="427" r:id="rId9"/>
    <p:sldId id="428" r:id="rId10"/>
    <p:sldId id="429" r:id="rId11"/>
    <p:sldId id="838" r:id="rId12"/>
    <p:sldId id="378" r:id="rId13"/>
    <p:sldId id="380" r:id="rId14"/>
    <p:sldId id="489" r:id="rId15"/>
    <p:sldId id="490" r:id="rId16"/>
    <p:sldId id="491" r:id="rId17"/>
    <p:sldId id="493" r:id="rId18"/>
    <p:sldId id="492" r:id="rId19"/>
    <p:sldId id="498" r:id="rId20"/>
    <p:sldId id="424" r:id="rId21"/>
    <p:sldId id="496" r:id="rId22"/>
    <p:sldId id="441" r:id="rId23"/>
    <p:sldId id="631" r:id="rId24"/>
    <p:sldId id="442" r:id="rId25"/>
    <p:sldId id="443" r:id="rId26"/>
    <p:sldId id="434" r:id="rId27"/>
    <p:sldId id="622" r:id="rId28"/>
    <p:sldId id="435" r:id="rId29"/>
    <p:sldId id="562" r:id="rId30"/>
    <p:sldId id="836" r:id="rId31"/>
    <p:sldId id="837" r:id="rId32"/>
    <p:sldId id="701" r:id="rId33"/>
    <p:sldId id="445" r:id="rId34"/>
    <p:sldId id="702" r:id="rId35"/>
    <p:sldId id="447" r:id="rId36"/>
    <p:sldId id="704" r:id="rId37"/>
    <p:sldId id="448" r:id="rId38"/>
    <p:sldId id="508" r:id="rId39"/>
    <p:sldId id="451" r:id="rId40"/>
    <p:sldId id="452" r:id="rId41"/>
    <p:sldId id="521" r:id="rId42"/>
    <p:sldId id="564" r:id="rId43"/>
    <p:sldId id="465" r:id="rId44"/>
    <p:sldId id="523" r:id="rId45"/>
    <p:sldId id="510" r:id="rId46"/>
    <p:sldId id="511" r:id="rId47"/>
    <p:sldId id="512" r:id="rId48"/>
    <p:sldId id="513" r:id="rId49"/>
    <p:sldId id="516" r:id="rId50"/>
    <p:sldId id="517" r:id="rId51"/>
    <p:sldId id="578" r:id="rId52"/>
    <p:sldId id="576" r:id="rId53"/>
    <p:sldId id="518" r:id="rId54"/>
    <p:sldId id="519" r:id="rId55"/>
    <p:sldId id="829" r:id="rId56"/>
    <p:sldId id="830" r:id="rId57"/>
    <p:sldId id="831" r:id="rId58"/>
    <p:sldId id="835" r:id="rId59"/>
    <p:sldId id="524" r:id="rId60"/>
    <p:sldId id="475" r:id="rId61"/>
    <p:sldId id="476" r:id="rId62"/>
    <p:sldId id="651" r:id="rId63"/>
    <p:sldId id="652" r:id="rId64"/>
    <p:sldId id="653" r:id="rId65"/>
    <p:sldId id="654" r:id="rId66"/>
    <p:sldId id="655" r:id="rId67"/>
    <p:sldId id="656" r:id="rId68"/>
    <p:sldId id="477" r:id="rId69"/>
    <p:sldId id="574" r:id="rId70"/>
    <p:sldId id="525" r:id="rId71"/>
    <p:sldId id="527" r:id="rId72"/>
    <p:sldId id="530" r:id="rId73"/>
    <p:sldId id="539" r:id="rId74"/>
    <p:sldId id="531" r:id="rId75"/>
    <p:sldId id="583" r:id="rId76"/>
    <p:sldId id="532" r:id="rId77"/>
    <p:sldId id="533" r:id="rId78"/>
    <p:sldId id="538" r:id="rId79"/>
    <p:sldId id="540" r:id="rId80"/>
    <p:sldId id="549" r:id="rId81"/>
    <p:sldId id="551" r:id="rId82"/>
    <p:sldId id="588" r:id="rId83"/>
    <p:sldId id="543" r:id="rId84"/>
    <p:sldId id="544" r:id="rId85"/>
    <p:sldId id="545" r:id="rId86"/>
    <p:sldId id="546" r:id="rId87"/>
    <p:sldId id="547" r:id="rId88"/>
    <p:sldId id="589" r:id="rId89"/>
    <p:sldId id="552" r:id="rId90"/>
    <p:sldId id="553" r:id="rId91"/>
    <p:sldId id="672" r:id="rId92"/>
    <p:sldId id="556" r:id="rId93"/>
    <p:sldId id="709" r:id="rId94"/>
    <p:sldId id="710" r:id="rId95"/>
    <p:sldId id="711" r:id="rId96"/>
    <p:sldId id="721" r:id="rId97"/>
    <p:sldId id="712" r:id="rId98"/>
    <p:sldId id="713" r:id="rId99"/>
    <p:sldId id="714" r:id="rId100"/>
    <p:sldId id="715" r:id="rId101"/>
    <p:sldId id="729" r:id="rId102"/>
    <p:sldId id="839" r:id="rId103"/>
    <p:sldId id="718" r:id="rId104"/>
    <p:sldId id="723" r:id="rId105"/>
    <p:sldId id="716" r:id="rId106"/>
    <p:sldId id="717" r:id="rId107"/>
    <p:sldId id="730" r:id="rId108"/>
    <p:sldId id="731" r:id="rId109"/>
    <p:sldId id="724" r:id="rId110"/>
    <p:sldId id="725" r:id="rId111"/>
    <p:sldId id="726" r:id="rId112"/>
    <p:sldId id="736" r:id="rId113"/>
    <p:sldId id="422" r:id="rId114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0037A8"/>
    <a:srgbClr val="003366"/>
    <a:srgbClr val="FF9966"/>
    <a:srgbClr val="FF6699"/>
    <a:srgbClr val="9966FF"/>
    <a:srgbClr val="3333CC"/>
    <a:srgbClr val="FFFF66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A0BC84-D758-47D1-AFA6-7E4A80A8D899}" v="59" dt="2020-02-21T02:42:29.1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7CE84F3-28C3-443E-9E96-99CF82512B78}" styleName="Estilo oscuro 1 - Énfasis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95" autoAdjust="0"/>
    <p:restoredTop sz="94660"/>
  </p:normalViewPr>
  <p:slideViewPr>
    <p:cSldViewPr snapToObjects="1">
      <p:cViewPr varScale="1">
        <p:scale>
          <a:sx n="102" d="100"/>
          <a:sy n="102" d="100"/>
        </p:scale>
        <p:origin x="114" y="3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7704"/>
    </p:cViewPr>
  </p:sorterViewPr>
  <p:notesViewPr>
    <p:cSldViewPr snapToObjects="1">
      <p:cViewPr varScale="1">
        <p:scale>
          <a:sx n="71" d="100"/>
          <a:sy n="71" d="100"/>
        </p:scale>
        <p:origin x="-3372" y="-108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microsoft.com/office/2016/11/relationships/changesInfo" Target="changesInfos/changesInfo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Ángel Campos Méndez" userId="402d5bdf62ce6c12" providerId="LiveId" clId="{4DD33CC3-4A92-4E7B-8DD4-D64F4DB14791}"/>
    <pc:docChg chg="custSel addSld delSld modSld">
      <pc:chgData name="Miguel Ángel Campos Méndez" userId="402d5bdf62ce6c12" providerId="LiveId" clId="{4DD33CC3-4A92-4E7B-8DD4-D64F4DB14791}" dt="2020-02-19T19:39:53.850" v="106"/>
      <pc:docMkLst>
        <pc:docMk/>
      </pc:docMkLst>
      <pc:sldChg chg="add">
        <pc:chgData name="Miguel Ángel Campos Méndez" userId="402d5bdf62ce6c12" providerId="LiveId" clId="{4DD33CC3-4A92-4E7B-8DD4-D64F4DB14791}" dt="2020-02-19T19:39:53.850" v="106"/>
        <pc:sldMkLst>
          <pc:docMk/>
          <pc:sldMk cId="0" sldId="378"/>
        </pc:sldMkLst>
      </pc:sldChg>
      <pc:sldChg chg="add">
        <pc:chgData name="Miguel Ángel Campos Méndez" userId="402d5bdf62ce6c12" providerId="LiveId" clId="{4DD33CC3-4A92-4E7B-8DD4-D64F4DB14791}" dt="2020-02-19T19:39:53.850" v="106"/>
        <pc:sldMkLst>
          <pc:docMk/>
          <pc:sldMk cId="0" sldId="380"/>
        </pc:sldMkLst>
      </pc:sldChg>
      <pc:sldChg chg="delSp modSp delAnim">
        <pc:chgData name="Miguel Ángel Campos Méndez" userId="402d5bdf62ce6c12" providerId="LiveId" clId="{4DD33CC3-4A92-4E7B-8DD4-D64F4DB14791}" dt="2020-02-19T17:17:20.891" v="54" actId="1038"/>
        <pc:sldMkLst>
          <pc:docMk/>
          <pc:sldMk cId="0" sldId="423"/>
        </pc:sldMkLst>
        <pc:spChg chg="del">
          <ac:chgData name="Miguel Ángel Campos Méndez" userId="402d5bdf62ce6c12" providerId="LiveId" clId="{4DD33CC3-4A92-4E7B-8DD4-D64F4DB14791}" dt="2020-02-19T17:17:09.591" v="21" actId="478"/>
          <ac:spMkLst>
            <pc:docMk/>
            <pc:sldMk cId="0" sldId="423"/>
            <ac:spMk id="31" creationId="{00000000-0000-0000-0000-000000000000}"/>
          </ac:spMkLst>
        </pc:spChg>
        <pc:spChg chg="mod">
          <ac:chgData name="Miguel Ángel Campos Méndez" userId="402d5bdf62ce6c12" providerId="LiveId" clId="{4DD33CC3-4A92-4E7B-8DD4-D64F4DB14791}" dt="2020-02-19T17:17:20.891" v="54" actId="1038"/>
          <ac:spMkLst>
            <pc:docMk/>
            <pc:sldMk cId="0" sldId="423"/>
            <ac:spMk id="43" creationId="{00000000-0000-0000-0000-000000000000}"/>
          </ac:spMkLst>
        </pc:spChg>
        <pc:grpChg chg="mod">
          <ac:chgData name="Miguel Ángel Campos Méndez" userId="402d5bdf62ce6c12" providerId="LiveId" clId="{4DD33CC3-4A92-4E7B-8DD4-D64F4DB14791}" dt="2020-02-19T17:17:20.891" v="54" actId="1038"/>
          <ac:grpSpMkLst>
            <pc:docMk/>
            <pc:sldMk cId="0" sldId="423"/>
            <ac:grpSpMk id="37" creationId="{00000000-0000-0000-0000-000000000000}"/>
          </ac:grpSpMkLst>
        </pc:grpChg>
        <pc:grpChg chg="mod">
          <ac:chgData name="Miguel Ángel Campos Méndez" userId="402d5bdf62ce6c12" providerId="LiveId" clId="{4DD33CC3-4A92-4E7B-8DD4-D64F4DB14791}" dt="2020-02-19T17:17:20.891" v="54" actId="1038"/>
          <ac:grpSpMkLst>
            <pc:docMk/>
            <pc:sldMk cId="0" sldId="423"/>
            <ac:grpSpMk id="38" creationId="{00000000-0000-0000-0000-000000000000}"/>
          </ac:grpSpMkLst>
        </pc:grpChg>
        <pc:grpChg chg="mod">
          <ac:chgData name="Miguel Ángel Campos Méndez" userId="402d5bdf62ce6c12" providerId="LiveId" clId="{4DD33CC3-4A92-4E7B-8DD4-D64F4DB14791}" dt="2020-02-19T17:17:20.891" v="54" actId="1038"/>
          <ac:grpSpMkLst>
            <pc:docMk/>
            <pc:sldMk cId="0" sldId="423"/>
            <ac:grpSpMk id="39" creationId="{00000000-0000-0000-0000-000000000000}"/>
          </ac:grpSpMkLst>
        </pc:grpChg>
        <pc:grpChg chg="mod">
          <ac:chgData name="Miguel Ángel Campos Méndez" userId="402d5bdf62ce6c12" providerId="LiveId" clId="{4DD33CC3-4A92-4E7B-8DD4-D64F4DB14791}" dt="2020-02-19T17:17:20.891" v="54" actId="1038"/>
          <ac:grpSpMkLst>
            <pc:docMk/>
            <pc:sldMk cId="0" sldId="423"/>
            <ac:grpSpMk id="40" creationId="{00000000-0000-0000-0000-000000000000}"/>
          </ac:grpSpMkLst>
        </pc:grpChg>
        <pc:grpChg chg="mod">
          <ac:chgData name="Miguel Ángel Campos Méndez" userId="402d5bdf62ce6c12" providerId="LiveId" clId="{4DD33CC3-4A92-4E7B-8DD4-D64F4DB14791}" dt="2020-02-19T17:17:20.891" v="54" actId="1038"/>
          <ac:grpSpMkLst>
            <pc:docMk/>
            <pc:sldMk cId="0" sldId="423"/>
            <ac:grpSpMk id="41" creationId="{00000000-0000-0000-0000-000000000000}"/>
          </ac:grpSpMkLst>
        </pc:grpChg>
        <pc:cxnChg chg="mod">
          <ac:chgData name="Miguel Ángel Campos Méndez" userId="402d5bdf62ce6c12" providerId="LiveId" clId="{4DD33CC3-4A92-4E7B-8DD4-D64F4DB14791}" dt="2020-02-19T17:17:20.891" v="54" actId="1038"/>
          <ac:cxnSpMkLst>
            <pc:docMk/>
            <pc:sldMk cId="0" sldId="423"/>
            <ac:cxnSpMk id="30" creationId="{00000000-0000-0000-0000-000000000000}"/>
          </ac:cxnSpMkLst>
        </pc:cxnChg>
        <pc:cxnChg chg="mod">
          <ac:chgData name="Miguel Ángel Campos Méndez" userId="402d5bdf62ce6c12" providerId="LiveId" clId="{4DD33CC3-4A92-4E7B-8DD4-D64F4DB14791}" dt="2020-02-19T17:17:20.891" v="54" actId="1038"/>
          <ac:cxnSpMkLst>
            <pc:docMk/>
            <pc:sldMk cId="0" sldId="423"/>
            <ac:cxnSpMk id="42" creationId="{00000000-0000-0000-0000-000000000000}"/>
          </ac:cxnSpMkLst>
        </pc:cxnChg>
      </pc:sldChg>
      <pc:sldChg chg="modSp">
        <pc:chgData name="Miguel Ángel Campos Méndez" userId="402d5bdf62ce6c12" providerId="LiveId" clId="{4DD33CC3-4A92-4E7B-8DD4-D64F4DB14791}" dt="2020-02-17T16:02:13.472" v="2" actId="27636"/>
        <pc:sldMkLst>
          <pc:docMk/>
          <pc:sldMk cId="0" sldId="429"/>
        </pc:sldMkLst>
        <pc:spChg chg="mod">
          <ac:chgData name="Miguel Ángel Campos Méndez" userId="402d5bdf62ce6c12" providerId="LiveId" clId="{4DD33CC3-4A92-4E7B-8DD4-D64F4DB14791}" dt="2020-02-17T16:02:13.472" v="2" actId="27636"/>
          <ac:spMkLst>
            <pc:docMk/>
            <pc:sldMk cId="0" sldId="429"/>
            <ac:spMk id="3" creationId="{00000000-0000-0000-0000-000000000000}"/>
          </ac:spMkLst>
        </pc:spChg>
      </pc:sldChg>
      <pc:sldChg chg="modSp del">
        <pc:chgData name="Miguel Ángel Campos Méndez" userId="402d5bdf62ce6c12" providerId="LiveId" clId="{4DD33CC3-4A92-4E7B-8DD4-D64F4DB14791}" dt="2020-02-19T17:18:15.773" v="55" actId="47"/>
        <pc:sldMkLst>
          <pc:docMk/>
          <pc:sldMk cId="0" sldId="433"/>
        </pc:sldMkLst>
        <pc:spChg chg="mod">
          <ac:chgData name="Miguel Ángel Campos Méndez" userId="402d5bdf62ce6c12" providerId="LiveId" clId="{4DD33CC3-4A92-4E7B-8DD4-D64F4DB14791}" dt="2020-02-17T16:02:13.528" v="3" actId="27636"/>
          <ac:spMkLst>
            <pc:docMk/>
            <pc:sldMk cId="0" sldId="433"/>
            <ac:spMk id="3" creationId="{00000000-0000-0000-0000-000000000000}"/>
          </ac:spMkLst>
        </pc:spChg>
      </pc:sldChg>
      <pc:sldChg chg="delSp delAnim">
        <pc:chgData name="Miguel Ángel Campos Méndez" userId="402d5bdf62ce6c12" providerId="LiveId" clId="{4DD33CC3-4A92-4E7B-8DD4-D64F4DB14791}" dt="2020-02-19T17:19:14.281" v="57" actId="478"/>
        <pc:sldMkLst>
          <pc:docMk/>
          <pc:sldMk cId="1711227443" sldId="434"/>
        </pc:sldMkLst>
        <pc:spChg chg="del">
          <ac:chgData name="Miguel Ángel Campos Méndez" userId="402d5bdf62ce6c12" providerId="LiveId" clId="{4DD33CC3-4A92-4E7B-8DD4-D64F4DB14791}" dt="2020-02-19T17:19:14.281" v="57" actId="478"/>
          <ac:spMkLst>
            <pc:docMk/>
            <pc:sldMk cId="1711227443" sldId="434"/>
            <ac:spMk id="7" creationId="{00000000-0000-0000-0000-000000000000}"/>
          </ac:spMkLst>
        </pc:spChg>
      </pc:sldChg>
      <pc:sldChg chg="modSp">
        <pc:chgData name="Miguel Ángel Campos Méndez" userId="402d5bdf62ce6c12" providerId="LiveId" clId="{4DD33CC3-4A92-4E7B-8DD4-D64F4DB14791}" dt="2020-02-17T16:02:13.573" v="5" actId="27636"/>
        <pc:sldMkLst>
          <pc:docMk/>
          <pc:sldMk cId="0" sldId="442"/>
        </pc:sldMkLst>
        <pc:spChg chg="mod">
          <ac:chgData name="Miguel Ángel Campos Méndez" userId="402d5bdf62ce6c12" providerId="LiveId" clId="{4DD33CC3-4A92-4E7B-8DD4-D64F4DB14791}" dt="2020-02-17T16:02:13.573" v="5" actId="27636"/>
          <ac:spMkLst>
            <pc:docMk/>
            <pc:sldMk cId="0" sldId="442"/>
            <ac:spMk id="3" creationId="{00000000-0000-0000-0000-000000000000}"/>
          </ac:spMkLst>
        </pc:spChg>
      </pc:sldChg>
      <pc:sldChg chg="del">
        <pc:chgData name="Miguel Ángel Campos Méndez" userId="402d5bdf62ce6c12" providerId="LiveId" clId="{4DD33CC3-4A92-4E7B-8DD4-D64F4DB14791}" dt="2020-02-19T17:26:41.620" v="76" actId="47"/>
        <pc:sldMkLst>
          <pc:docMk/>
          <pc:sldMk cId="0" sldId="449"/>
        </pc:sldMkLst>
      </pc:sldChg>
      <pc:sldChg chg="del">
        <pc:chgData name="Miguel Ángel Campos Méndez" userId="402d5bdf62ce6c12" providerId="LiveId" clId="{4DD33CC3-4A92-4E7B-8DD4-D64F4DB14791}" dt="2020-02-19T17:26:41.620" v="76" actId="47"/>
        <pc:sldMkLst>
          <pc:docMk/>
          <pc:sldMk cId="0" sldId="450"/>
        </pc:sldMkLst>
      </pc:sldChg>
      <pc:sldChg chg="del">
        <pc:chgData name="Miguel Ángel Campos Méndez" userId="402d5bdf62ce6c12" providerId="LiveId" clId="{4DD33CC3-4A92-4E7B-8DD4-D64F4DB14791}" dt="2020-02-19T19:35:10.684" v="104" actId="47"/>
        <pc:sldMkLst>
          <pc:docMk/>
          <pc:sldMk cId="0" sldId="464"/>
        </pc:sldMkLst>
      </pc:sldChg>
      <pc:sldChg chg="del">
        <pc:chgData name="Miguel Ángel Campos Méndez" userId="402d5bdf62ce6c12" providerId="LiveId" clId="{4DD33CC3-4A92-4E7B-8DD4-D64F4DB14791}" dt="2020-02-19T17:27:34" v="77" actId="47"/>
        <pc:sldMkLst>
          <pc:docMk/>
          <pc:sldMk cId="0" sldId="467"/>
        </pc:sldMkLst>
      </pc:sldChg>
      <pc:sldChg chg="modSp">
        <pc:chgData name="Miguel Ángel Campos Méndez" userId="402d5bdf62ce6c12" providerId="LiveId" clId="{4DD33CC3-4A92-4E7B-8DD4-D64F4DB14791}" dt="2020-02-17T16:02:13.742" v="9" actId="27636"/>
        <pc:sldMkLst>
          <pc:docMk/>
          <pc:sldMk cId="0" sldId="475"/>
        </pc:sldMkLst>
        <pc:spChg chg="mod">
          <ac:chgData name="Miguel Ángel Campos Méndez" userId="402d5bdf62ce6c12" providerId="LiveId" clId="{4DD33CC3-4A92-4E7B-8DD4-D64F4DB14791}" dt="2020-02-17T16:02:13.742" v="9" actId="27636"/>
          <ac:spMkLst>
            <pc:docMk/>
            <pc:sldMk cId="0" sldId="475"/>
            <ac:spMk id="3" creationId="{00000000-0000-0000-0000-000000000000}"/>
          </ac:spMkLst>
        </pc:spChg>
      </pc:sldChg>
      <pc:sldChg chg="modSp">
        <pc:chgData name="Miguel Ángel Campos Méndez" userId="402d5bdf62ce6c12" providerId="LiveId" clId="{4DD33CC3-4A92-4E7B-8DD4-D64F4DB14791}" dt="2020-02-17T16:02:13.758" v="10" actId="27636"/>
        <pc:sldMkLst>
          <pc:docMk/>
          <pc:sldMk cId="0" sldId="476"/>
        </pc:sldMkLst>
        <pc:spChg chg="mod">
          <ac:chgData name="Miguel Ángel Campos Méndez" userId="402d5bdf62ce6c12" providerId="LiveId" clId="{4DD33CC3-4A92-4E7B-8DD4-D64F4DB14791}" dt="2020-02-17T16:02:13.758" v="10" actId="27636"/>
          <ac:spMkLst>
            <pc:docMk/>
            <pc:sldMk cId="0" sldId="476"/>
            <ac:spMk id="3" creationId="{00000000-0000-0000-0000-000000000000}"/>
          </ac:spMkLst>
        </pc:spChg>
      </pc:sldChg>
      <pc:sldChg chg="del">
        <pc:chgData name="Miguel Ángel Campos Méndez" userId="402d5bdf62ce6c12" providerId="LiveId" clId="{4DD33CC3-4A92-4E7B-8DD4-D64F4DB14791}" dt="2020-02-19T19:14:08.328" v="95" actId="47"/>
        <pc:sldMkLst>
          <pc:docMk/>
          <pc:sldMk cId="0" sldId="478"/>
        </pc:sldMkLst>
      </pc:sldChg>
      <pc:sldChg chg="del">
        <pc:chgData name="Miguel Ángel Campos Méndez" userId="402d5bdf62ce6c12" providerId="LiveId" clId="{4DD33CC3-4A92-4E7B-8DD4-D64F4DB14791}" dt="2020-02-19T19:14:09.536" v="96" actId="47"/>
        <pc:sldMkLst>
          <pc:docMk/>
          <pc:sldMk cId="0" sldId="479"/>
        </pc:sldMkLst>
      </pc:sldChg>
      <pc:sldChg chg="del">
        <pc:chgData name="Miguel Ángel Campos Méndez" userId="402d5bdf62ce6c12" providerId="LiveId" clId="{4DD33CC3-4A92-4E7B-8DD4-D64F4DB14791}" dt="2020-02-19T19:14:10.263" v="97" actId="47"/>
        <pc:sldMkLst>
          <pc:docMk/>
          <pc:sldMk cId="0" sldId="480"/>
        </pc:sldMkLst>
      </pc:sldChg>
      <pc:sldChg chg="del">
        <pc:chgData name="Miguel Ángel Campos Méndez" userId="402d5bdf62ce6c12" providerId="LiveId" clId="{4DD33CC3-4A92-4E7B-8DD4-D64F4DB14791}" dt="2020-02-19T19:14:11.573" v="98" actId="47"/>
        <pc:sldMkLst>
          <pc:docMk/>
          <pc:sldMk cId="0" sldId="481"/>
        </pc:sldMkLst>
      </pc:sldChg>
      <pc:sldChg chg="del">
        <pc:chgData name="Miguel Ángel Campos Méndez" userId="402d5bdf62ce6c12" providerId="LiveId" clId="{4DD33CC3-4A92-4E7B-8DD4-D64F4DB14791}" dt="2020-02-19T19:13:45.820" v="91" actId="47"/>
        <pc:sldMkLst>
          <pc:docMk/>
          <pc:sldMk cId="0" sldId="482"/>
        </pc:sldMkLst>
      </pc:sldChg>
      <pc:sldChg chg="del">
        <pc:chgData name="Miguel Ángel Campos Méndez" userId="402d5bdf62ce6c12" providerId="LiveId" clId="{4DD33CC3-4A92-4E7B-8DD4-D64F4DB14791}" dt="2020-02-19T19:13:48.451" v="92" actId="47"/>
        <pc:sldMkLst>
          <pc:docMk/>
          <pc:sldMk cId="0" sldId="483"/>
        </pc:sldMkLst>
      </pc:sldChg>
      <pc:sldChg chg="modSp del">
        <pc:chgData name="Miguel Ángel Campos Méndez" userId="402d5bdf62ce6c12" providerId="LiveId" clId="{4DD33CC3-4A92-4E7B-8DD4-D64F4DB14791}" dt="2020-02-19T19:16:43.761" v="99" actId="47"/>
        <pc:sldMkLst>
          <pc:docMk/>
          <pc:sldMk cId="0" sldId="484"/>
        </pc:sldMkLst>
        <pc:spChg chg="mod">
          <ac:chgData name="Miguel Ángel Campos Méndez" userId="402d5bdf62ce6c12" providerId="LiveId" clId="{4DD33CC3-4A92-4E7B-8DD4-D64F4DB14791}" dt="2020-02-19T18:59:22.347" v="89" actId="20577"/>
          <ac:spMkLst>
            <pc:docMk/>
            <pc:sldMk cId="0" sldId="484"/>
            <ac:spMk id="3" creationId="{00000000-0000-0000-0000-000000000000}"/>
          </ac:spMkLst>
        </pc:spChg>
      </pc:sldChg>
      <pc:sldChg chg="del">
        <pc:chgData name="Miguel Ángel Campos Méndez" userId="402d5bdf62ce6c12" providerId="LiveId" clId="{4DD33CC3-4A92-4E7B-8DD4-D64F4DB14791}" dt="2020-02-19T19:14:00.693" v="94" actId="47"/>
        <pc:sldMkLst>
          <pc:docMk/>
          <pc:sldMk cId="0" sldId="485"/>
        </pc:sldMkLst>
      </pc:sldChg>
      <pc:sldChg chg="modSp del">
        <pc:chgData name="Miguel Ángel Campos Méndez" userId="402d5bdf62ce6c12" providerId="LiveId" clId="{4DD33CC3-4A92-4E7B-8DD4-D64F4DB14791}" dt="2020-02-19T19:13:58.295" v="93" actId="47"/>
        <pc:sldMkLst>
          <pc:docMk/>
          <pc:sldMk cId="0" sldId="486"/>
        </pc:sldMkLst>
        <pc:spChg chg="mod">
          <ac:chgData name="Miguel Ángel Campos Méndez" userId="402d5bdf62ce6c12" providerId="LiveId" clId="{4DD33CC3-4A92-4E7B-8DD4-D64F4DB14791}" dt="2020-02-19T13:31:41.273" v="20" actId="20577"/>
          <ac:spMkLst>
            <pc:docMk/>
            <pc:sldMk cId="0" sldId="486"/>
            <ac:spMk id="3" creationId="{00000000-0000-0000-0000-000000000000}"/>
          </ac:spMkLst>
        </pc:spChg>
      </pc:sldChg>
      <pc:sldChg chg="modTransition">
        <pc:chgData name="Miguel Ángel Campos Méndez" userId="402d5bdf62ce6c12" providerId="LiveId" clId="{4DD33CC3-4A92-4E7B-8DD4-D64F4DB14791}" dt="2020-02-19T17:19:02.110" v="56"/>
        <pc:sldMkLst>
          <pc:docMk/>
          <pc:sldMk cId="0" sldId="492"/>
        </pc:sldMkLst>
      </pc:sldChg>
      <pc:sldChg chg="del">
        <pc:chgData name="Miguel Ángel Campos Méndez" userId="402d5bdf62ce6c12" providerId="LiveId" clId="{4DD33CC3-4A92-4E7B-8DD4-D64F4DB14791}" dt="2020-02-19T17:26:41.620" v="76" actId="47"/>
        <pc:sldMkLst>
          <pc:docMk/>
          <pc:sldMk cId="0" sldId="503"/>
        </pc:sldMkLst>
      </pc:sldChg>
      <pc:sldChg chg="delSp modSp delAnim modAnim">
        <pc:chgData name="Miguel Ángel Campos Méndez" userId="402d5bdf62ce6c12" providerId="LiveId" clId="{4DD33CC3-4A92-4E7B-8DD4-D64F4DB14791}" dt="2020-02-19T17:28:15.185" v="80" actId="6549"/>
        <pc:sldMkLst>
          <pc:docMk/>
          <pc:sldMk cId="0" sldId="513"/>
        </pc:sldMkLst>
        <pc:spChg chg="mod">
          <ac:chgData name="Miguel Ángel Campos Méndez" userId="402d5bdf62ce6c12" providerId="LiveId" clId="{4DD33CC3-4A92-4E7B-8DD4-D64F4DB14791}" dt="2020-02-19T17:28:15.185" v="80" actId="6549"/>
          <ac:spMkLst>
            <pc:docMk/>
            <pc:sldMk cId="0" sldId="513"/>
            <ac:spMk id="3" creationId="{00000000-0000-0000-0000-000000000000}"/>
          </ac:spMkLst>
        </pc:spChg>
        <pc:spChg chg="del">
          <ac:chgData name="Miguel Ángel Campos Méndez" userId="402d5bdf62ce6c12" providerId="LiveId" clId="{4DD33CC3-4A92-4E7B-8DD4-D64F4DB14791}" dt="2020-02-19T17:28:06.939" v="79" actId="478"/>
          <ac:spMkLst>
            <pc:docMk/>
            <pc:sldMk cId="0" sldId="513"/>
            <ac:spMk id="11" creationId="{00000000-0000-0000-0000-000000000000}"/>
          </ac:spMkLst>
        </pc:spChg>
      </pc:sldChg>
      <pc:sldChg chg="del">
        <pc:chgData name="Miguel Ángel Campos Méndez" userId="402d5bdf62ce6c12" providerId="LiveId" clId="{4DD33CC3-4A92-4E7B-8DD4-D64F4DB14791}" dt="2020-02-19T17:28:21.899" v="81" actId="47"/>
        <pc:sldMkLst>
          <pc:docMk/>
          <pc:sldMk cId="0" sldId="515"/>
        </pc:sldMkLst>
      </pc:sldChg>
      <pc:sldChg chg="modSp">
        <pc:chgData name="Miguel Ángel Campos Méndez" userId="402d5bdf62ce6c12" providerId="LiveId" clId="{4DD33CC3-4A92-4E7B-8DD4-D64F4DB14791}" dt="2020-02-17T16:02:13.632" v="6" actId="27636"/>
        <pc:sldMkLst>
          <pc:docMk/>
          <pc:sldMk cId="0" sldId="516"/>
        </pc:sldMkLst>
        <pc:spChg chg="mod">
          <ac:chgData name="Miguel Ángel Campos Méndez" userId="402d5bdf62ce6c12" providerId="LiveId" clId="{4DD33CC3-4A92-4E7B-8DD4-D64F4DB14791}" dt="2020-02-17T16:02:13.632" v="6" actId="27636"/>
          <ac:spMkLst>
            <pc:docMk/>
            <pc:sldMk cId="0" sldId="516"/>
            <ac:spMk id="3" creationId="{00000000-0000-0000-0000-000000000000}"/>
          </ac:spMkLst>
        </pc:spChg>
      </pc:sldChg>
      <pc:sldChg chg="del">
        <pc:chgData name="Miguel Ángel Campos Méndez" userId="402d5bdf62ce6c12" providerId="LiveId" clId="{4DD33CC3-4A92-4E7B-8DD4-D64F4DB14791}" dt="2020-02-19T17:30:29.966" v="84" actId="47"/>
        <pc:sldMkLst>
          <pc:docMk/>
          <pc:sldMk cId="0" sldId="520"/>
        </pc:sldMkLst>
      </pc:sldChg>
      <pc:sldChg chg="modSp">
        <pc:chgData name="Miguel Ángel Campos Méndez" userId="402d5bdf62ce6c12" providerId="LiveId" clId="{4DD33CC3-4A92-4E7B-8DD4-D64F4DB14791}" dt="2020-02-17T16:02:13.828" v="13" actId="27636"/>
        <pc:sldMkLst>
          <pc:docMk/>
          <pc:sldMk cId="0" sldId="546"/>
        </pc:sldMkLst>
        <pc:spChg chg="mod">
          <ac:chgData name="Miguel Ángel Campos Méndez" userId="402d5bdf62ce6c12" providerId="LiveId" clId="{4DD33CC3-4A92-4E7B-8DD4-D64F4DB14791}" dt="2020-02-17T16:02:13.828" v="13" actId="27636"/>
          <ac:spMkLst>
            <pc:docMk/>
            <pc:sldMk cId="0" sldId="546"/>
            <ac:spMk id="3" creationId="{00000000-0000-0000-0000-000000000000}"/>
          </ac:spMkLst>
        </pc:spChg>
      </pc:sldChg>
      <pc:sldChg chg="modSp">
        <pc:chgData name="Miguel Ángel Campos Méndez" userId="402d5bdf62ce6c12" providerId="LiveId" clId="{4DD33CC3-4A92-4E7B-8DD4-D64F4DB14791}" dt="2020-02-17T16:02:13.848" v="14" actId="27636"/>
        <pc:sldMkLst>
          <pc:docMk/>
          <pc:sldMk cId="0" sldId="547"/>
        </pc:sldMkLst>
        <pc:spChg chg="mod">
          <ac:chgData name="Miguel Ángel Campos Méndez" userId="402d5bdf62ce6c12" providerId="LiveId" clId="{4DD33CC3-4A92-4E7B-8DD4-D64F4DB14791}" dt="2020-02-17T16:02:13.848" v="14" actId="27636"/>
          <ac:spMkLst>
            <pc:docMk/>
            <pc:sldMk cId="0" sldId="547"/>
            <ac:spMk id="3" creationId="{00000000-0000-0000-0000-000000000000}"/>
          </ac:spMkLst>
        </pc:spChg>
      </pc:sldChg>
      <pc:sldChg chg="add">
        <pc:chgData name="Miguel Ángel Campos Méndez" userId="402d5bdf62ce6c12" providerId="LiveId" clId="{4DD33CC3-4A92-4E7B-8DD4-D64F4DB14791}" dt="2020-02-19T19:37:45.788" v="105"/>
        <pc:sldMkLst>
          <pc:docMk/>
          <pc:sldMk cId="0" sldId="562"/>
        </pc:sldMkLst>
      </pc:sldChg>
      <pc:sldChg chg="modSp add">
        <pc:chgData name="Miguel Ángel Campos Méndez" userId="402d5bdf62ce6c12" providerId="LiveId" clId="{4DD33CC3-4A92-4E7B-8DD4-D64F4DB14791}" dt="2020-02-19T19:35:07.798" v="103"/>
        <pc:sldMkLst>
          <pc:docMk/>
          <pc:sldMk cId="0" sldId="564"/>
        </pc:sldMkLst>
        <pc:spChg chg="mod">
          <ac:chgData name="Miguel Ángel Campos Méndez" userId="402d5bdf62ce6c12" providerId="LiveId" clId="{4DD33CC3-4A92-4E7B-8DD4-D64F4DB14791}" dt="2020-02-19T19:35:07.798" v="103"/>
          <ac:spMkLst>
            <pc:docMk/>
            <pc:sldMk cId="0" sldId="564"/>
            <ac:spMk id="42" creationId="{00000000-0000-0000-0000-000000000000}"/>
          </ac:spMkLst>
        </pc:spChg>
      </pc:sldChg>
      <pc:sldChg chg="del">
        <pc:chgData name="Miguel Ángel Campos Méndez" userId="402d5bdf62ce6c12" providerId="LiveId" clId="{4DD33CC3-4A92-4E7B-8DD4-D64F4DB14791}" dt="2020-02-19T17:30:29.966" v="84" actId="47"/>
        <pc:sldMkLst>
          <pc:docMk/>
          <pc:sldMk cId="0" sldId="577"/>
        </pc:sldMkLst>
      </pc:sldChg>
      <pc:sldChg chg="modSp modAnim">
        <pc:chgData name="Miguel Ángel Campos Méndez" userId="402d5bdf62ce6c12" providerId="LiveId" clId="{4DD33CC3-4A92-4E7B-8DD4-D64F4DB14791}" dt="2020-02-19T17:29:13.341" v="83" actId="6549"/>
        <pc:sldMkLst>
          <pc:docMk/>
          <pc:sldMk cId="0" sldId="578"/>
        </pc:sldMkLst>
        <pc:spChg chg="mod">
          <ac:chgData name="Miguel Ángel Campos Méndez" userId="402d5bdf62ce6c12" providerId="LiveId" clId="{4DD33CC3-4A92-4E7B-8DD4-D64F4DB14791}" dt="2020-02-19T17:29:05.138" v="82" actId="6549"/>
          <ac:spMkLst>
            <pc:docMk/>
            <pc:sldMk cId="0" sldId="578"/>
            <ac:spMk id="3" creationId="{00000000-0000-0000-0000-000000000000}"/>
          </ac:spMkLst>
        </pc:spChg>
      </pc:sldChg>
      <pc:sldChg chg="del">
        <pc:chgData name="Miguel Ángel Campos Méndez" userId="402d5bdf62ce6c12" providerId="LiveId" clId="{4DD33CC3-4A92-4E7B-8DD4-D64F4DB14791}" dt="2020-02-19T17:30:29.966" v="84" actId="47"/>
        <pc:sldMkLst>
          <pc:docMk/>
          <pc:sldMk cId="0" sldId="580"/>
        </pc:sldMkLst>
      </pc:sldChg>
      <pc:sldChg chg="modSp del">
        <pc:chgData name="Miguel Ángel Campos Méndez" userId="402d5bdf62ce6c12" providerId="LiveId" clId="{4DD33CC3-4A92-4E7B-8DD4-D64F4DB14791}" dt="2020-02-19T17:30:29.966" v="84" actId="47"/>
        <pc:sldMkLst>
          <pc:docMk/>
          <pc:sldMk cId="0" sldId="582"/>
        </pc:sldMkLst>
        <pc:spChg chg="mod">
          <ac:chgData name="Miguel Ángel Campos Méndez" userId="402d5bdf62ce6c12" providerId="LiveId" clId="{4DD33CC3-4A92-4E7B-8DD4-D64F4DB14791}" dt="2020-02-17T16:02:13.718" v="8" actId="27636"/>
          <ac:spMkLst>
            <pc:docMk/>
            <pc:sldMk cId="0" sldId="582"/>
            <ac:spMk id="3" creationId="{00000000-0000-0000-0000-000000000000}"/>
          </ac:spMkLst>
        </pc:spChg>
      </pc:sldChg>
      <pc:sldChg chg="modSp">
        <pc:chgData name="Miguel Ángel Campos Méndez" userId="402d5bdf62ce6c12" providerId="LiveId" clId="{4DD33CC3-4A92-4E7B-8DD4-D64F4DB14791}" dt="2020-02-17T16:02:13.811" v="12" actId="27636"/>
        <pc:sldMkLst>
          <pc:docMk/>
          <pc:sldMk cId="0" sldId="585"/>
        </pc:sldMkLst>
        <pc:spChg chg="mod">
          <ac:chgData name="Miguel Ángel Campos Méndez" userId="402d5bdf62ce6c12" providerId="LiveId" clId="{4DD33CC3-4A92-4E7B-8DD4-D64F4DB14791}" dt="2020-02-17T16:02:13.811" v="12" actId="27636"/>
          <ac:spMkLst>
            <pc:docMk/>
            <pc:sldMk cId="0" sldId="585"/>
            <ac:spMk id="3" creationId="{00000000-0000-0000-0000-000000000000}"/>
          </ac:spMkLst>
        </pc:spChg>
      </pc:sldChg>
      <pc:sldChg chg="modSp modAnim">
        <pc:chgData name="Miguel Ángel Campos Méndez" userId="402d5bdf62ce6c12" providerId="LiveId" clId="{4DD33CC3-4A92-4E7B-8DD4-D64F4DB14791}" dt="2020-02-19T17:20:11.804" v="75" actId="1036"/>
        <pc:sldMkLst>
          <pc:docMk/>
          <pc:sldMk cId="746292463" sldId="622"/>
        </pc:sldMkLst>
        <pc:spChg chg="mod">
          <ac:chgData name="Miguel Ángel Campos Méndez" userId="402d5bdf62ce6c12" providerId="LiveId" clId="{4DD33CC3-4A92-4E7B-8DD4-D64F4DB14791}" dt="2020-02-17T16:02:13.538" v="4" actId="27636"/>
          <ac:spMkLst>
            <pc:docMk/>
            <pc:sldMk cId="746292463" sldId="622"/>
            <ac:spMk id="3" creationId="{00000000-0000-0000-0000-000000000000}"/>
          </ac:spMkLst>
        </pc:spChg>
        <pc:spChg chg="mod">
          <ac:chgData name="Miguel Ángel Campos Méndez" userId="402d5bdf62ce6c12" providerId="LiveId" clId="{4DD33CC3-4A92-4E7B-8DD4-D64F4DB14791}" dt="2020-02-19T17:20:11.804" v="75" actId="1036"/>
          <ac:spMkLst>
            <pc:docMk/>
            <pc:sldMk cId="746292463" sldId="622"/>
            <ac:spMk id="11" creationId="{00000000-0000-0000-0000-000000000000}"/>
          </ac:spMkLst>
        </pc:spChg>
      </pc:sldChg>
      <pc:sldChg chg="del">
        <pc:chgData name="Miguel Ángel Campos Méndez" userId="402d5bdf62ce6c12" providerId="LiveId" clId="{4DD33CC3-4A92-4E7B-8DD4-D64F4DB14791}" dt="2020-02-19T17:26:41.620" v="76" actId="47"/>
        <pc:sldMkLst>
          <pc:docMk/>
          <pc:sldMk cId="0" sldId="636"/>
        </pc:sldMkLst>
      </pc:sldChg>
      <pc:sldChg chg="del modTransition">
        <pc:chgData name="Miguel Ángel Campos Méndez" userId="402d5bdf62ce6c12" providerId="LiveId" clId="{4DD33CC3-4A92-4E7B-8DD4-D64F4DB14791}" dt="2020-02-18T16:22:06.196" v="16" actId="47"/>
        <pc:sldMkLst>
          <pc:docMk/>
          <pc:sldMk cId="0" sldId="639"/>
        </pc:sldMkLst>
      </pc:sldChg>
      <pc:sldChg chg="del modTransition">
        <pc:chgData name="Miguel Ángel Campos Méndez" userId="402d5bdf62ce6c12" providerId="LiveId" clId="{4DD33CC3-4A92-4E7B-8DD4-D64F4DB14791}" dt="2020-02-18T16:22:06.196" v="16" actId="47"/>
        <pc:sldMkLst>
          <pc:docMk/>
          <pc:sldMk cId="0" sldId="640"/>
        </pc:sldMkLst>
      </pc:sldChg>
      <pc:sldChg chg="del">
        <pc:chgData name="Miguel Ángel Campos Méndez" userId="402d5bdf62ce6c12" providerId="LiveId" clId="{4DD33CC3-4A92-4E7B-8DD4-D64F4DB14791}" dt="2020-02-19T19:18:42.066" v="100" actId="47"/>
        <pc:sldMkLst>
          <pc:docMk/>
          <pc:sldMk cId="0" sldId="641"/>
        </pc:sldMkLst>
      </pc:sldChg>
      <pc:sldChg chg="del">
        <pc:chgData name="Miguel Ángel Campos Méndez" userId="402d5bdf62ce6c12" providerId="LiveId" clId="{4DD33CC3-4A92-4E7B-8DD4-D64F4DB14791}" dt="2020-02-19T19:18:42.066" v="100" actId="47"/>
        <pc:sldMkLst>
          <pc:docMk/>
          <pc:sldMk cId="0" sldId="642"/>
        </pc:sldMkLst>
      </pc:sldChg>
      <pc:sldChg chg="del">
        <pc:chgData name="Miguel Ángel Campos Méndez" userId="402d5bdf62ce6c12" providerId="LiveId" clId="{4DD33CC3-4A92-4E7B-8DD4-D64F4DB14791}" dt="2020-02-19T19:18:42.066" v="100" actId="47"/>
        <pc:sldMkLst>
          <pc:docMk/>
          <pc:sldMk cId="0" sldId="643"/>
        </pc:sldMkLst>
      </pc:sldChg>
      <pc:sldChg chg="del">
        <pc:chgData name="Miguel Ángel Campos Méndez" userId="402d5bdf62ce6c12" providerId="LiveId" clId="{4DD33CC3-4A92-4E7B-8DD4-D64F4DB14791}" dt="2020-02-19T19:18:42.066" v="100" actId="47"/>
        <pc:sldMkLst>
          <pc:docMk/>
          <pc:sldMk cId="0" sldId="644"/>
        </pc:sldMkLst>
      </pc:sldChg>
      <pc:sldChg chg="del">
        <pc:chgData name="Miguel Ángel Campos Méndez" userId="402d5bdf62ce6c12" providerId="LiveId" clId="{4DD33CC3-4A92-4E7B-8DD4-D64F4DB14791}" dt="2020-02-19T19:18:42.066" v="100" actId="47"/>
        <pc:sldMkLst>
          <pc:docMk/>
          <pc:sldMk cId="0" sldId="645"/>
        </pc:sldMkLst>
      </pc:sldChg>
      <pc:sldChg chg="del">
        <pc:chgData name="Miguel Ángel Campos Méndez" userId="402d5bdf62ce6c12" providerId="LiveId" clId="{4DD33CC3-4A92-4E7B-8DD4-D64F4DB14791}" dt="2020-02-19T19:18:42.066" v="100" actId="47"/>
        <pc:sldMkLst>
          <pc:docMk/>
          <pc:sldMk cId="0" sldId="646"/>
        </pc:sldMkLst>
      </pc:sldChg>
      <pc:sldChg chg="del">
        <pc:chgData name="Miguel Ángel Campos Méndez" userId="402d5bdf62ce6c12" providerId="LiveId" clId="{4DD33CC3-4A92-4E7B-8DD4-D64F4DB14791}" dt="2020-02-19T19:18:42.066" v="100" actId="47"/>
        <pc:sldMkLst>
          <pc:docMk/>
          <pc:sldMk cId="0" sldId="647"/>
        </pc:sldMkLst>
      </pc:sldChg>
      <pc:sldChg chg="del">
        <pc:chgData name="Miguel Ángel Campos Méndez" userId="402d5bdf62ce6c12" providerId="LiveId" clId="{4DD33CC3-4A92-4E7B-8DD4-D64F4DB14791}" dt="2020-02-19T17:53:08.704" v="87" actId="47"/>
        <pc:sldMkLst>
          <pc:docMk/>
          <pc:sldMk cId="0" sldId="648"/>
        </pc:sldMkLst>
      </pc:sldChg>
      <pc:sldChg chg="del">
        <pc:chgData name="Miguel Ángel Campos Méndez" userId="402d5bdf62ce6c12" providerId="LiveId" clId="{4DD33CC3-4A92-4E7B-8DD4-D64F4DB14791}" dt="2020-02-19T17:53:08.704" v="87" actId="47"/>
        <pc:sldMkLst>
          <pc:docMk/>
          <pc:sldMk cId="0" sldId="649"/>
        </pc:sldMkLst>
      </pc:sldChg>
      <pc:sldChg chg="modSp">
        <pc:chgData name="Miguel Ángel Campos Méndez" userId="402d5bdf62ce6c12" providerId="LiveId" clId="{4DD33CC3-4A92-4E7B-8DD4-D64F4DB14791}" dt="2020-02-17T16:02:13.772" v="11" actId="27636"/>
        <pc:sldMkLst>
          <pc:docMk/>
          <pc:sldMk cId="0" sldId="656"/>
        </pc:sldMkLst>
        <pc:spChg chg="mod">
          <ac:chgData name="Miguel Ángel Campos Méndez" userId="402d5bdf62ce6c12" providerId="LiveId" clId="{4DD33CC3-4A92-4E7B-8DD4-D64F4DB14791}" dt="2020-02-17T16:02:13.772" v="11" actId="27636"/>
          <ac:spMkLst>
            <pc:docMk/>
            <pc:sldMk cId="0" sldId="656"/>
            <ac:spMk id="3" creationId="{00000000-0000-0000-0000-000000000000}"/>
          </ac:spMkLst>
        </pc:spChg>
      </pc:sldChg>
      <pc:sldChg chg="del">
        <pc:chgData name="Miguel Ángel Campos Méndez" userId="402d5bdf62ce6c12" providerId="LiveId" clId="{4DD33CC3-4A92-4E7B-8DD4-D64F4DB14791}" dt="2020-02-19T19:05:13.556" v="90" actId="47"/>
        <pc:sldMkLst>
          <pc:docMk/>
          <pc:sldMk cId="0" sldId="675"/>
        </pc:sldMkLst>
      </pc:sldChg>
      <pc:sldChg chg="del">
        <pc:chgData name="Miguel Ángel Campos Méndez" userId="402d5bdf62ce6c12" providerId="LiveId" clId="{4DD33CC3-4A92-4E7B-8DD4-D64F4DB14791}" dt="2020-02-19T19:05:13.556" v="90" actId="47"/>
        <pc:sldMkLst>
          <pc:docMk/>
          <pc:sldMk cId="0" sldId="676"/>
        </pc:sldMkLst>
      </pc:sldChg>
      <pc:sldChg chg="del">
        <pc:chgData name="Miguel Ángel Campos Méndez" userId="402d5bdf62ce6c12" providerId="LiveId" clId="{4DD33CC3-4A92-4E7B-8DD4-D64F4DB14791}" dt="2020-02-19T19:05:13.556" v="90" actId="47"/>
        <pc:sldMkLst>
          <pc:docMk/>
          <pc:sldMk cId="0" sldId="677"/>
        </pc:sldMkLst>
      </pc:sldChg>
      <pc:sldChg chg="del">
        <pc:chgData name="Miguel Ángel Campos Méndez" userId="402d5bdf62ce6c12" providerId="LiveId" clId="{4DD33CC3-4A92-4E7B-8DD4-D64F4DB14791}" dt="2020-02-19T19:05:13.556" v="90" actId="47"/>
        <pc:sldMkLst>
          <pc:docMk/>
          <pc:sldMk cId="0" sldId="678"/>
        </pc:sldMkLst>
      </pc:sldChg>
      <pc:sldChg chg="del">
        <pc:chgData name="Miguel Ángel Campos Méndez" userId="402d5bdf62ce6c12" providerId="LiveId" clId="{4DD33CC3-4A92-4E7B-8DD4-D64F4DB14791}" dt="2020-02-18T18:38:50.953" v="19" actId="47"/>
        <pc:sldMkLst>
          <pc:docMk/>
          <pc:sldMk cId="0" sldId="679"/>
        </pc:sldMkLst>
      </pc:sldChg>
      <pc:sldChg chg="del">
        <pc:chgData name="Miguel Ángel Campos Méndez" userId="402d5bdf62ce6c12" providerId="LiveId" clId="{4DD33CC3-4A92-4E7B-8DD4-D64F4DB14791}" dt="2020-02-18T18:38:50.953" v="19" actId="47"/>
        <pc:sldMkLst>
          <pc:docMk/>
          <pc:sldMk cId="0" sldId="680"/>
        </pc:sldMkLst>
      </pc:sldChg>
      <pc:sldChg chg="del">
        <pc:chgData name="Miguel Ángel Campos Méndez" userId="402d5bdf62ce6c12" providerId="LiveId" clId="{4DD33CC3-4A92-4E7B-8DD4-D64F4DB14791}" dt="2020-02-18T18:38:50.953" v="19" actId="47"/>
        <pc:sldMkLst>
          <pc:docMk/>
          <pc:sldMk cId="0" sldId="681"/>
        </pc:sldMkLst>
      </pc:sldChg>
      <pc:sldChg chg="del">
        <pc:chgData name="Miguel Ángel Campos Méndez" userId="402d5bdf62ce6c12" providerId="LiveId" clId="{4DD33CC3-4A92-4E7B-8DD4-D64F4DB14791}" dt="2020-02-18T18:38:50.953" v="19" actId="47"/>
        <pc:sldMkLst>
          <pc:docMk/>
          <pc:sldMk cId="0" sldId="682"/>
        </pc:sldMkLst>
      </pc:sldChg>
      <pc:sldChg chg="del">
        <pc:chgData name="Miguel Ángel Campos Méndez" userId="402d5bdf62ce6c12" providerId="LiveId" clId="{4DD33CC3-4A92-4E7B-8DD4-D64F4DB14791}" dt="2020-02-18T18:38:50.953" v="19" actId="47"/>
        <pc:sldMkLst>
          <pc:docMk/>
          <pc:sldMk cId="0" sldId="683"/>
        </pc:sldMkLst>
      </pc:sldChg>
      <pc:sldChg chg="del">
        <pc:chgData name="Miguel Ángel Campos Méndez" userId="402d5bdf62ce6c12" providerId="LiveId" clId="{4DD33CC3-4A92-4E7B-8DD4-D64F4DB14791}" dt="2020-02-18T18:38:50.953" v="19" actId="47"/>
        <pc:sldMkLst>
          <pc:docMk/>
          <pc:sldMk cId="0" sldId="685"/>
        </pc:sldMkLst>
      </pc:sldChg>
      <pc:sldChg chg="modSp del modTransition">
        <pc:chgData name="Miguel Ángel Campos Méndez" userId="402d5bdf62ce6c12" providerId="LiveId" clId="{4DD33CC3-4A92-4E7B-8DD4-D64F4DB14791}" dt="2020-02-19T18:56:55.339" v="88" actId="47"/>
        <pc:sldMkLst>
          <pc:docMk/>
          <pc:sldMk cId="0" sldId="686"/>
        </pc:sldMkLst>
        <pc:spChg chg="mod">
          <ac:chgData name="Miguel Ángel Campos Méndez" userId="402d5bdf62ce6c12" providerId="LiveId" clId="{4DD33CC3-4A92-4E7B-8DD4-D64F4DB14791}" dt="2020-02-18T16:22:16.005" v="18" actId="6549"/>
          <ac:spMkLst>
            <pc:docMk/>
            <pc:sldMk cId="0" sldId="686"/>
            <ac:spMk id="7" creationId="{00000000-0000-0000-0000-000000000000}"/>
          </ac:spMkLst>
        </pc:spChg>
      </pc:sldChg>
      <pc:sldChg chg="modSp del">
        <pc:chgData name="Miguel Ángel Campos Méndez" userId="402d5bdf62ce6c12" providerId="LiveId" clId="{4DD33CC3-4A92-4E7B-8DD4-D64F4DB14791}" dt="2020-02-18T18:38:50.953" v="19" actId="47"/>
        <pc:sldMkLst>
          <pc:docMk/>
          <pc:sldMk cId="0" sldId="687"/>
        </pc:sldMkLst>
        <pc:spChg chg="mod">
          <ac:chgData name="Miguel Ángel Campos Méndez" userId="402d5bdf62ce6c12" providerId="LiveId" clId="{4DD33CC3-4A92-4E7B-8DD4-D64F4DB14791}" dt="2020-02-17T16:02:13.393" v="1" actId="27636"/>
          <ac:spMkLst>
            <pc:docMk/>
            <pc:sldMk cId="0" sldId="687"/>
            <ac:spMk id="3" creationId="{00000000-0000-0000-0000-000000000000}"/>
          </ac:spMkLst>
        </pc:spChg>
      </pc:sldChg>
      <pc:sldChg chg="del">
        <pc:chgData name="Miguel Ángel Campos Méndez" userId="402d5bdf62ce6c12" providerId="LiveId" clId="{4DD33CC3-4A92-4E7B-8DD4-D64F4DB14791}" dt="2020-02-18T18:38:50.953" v="19" actId="47"/>
        <pc:sldMkLst>
          <pc:docMk/>
          <pc:sldMk cId="0" sldId="688"/>
        </pc:sldMkLst>
      </pc:sldChg>
      <pc:sldChg chg="del">
        <pc:chgData name="Miguel Ángel Campos Méndez" userId="402d5bdf62ce6c12" providerId="LiveId" clId="{4DD33CC3-4A92-4E7B-8DD4-D64F4DB14791}" dt="2020-02-18T18:38:50.953" v="19" actId="47"/>
        <pc:sldMkLst>
          <pc:docMk/>
          <pc:sldMk cId="0" sldId="689"/>
        </pc:sldMkLst>
      </pc:sldChg>
      <pc:sldChg chg="del">
        <pc:chgData name="Miguel Ángel Campos Méndez" userId="402d5bdf62ce6c12" providerId="LiveId" clId="{4DD33CC3-4A92-4E7B-8DD4-D64F4DB14791}" dt="2020-02-19T19:05:13.556" v="90" actId="47"/>
        <pc:sldMkLst>
          <pc:docMk/>
          <pc:sldMk cId="0" sldId="690"/>
        </pc:sldMkLst>
      </pc:sldChg>
      <pc:sldChg chg="del">
        <pc:chgData name="Miguel Ángel Campos Méndez" userId="402d5bdf62ce6c12" providerId="LiveId" clId="{4DD33CC3-4A92-4E7B-8DD4-D64F4DB14791}" dt="2020-02-18T18:38:50.953" v="19" actId="47"/>
        <pc:sldMkLst>
          <pc:docMk/>
          <pc:sldMk cId="0" sldId="691"/>
        </pc:sldMkLst>
      </pc:sldChg>
      <pc:sldChg chg="del">
        <pc:chgData name="Miguel Ángel Campos Méndez" userId="402d5bdf62ce6c12" providerId="LiveId" clId="{4DD33CC3-4A92-4E7B-8DD4-D64F4DB14791}" dt="2020-02-18T18:38:50.953" v="19" actId="47"/>
        <pc:sldMkLst>
          <pc:docMk/>
          <pc:sldMk cId="0" sldId="692"/>
        </pc:sldMkLst>
      </pc:sldChg>
      <pc:sldChg chg="del">
        <pc:chgData name="Miguel Ángel Campos Méndez" userId="402d5bdf62ce6c12" providerId="LiveId" clId="{4DD33CC3-4A92-4E7B-8DD4-D64F4DB14791}" dt="2020-02-18T18:38:50.953" v="19" actId="47"/>
        <pc:sldMkLst>
          <pc:docMk/>
          <pc:sldMk cId="0" sldId="693"/>
        </pc:sldMkLst>
      </pc:sldChg>
      <pc:sldChg chg="del">
        <pc:chgData name="Miguel Ángel Campos Méndez" userId="402d5bdf62ce6c12" providerId="LiveId" clId="{4DD33CC3-4A92-4E7B-8DD4-D64F4DB14791}" dt="2020-02-18T18:38:50.953" v="19" actId="47"/>
        <pc:sldMkLst>
          <pc:docMk/>
          <pc:sldMk cId="0" sldId="694"/>
        </pc:sldMkLst>
      </pc:sldChg>
      <pc:sldChg chg="del">
        <pc:chgData name="Miguel Ángel Campos Méndez" userId="402d5bdf62ce6c12" providerId="LiveId" clId="{4DD33CC3-4A92-4E7B-8DD4-D64F4DB14791}" dt="2020-02-18T18:38:50.953" v="19" actId="47"/>
        <pc:sldMkLst>
          <pc:docMk/>
          <pc:sldMk cId="0" sldId="695"/>
        </pc:sldMkLst>
      </pc:sldChg>
      <pc:sldChg chg="del">
        <pc:chgData name="Miguel Ángel Campos Méndez" userId="402d5bdf62ce6c12" providerId="LiveId" clId="{4DD33CC3-4A92-4E7B-8DD4-D64F4DB14791}" dt="2020-02-18T18:38:50.953" v="19" actId="47"/>
        <pc:sldMkLst>
          <pc:docMk/>
          <pc:sldMk cId="0" sldId="696"/>
        </pc:sldMkLst>
      </pc:sldChg>
      <pc:sldChg chg="del">
        <pc:chgData name="Miguel Ángel Campos Méndez" userId="402d5bdf62ce6c12" providerId="LiveId" clId="{4DD33CC3-4A92-4E7B-8DD4-D64F4DB14791}" dt="2020-02-18T18:38:50.953" v="19" actId="47"/>
        <pc:sldMkLst>
          <pc:docMk/>
          <pc:sldMk cId="0" sldId="697"/>
        </pc:sldMkLst>
      </pc:sldChg>
      <pc:sldChg chg="del">
        <pc:chgData name="Miguel Ángel Campos Méndez" userId="402d5bdf62ce6c12" providerId="LiveId" clId="{4DD33CC3-4A92-4E7B-8DD4-D64F4DB14791}" dt="2020-02-18T18:38:50.953" v="19" actId="47"/>
        <pc:sldMkLst>
          <pc:docMk/>
          <pc:sldMk cId="0" sldId="698"/>
        </pc:sldMkLst>
      </pc:sldChg>
      <pc:sldChg chg="del">
        <pc:chgData name="Miguel Ángel Campos Méndez" userId="402d5bdf62ce6c12" providerId="LiveId" clId="{4DD33CC3-4A92-4E7B-8DD4-D64F4DB14791}" dt="2020-02-18T18:38:50.953" v="19" actId="47"/>
        <pc:sldMkLst>
          <pc:docMk/>
          <pc:sldMk cId="0" sldId="699"/>
        </pc:sldMkLst>
      </pc:sldChg>
      <pc:sldChg chg="del">
        <pc:chgData name="Miguel Ángel Campos Méndez" userId="402d5bdf62ce6c12" providerId="LiveId" clId="{4DD33CC3-4A92-4E7B-8DD4-D64F4DB14791}" dt="2020-02-18T18:38:50.953" v="19" actId="47"/>
        <pc:sldMkLst>
          <pc:docMk/>
          <pc:sldMk cId="0" sldId="700"/>
        </pc:sldMkLst>
      </pc:sldChg>
      <pc:sldChg chg="del">
        <pc:chgData name="Miguel Ángel Campos Méndez" userId="402d5bdf62ce6c12" providerId="LiveId" clId="{4DD33CC3-4A92-4E7B-8DD4-D64F4DB14791}" dt="2020-02-19T17:26:41.620" v="76" actId="47"/>
        <pc:sldMkLst>
          <pc:docMk/>
          <pc:sldMk cId="0" sldId="705"/>
        </pc:sldMkLst>
      </pc:sldChg>
      <pc:sldChg chg="del">
        <pc:chgData name="Miguel Ángel Campos Méndez" userId="402d5bdf62ce6c12" providerId="LiveId" clId="{4DD33CC3-4A92-4E7B-8DD4-D64F4DB14791}" dt="2020-02-19T19:32:58.940" v="101" actId="47"/>
        <pc:sldMkLst>
          <pc:docMk/>
          <pc:sldMk cId="0" sldId="706"/>
        </pc:sldMkLst>
      </pc:sldChg>
      <pc:sldChg chg="del">
        <pc:chgData name="Miguel Ángel Campos Méndez" userId="402d5bdf62ce6c12" providerId="LiveId" clId="{4DD33CC3-4A92-4E7B-8DD4-D64F4DB14791}" dt="2020-02-19T17:27:40.883" v="78" actId="47"/>
        <pc:sldMkLst>
          <pc:docMk/>
          <pc:sldMk cId="0" sldId="707"/>
        </pc:sldMkLst>
      </pc:sldChg>
      <pc:sldChg chg="modSp">
        <pc:chgData name="Miguel Ángel Campos Méndez" userId="402d5bdf62ce6c12" providerId="LiveId" clId="{4DD33CC3-4A92-4E7B-8DD4-D64F4DB14791}" dt="2020-02-17T16:02:14.008" v="15" actId="27636"/>
        <pc:sldMkLst>
          <pc:docMk/>
          <pc:sldMk cId="0" sldId="722"/>
        </pc:sldMkLst>
        <pc:spChg chg="mod">
          <ac:chgData name="Miguel Ángel Campos Méndez" userId="402d5bdf62ce6c12" providerId="LiveId" clId="{4DD33CC3-4A92-4E7B-8DD4-D64F4DB14791}" dt="2020-02-17T16:02:14.008" v="15" actId="27636"/>
          <ac:spMkLst>
            <pc:docMk/>
            <pc:sldMk cId="0" sldId="722"/>
            <ac:spMk id="3" creationId="{00000000-0000-0000-0000-000000000000}"/>
          </ac:spMkLst>
        </pc:spChg>
      </pc:sldChg>
      <pc:sldChg chg="del">
        <pc:chgData name="Miguel Ángel Campos Méndez" userId="402d5bdf62ce6c12" providerId="LiveId" clId="{4DD33CC3-4A92-4E7B-8DD4-D64F4DB14791}" dt="2020-02-19T17:53:08.704" v="87" actId="47"/>
        <pc:sldMkLst>
          <pc:docMk/>
          <pc:sldMk cId="0" sldId="727"/>
        </pc:sldMkLst>
      </pc:sldChg>
      <pc:sldChg chg="del">
        <pc:chgData name="Miguel Ángel Campos Méndez" userId="402d5bdf62ce6c12" providerId="LiveId" clId="{4DD33CC3-4A92-4E7B-8DD4-D64F4DB14791}" dt="2020-02-19T17:30:29.966" v="84" actId="47"/>
        <pc:sldMkLst>
          <pc:docMk/>
          <pc:sldMk cId="0" sldId="728"/>
        </pc:sldMkLst>
      </pc:sldChg>
      <pc:sldChg chg="add">
        <pc:chgData name="Miguel Ángel Campos Méndez" userId="402d5bdf62ce6c12" providerId="LiveId" clId="{4DD33CC3-4A92-4E7B-8DD4-D64F4DB14791}" dt="2020-02-19T17:48:27.879" v="85"/>
        <pc:sldMkLst>
          <pc:docMk/>
          <pc:sldMk cId="2883481261" sldId="829"/>
        </pc:sldMkLst>
      </pc:sldChg>
      <pc:sldChg chg="add">
        <pc:chgData name="Miguel Ángel Campos Méndez" userId="402d5bdf62ce6c12" providerId="LiveId" clId="{4DD33CC3-4A92-4E7B-8DD4-D64F4DB14791}" dt="2020-02-19T17:48:27.879" v="85"/>
        <pc:sldMkLst>
          <pc:docMk/>
          <pc:sldMk cId="3273571219" sldId="830"/>
        </pc:sldMkLst>
      </pc:sldChg>
      <pc:sldChg chg="add">
        <pc:chgData name="Miguel Ángel Campos Méndez" userId="402d5bdf62ce6c12" providerId="LiveId" clId="{4DD33CC3-4A92-4E7B-8DD4-D64F4DB14791}" dt="2020-02-19T17:48:27.879" v="85"/>
        <pc:sldMkLst>
          <pc:docMk/>
          <pc:sldMk cId="3307723464" sldId="831"/>
        </pc:sldMkLst>
      </pc:sldChg>
      <pc:sldChg chg="add">
        <pc:chgData name="Miguel Ángel Campos Méndez" userId="402d5bdf62ce6c12" providerId="LiveId" clId="{4DD33CC3-4A92-4E7B-8DD4-D64F4DB14791}" dt="2020-02-19T17:48:27.879" v="85"/>
        <pc:sldMkLst>
          <pc:docMk/>
          <pc:sldMk cId="1304022404" sldId="835"/>
        </pc:sldMkLst>
      </pc:sldChg>
      <pc:sldChg chg="add">
        <pc:chgData name="Miguel Ángel Campos Méndez" userId="402d5bdf62ce6c12" providerId="LiveId" clId="{4DD33CC3-4A92-4E7B-8DD4-D64F4DB14791}" dt="2020-02-19T19:37:45.788" v="105"/>
        <pc:sldMkLst>
          <pc:docMk/>
          <pc:sldMk cId="0" sldId="836"/>
        </pc:sldMkLst>
      </pc:sldChg>
      <pc:sldChg chg="add">
        <pc:chgData name="Miguel Ángel Campos Méndez" userId="402d5bdf62ce6c12" providerId="LiveId" clId="{4DD33CC3-4A92-4E7B-8DD4-D64F4DB14791}" dt="2020-02-19T19:37:45.788" v="105"/>
        <pc:sldMkLst>
          <pc:docMk/>
          <pc:sldMk cId="0" sldId="837"/>
        </pc:sldMkLst>
      </pc:sldChg>
      <pc:sldChg chg="add">
        <pc:chgData name="Miguel Ángel Campos Méndez" userId="402d5bdf62ce6c12" providerId="LiveId" clId="{4DD33CC3-4A92-4E7B-8DD4-D64F4DB14791}" dt="2020-02-19T19:39:53.850" v="106"/>
        <pc:sldMkLst>
          <pc:docMk/>
          <pc:sldMk cId="0" sldId="838"/>
        </pc:sldMkLst>
      </pc:sldChg>
    </pc:docChg>
  </pc:docChgLst>
  <pc:docChgLst>
    <pc:chgData name="Miguel Ángel Campos Méndez" userId="402d5bdf62ce6c12" providerId="LiveId" clId="{60A0BC84-D758-47D1-AFA6-7E4A80A8D899}"/>
    <pc:docChg chg="undo custSel addSld delSld modSld">
      <pc:chgData name="Miguel Ángel Campos Méndez" userId="402d5bdf62ce6c12" providerId="LiveId" clId="{60A0BC84-D758-47D1-AFA6-7E4A80A8D899}" dt="2020-02-21T02:42:29.183" v="163"/>
      <pc:docMkLst>
        <pc:docMk/>
      </pc:docMkLst>
      <pc:sldChg chg="modSp">
        <pc:chgData name="Miguel Ángel Campos Méndez" userId="402d5bdf62ce6c12" providerId="LiveId" clId="{60A0BC84-D758-47D1-AFA6-7E4A80A8D899}" dt="2020-02-21T02:24:51.475" v="150" actId="20577"/>
        <pc:sldMkLst>
          <pc:docMk/>
          <pc:sldMk cId="0" sldId="256"/>
        </pc:sldMkLst>
        <pc:spChg chg="mod">
          <ac:chgData name="Miguel Ángel Campos Méndez" userId="402d5bdf62ce6c12" providerId="LiveId" clId="{60A0BC84-D758-47D1-AFA6-7E4A80A8D899}" dt="2020-02-21T02:24:51.475" v="150" actId="20577"/>
          <ac:spMkLst>
            <pc:docMk/>
            <pc:sldMk cId="0" sldId="256"/>
            <ac:spMk id="14" creationId="{00000000-0000-0000-0000-000000000000}"/>
          </ac:spMkLst>
        </pc:spChg>
      </pc:sldChg>
      <pc:sldChg chg="add del">
        <pc:chgData name="Miguel Ángel Campos Méndez" userId="402d5bdf62ce6c12" providerId="LiveId" clId="{60A0BC84-D758-47D1-AFA6-7E4A80A8D899}" dt="2020-02-20T19:12:32.596" v="2" actId="2696"/>
        <pc:sldMkLst>
          <pc:docMk/>
          <pc:sldMk cId="0" sldId="427"/>
        </pc:sldMkLst>
      </pc:sldChg>
      <pc:sldChg chg="add">
        <pc:chgData name="Miguel Ángel Campos Méndez" userId="402d5bdf62ce6c12" providerId="LiveId" clId="{60A0BC84-D758-47D1-AFA6-7E4A80A8D899}" dt="2020-02-20T19:27:27.380" v="45"/>
        <pc:sldMkLst>
          <pc:docMk/>
          <pc:sldMk cId="1711227443" sldId="434"/>
        </pc:sldMkLst>
      </pc:sldChg>
      <pc:sldChg chg="add">
        <pc:chgData name="Miguel Ángel Campos Méndez" userId="402d5bdf62ce6c12" providerId="LiveId" clId="{60A0BC84-D758-47D1-AFA6-7E4A80A8D899}" dt="2020-02-20T19:27:27.380" v="45"/>
        <pc:sldMkLst>
          <pc:docMk/>
          <pc:sldMk cId="914601467" sldId="435"/>
        </pc:sldMkLst>
      </pc:sldChg>
      <pc:sldChg chg="del">
        <pc:chgData name="Miguel Ángel Campos Méndez" userId="402d5bdf62ce6c12" providerId="LiveId" clId="{60A0BC84-D758-47D1-AFA6-7E4A80A8D899}" dt="2020-02-20T19:20:35.446" v="7" actId="2696"/>
        <pc:sldMkLst>
          <pc:docMk/>
          <pc:sldMk cId="0" sldId="436"/>
        </pc:sldMkLst>
      </pc:sldChg>
      <pc:sldChg chg="del">
        <pc:chgData name="Miguel Ángel Campos Méndez" userId="402d5bdf62ce6c12" providerId="LiveId" clId="{60A0BC84-D758-47D1-AFA6-7E4A80A8D899}" dt="2020-02-20T19:24:56.544" v="9" actId="2696"/>
        <pc:sldMkLst>
          <pc:docMk/>
          <pc:sldMk cId="0" sldId="444"/>
        </pc:sldMkLst>
      </pc:sldChg>
      <pc:sldChg chg="modAnim">
        <pc:chgData name="Miguel Ángel Campos Méndez" userId="402d5bdf62ce6c12" providerId="LiveId" clId="{60A0BC84-D758-47D1-AFA6-7E4A80A8D899}" dt="2020-02-20T19:32:03.702" v="83"/>
        <pc:sldMkLst>
          <pc:docMk/>
          <pc:sldMk cId="0" sldId="445"/>
        </pc:sldMkLst>
      </pc:sldChg>
      <pc:sldChg chg="modAnim">
        <pc:chgData name="Miguel Ángel Campos Méndez" userId="402d5bdf62ce6c12" providerId="LiveId" clId="{60A0BC84-D758-47D1-AFA6-7E4A80A8D899}" dt="2020-02-20T19:32:50.159" v="85"/>
        <pc:sldMkLst>
          <pc:docMk/>
          <pc:sldMk cId="0" sldId="447"/>
        </pc:sldMkLst>
      </pc:sldChg>
      <pc:sldChg chg="modSp modAnim">
        <pc:chgData name="Miguel Ángel Campos Méndez" userId="402d5bdf62ce6c12" providerId="LiveId" clId="{60A0BC84-D758-47D1-AFA6-7E4A80A8D899}" dt="2020-02-20T19:35:51.389" v="89" actId="20577"/>
        <pc:sldMkLst>
          <pc:docMk/>
          <pc:sldMk cId="0" sldId="452"/>
        </pc:sldMkLst>
        <pc:spChg chg="mod">
          <ac:chgData name="Miguel Ángel Campos Méndez" userId="402d5bdf62ce6c12" providerId="LiveId" clId="{60A0BC84-D758-47D1-AFA6-7E4A80A8D899}" dt="2020-02-20T19:35:51.389" v="89" actId="20577"/>
          <ac:spMkLst>
            <pc:docMk/>
            <pc:sldMk cId="0" sldId="452"/>
            <ac:spMk id="3" creationId="{00000000-0000-0000-0000-000000000000}"/>
          </ac:spMkLst>
        </pc:spChg>
      </pc:sldChg>
      <pc:sldChg chg="add">
        <pc:chgData name="Miguel Ángel Campos Méndez" userId="402d5bdf62ce6c12" providerId="LiveId" clId="{60A0BC84-D758-47D1-AFA6-7E4A80A8D899}" dt="2020-02-20T19:20:23.307" v="5"/>
        <pc:sldMkLst>
          <pc:docMk/>
          <pc:sldMk cId="1751249802" sldId="493"/>
        </pc:sldMkLst>
      </pc:sldChg>
      <pc:sldChg chg="del">
        <pc:chgData name="Miguel Ángel Campos Méndez" userId="402d5bdf62ce6c12" providerId="LiveId" clId="{60A0BC84-D758-47D1-AFA6-7E4A80A8D899}" dt="2020-02-20T19:27:40.985" v="46" actId="2696"/>
        <pc:sldMkLst>
          <pc:docMk/>
          <pc:sldMk cId="0" sldId="494"/>
        </pc:sldMkLst>
      </pc:sldChg>
      <pc:sldChg chg="del">
        <pc:chgData name="Miguel Ángel Campos Méndez" userId="402d5bdf62ce6c12" providerId="LiveId" clId="{60A0BC84-D758-47D1-AFA6-7E4A80A8D899}" dt="2020-02-20T19:20:35.353" v="6" actId="2696"/>
        <pc:sldMkLst>
          <pc:docMk/>
          <pc:sldMk cId="0" sldId="495"/>
        </pc:sldMkLst>
      </pc:sldChg>
      <pc:sldChg chg="modSp modAnim">
        <pc:chgData name="Miguel Ángel Campos Méndez" userId="402d5bdf62ce6c12" providerId="LiveId" clId="{60A0BC84-D758-47D1-AFA6-7E4A80A8D899}" dt="2020-02-20T19:26:15.365" v="41" actId="20577"/>
        <pc:sldMkLst>
          <pc:docMk/>
          <pc:sldMk cId="0" sldId="496"/>
        </pc:sldMkLst>
        <pc:spChg chg="mod">
          <ac:chgData name="Miguel Ángel Campos Méndez" userId="402d5bdf62ce6c12" providerId="LiveId" clId="{60A0BC84-D758-47D1-AFA6-7E4A80A8D899}" dt="2020-02-20T19:26:15.365" v="41" actId="20577"/>
          <ac:spMkLst>
            <pc:docMk/>
            <pc:sldMk cId="0" sldId="496"/>
            <ac:spMk id="6" creationId="{00000000-0000-0000-0000-000000000000}"/>
          </ac:spMkLst>
        </pc:spChg>
      </pc:sldChg>
      <pc:sldChg chg="modSp">
        <pc:chgData name="Miguel Ángel Campos Méndez" userId="402d5bdf62ce6c12" providerId="LiveId" clId="{60A0BC84-D758-47D1-AFA6-7E4A80A8D899}" dt="2020-02-21T02:25:55.747" v="151" actId="20577"/>
        <pc:sldMkLst>
          <pc:docMk/>
          <pc:sldMk cId="0" sldId="527"/>
        </pc:sldMkLst>
        <pc:spChg chg="mod">
          <ac:chgData name="Miguel Ángel Campos Méndez" userId="402d5bdf62ce6c12" providerId="LiveId" clId="{60A0BC84-D758-47D1-AFA6-7E4A80A8D899}" dt="2020-02-21T02:25:55.747" v="151" actId="20577"/>
          <ac:spMkLst>
            <pc:docMk/>
            <pc:sldMk cId="0" sldId="527"/>
            <ac:spMk id="3" creationId="{00000000-0000-0000-0000-000000000000}"/>
          </ac:spMkLst>
        </pc:spChg>
      </pc:sldChg>
      <pc:sldChg chg="delSp modSp delAnim modAnim">
        <pc:chgData name="Miguel Ángel Campos Méndez" userId="402d5bdf62ce6c12" providerId="LiveId" clId="{60A0BC84-D758-47D1-AFA6-7E4A80A8D899}" dt="2020-02-21T02:26:52.815" v="153" actId="478"/>
        <pc:sldMkLst>
          <pc:docMk/>
          <pc:sldMk cId="0" sldId="530"/>
        </pc:sldMkLst>
        <pc:spChg chg="mod">
          <ac:chgData name="Miguel Ángel Campos Méndez" userId="402d5bdf62ce6c12" providerId="LiveId" clId="{60A0BC84-D758-47D1-AFA6-7E4A80A8D899}" dt="2020-02-21T02:26:49.779" v="152" actId="6549"/>
          <ac:spMkLst>
            <pc:docMk/>
            <pc:sldMk cId="0" sldId="530"/>
            <ac:spMk id="3" creationId="{00000000-0000-0000-0000-000000000000}"/>
          </ac:spMkLst>
        </pc:spChg>
        <pc:graphicFrameChg chg="del">
          <ac:chgData name="Miguel Ángel Campos Méndez" userId="402d5bdf62ce6c12" providerId="LiveId" clId="{60A0BC84-D758-47D1-AFA6-7E4A80A8D899}" dt="2020-02-21T02:26:52.815" v="153" actId="478"/>
          <ac:graphicFrameMkLst>
            <pc:docMk/>
            <pc:sldMk cId="0" sldId="530"/>
            <ac:graphicFrameMk id="18" creationId="{00000000-0000-0000-0000-000000000000}"/>
          </ac:graphicFrameMkLst>
        </pc:graphicFrameChg>
      </pc:sldChg>
      <pc:sldChg chg="del">
        <pc:chgData name="Miguel Ángel Campos Méndez" userId="402d5bdf62ce6c12" providerId="LiveId" clId="{60A0BC84-D758-47D1-AFA6-7E4A80A8D899}" dt="2020-02-20T19:39:54.289" v="90" actId="2696"/>
        <pc:sldMkLst>
          <pc:docMk/>
          <pc:sldMk cId="0" sldId="585"/>
        </pc:sldMkLst>
      </pc:sldChg>
      <pc:sldChg chg="add">
        <pc:chgData name="Miguel Ángel Campos Méndez" userId="402d5bdf62ce6c12" providerId="LiveId" clId="{60A0BC84-D758-47D1-AFA6-7E4A80A8D899}" dt="2020-02-20T19:27:27.380" v="45"/>
        <pc:sldMkLst>
          <pc:docMk/>
          <pc:sldMk cId="746292463" sldId="622"/>
        </pc:sldMkLst>
        <pc:spChg chg="mod">
          <ac:chgData name="Miguel Ángel Campos Méndez" userId="402d5bdf62ce6c12" providerId="LiveId" clId="{60A0BC84-D758-47D1-AFA6-7E4A80A8D899}" dt="2020-02-20T19:16:33.570" v="3" actId="20577"/>
          <ac:spMkLst>
            <pc:docMk/>
            <pc:sldMk cId="746292463" sldId="622"/>
            <ac:spMk id="11" creationId="{00000000-0000-0000-0000-000000000000}"/>
          </ac:spMkLst>
        </pc:spChg>
      </pc:sldChg>
      <pc:sldChg chg="del">
        <pc:chgData name="Miguel Ángel Campos Méndez" userId="402d5bdf62ce6c12" providerId="LiveId" clId="{60A0BC84-D758-47D1-AFA6-7E4A80A8D899}" dt="2020-02-20T19:24:51.644" v="8" actId="2696"/>
        <pc:sldMkLst>
          <pc:docMk/>
          <pc:sldMk cId="0" sldId="623"/>
        </pc:sldMkLst>
      </pc:sldChg>
      <pc:sldChg chg="addSp delSp modTransition addAnim delAnim">
        <pc:chgData name="Miguel Ángel Campos Méndez" userId="402d5bdf62ce6c12" providerId="LiveId" clId="{60A0BC84-D758-47D1-AFA6-7E4A80A8D899}" dt="2020-02-21T02:39:18.703" v="159"/>
        <pc:sldMkLst>
          <pc:docMk/>
          <pc:sldMk cId="0" sldId="712"/>
        </pc:sldMkLst>
        <pc:grpChg chg="add del">
          <ac:chgData name="Miguel Ángel Campos Méndez" userId="402d5bdf62ce6c12" providerId="LiveId" clId="{60A0BC84-D758-47D1-AFA6-7E4A80A8D899}" dt="2020-02-21T02:39:16.240" v="158" actId="478"/>
          <ac:grpSpMkLst>
            <pc:docMk/>
            <pc:sldMk cId="0" sldId="712"/>
            <ac:grpSpMk id="6" creationId="{00000000-0000-0000-0000-000000000000}"/>
          </ac:grpSpMkLst>
        </pc:grpChg>
      </pc:sldChg>
      <pc:sldChg chg="delSp modSp add delAnim modAnim">
        <pc:chgData name="Miguel Ángel Campos Méndez" userId="402d5bdf62ce6c12" providerId="LiveId" clId="{60A0BC84-D758-47D1-AFA6-7E4A80A8D899}" dt="2020-02-21T02:40:14.995" v="160" actId="20577"/>
        <pc:sldMkLst>
          <pc:docMk/>
          <pc:sldMk cId="0" sldId="721"/>
        </pc:sldMkLst>
        <pc:spChg chg="mod">
          <ac:chgData name="Miguel Ángel Campos Méndez" userId="402d5bdf62ce6c12" providerId="LiveId" clId="{60A0BC84-D758-47D1-AFA6-7E4A80A8D899}" dt="2020-02-21T02:40:14.995" v="160" actId="20577"/>
          <ac:spMkLst>
            <pc:docMk/>
            <pc:sldMk cId="0" sldId="721"/>
            <ac:spMk id="3" creationId="{00000000-0000-0000-0000-000000000000}"/>
          </ac:spMkLst>
        </pc:spChg>
        <pc:grpChg chg="del">
          <ac:chgData name="Miguel Ángel Campos Méndez" userId="402d5bdf62ce6c12" providerId="LiveId" clId="{60A0BC84-D758-47D1-AFA6-7E4A80A8D899}" dt="2020-02-21T02:38:17.030" v="156" actId="478"/>
          <ac:grpSpMkLst>
            <pc:docMk/>
            <pc:sldMk cId="0" sldId="721"/>
            <ac:grpSpMk id="8" creationId="{00000000-0000-0000-0000-000000000000}"/>
          </ac:grpSpMkLst>
        </pc:grpChg>
      </pc:sldChg>
      <pc:sldChg chg="del">
        <pc:chgData name="Miguel Ángel Campos Méndez" userId="402d5bdf62ce6c12" providerId="LiveId" clId="{60A0BC84-D758-47D1-AFA6-7E4A80A8D899}" dt="2020-02-20T19:42:37.302" v="96" actId="2696"/>
        <pc:sldMkLst>
          <pc:docMk/>
          <pc:sldMk cId="0" sldId="722"/>
        </pc:sldMkLst>
      </pc:sldChg>
      <pc:sldChg chg="add">
        <pc:chgData name="Miguel Ángel Campos Méndez" userId="402d5bdf62ce6c12" providerId="LiveId" clId="{60A0BC84-D758-47D1-AFA6-7E4A80A8D899}" dt="2020-02-21T02:42:29.183" v="163"/>
        <pc:sldMkLst>
          <pc:docMk/>
          <pc:sldMk cId="0" sldId="723"/>
        </pc:sldMkLst>
      </pc:sldChg>
      <pc:sldChg chg="modTransition">
        <pc:chgData name="Miguel Ángel Campos Méndez" userId="402d5bdf62ce6c12" providerId="LiveId" clId="{60A0BC84-D758-47D1-AFA6-7E4A80A8D899}" dt="2020-02-21T02:41:17.016" v="161"/>
        <pc:sldMkLst>
          <pc:docMk/>
          <pc:sldMk cId="0" sldId="724"/>
        </pc:sldMkLst>
      </pc:sldChg>
      <pc:sldChg chg="del">
        <pc:chgData name="Miguel Ángel Campos Méndez" userId="402d5bdf62ce6c12" providerId="LiveId" clId="{60A0BC84-D758-47D1-AFA6-7E4A80A8D899}" dt="2020-02-20T19:42:37.177" v="95" actId="2696"/>
        <pc:sldMkLst>
          <pc:docMk/>
          <pc:sldMk cId="0" sldId="732"/>
        </pc:sldMkLst>
      </pc:sldChg>
      <pc:sldChg chg="del">
        <pc:chgData name="Miguel Ángel Campos Méndez" userId="402d5bdf62ce6c12" providerId="LiveId" clId="{60A0BC84-D758-47D1-AFA6-7E4A80A8D899}" dt="2020-02-20T19:41:53.087" v="91" actId="2696"/>
        <pc:sldMkLst>
          <pc:docMk/>
          <pc:sldMk cId="0" sldId="733"/>
        </pc:sldMkLst>
      </pc:sldChg>
      <pc:sldChg chg="del">
        <pc:chgData name="Miguel Ángel Campos Méndez" userId="402d5bdf62ce6c12" providerId="LiveId" clId="{60A0BC84-D758-47D1-AFA6-7E4A80A8D899}" dt="2020-02-20T19:41:53.134" v="92" actId="2696"/>
        <pc:sldMkLst>
          <pc:docMk/>
          <pc:sldMk cId="0" sldId="734"/>
        </pc:sldMkLst>
      </pc:sldChg>
      <pc:sldChg chg="del">
        <pc:chgData name="Miguel Ángel Campos Méndez" userId="402d5bdf62ce6c12" providerId="LiveId" clId="{60A0BC84-D758-47D1-AFA6-7E4A80A8D899}" dt="2020-02-20T19:41:53.212" v="93" actId="2696"/>
        <pc:sldMkLst>
          <pc:docMk/>
          <pc:sldMk cId="0" sldId="737"/>
        </pc:sldMkLst>
      </pc:sldChg>
      <pc:sldChg chg="del">
        <pc:chgData name="Miguel Ángel Campos Méndez" userId="402d5bdf62ce6c12" providerId="LiveId" clId="{60A0BC84-D758-47D1-AFA6-7E4A80A8D899}" dt="2020-02-20T19:41:53.275" v="94" actId="2696"/>
        <pc:sldMkLst>
          <pc:docMk/>
          <pc:sldMk cId="0" sldId="738"/>
        </pc:sldMkLst>
      </pc:sldChg>
      <pc:sldChg chg="modSp modAnim">
        <pc:chgData name="Miguel Ángel Campos Méndez" userId="402d5bdf62ce6c12" providerId="LiveId" clId="{60A0BC84-D758-47D1-AFA6-7E4A80A8D899}" dt="2020-02-20T19:30:01.838" v="79" actId="1035"/>
        <pc:sldMkLst>
          <pc:docMk/>
          <pc:sldMk cId="0" sldId="837"/>
        </pc:sldMkLst>
        <pc:spChg chg="mod">
          <ac:chgData name="Miguel Ángel Campos Méndez" userId="402d5bdf62ce6c12" providerId="LiveId" clId="{60A0BC84-D758-47D1-AFA6-7E4A80A8D899}" dt="2020-02-20T19:30:01.838" v="79" actId="1035"/>
          <ac:spMkLst>
            <pc:docMk/>
            <pc:sldMk cId="0" sldId="837"/>
            <ac:spMk id="6" creationId="{00000000-0000-0000-0000-000000000000}"/>
          </ac:spMkLst>
        </pc:spChg>
        <pc:spChg chg="mod">
          <ac:chgData name="Miguel Ángel Campos Méndez" userId="402d5bdf62ce6c12" providerId="LiveId" clId="{60A0BC84-D758-47D1-AFA6-7E4A80A8D899}" dt="2020-02-20T19:29:21.420" v="66" actId="20577"/>
          <ac:spMkLst>
            <pc:docMk/>
            <pc:sldMk cId="0" sldId="837"/>
            <ac:spMk id="42" creationId="{00000000-0000-0000-0000-000000000000}"/>
          </ac:spMkLst>
        </pc:spChg>
        <pc:grpChg chg="mod">
          <ac:chgData name="Miguel Ángel Campos Méndez" userId="402d5bdf62ce6c12" providerId="LiveId" clId="{60A0BC84-D758-47D1-AFA6-7E4A80A8D899}" dt="2020-02-20T19:29:47.015" v="73" actId="1035"/>
          <ac:grpSpMkLst>
            <pc:docMk/>
            <pc:sldMk cId="0" sldId="837"/>
            <ac:grpSpMk id="7" creationId="{00000000-0000-0000-0000-000000000000}"/>
          </ac:grpSpMkLst>
        </pc:grpChg>
        <pc:grpChg chg="mod">
          <ac:chgData name="Miguel Ángel Campos Méndez" userId="402d5bdf62ce6c12" providerId="LiveId" clId="{60A0BC84-D758-47D1-AFA6-7E4A80A8D899}" dt="2020-02-20T19:29:47.015" v="73" actId="1035"/>
          <ac:grpSpMkLst>
            <pc:docMk/>
            <pc:sldMk cId="0" sldId="837"/>
            <ac:grpSpMk id="10" creationId="{00000000-0000-0000-0000-000000000000}"/>
          </ac:grpSpMkLst>
        </pc:grpChg>
      </pc:sldChg>
      <pc:sldChg chg="add">
        <pc:chgData name="Miguel Ángel Campos Méndez" userId="402d5bdf62ce6c12" providerId="LiveId" clId="{60A0BC84-D758-47D1-AFA6-7E4A80A8D899}" dt="2020-02-21T02:41:51.608" v="162"/>
        <pc:sldMkLst>
          <pc:docMk/>
          <pc:sldMk cId="0" sldId="839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F6882-623C-4F59-89C4-4E5CBDBBE090}" type="datetimeFigureOut">
              <a:rPr lang="es-ES" smtClean="0"/>
              <a:pPr/>
              <a:t>21/02/2020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F02F-573B-4E64-A300-A7C383857750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9572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ECD25255-EE5E-40E3-B634-65B4AA002A7D}" type="datetimeFigureOut">
              <a:rPr lang="es-ES" smtClean="0"/>
              <a:pPr/>
              <a:t>21/02/2020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9DDBB7FF-5F31-4F6A-871A-89C210F39D73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1821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3.0/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2/21/2020</a:t>
            </a:fld>
            <a:endParaRPr lang="en-US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objetos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500066"/>
          </a:xfrm>
        </p:spPr>
        <p:txBody>
          <a:bodyPr>
            <a:noAutofit/>
          </a:bodyPr>
          <a:lstStyle>
            <a:lvl1pPr>
              <a:defRPr sz="3600" b="1">
                <a:ln>
                  <a:solidFill>
                    <a:srgbClr val="0070C0"/>
                  </a:solidFill>
                </a:ln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kumimoji="0" lang="es-ES" dirty="0"/>
              <a:t>Haga clic para modificar el estilo de título del patrón</a:t>
            </a:r>
            <a:endParaRPr kumimoji="0"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110178"/>
          </a:xfrm>
        </p:spPr>
        <p:txBody>
          <a:bodyPr/>
          <a:lstStyle>
            <a:lvl1pPr marL="0" indent="0">
              <a:buNone/>
              <a:defRPr sz="24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1pPr>
            <a:lvl2pPr marL="360363" indent="-360363">
              <a:buClr>
                <a:schemeClr val="bg2">
                  <a:lumMod val="20000"/>
                  <a:lumOff val="80000"/>
                </a:schemeClr>
              </a:buClr>
              <a:buSzPct val="100000"/>
              <a:buFont typeface="Wingdings" pitchFamily="2" charset="2"/>
              <a:buChar char="ü"/>
              <a:defRPr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2pPr>
            <a:lvl3pPr marL="714375" indent="-355600">
              <a:buClr>
                <a:srgbClr val="FFC000"/>
              </a:buClr>
              <a:buFont typeface="Constantia" pitchFamily="18" charset="0"/>
              <a:buChar char="—"/>
              <a:def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3pPr>
            <a:lvl4pPr marL="1076325" indent="-361950">
              <a:buClr>
                <a:schemeClr val="bg2">
                  <a:lumMod val="20000"/>
                  <a:lumOff val="80000"/>
                </a:schemeClr>
              </a:buClr>
              <a:buSzPct val="100000"/>
              <a:buFont typeface="Wingdings" pitchFamily="2" charset="2"/>
              <a:buChar char="ü"/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4pPr>
            <a:lvl5pPr marL="1438275" indent="-361950">
              <a:buClr>
                <a:schemeClr val="bg2">
                  <a:lumMod val="20000"/>
                  <a:lumOff val="80000"/>
                </a:schemeClr>
              </a:buClr>
              <a:buSzPct val="100000"/>
              <a:buFont typeface="Wingdings" pitchFamily="2" charset="2"/>
              <a:buChar char="ü"/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5pPr>
          </a:lstStyle>
          <a:p>
            <a:pPr lvl="0" eaLnBrk="1" latinLnBrk="0" hangingPunct="1"/>
            <a:r>
              <a:rPr lang="es-ES" dirty="0"/>
              <a:t>Haga clic para modificar el estilo de texto del patrón</a:t>
            </a:r>
          </a:p>
          <a:p>
            <a:pPr lvl="1" eaLnBrk="1" latinLnBrk="0" hangingPunct="1"/>
            <a:r>
              <a:rPr lang="es-ES" dirty="0"/>
              <a:t>Segundo nivel</a:t>
            </a:r>
          </a:p>
          <a:p>
            <a:pPr lvl="2" eaLnBrk="1" latinLnBrk="0" hangingPunct="1"/>
            <a:r>
              <a:rPr lang="es-ES" dirty="0"/>
              <a:t>Tercer nivel</a:t>
            </a:r>
          </a:p>
          <a:p>
            <a:pPr lvl="3" eaLnBrk="1" latinLnBrk="0" hangingPunct="1"/>
            <a:r>
              <a:rPr lang="es-ES" dirty="0"/>
              <a:t>Cuarto nivel</a:t>
            </a:r>
          </a:p>
          <a:p>
            <a:pPr lvl="4" eaLnBrk="1" latinLnBrk="0" hangingPunct="1"/>
            <a:r>
              <a:rPr lang="es-ES" dirty="0"/>
              <a:t>Quinto nivel</a:t>
            </a:r>
            <a:endParaRPr kumimoji="0"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4414" y="6356350"/>
            <a:ext cx="557216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929454" y="6356350"/>
            <a:ext cx="9000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Página </a:t>
            </a:r>
            <a:fld id="{042AED99-7FB4-404E-8A97-64753DCE42EC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7 Conector recto"/>
          <p:cNvCxnSpPr/>
          <p:nvPr userDrawn="1"/>
        </p:nvCxnSpPr>
        <p:spPr>
          <a:xfrm>
            <a:off x="428596" y="857232"/>
            <a:ext cx="8286808" cy="0"/>
          </a:xfrm>
          <a:prstGeom prst="line">
            <a:avLst/>
          </a:prstGeom>
          <a:ln w="2857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0" name="9 Imagen" descr="ucmtrozo.jpg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20000"/>
          </a:blip>
          <a:stretch>
            <a:fillRect/>
          </a:stretch>
        </p:blipFill>
        <p:spPr>
          <a:xfrm>
            <a:off x="8058150" y="5669280"/>
            <a:ext cx="1085850" cy="1188720"/>
          </a:xfrm>
          <a:prstGeom prst="rect">
            <a:avLst/>
          </a:prstGeom>
        </p:spPr>
      </p:pic>
      <p:sp>
        <p:nvSpPr>
          <p:cNvPr id="11" name="10 CuadroTexto"/>
          <p:cNvSpPr txBox="1"/>
          <p:nvPr userDrawn="1"/>
        </p:nvSpPr>
        <p:spPr>
          <a:xfrm>
            <a:off x="-32" y="5045880"/>
            <a:ext cx="353943" cy="1336263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s-E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Luis Hernández Yáñez</a:t>
            </a:r>
          </a:p>
        </p:txBody>
      </p:sp>
      <p:pic>
        <p:nvPicPr>
          <p:cNvPr id="13" name="12 Imagen" descr="CreativeCommons.png">
            <a:hlinkClick r:id="rId3"/>
          </p:cNvPr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55972" y="6381328"/>
            <a:ext cx="959644" cy="335756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2/21/2020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2/21/2020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2/21/2020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2/21/2020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2/21/2020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2/21/2020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2/21/2020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2/21/2020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2/21/2020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75000"/>
              </a:schemeClr>
            </a:gs>
            <a:gs pos="25000">
              <a:schemeClr val="bg2">
                <a:tint val="83000"/>
                <a:satMod val="320000"/>
              </a:schemeClr>
            </a:gs>
            <a:gs pos="100000">
              <a:schemeClr val="bg2">
                <a:shade val="15000"/>
                <a:satMod val="32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7C9B81F-C347-4BEF-BFDF-29C42F48304A}" type="datetimeFigureOut">
              <a:rPr lang="en-US" smtClean="0"/>
              <a:pPr/>
              <a:t>2/21/2020</a:t>
            </a:fld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d"/>
  </p:transition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3.0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w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wmf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hyperlink" Target="http://creativecommons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reativecommons.org/licenses/by-nc-sa/3.0/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 descr="ucmtrozo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15225" y="5074920"/>
            <a:ext cx="1628775" cy="1783080"/>
          </a:xfrm>
          <a:prstGeom prst="rect">
            <a:avLst/>
          </a:prstGeom>
        </p:spPr>
      </p:pic>
      <p:sp>
        <p:nvSpPr>
          <p:cNvPr id="8" name="7 CuadroTexto"/>
          <p:cNvSpPr txBox="1">
            <a:spLocks noChangeAspect="1"/>
          </p:cNvSpPr>
          <p:nvPr/>
        </p:nvSpPr>
        <p:spPr>
          <a:xfrm>
            <a:off x="500033" y="1847839"/>
            <a:ext cx="1548000" cy="1548000"/>
          </a:xfrm>
          <a:prstGeom prst="rect">
            <a:avLst/>
          </a:prstGeom>
          <a:solidFill>
            <a:schemeClr val="accent2">
              <a:tint val="98000"/>
              <a:shade val="25000"/>
              <a:satMod val="250000"/>
            </a:schemeClr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/>
            <a:r>
              <a:rPr lang="es-ES" sz="8800" b="1" dirty="0"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3</a:t>
            </a:r>
          </a:p>
        </p:txBody>
      </p:sp>
      <p:sp>
        <p:nvSpPr>
          <p:cNvPr id="10" name="2 Subtítulo"/>
          <p:cNvSpPr>
            <a:spLocks noGrp="1"/>
          </p:cNvSpPr>
          <p:nvPr>
            <p:ph type="subTitle" idx="1"/>
          </p:nvPr>
        </p:nvSpPr>
        <p:spPr>
          <a:xfrm>
            <a:off x="604838" y="4157230"/>
            <a:ext cx="6681806" cy="2415042"/>
          </a:xfrm>
        </p:spPr>
        <p:txBody>
          <a:bodyPr>
            <a:normAutofit/>
          </a:bodyPr>
          <a:lstStyle/>
          <a:p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Grado en Ingeniería Informática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Grado en Ingeniería del Software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Grado en Ingeniería de Computadores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Luis Hernández Yáñez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Facultad de Informática</a:t>
            </a:r>
            <a:b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Universidad Complutense</a:t>
            </a:r>
          </a:p>
        </p:txBody>
      </p:sp>
      <p:pic>
        <p:nvPicPr>
          <p:cNvPr id="9" name="8 Imagen" descr="CreativeCommons.png">
            <a:hlinkClick r:id="rId3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5536" y="6021288"/>
            <a:ext cx="1343501" cy="4700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10 CuadroTexto"/>
          <p:cNvSpPr txBox="1"/>
          <p:nvPr/>
        </p:nvSpPr>
        <p:spPr>
          <a:xfrm>
            <a:off x="428596" y="642918"/>
            <a:ext cx="50778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323975">
              <a:tabLst>
                <a:tab pos="6010275" algn="l"/>
              </a:tabLs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  <a:latin typeface="+mj-lt"/>
              </a:rPr>
              <a:t>Fundamentos de </a:t>
            </a:r>
            <a:r>
              <a:rPr lang="es-ES" sz="2800">
                <a:solidFill>
                  <a:schemeClr val="bg2">
                    <a:lumMod val="20000"/>
                    <a:lumOff val="80000"/>
                  </a:schemeClr>
                </a:solidFill>
                <a:latin typeface="+mj-lt"/>
              </a:rPr>
              <a:t>la programación</a:t>
            </a:r>
            <a:endParaRPr lang="es-ES" sz="2800" dirty="0">
              <a:solidFill>
                <a:schemeClr val="bg2">
                  <a:lumMod val="20000"/>
                  <a:lumOff val="80000"/>
                </a:schemeClr>
              </a:solidFill>
              <a:latin typeface="+mj-lt"/>
            </a:endParaRPr>
          </a:p>
        </p:txBody>
      </p:sp>
      <p:cxnSp>
        <p:nvCxnSpPr>
          <p:cNvPr id="12" name="11 Conector recto"/>
          <p:cNvCxnSpPr/>
          <p:nvPr/>
        </p:nvCxnSpPr>
        <p:spPr>
          <a:xfrm>
            <a:off x="500034" y="1214422"/>
            <a:ext cx="7643866" cy="0"/>
          </a:xfrm>
          <a:prstGeom prst="line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1 Título"/>
          <p:cNvSpPr>
            <a:spLocks noGrp="1"/>
          </p:cNvSpPr>
          <p:nvPr>
            <p:ph type="ctrTitle"/>
          </p:nvPr>
        </p:nvSpPr>
        <p:spPr>
          <a:xfrm>
            <a:off x="2428860" y="1844824"/>
            <a:ext cx="6072230" cy="1440160"/>
          </a:xfrm>
        </p:spPr>
        <p:txBody>
          <a:bodyPr anchor="ctr">
            <a:normAutofit/>
          </a:bodyPr>
          <a:lstStyle/>
          <a:p>
            <a:pPr algn="l"/>
            <a:r>
              <a:rPr lang="es-ES" sz="4800" b="0" dirty="0"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2700000" scaled="1"/>
                  <a:tileRect/>
                </a:gradFill>
              </a:rPr>
              <a:t>Flujo de ejecución</a:t>
            </a:r>
          </a:p>
        </p:txBody>
      </p:sp>
    </p:spTree>
  </p:cSld>
  <p:clrMapOvr>
    <a:masterClrMapping/>
  </p:clrMapOvr>
  <p:transition spd="med"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226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369397" y="3044280"/>
            <a:ext cx="4405373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Flujo de ejecución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29 Conector recto de flecha"/>
          <p:cNvCxnSpPr/>
          <p:nvPr/>
        </p:nvCxnSpPr>
        <p:spPr>
          <a:xfrm rot="16200000" flipH="1">
            <a:off x="4283571" y="5768863"/>
            <a:ext cx="360040" cy="794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Ejecución secuencial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227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40" name="39 Grupo"/>
          <p:cNvGrpSpPr/>
          <p:nvPr/>
        </p:nvGrpSpPr>
        <p:grpSpPr>
          <a:xfrm>
            <a:off x="4463193" y="3790181"/>
            <a:ext cx="795" cy="862955"/>
            <a:chOff x="2014921" y="3790181"/>
            <a:chExt cx="795" cy="862955"/>
          </a:xfrm>
        </p:grpSpPr>
        <p:cxnSp>
          <p:nvCxnSpPr>
            <p:cNvPr id="33" name="32 Conector recto de flecha"/>
            <p:cNvCxnSpPr/>
            <p:nvPr/>
          </p:nvCxnSpPr>
          <p:spPr>
            <a:xfrm rot="16200000" flipH="1">
              <a:off x="1835299" y="3969804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5" name="34 Conector recto"/>
            <p:cNvCxnSpPr/>
            <p:nvPr/>
          </p:nvCxnSpPr>
          <p:spPr>
            <a:xfrm rot="5400000">
              <a:off x="1906921" y="4545136"/>
              <a:ext cx="216000" cy="0"/>
            </a:xfrm>
            <a:prstGeom prst="line">
              <a:avLst/>
            </a:prstGeom>
            <a:ln w="38100">
              <a:solidFill>
                <a:srgbClr val="FFC000"/>
              </a:solidFill>
              <a:prstDash val="sysDot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41 Conector recto de flecha"/>
          <p:cNvCxnSpPr/>
          <p:nvPr/>
        </p:nvCxnSpPr>
        <p:spPr>
          <a:xfrm>
            <a:off x="3377480" y="1772816"/>
            <a:ext cx="0" cy="4247317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3" name="42 CuadroTexto"/>
          <p:cNvSpPr txBox="1"/>
          <p:nvPr/>
        </p:nvSpPr>
        <p:spPr>
          <a:xfrm>
            <a:off x="2843808" y="2155139"/>
            <a:ext cx="553998" cy="315086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400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Flujo de ejecución</a:t>
            </a:r>
          </a:p>
        </p:txBody>
      </p:sp>
      <p:grpSp>
        <p:nvGrpSpPr>
          <p:cNvPr id="41" name="40 Grupo"/>
          <p:cNvGrpSpPr/>
          <p:nvPr/>
        </p:nvGrpSpPr>
        <p:grpSpPr>
          <a:xfrm>
            <a:off x="3707904" y="4935835"/>
            <a:ext cx="1512168" cy="701030"/>
            <a:chOff x="1259632" y="4935835"/>
            <a:chExt cx="1512168" cy="701030"/>
          </a:xfrm>
        </p:grpSpPr>
        <p:sp>
          <p:nvSpPr>
            <p:cNvPr id="28" name="27 CuadroTexto"/>
            <p:cNvSpPr txBox="1"/>
            <p:nvPr/>
          </p:nvSpPr>
          <p:spPr>
            <a:xfrm>
              <a:off x="1259632" y="5276825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Instrucción N</a:t>
              </a:r>
            </a:p>
          </p:txBody>
        </p:sp>
        <p:cxnSp>
          <p:nvCxnSpPr>
            <p:cNvPr id="29" name="28 Conector recto de flecha"/>
            <p:cNvCxnSpPr/>
            <p:nvPr/>
          </p:nvCxnSpPr>
          <p:spPr>
            <a:xfrm rot="16200000" flipH="1">
              <a:off x="1835299" y="5115458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9" name="38 Grupo"/>
          <p:cNvGrpSpPr/>
          <p:nvPr/>
        </p:nvGrpSpPr>
        <p:grpSpPr>
          <a:xfrm>
            <a:off x="3707904" y="3136776"/>
            <a:ext cx="1512168" cy="701030"/>
            <a:chOff x="1259632" y="3136776"/>
            <a:chExt cx="1512168" cy="701030"/>
          </a:xfrm>
        </p:grpSpPr>
        <p:sp>
          <p:nvSpPr>
            <p:cNvPr id="26" name="25 CuadroTexto"/>
            <p:cNvSpPr txBox="1"/>
            <p:nvPr/>
          </p:nvSpPr>
          <p:spPr>
            <a:xfrm>
              <a:off x="1259632" y="3477766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Instrucción 3</a:t>
              </a:r>
            </a:p>
          </p:txBody>
        </p:sp>
        <p:cxnSp>
          <p:nvCxnSpPr>
            <p:cNvPr id="27" name="26 Conector recto de flecha"/>
            <p:cNvCxnSpPr/>
            <p:nvPr/>
          </p:nvCxnSpPr>
          <p:spPr>
            <a:xfrm rot="16200000" flipH="1">
              <a:off x="1835299" y="3316399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8" name="37 Grupo"/>
          <p:cNvGrpSpPr/>
          <p:nvPr/>
        </p:nvGrpSpPr>
        <p:grpSpPr>
          <a:xfrm>
            <a:off x="3707904" y="2464321"/>
            <a:ext cx="1512168" cy="701030"/>
            <a:chOff x="1259632" y="2464321"/>
            <a:chExt cx="1512168" cy="701030"/>
          </a:xfrm>
        </p:grpSpPr>
        <p:sp>
          <p:nvSpPr>
            <p:cNvPr id="24" name="23 CuadroTexto"/>
            <p:cNvSpPr txBox="1"/>
            <p:nvPr/>
          </p:nvSpPr>
          <p:spPr>
            <a:xfrm>
              <a:off x="1259632" y="2805311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Instrucción 2</a:t>
              </a:r>
            </a:p>
          </p:txBody>
        </p:sp>
        <p:cxnSp>
          <p:nvCxnSpPr>
            <p:cNvPr id="25" name="24 Conector recto de flecha"/>
            <p:cNvCxnSpPr/>
            <p:nvPr/>
          </p:nvCxnSpPr>
          <p:spPr>
            <a:xfrm rot="16200000" flipH="1">
              <a:off x="1835299" y="2643944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7" name="36 Grupo"/>
          <p:cNvGrpSpPr/>
          <p:nvPr/>
        </p:nvGrpSpPr>
        <p:grpSpPr>
          <a:xfrm>
            <a:off x="3707904" y="1772816"/>
            <a:ext cx="1512168" cy="720080"/>
            <a:chOff x="1259632" y="1772816"/>
            <a:chExt cx="1512168" cy="720080"/>
          </a:xfrm>
        </p:grpSpPr>
        <p:sp>
          <p:nvSpPr>
            <p:cNvPr id="6" name="5 CuadroTexto"/>
            <p:cNvSpPr txBox="1"/>
            <p:nvPr/>
          </p:nvSpPr>
          <p:spPr>
            <a:xfrm>
              <a:off x="1259632" y="2132856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Instrucción 1</a:t>
              </a:r>
            </a:p>
          </p:txBody>
        </p:sp>
        <p:cxnSp>
          <p:nvCxnSpPr>
            <p:cNvPr id="7" name="6 Conector recto de flecha"/>
            <p:cNvCxnSpPr>
              <a:endCxn id="6" idx="0"/>
            </p:cNvCxnSpPr>
            <p:nvPr/>
          </p:nvCxnSpPr>
          <p:spPr>
            <a:xfrm>
              <a:off x="2014922" y="1772816"/>
              <a:ext cx="794" cy="36004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Selección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Uno entre dos o más caminos de ejecución</a:t>
            </a:r>
          </a:p>
          <a:p>
            <a:pPr lvl="2" indent="0" defTabSz="2762250">
              <a:spcBef>
                <a:spcPts val="0"/>
              </a:spcBef>
              <a:spcAft>
                <a:spcPts val="600"/>
              </a:spcAft>
              <a:buNone/>
              <a:tabLst>
                <a:tab pos="4305300" algn="l"/>
              </a:tabLst>
            </a:pPr>
            <a:r>
              <a:rPr lang="es-ES" dirty="0"/>
              <a:t>Selección simple (2 caminos)	Selección múltiple (&gt; 2 caminos)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228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789484" y="3440027"/>
            <a:ext cx="1512168" cy="360040"/>
          </a:xfrm>
          <a:prstGeom prst="rect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r>
              <a:rPr lang="es-ES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Instrucción T</a:t>
            </a:r>
          </a:p>
        </p:txBody>
      </p:sp>
      <p:sp>
        <p:nvSpPr>
          <p:cNvPr id="24" name="23 CuadroTexto"/>
          <p:cNvSpPr txBox="1"/>
          <p:nvPr/>
        </p:nvSpPr>
        <p:spPr>
          <a:xfrm>
            <a:off x="6948264" y="2475878"/>
            <a:ext cx="864096" cy="216620"/>
          </a:xfrm>
          <a:prstGeom prst="rect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grpSp>
        <p:nvGrpSpPr>
          <p:cNvPr id="8" name="36 Grupo"/>
          <p:cNvGrpSpPr/>
          <p:nvPr/>
        </p:nvGrpSpPr>
        <p:grpSpPr>
          <a:xfrm>
            <a:off x="1548458" y="2994985"/>
            <a:ext cx="215230" cy="442949"/>
            <a:chOff x="1476450" y="3285903"/>
            <a:chExt cx="215230" cy="44294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25" name="24 Conector recto de flecha"/>
            <p:cNvCxnSpPr/>
            <p:nvPr/>
          </p:nvCxnSpPr>
          <p:spPr>
            <a:xfrm rot="5400000">
              <a:off x="1274026" y="3506584"/>
              <a:ext cx="442949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7" name="26 Conector recto de flecha"/>
            <p:cNvCxnSpPr/>
            <p:nvPr/>
          </p:nvCxnSpPr>
          <p:spPr>
            <a:xfrm rot="10800000">
              <a:off x="1476450" y="3287792"/>
              <a:ext cx="215230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38" name="37 CuadroTexto"/>
          <p:cNvSpPr txBox="1"/>
          <p:nvPr/>
        </p:nvSpPr>
        <p:spPr>
          <a:xfrm>
            <a:off x="3006874" y="3449552"/>
            <a:ext cx="1512168" cy="360040"/>
          </a:xfrm>
          <a:prstGeom prst="rect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r>
              <a:rPr lang="es-ES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Instrucción F</a:t>
            </a:r>
          </a:p>
        </p:txBody>
      </p:sp>
      <p:grpSp>
        <p:nvGrpSpPr>
          <p:cNvPr id="9" name="38 Grupo"/>
          <p:cNvGrpSpPr/>
          <p:nvPr/>
        </p:nvGrpSpPr>
        <p:grpSpPr>
          <a:xfrm flipH="1">
            <a:off x="3564682" y="3002720"/>
            <a:ext cx="215230" cy="445330"/>
            <a:chOff x="1476450" y="3283522"/>
            <a:chExt cx="215230" cy="44533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40" name="39 Conector recto de flecha"/>
            <p:cNvCxnSpPr/>
            <p:nvPr/>
          </p:nvCxnSpPr>
          <p:spPr>
            <a:xfrm rot="5400000">
              <a:off x="1274026" y="3506584"/>
              <a:ext cx="442949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1" name="40 Conector recto de flecha"/>
            <p:cNvCxnSpPr/>
            <p:nvPr/>
          </p:nvCxnSpPr>
          <p:spPr>
            <a:xfrm rot="10800000">
              <a:off x="1476450" y="3283522"/>
              <a:ext cx="215230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3" name="22 Decisión"/>
          <p:cNvSpPr/>
          <p:nvPr/>
        </p:nvSpPr>
        <p:spPr>
          <a:xfrm>
            <a:off x="1691680" y="2730973"/>
            <a:ext cx="1944216" cy="529034"/>
          </a:xfrm>
          <a:prstGeom prst="flowChartDecision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r>
              <a:rPr lang="es-ES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Condición</a:t>
            </a:r>
          </a:p>
        </p:txBody>
      </p:sp>
      <p:cxnSp>
        <p:nvCxnSpPr>
          <p:cNvPr id="7" name="6 Conector recto de flecha"/>
          <p:cNvCxnSpPr/>
          <p:nvPr/>
        </p:nvCxnSpPr>
        <p:spPr>
          <a:xfrm rot="16200000" flipH="1">
            <a:off x="2493379" y="2587155"/>
            <a:ext cx="360040" cy="794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2" name="41 CuadroTexto"/>
          <p:cNvSpPr txBox="1"/>
          <p:nvPr/>
        </p:nvSpPr>
        <p:spPr>
          <a:xfrm>
            <a:off x="1214414" y="2626158"/>
            <a:ext cx="691216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true</a:t>
            </a:r>
          </a:p>
        </p:txBody>
      </p:sp>
      <p:sp>
        <p:nvSpPr>
          <p:cNvPr id="43" name="42 CuadroTexto"/>
          <p:cNvSpPr txBox="1"/>
          <p:nvPr/>
        </p:nvSpPr>
        <p:spPr>
          <a:xfrm>
            <a:off x="3434305" y="2635769"/>
            <a:ext cx="817853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false</a:t>
            </a:r>
          </a:p>
        </p:txBody>
      </p:sp>
      <p:grpSp>
        <p:nvGrpSpPr>
          <p:cNvPr id="10" name="48 Grupo"/>
          <p:cNvGrpSpPr/>
          <p:nvPr/>
        </p:nvGrpSpPr>
        <p:grpSpPr>
          <a:xfrm>
            <a:off x="1549253" y="3809592"/>
            <a:ext cx="2231454" cy="699528"/>
            <a:chOff x="1549253" y="4097624"/>
            <a:chExt cx="2231454" cy="6995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33" name="32 Conector recto de flecha"/>
            <p:cNvCxnSpPr/>
            <p:nvPr/>
          </p:nvCxnSpPr>
          <p:spPr>
            <a:xfrm rot="16200000" flipH="1">
              <a:off x="1369630" y="4277247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4" name="43 Conector recto de flecha"/>
            <p:cNvCxnSpPr/>
            <p:nvPr/>
          </p:nvCxnSpPr>
          <p:spPr>
            <a:xfrm rot="16200000" flipH="1">
              <a:off x="3600289" y="4277247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5" name="44 Conector recto de flecha"/>
            <p:cNvCxnSpPr/>
            <p:nvPr/>
          </p:nvCxnSpPr>
          <p:spPr>
            <a:xfrm rot="10800000" flipV="1">
              <a:off x="1550047" y="4438614"/>
              <a:ext cx="2230660" cy="1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9" name="28 Conector recto de flecha"/>
            <p:cNvCxnSpPr/>
            <p:nvPr/>
          </p:nvCxnSpPr>
          <p:spPr>
            <a:xfrm rot="16200000" flipH="1">
              <a:off x="2492585" y="4616735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52" name="51 Conector recto de flecha"/>
          <p:cNvCxnSpPr/>
          <p:nvPr/>
        </p:nvCxnSpPr>
        <p:spPr>
          <a:xfrm>
            <a:off x="6460765" y="2593713"/>
            <a:ext cx="541837" cy="1588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6" name="55 Conector recto de flecha"/>
          <p:cNvCxnSpPr/>
          <p:nvPr/>
        </p:nvCxnSpPr>
        <p:spPr>
          <a:xfrm>
            <a:off x="7812360" y="2584188"/>
            <a:ext cx="360040" cy="1588"/>
          </a:xfrm>
          <a:prstGeom prst="straightConnector1">
            <a:avLst/>
          </a:prstGeom>
          <a:ln w="38100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1" name="60 CuadroTexto"/>
          <p:cNvSpPr txBox="1"/>
          <p:nvPr/>
        </p:nvSpPr>
        <p:spPr>
          <a:xfrm>
            <a:off x="6948264" y="3134977"/>
            <a:ext cx="864096" cy="216620"/>
          </a:xfrm>
          <a:prstGeom prst="rect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cxnSp>
        <p:nvCxnSpPr>
          <p:cNvPr id="62" name="61 Conector recto de flecha"/>
          <p:cNvCxnSpPr/>
          <p:nvPr/>
        </p:nvCxnSpPr>
        <p:spPr>
          <a:xfrm>
            <a:off x="6460765" y="3252812"/>
            <a:ext cx="541837" cy="1588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3" name="62 Decisión"/>
          <p:cNvSpPr/>
          <p:nvPr/>
        </p:nvSpPr>
        <p:spPr>
          <a:xfrm>
            <a:off x="5446526" y="3044671"/>
            <a:ext cx="1042814" cy="397232"/>
          </a:xfrm>
          <a:prstGeom prst="flowChartDecision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cxnSp>
        <p:nvCxnSpPr>
          <p:cNvPr id="64" name="63 Conector recto de flecha"/>
          <p:cNvCxnSpPr/>
          <p:nvPr/>
        </p:nvCxnSpPr>
        <p:spPr>
          <a:xfrm>
            <a:off x="7812360" y="3243287"/>
            <a:ext cx="360040" cy="1588"/>
          </a:xfrm>
          <a:prstGeom prst="straightConnector1">
            <a:avLst/>
          </a:prstGeom>
          <a:ln w="38100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5" name="64 CuadroTexto"/>
          <p:cNvSpPr txBox="1"/>
          <p:nvPr/>
        </p:nvSpPr>
        <p:spPr>
          <a:xfrm>
            <a:off x="6948264" y="3844030"/>
            <a:ext cx="864096" cy="216620"/>
          </a:xfrm>
          <a:prstGeom prst="rect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cxnSp>
        <p:nvCxnSpPr>
          <p:cNvPr id="66" name="65 Conector recto de flecha"/>
          <p:cNvCxnSpPr/>
          <p:nvPr/>
        </p:nvCxnSpPr>
        <p:spPr>
          <a:xfrm>
            <a:off x="6460765" y="3961865"/>
            <a:ext cx="541837" cy="1588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7" name="66 Decisión"/>
          <p:cNvSpPr/>
          <p:nvPr/>
        </p:nvSpPr>
        <p:spPr>
          <a:xfrm>
            <a:off x="5446526" y="3753724"/>
            <a:ext cx="1042814" cy="397232"/>
          </a:xfrm>
          <a:prstGeom prst="flowChartDecision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cxnSp>
        <p:nvCxnSpPr>
          <p:cNvPr id="68" name="67 Conector recto de flecha"/>
          <p:cNvCxnSpPr/>
          <p:nvPr/>
        </p:nvCxnSpPr>
        <p:spPr>
          <a:xfrm>
            <a:off x="7812360" y="3952340"/>
            <a:ext cx="360040" cy="1588"/>
          </a:xfrm>
          <a:prstGeom prst="straightConnector1">
            <a:avLst/>
          </a:prstGeom>
          <a:ln w="38100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9" name="68 CuadroTexto"/>
          <p:cNvSpPr txBox="1"/>
          <p:nvPr/>
        </p:nvSpPr>
        <p:spPr>
          <a:xfrm>
            <a:off x="6948264" y="4888444"/>
            <a:ext cx="864096" cy="216620"/>
          </a:xfrm>
          <a:prstGeom prst="rect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cxnSp>
        <p:nvCxnSpPr>
          <p:cNvPr id="70" name="69 Conector recto de flecha"/>
          <p:cNvCxnSpPr/>
          <p:nvPr/>
        </p:nvCxnSpPr>
        <p:spPr>
          <a:xfrm>
            <a:off x="6460765" y="5006279"/>
            <a:ext cx="541837" cy="1588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1" name="70 Decisión"/>
          <p:cNvSpPr/>
          <p:nvPr/>
        </p:nvSpPr>
        <p:spPr>
          <a:xfrm>
            <a:off x="5446526" y="4798138"/>
            <a:ext cx="1042814" cy="397232"/>
          </a:xfrm>
          <a:prstGeom prst="flowChartDecision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cxnSp>
        <p:nvCxnSpPr>
          <p:cNvPr id="72" name="71 Conector recto de flecha"/>
          <p:cNvCxnSpPr/>
          <p:nvPr/>
        </p:nvCxnSpPr>
        <p:spPr>
          <a:xfrm>
            <a:off x="7812360" y="4996754"/>
            <a:ext cx="360040" cy="1588"/>
          </a:xfrm>
          <a:prstGeom prst="straightConnector1">
            <a:avLst/>
          </a:prstGeom>
          <a:ln w="38100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3" name="72 Conector recto de flecha"/>
          <p:cNvCxnSpPr/>
          <p:nvPr/>
        </p:nvCxnSpPr>
        <p:spPr>
          <a:xfrm rot="16200000" flipH="1">
            <a:off x="5789898" y="2962427"/>
            <a:ext cx="360040" cy="794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4" name="73 Conector recto de flecha"/>
          <p:cNvCxnSpPr/>
          <p:nvPr/>
        </p:nvCxnSpPr>
        <p:spPr>
          <a:xfrm rot="16200000" flipH="1">
            <a:off x="5789898" y="3612455"/>
            <a:ext cx="360040" cy="794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5" name="74 Conector recto de flecha"/>
          <p:cNvCxnSpPr/>
          <p:nvPr/>
        </p:nvCxnSpPr>
        <p:spPr>
          <a:xfrm rot="5400000">
            <a:off x="5852805" y="4267672"/>
            <a:ext cx="233432" cy="1588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7" name="76 Conector recto de flecha"/>
          <p:cNvCxnSpPr/>
          <p:nvPr/>
        </p:nvCxnSpPr>
        <p:spPr>
          <a:xfrm rot="5400000">
            <a:off x="5852805" y="4709203"/>
            <a:ext cx="233432" cy="1588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8" name="77 Conector recto"/>
          <p:cNvCxnSpPr/>
          <p:nvPr/>
        </p:nvCxnSpPr>
        <p:spPr>
          <a:xfrm rot="5400000">
            <a:off x="5862315" y="4485281"/>
            <a:ext cx="216000" cy="0"/>
          </a:xfrm>
          <a:prstGeom prst="line">
            <a:avLst/>
          </a:prstGeom>
          <a:ln w="38100">
            <a:solidFill>
              <a:srgbClr val="FFC000"/>
            </a:solidFill>
            <a:prstDash val="sysDot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49 Decisión"/>
          <p:cNvSpPr/>
          <p:nvPr/>
        </p:nvSpPr>
        <p:spPr>
          <a:xfrm>
            <a:off x="5446526" y="2385572"/>
            <a:ext cx="1042814" cy="397232"/>
          </a:xfrm>
          <a:prstGeom prst="flowChartDecision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cxnSp>
        <p:nvCxnSpPr>
          <p:cNvPr id="51" name="50 Conector recto de flecha"/>
          <p:cNvCxnSpPr/>
          <p:nvPr/>
        </p:nvCxnSpPr>
        <p:spPr>
          <a:xfrm rot="16200000" flipH="1">
            <a:off x="5789898" y="2240471"/>
            <a:ext cx="360040" cy="794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9" name="78 CuadroTexto"/>
          <p:cNvSpPr txBox="1"/>
          <p:nvPr/>
        </p:nvSpPr>
        <p:spPr>
          <a:xfrm>
            <a:off x="6211725" y="2241208"/>
            <a:ext cx="582211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true</a:t>
            </a:r>
          </a:p>
        </p:txBody>
      </p:sp>
      <p:sp>
        <p:nvSpPr>
          <p:cNvPr id="80" name="79 CuadroTexto"/>
          <p:cNvSpPr txBox="1"/>
          <p:nvPr/>
        </p:nvSpPr>
        <p:spPr>
          <a:xfrm>
            <a:off x="6211725" y="2912616"/>
            <a:ext cx="582211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true</a:t>
            </a:r>
          </a:p>
        </p:txBody>
      </p:sp>
      <p:sp>
        <p:nvSpPr>
          <p:cNvPr id="81" name="80 CuadroTexto"/>
          <p:cNvSpPr txBox="1"/>
          <p:nvPr/>
        </p:nvSpPr>
        <p:spPr>
          <a:xfrm>
            <a:off x="6211725" y="3619933"/>
            <a:ext cx="582211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true</a:t>
            </a:r>
          </a:p>
        </p:txBody>
      </p:sp>
      <p:sp>
        <p:nvSpPr>
          <p:cNvPr id="82" name="81 CuadroTexto"/>
          <p:cNvSpPr txBox="1"/>
          <p:nvPr/>
        </p:nvSpPr>
        <p:spPr>
          <a:xfrm>
            <a:off x="6211725" y="4660402"/>
            <a:ext cx="582211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true</a:t>
            </a:r>
          </a:p>
        </p:txBody>
      </p:sp>
      <p:sp>
        <p:nvSpPr>
          <p:cNvPr id="83" name="82 CuadroTexto"/>
          <p:cNvSpPr txBox="1"/>
          <p:nvPr/>
        </p:nvSpPr>
        <p:spPr>
          <a:xfrm>
            <a:off x="5230504" y="2708459"/>
            <a:ext cx="681598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false</a:t>
            </a:r>
          </a:p>
        </p:txBody>
      </p:sp>
      <p:sp>
        <p:nvSpPr>
          <p:cNvPr id="84" name="83 CuadroTexto"/>
          <p:cNvSpPr txBox="1"/>
          <p:nvPr/>
        </p:nvSpPr>
        <p:spPr>
          <a:xfrm>
            <a:off x="5230504" y="3351597"/>
            <a:ext cx="681598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false</a:t>
            </a:r>
          </a:p>
        </p:txBody>
      </p:sp>
      <p:sp>
        <p:nvSpPr>
          <p:cNvPr id="85" name="84 CuadroTexto"/>
          <p:cNvSpPr txBox="1"/>
          <p:nvPr/>
        </p:nvSpPr>
        <p:spPr>
          <a:xfrm>
            <a:off x="5230504" y="4060650"/>
            <a:ext cx="681598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false</a:t>
            </a:r>
          </a:p>
        </p:txBody>
      </p:sp>
      <p:sp>
        <p:nvSpPr>
          <p:cNvPr id="86" name="85 CuadroTexto"/>
          <p:cNvSpPr txBox="1"/>
          <p:nvPr/>
        </p:nvSpPr>
        <p:spPr>
          <a:xfrm>
            <a:off x="5230504" y="5105064"/>
            <a:ext cx="681598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false</a:t>
            </a:r>
          </a:p>
        </p:txBody>
      </p:sp>
      <p:cxnSp>
        <p:nvCxnSpPr>
          <p:cNvPr id="92" name="91 Conector recto de flecha"/>
          <p:cNvCxnSpPr/>
          <p:nvPr/>
        </p:nvCxnSpPr>
        <p:spPr>
          <a:xfrm rot="5400000">
            <a:off x="5860786" y="5304105"/>
            <a:ext cx="217471" cy="1588"/>
          </a:xfrm>
          <a:prstGeom prst="straightConnector1">
            <a:avLst/>
          </a:prstGeom>
          <a:ln w="38100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4" name="93 Conector recto de flecha"/>
          <p:cNvCxnSpPr/>
          <p:nvPr/>
        </p:nvCxnSpPr>
        <p:spPr>
          <a:xfrm>
            <a:off x="5968727" y="5401869"/>
            <a:ext cx="2203673" cy="1588"/>
          </a:xfrm>
          <a:prstGeom prst="straightConnector1">
            <a:avLst/>
          </a:prstGeom>
          <a:ln w="38100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7" name="56 Conector recto de flecha"/>
          <p:cNvCxnSpPr/>
          <p:nvPr/>
        </p:nvCxnSpPr>
        <p:spPr>
          <a:xfrm rot="5400000">
            <a:off x="6573914" y="4156591"/>
            <a:ext cx="3160680" cy="1588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7" name="96 CuadroTexto"/>
          <p:cNvSpPr txBox="1"/>
          <p:nvPr/>
        </p:nvSpPr>
        <p:spPr>
          <a:xfrm>
            <a:off x="1619672" y="5631631"/>
            <a:ext cx="2549096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40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Diagramas de flujo</a:t>
            </a:r>
          </a:p>
        </p:txBody>
      </p:sp>
      <p:pic>
        <p:nvPicPr>
          <p:cNvPr id="58" name="Picture 5" descr="C:\Documents and Settings\Luis\Configuración local\Archivos temporales de Internet\Content.IE5\VWXD0WTH\MC900345649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9349" y="404664"/>
            <a:ext cx="885139" cy="854964"/>
          </a:xfrm>
          <a:prstGeom prst="rect">
            <a:avLst/>
          </a:prstGeom>
          <a:noFill/>
        </p:spPr>
      </p:pic>
      <p:sp>
        <p:nvSpPr>
          <p:cNvPr id="59" name="58 CuadroTexto"/>
          <p:cNvSpPr txBox="1"/>
          <p:nvPr/>
        </p:nvSpPr>
        <p:spPr>
          <a:xfrm>
            <a:off x="1475656" y="4420690"/>
            <a:ext cx="524504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</a:t>
            </a:r>
          </a:p>
        </p:txBody>
      </p:sp>
      <p:sp>
        <p:nvSpPr>
          <p:cNvPr id="60" name="59 CuadroTexto"/>
          <p:cNvSpPr txBox="1"/>
          <p:nvPr/>
        </p:nvSpPr>
        <p:spPr>
          <a:xfrm>
            <a:off x="3419872" y="4753307"/>
            <a:ext cx="1883849" cy="90794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if-else-if</a:t>
            </a:r>
          </a:p>
          <a:p>
            <a:pPr algn="ctr">
              <a:spcAft>
                <a:spcPts val="600"/>
              </a:spcAft>
            </a:pP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switch</a:t>
            </a:r>
          </a:p>
        </p:txBody>
      </p:sp>
    </p:spTree>
  </p:cSld>
  <p:clrMapOvr>
    <a:masterClrMapping/>
  </p:clrMapOvr>
  <p:transition spd="med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Repetición (iteración)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marL="0" lvl="1" indent="1588">
              <a:spcBef>
                <a:spcPts val="0"/>
              </a:spcBef>
              <a:spcAft>
                <a:spcPts val="1800"/>
              </a:spcAft>
              <a:buNone/>
            </a:pPr>
            <a:r>
              <a:rPr lang="es-ES" sz="28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Repetir la ejecución de una o más instrucciones</a:t>
            </a:r>
          </a:p>
          <a:p>
            <a:pPr marL="361950" lvl="2" indent="0" defTabSz="2762250">
              <a:spcBef>
                <a:spcPts val="0"/>
              </a:spcBef>
              <a:spcAft>
                <a:spcPts val="600"/>
              </a:spcAft>
              <a:buNone/>
              <a:tabLst>
                <a:tab pos="4305300" algn="l"/>
              </a:tabLst>
            </a:pPr>
            <a:r>
              <a:rPr lang="es-ES" dirty="0"/>
              <a:t>Acumular, procesar colecciones, ...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229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2609591" y="4368266"/>
            <a:ext cx="1512168" cy="360040"/>
          </a:xfrm>
          <a:prstGeom prst="rect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r>
              <a:rPr lang="es-ES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Código</a:t>
            </a:r>
          </a:p>
        </p:txBody>
      </p:sp>
      <p:grpSp>
        <p:nvGrpSpPr>
          <p:cNvPr id="8" name="36 Grupo"/>
          <p:cNvGrpSpPr/>
          <p:nvPr/>
        </p:nvGrpSpPr>
        <p:grpSpPr>
          <a:xfrm>
            <a:off x="3368565" y="3923224"/>
            <a:ext cx="215230" cy="442949"/>
            <a:chOff x="1476450" y="3285903"/>
            <a:chExt cx="215230" cy="44294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25" name="24 Conector recto de flecha"/>
            <p:cNvCxnSpPr/>
            <p:nvPr/>
          </p:nvCxnSpPr>
          <p:spPr>
            <a:xfrm rot="5400000">
              <a:off x="1274026" y="3506584"/>
              <a:ext cx="442949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7" name="26 Conector recto de flecha"/>
            <p:cNvCxnSpPr/>
            <p:nvPr/>
          </p:nvCxnSpPr>
          <p:spPr>
            <a:xfrm rot="10800000">
              <a:off x="1476450" y="3287792"/>
              <a:ext cx="215230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41" name="40 Conector recto de flecha"/>
          <p:cNvCxnSpPr/>
          <p:nvPr/>
        </p:nvCxnSpPr>
        <p:spPr>
          <a:xfrm rot="10800000" flipH="1">
            <a:off x="5384789" y="3930959"/>
            <a:ext cx="215230" cy="1588"/>
          </a:xfrm>
          <a:prstGeom prst="straightConnector1">
            <a:avLst/>
          </a:prstGeom>
          <a:ln w="38100">
            <a:solidFill>
              <a:srgbClr val="FFC000"/>
            </a:solidFill>
            <a:tailEnd type="none" w="lg" len="lg"/>
          </a:ln>
          <a:effectLst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3" name="22 Decisión"/>
          <p:cNvSpPr/>
          <p:nvPr/>
        </p:nvSpPr>
        <p:spPr>
          <a:xfrm>
            <a:off x="3511787" y="3659212"/>
            <a:ext cx="1944216" cy="529034"/>
          </a:xfrm>
          <a:prstGeom prst="flowChartDecision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r>
              <a:rPr lang="es-ES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¿Iterar?</a:t>
            </a:r>
          </a:p>
        </p:txBody>
      </p:sp>
      <p:cxnSp>
        <p:nvCxnSpPr>
          <p:cNvPr id="7" name="6 Conector recto de flecha"/>
          <p:cNvCxnSpPr>
            <a:stCxn id="58" idx="2"/>
          </p:cNvCxnSpPr>
          <p:nvPr/>
        </p:nvCxnSpPr>
        <p:spPr>
          <a:xfrm rot="5400000">
            <a:off x="4130187" y="3332094"/>
            <a:ext cx="727433" cy="1588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2" name="41 CuadroTexto"/>
          <p:cNvSpPr txBox="1"/>
          <p:nvPr/>
        </p:nvSpPr>
        <p:spPr>
          <a:xfrm>
            <a:off x="3208447" y="3554397"/>
            <a:ext cx="343364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Sí</a:t>
            </a:r>
          </a:p>
        </p:txBody>
      </p:sp>
      <p:sp>
        <p:nvSpPr>
          <p:cNvPr id="43" name="42 CuadroTexto"/>
          <p:cNvSpPr txBox="1"/>
          <p:nvPr/>
        </p:nvSpPr>
        <p:spPr>
          <a:xfrm>
            <a:off x="5340562" y="3564008"/>
            <a:ext cx="455574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</a:t>
            </a:r>
          </a:p>
        </p:txBody>
      </p:sp>
      <p:cxnSp>
        <p:nvCxnSpPr>
          <p:cNvPr id="44" name="43 Conector recto de flecha"/>
          <p:cNvCxnSpPr/>
          <p:nvPr/>
        </p:nvCxnSpPr>
        <p:spPr>
          <a:xfrm rot="5400000">
            <a:off x="4985465" y="4541333"/>
            <a:ext cx="1194184" cy="1588"/>
          </a:xfrm>
          <a:prstGeom prst="straightConnector1">
            <a:avLst/>
          </a:prstGeom>
          <a:ln w="38100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8" name="57 CuadroTexto"/>
          <p:cNvSpPr txBox="1"/>
          <p:nvPr/>
        </p:nvSpPr>
        <p:spPr>
          <a:xfrm>
            <a:off x="3737819" y="2608338"/>
            <a:ext cx="1512168" cy="360040"/>
          </a:xfrm>
          <a:prstGeom prst="rect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r>
              <a:rPr lang="es-ES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Inicialización</a:t>
            </a:r>
          </a:p>
        </p:txBody>
      </p:sp>
      <p:cxnSp>
        <p:nvCxnSpPr>
          <p:cNvPr id="59" name="58 Conector recto de flecha"/>
          <p:cNvCxnSpPr/>
          <p:nvPr/>
        </p:nvCxnSpPr>
        <p:spPr>
          <a:xfrm rot="16200000" flipH="1">
            <a:off x="4313486" y="2456496"/>
            <a:ext cx="360040" cy="794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1" name="90 Conector recto de flecha"/>
          <p:cNvCxnSpPr/>
          <p:nvPr/>
        </p:nvCxnSpPr>
        <p:spPr>
          <a:xfrm>
            <a:off x="4474059" y="5119375"/>
            <a:ext cx="1109292" cy="1588"/>
          </a:xfrm>
          <a:prstGeom prst="straightConnector1">
            <a:avLst/>
          </a:prstGeom>
          <a:ln w="38100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9" name="100 Grupo"/>
          <p:cNvGrpSpPr/>
          <p:nvPr/>
        </p:nvGrpSpPr>
        <p:grpSpPr>
          <a:xfrm>
            <a:off x="2441675" y="3277119"/>
            <a:ext cx="2032384" cy="1820752"/>
            <a:chOff x="899592" y="3284984"/>
            <a:chExt cx="2032384" cy="1820752"/>
          </a:xfrm>
        </p:grpSpPr>
        <p:cxnSp>
          <p:nvCxnSpPr>
            <p:cNvPr id="33" name="32 Conector recto de flecha"/>
            <p:cNvCxnSpPr/>
            <p:nvPr/>
          </p:nvCxnSpPr>
          <p:spPr>
            <a:xfrm rot="16200000" flipH="1">
              <a:off x="1647654" y="4925319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9" name="28 Conector recto de flecha"/>
            <p:cNvCxnSpPr/>
            <p:nvPr/>
          </p:nvCxnSpPr>
          <p:spPr>
            <a:xfrm>
              <a:off x="901180" y="3287366"/>
              <a:ext cx="2030796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3" name="92 Conector recto de flecha"/>
            <p:cNvCxnSpPr/>
            <p:nvPr/>
          </p:nvCxnSpPr>
          <p:spPr>
            <a:xfrm rot="5400000">
              <a:off x="9457" y="4194169"/>
              <a:ext cx="181995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5" name="44 Conector recto de flecha"/>
            <p:cNvCxnSpPr/>
            <p:nvPr/>
          </p:nvCxnSpPr>
          <p:spPr>
            <a:xfrm rot="10800000">
              <a:off x="899592" y="5088275"/>
              <a:ext cx="946736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40" name="39 Conector recto de flecha"/>
          <p:cNvCxnSpPr/>
          <p:nvPr/>
        </p:nvCxnSpPr>
        <p:spPr>
          <a:xfrm rot="16200000" flipH="1">
            <a:off x="4264493" y="5330531"/>
            <a:ext cx="442949" cy="1588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2050" name="Picture 2" descr="C:\Documents and Settings\Luis\Configuración local\Archivos temporales de Internet\Content.IE5\8852AIMF\MC900431582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28384" y="236265"/>
            <a:ext cx="914286" cy="914286"/>
          </a:xfrm>
          <a:prstGeom prst="rect">
            <a:avLst/>
          </a:prstGeom>
          <a:noFill/>
        </p:spPr>
      </p:pic>
      <p:sp>
        <p:nvSpPr>
          <p:cNvPr id="38" name="37 CuadroTexto"/>
          <p:cNvSpPr txBox="1"/>
          <p:nvPr/>
        </p:nvSpPr>
        <p:spPr>
          <a:xfrm>
            <a:off x="2452072" y="5445224"/>
            <a:ext cx="1034257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while</a:t>
            </a:r>
          </a:p>
        </p:txBody>
      </p:sp>
      <p:sp>
        <p:nvSpPr>
          <p:cNvPr id="39" name="38 CuadroTexto"/>
          <p:cNvSpPr txBox="1"/>
          <p:nvPr/>
        </p:nvSpPr>
        <p:spPr>
          <a:xfrm>
            <a:off x="4755939" y="5445224"/>
            <a:ext cx="694422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</a:t>
            </a:r>
          </a:p>
        </p:txBody>
      </p:sp>
    </p:spTree>
  </p:cSld>
  <p:clrMapOvr>
    <a:masterClrMapping/>
  </p:clrMapOvr>
  <p:transition spd="med"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230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549737" y="3044280"/>
            <a:ext cx="4044698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Selección simple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Selección simple (bifurcación)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La instrucción </a:t>
            </a:r>
            <a:r>
              <a:rPr lang="es-ES" sz="2800" i="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2400" dirty="0">
                <a:latin typeface="Consolas" pitchFamily="49" charset="0"/>
              </a:rPr>
              <a:t> (</a:t>
            </a:r>
            <a:r>
              <a:rPr lang="es-ES" sz="2400" i="1" dirty="0">
                <a:latin typeface="Consolas" pitchFamily="49" charset="0"/>
              </a:rPr>
              <a:t>condición</a:t>
            </a:r>
            <a:r>
              <a:rPr lang="es-ES" sz="2400" dirty="0">
                <a:latin typeface="Consolas" pitchFamily="49" charset="0"/>
              </a:rPr>
              <a:t>) {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i="1" dirty="0">
                <a:latin typeface="Consolas" pitchFamily="49" charset="0"/>
              </a:rPr>
              <a:t>   </a:t>
            </a:r>
            <a:r>
              <a:rPr lang="es-ES" sz="2400" i="1" dirty="0" err="1">
                <a:latin typeface="Consolas" pitchFamily="49" charset="0"/>
              </a:rPr>
              <a:t>códigoT</a:t>
            </a:r>
            <a:endParaRPr lang="es-ES" sz="2400" i="1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latin typeface="Consolas" pitchFamily="49" charset="0"/>
              </a:rPr>
              <a:t>}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latin typeface="Consolas" pitchFamily="49" charset="0"/>
              </a:rPr>
              <a:t>[</a:t>
            </a:r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</a:t>
            </a:r>
            <a:r>
              <a:rPr lang="es-ES" sz="2400" dirty="0">
                <a:latin typeface="Consolas" pitchFamily="49" charset="0"/>
              </a:rPr>
              <a:t> {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i="1" dirty="0">
                <a:latin typeface="Consolas" pitchFamily="49" charset="0"/>
              </a:rPr>
              <a:t>   </a:t>
            </a:r>
            <a:r>
              <a:rPr lang="es-ES" sz="2400" i="1" dirty="0" err="1">
                <a:latin typeface="Consolas" pitchFamily="49" charset="0"/>
              </a:rPr>
              <a:t>códigoF</a:t>
            </a:r>
            <a:endParaRPr lang="es-ES" sz="2400" i="1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latin typeface="Consolas" pitchFamily="49" charset="0"/>
              </a:rPr>
              <a:t>}]</a:t>
            </a:r>
          </a:p>
          <a:p>
            <a:pPr marL="714375" lvl="2" indent="-352425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400" i="1" dirty="0">
                <a:latin typeface="Consolas" pitchFamily="49" charset="0"/>
              </a:rPr>
              <a:t>condición</a:t>
            </a:r>
            <a:r>
              <a:rPr lang="es-ES" sz="2400" dirty="0"/>
              <a:t>: expresión </a:t>
            </a:r>
            <a:r>
              <a:rPr lang="es-ES" sz="24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bool</a:t>
            </a:r>
          </a:p>
          <a:p>
            <a:pPr marL="714375" lvl="2" indent="-352425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/>
              <a:t>Cláusula </a:t>
            </a:r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</a:t>
            </a:r>
            <a:r>
              <a:rPr lang="es-ES" sz="2400" dirty="0"/>
              <a:t> opcional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231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pic>
        <p:nvPicPr>
          <p:cNvPr id="36" name="Picture 5" descr="C:\Documents and Settings\Luis\Configuración local\Archivos temporales de Internet\Content.IE5\VWXD0WTH\MC900345649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28384" y="413796"/>
            <a:ext cx="885139" cy="854964"/>
          </a:xfrm>
          <a:prstGeom prst="rect">
            <a:avLst/>
          </a:prstGeom>
          <a:noFill/>
        </p:spPr>
      </p:pic>
      <p:grpSp>
        <p:nvGrpSpPr>
          <p:cNvPr id="64" name="63 Grupo"/>
          <p:cNvGrpSpPr/>
          <p:nvPr/>
        </p:nvGrpSpPr>
        <p:grpSpPr>
          <a:xfrm>
            <a:off x="4211960" y="1412776"/>
            <a:ext cx="4478619" cy="2092063"/>
            <a:chOff x="4427984" y="1543436"/>
            <a:chExt cx="4478619" cy="2092063"/>
          </a:xfrm>
        </p:grpSpPr>
        <p:sp>
          <p:nvSpPr>
            <p:cNvPr id="6" name="5 CuadroTexto"/>
            <p:cNvSpPr txBox="1"/>
            <p:nvPr/>
          </p:nvSpPr>
          <p:spPr>
            <a:xfrm>
              <a:off x="4427984" y="2575931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BloqueT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endParaRPr>
            </a:p>
          </p:txBody>
        </p:sp>
        <p:grpSp>
          <p:nvGrpSpPr>
            <p:cNvPr id="8" name="36 Grupo"/>
            <p:cNvGrpSpPr/>
            <p:nvPr/>
          </p:nvGrpSpPr>
          <p:grpSpPr>
            <a:xfrm>
              <a:off x="5186958" y="2130889"/>
              <a:ext cx="215230" cy="442949"/>
              <a:chOff x="1476450" y="3285903"/>
              <a:chExt cx="215230" cy="44294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25" name="24 Conector recto de flecha"/>
              <p:cNvCxnSpPr/>
              <p:nvPr/>
            </p:nvCxnSpPr>
            <p:spPr>
              <a:xfrm rot="5400000">
                <a:off x="1274026" y="3506584"/>
                <a:ext cx="442949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stealth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7" name="26 Conector recto de flecha"/>
              <p:cNvCxnSpPr/>
              <p:nvPr/>
            </p:nvCxnSpPr>
            <p:spPr>
              <a:xfrm rot="10800000">
                <a:off x="1476450" y="3287792"/>
                <a:ext cx="215230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none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sp>
          <p:nvSpPr>
            <p:cNvPr id="38" name="37 CuadroTexto"/>
            <p:cNvSpPr txBox="1"/>
            <p:nvPr/>
          </p:nvSpPr>
          <p:spPr>
            <a:xfrm>
              <a:off x="6965062" y="2585456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BloqueF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endParaRPr>
            </a:p>
          </p:txBody>
        </p:sp>
        <p:grpSp>
          <p:nvGrpSpPr>
            <p:cNvPr id="9" name="38 Grupo"/>
            <p:cNvGrpSpPr/>
            <p:nvPr/>
          </p:nvGrpSpPr>
          <p:grpSpPr>
            <a:xfrm flipH="1">
              <a:off x="7522870" y="2138624"/>
              <a:ext cx="215230" cy="445330"/>
              <a:chOff x="1476450" y="3283522"/>
              <a:chExt cx="215230" cy="44533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0" name="39 Conector recto de flecha"/>
              <p:cNvCxnSpPr/>
              <p:nvPr/>
            </p:nvCxnSpPr>
            <p:spPr>
              <a:xfrm rot="5400000">
                <a:off x="1274026" y="3506584"/>
                <a:ext cx="442949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stealth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41" name="40 Conector recto de flecha"/>
              <p:cNvCxnSpPr/>
              <p:nvPr/>
            </p:nvCxnSpPr>
            <p:spPr>
              <a:xfrm rot="10800000">
                <a:off x="1476450" y="3283522"/>
                <a:ext cx="215230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none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sp>
          <p:nvSpPr>
            <p:cNvPr id="23" name="22 Decisión"/>
            <p:cNvSpPr/>
            <p:nvPr/>
          </p:nvSpPr>
          <p:spPr>
            <a:xfrm>
              <a:off x="5402188" y="1866877"/>
              <a:ext cx="2150518" cy="529034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Condición</a:t>
              </a:r>
            </a:p>
          </p:txBody>
        </p:sp>
        <p:cxnSp>
          <p:nvCxnSpPr>
            <p:cNvPr id="7" name="6 Conector recto de flecha"/>
            <p:cNvCxnSpPr/>
            <p:nvPr/>
          </p:nvCxnSpPr>
          <p:spPr>
            <a:xfrm rot="16200000" flipH="1">
              <a:off x="6295739" y="1723059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42" name="41 CuadroTexto"/>
            <p:cNvSpPr txBox="1"/>
            <p:nvPr/>
          </p:nvSpPr>
          <p:spPr>
            <a:xfrm>
              <a:off x="4824061" y="1762062"/>
              <a:ext cx="748923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</a:p>
          </p:txBody>
        </p:sp>
        <p:sp>
          <p:nvSpPr>
            <p:cNvPr id="43" name="42 CuadroTexto"/>
            <p:cNvSpPr txBox="1"/>
            <p:nvPr/>
          </p:nvSpPr>
          <p:spPr>
            <a:xfrm>
              <a:off x="7356426" y="1771673"/>
              <a:ext cx="889987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  <p:cxnSp>
          <p:nvCxnSpPr>
            <p:cNvPr id="33" name="32 Conector recto de flecha"/>
            <p:cNvCxnSpPr/>
            <p:nvPr/>
          </p:nvCxnSpPr>
          <p:spPr>
            <a:xfrm rot="16200000" flipH="1">
              <a:off x="5008130" y="3125119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4" name="43 Conector recto de flecha"/>
            <p:cNvCxnSpPr/>
            <p:nvPr/>
          </p:nvCxnSpPr>
          <p:spPr>
            <a:xfrm rot="16200000" flipH="1">
              <a:off x="7547961" y="3125119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5" name="44 Conector recto de flecha"/>
            <p:cNvCxnSpPr/>
            <p:nvPr/>
          </p:nvCxnSpPr>
          <p:spPr>
            <a:xfrm flipH="1">
              <a:off x="5188548" y="3286487"/>
              <a:ext cx="2549552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9" name="28 Conector recto de flecha"/>
            <p:cNvCxnSpPr/>
            <p:nvPr/>
          </p:nvCxnSpPr>
          <p:spPr>
            <a:xfrm rot="16200000" flipH="1">
              <a:off x="6283635" y="3455082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37" name="36 CuadroTexto"/>
            <p:cNvSpPr txBox="1"/>
            <p:nvPr/>
          </p:nvSpPr>
          <p:spPr>
            <a:xfrm>
              <a:off x="7870742" y="2915652"/>
              <a:ext cx="1035861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Opcional</a:t>
              </a:r>
            </a:p>
          </p:txBody>
        </p:sp>
      </p:grpSp>
      <p:cxnSp>
        <p:nvCxnSpPr>
          <p:cNvPr id="49" name="48 Conector recto de flecha"/>
          <p:cNvCxnSpPr/>
          <p:nvPr/>
        </p:nvCxnSpPr>
        <p:spPr>
          <a:xfrm>
            <a:off x="971600" y="2248297"/>
            <a:ext cx="411142" cy="0"/>
          </a:xfrm>
          <a:prstGeom prst="straightConnector1">
            <a:avLst/>
          </a:prstGeom>
          <a:ln w="19050">
            <a:solidFill>
              <a:srgbClr val="FFC000"/>
            </a:solidFill>
            <a:headEnd type="oval" w="lg" len="sm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 de flecha"/>
          <p:cNvCxnSpPr/>
          <p:nvPr/>
        </p:nvCxnSpPr>
        <p:spPr>
          <a:xfrm>
            <a:off x="971600" y="3573016"/>
            <a:ext cx="411142" cy="0"/>
          </a:xfrm>
          <a:prstGeom prst="straightConnector1">
            <a:avLst/>
          </a:prstGeom>
          <a:ln w="19050">
            <a:solidFill>
              <a:srgbClr val="FFC000"/>
            </a:solidFill>
            <a:headEnd type="oval" w="lg" len="sm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La instrucción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400" dirty="0">
                <a:latin typeface="Consolas" pitchFamily="49" charset="0"/>
              </a:rPr>
              <a:t> num;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latin typeface="Consolas" pitchFamily="49" charset="0"/>
              </a:rPr>
              <a:t>cin &gt;&gt; num;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2400" dirty="0">
                <a:latin typeface="Consolas" pitchFamily="49" charset="0"/>
              </a:rPr>
              <a:t> (num &lt;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2400" dirty="0">
                <a:latin typeface="Consolas" pitchFamily="49" charset="0"/>
              </a:rPr>
              <a:t>) {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latin typeface="Consolas" pitchFamily="49" charset="0"/>
              </a:rPr>
              <a:t>   cout &lt;&lt;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"Negativo"</a:t>
            </a:r>
            <a:r>
              <a:rPr lang="es-ES" sz="24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latin typeface="Consolas" pitchFamily="49" charset="0"/>
              </a:rPr>
              <a:t>}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 </a:t>
            </a:r>
            <a:r>
              <a:rPr lang="es-ES" sz="2400" dirty="0">
                <a:latin typeface="Consolas" pitchFamily="49" charset="0"/>
              </a:rPr>
              <a:t>{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latin typeface="Consolas" pitchFamily="49" charset="0"/>
              </a:rPr>
              <a:t>   cout &lt;&lt;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"Positivo"</a:t>
            </a:r>
            <a:r>
              <a:rPr lang="es-ES" sz="24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latin typeface="Consolas" pitchFamily="49" charset="0"/>
              </a:rPr>
              <a:t>}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latin typeface="Consolas" pitchFamily="49" charset="0"/>
              </a:rPr>
              <a:t>cout &lt;&lt; endl;</a:t>
            </a:r>
            <a:endParaRPr lang="es-ES" sz="1800" dirty="0">
              <a:latin typeface="Consolas" pitchFamily="49" charset="0"/>
            </a:endParaRP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232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35" name="34 Grupo"/>
          <p:cNvGrpSpPr/>
          <p:nvPr/>
        </p:nvGrpSpPr>
        <p:grpSpPr>
          <a:xfrm>
            <a:off x="4139952" y="3518828"/>
            <a:ext cx="2152499" cy="1173909"/>
            <a:chOff x="4139952" y="3518828"/>
            <a:chExt cx="2152499" cy="1173909"/>
          </a:xfrm>
        </p:grpSpPr>
        <p:sp>
          <p:nvSpPr>
            <p:cNvPr id="6" name="5 CuadroTexto"/>
            <p:cNvSpPr txBox="1"/>
            <p:nvPr/>
          </p:nvSpPr>
          <p:spPr>
            <a:xfrm>
              <a:off x="4139952" y="4332697"/>
              <a:ext cx="2152499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cout &lt;&lt; "Negativo";</a:t>
              </a:r>
            </a:p>
          </p:txBody>
        </p:sp>
        <p:grpSp>
          <p:nvGrpSpPr>
            <p:cNvPr id="8" name="36 Grupo"/>
            <p:cNvGrpSpPr/>
            <p:nvPr/>
          </p:nvGrpSpPr>
          <p:grpSpPr>
            <a:xfrm>
              <a:off x="5212927" y="3887655"/>
              <a:ext cx="215230" cy="442949"/>
              <a:chOff x="1476450" y="3285903"/>
              <a:chExt cx="215230" cy="44294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25" name="24 Conector recto de flecha"/>
              <p:cNvCxnSpPr/>
              <p:nvPr/>
            </p:nvCxnSpPr>
            <p:spPr>
              <a:xfrm rot="5400000">
                <a:off x="1274026" y="3506584"/>
                <a:ext cx="442949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stealth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7" name="26 Conector recto de flecha"/>
              <p:cNvCxnSpPr/>
              <p:nvPr/>
            </p:nvCxnSpPr>
            <p:spPr>
              <a:xfrm rot="10800000">
                <a:off x="1476450" y="3287792"/>
                <a:ext cx="215230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none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sp>
          <p:nvSpPr>
            <p:cNvPr id="42" name="41 CuadroTexto"/>
            <p:cNvSpPr txBox="1"/>
            <p:nvPr/>
          </p:nvSpPr>
          <p:spPr>
            <a:xfrm>
              <a:off x="4850030" y="3518828"/>
              <a:ext cx="748923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</a:p>
          </p:txBody>
        </p:sp>
      </p:grpSp>
      <p:grpSp>
        <p:nvGrpSpPr>
          <p:cNvPr id="39" name="38 Grupo"/>
          <p:cNvGrpSpPr/>
          <p:nvPr/>
        </p:nvGrpSpPr>
        <p:grpSpPr>
          <a:xfrm>
            <a:off x="6673921" y="3438977"/>
            <a:ext cx="2093593" cy="1263285"/>
            <a:chOff x="6673921" y="3438977"/>
            <a:chExt cx="2093593" cy="1263285"/>
          </a:xfrm>
        </p:grpSpPr>
        <p:sp>
          <p:nvSpPr>
            <p:cNvPr id="38" name="37 CuadroTexto"/>
            <p:cNvSpPr txBox="1"/>
            <p:nvPr/>
          </p:nvSpPr>
          <p:spPr>
            <a:xfrm>
              <a:off x="6673921" y="4342222"/>
              <a:ext cx="2093593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 anchorCtr="0">
              <a:noAutofit/>
            </a:bodyPr>
            <a:lstStyle/>
            <a:p>
              <a:pPr algn="ctr"/>
              <a:r>
                <a:rPr lang="es-E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cout &lt;&lt; "Positivo";</a:t>
              </a:r>
            </a:p>
          </p:txBody>
        </p:sp>
        <p:grpSp>
          <p:nvGrpSpPr>
            <p:cNvPr id="9" name="38 Grupo"/>
            <p:cNvGrpSpPr/>
            <p:nvPr/>
          </p:nvGrpSpPr>
          <p:grpSpPr>
            <a:xfrm flipH="1">
              <a:off x="7517182" y="3895390"/>
              <a:ext cx="215230" cy="445330"/>
              <a:chOff x="1476450" y="3283522"/>
              <a:chExt cx="215230" cy="44533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0" name="39 Conector recto de flecha"/>
              <p:cNvCxnSpPr/>
              <p:nvPr/>
            </p:nvCxnSpPr>
            <p:spPr>
              <a:xfrm rot="5400000">
                <a:off x="1274026" y="3506584"/>
                <a:ext cx="442949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stealth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41" name="40 Conector recto de flecha"/>
              <p:cNvCxnSpPr/>
              <p:nvPr/>
            </p:nvCxnSpPr>
            <p:spPr>
              <a:xfrm rot="10800000">
                <a:off x="1476450" y="3283522"/>
                <a:ext cx="215230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none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sp>
          <p:nvSpPr>
            <p:cNvPr id="43" name="42 CuadroTexto"/>
            <p:cNvSpPr txBox="1"/>
            <p:nvPr/>
          </p:nvSpPr>
          <p:spPr>
            <a:xfrm>
              <a:off x="7350738" y="3438977"/>
              <a:ext cx="889987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</p:grpSp>
      <p:grpSp>
        <p:nvGrpSpPr>
          <p:cNvPr id="51" name="50 Grupo"/>
          <p:cNvGrpSpPr/>
          <p:nvPr/>
        </p:nvGrpSpPr>
        <p:grpSpPr>
          <a:xfrm>
            <a:off x="5598953" y="5373215"/>
            <a:ext cx="1918228" cy="720081"/>
            <a:chOff x="5598953" y="5373215"/>
            <a:chExt cx="1918228" cy="720081"/>
          </a:xfrm>
        </p:grpSpPr>
        <p:cxnSp>
          <p:nvCxnSpPr>
            <p:cNvPr id="7" name="6 Conector recto de flecha"/>
            <p:cNvCxnSpPr/>
            <p:nvPr/>
          </p:nvCxnSpPr>
          <p:spPr>
            <a:xfrm rot="16200000" flipH="1">
              <a:off x="6301863" y="5912879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36" name="35 CuadroTexto"/>
            <p:cNvSpPr txBox="1"/>
            <p:nvPr/>
          </p:nvSpPr>
          <p:spPr>
            <a:xfrm>
              <a:off x="5598953" y="5373215"/>
              <a:ext cx="191822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cout &lt;&lt; endl;</a:t>
              </a:r>
            </a:p>
          </p:txBody>
        </p:sp>
      </p:grpSp>
      <p:grpSp>
        <p:nvGrpSpPr>
          <p:cNvPr id="52" name="51 Grupo"/>
          <p:cNvGrpSpPr/>
          <p:nvPr/>
        </p:nvGrpSpPr>
        <p:grpSpPr>
          <a:xfrm>
            <a:off x="5213722" y="4702262"/>
            <a:ext cx="2519485" cy="699530"/>
            <a:chOff x="5213722" y="4702262"/>
            <a:chExt cx="2519485" cy="699530"/>
          </a:xfrm>
        </p:grpSpPr>
        <p:grpSp>
          <p:nvGrpSpPr>
            <p:cNvPr id="50" name="49 Grupo"/>
            <p:cNvGrpSpPr/>
            <p:nvPr/>
          </p:nvGrpSpPr>
          <p:grpSpPr>
            <a:xfrm>
              <a:off x="6482280" y="4711787"/>
              <a:ext cx="1250927" cy="360040"/>
              <a:chOff x="6482280" y="4711787"/>
              <a:chExt cx="1250927" cy="360040"/>
            </a:xfrm>
          </p:grpSpPr>
          <p:cxnSp>
            <p:nvCxnSpPr>
              <p:cNvPr id="44" name="43 Conector recto de flecha"/>
              <p:cNvCxnSpPr/>
              <p:nvPr/>
            </p:nvCxnSpPr>
            <p:spPr>
              <a:xfrm rot="16200000" flipH="1">
                <a:off x="7552789" y="4891410"/>
                <a:ext cx="360040" cy="794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none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46" name="45 Conector recto de flecha"/>
              <p:cNvCxnSpPr/>
              <p:nvPr/>
            </p:nvCxnSpPr>
            <p:spPr>
              <a:xfrm flipH="1">
                <a:off x="6482280" y="5054366"/>
                <a:ext cx="1250927" cy="0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none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49" name="48 Grupo"/>
            <p:cNvGrpSpPr/>
            <p:nvPr/>
          </p:nvGrpSpPr>
          <p:grpSpPr>
            <a:xfrm>
              <a:off x="5213722" y="4702262"/>
              <a:ext cx="1268558" cy="699530"/>
              <a:chOff x="5213722" y="4702262"/>
              <a:chExt cx="1268558" cy="699530"/>
            </a:xfrm>
          </p:grpSpPr>
          <p:cxnSp>
            <p:nvCxnSpPr>
              <p:cNvPr id="33" name="32 Conector recto de flecha"/>
              <p:cNvCxnSpPr/>
              <p:nvPr/>
            </p:nvCxnSpPr>
            <p:spPr>
              <a:xfrm rot="16200000" flipH="1">
                <a:off x="5034099" y="4881885"/>
                <a:ext cx="360040" cy="794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none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45" name="44 Conector recto de flecha"/>
              <p:cNvCxnSpPr/>
              <p:nvPr/>
            </p:nvCxnSpPr>
            <p:spPr>
              <a:xfrm flipH="1">
                <a:off x="5214518" y="5052778"/>
                <a:ext cx="1267762" cy="0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none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9" name="28 Conector recto de flecha"/>
              <p:cNvCxnSpPr/>
              <p:nvPr/>
            </p:nvCxnSpPr>
            <p:spPr>
              <a:xfrm rot="16200000" flipH="1">
                <a:off x="6297699" y="5221375"/>
                <a:ext cx="360040" cy="794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stealth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33 Grupo"/>
          <p:cNvGrpSpPr/>
          <p:nvPr/>
        </p:nvGrpSpPr>
        <p:grpSpPr>
          <a:xfrm>
            <a:off x="5399581" y="3276961"/>
            <a:ext cx="2160000" cy="875716"/>
            <a:chOff x="5399581" y="3276961"/>
            <a:chExt cx="2160000" cy="875716"/>
          </a:xfrm>
        </p:grpSpPr>
        <p:sp>
          <p:nvSpPr>
            <p:cNvPr id="23" name="22 Decisión"/>
            <p:cNvSpPr/>
            <p:nvPr/>
          </p:nvSpPr>
          <p:spPr>
            <a:xfrm>
              <a:off x="5399581" y="3623643"/>
              <a:ext cx="2160000" cy="529034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num &lt; 0</a:t>
              </a:r>
            </a:p>
          </p:txBody>
        </p:sp>
        <p:cxnSp>
          <p:nvCxnSpPr>
            <p:cNvPr id="47" name="46 Conector recto de flecha"/>
            <p:cNvCxnSpPr/>
            <p:nvPr/>
          </p:nvCxnSpPr>
          <p:spPr>
            <a:xfrm rot="16200000" flipH="1">
              <a:off x="6301863" y="3456584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2" name="31 Grupo"/>
          <p:cNvGrpSpPr/>
          <p:nvPr/>
        </p:nvGrpSpPr>
        <p:grpSpPr>
          <a:xfrm>
            <a:off x="5572172" y="2614030"/>
            <a:ext cx="1800993" cy="662930"/>
            <a:chOff x="5572172" y="2614030"/>
            <a:chExt cx="1800993" cy="662930"/>
          </a:xfrm>
        </p:grpSpPr>
        <p:sp>
          <p:nvSpPr>
            <p:cNvPr id="48" name="47 CuadroTexto"/>
            <p:cNvSpPr txBox="1"/>
            <p:nvPr/>
          </p:nvSpPr>
          <p:spPr>
            <a:xfrm>
              <a:off x="5572172" y="2916920"/>
              <a:ext cx="1800993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cin &gt;&gt; num;</a:t>
              </a:r>
            </a:p>
          </p:txBody>
        </p:sp>
        <p:cxnSp>
          <p:nvCxnSpPr>
            <p:cNvPr id="37" name="36 Conector recto de flecha"/>
            <p:cNvCxnSpPr/>
            <p:nvPr/>
          </p:nvCxnSpPr>
          <p:spPr>
            <a:xfrm rot="16200000" flipH="1">
              <a:off x="6300275" y="2793653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30" name="29 CuadroTexto"/>
          <p:cNvSpPr txBox="1"/>
          <p:nvPr/>
        </p:nvSpPr>
        <p:spPr>
          <a:xfrm>
            <a:off x="7366184" y="404664"/>
            <a:ext cx="1324402" cy="369332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signo.cpp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9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20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30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instrucción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</a:rPr>
              <a:t> num;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</a:rPr>
              <a:t>cin &gt;&gt; num;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1800" dirty="0">
                <a:latin typeface="Consolas" pitchFamily="49" charset="0"/>
              </a:rPr>
              <a:t> (num &lt;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</a:rPr>
              <a:t>) {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</a:rPr>
              <a:t>   cout &lt;&lt;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"Negativo"</a:t>
            </a:r>
            <a:r>
              <a:rPr lang="es-ES" sz="1800" dirty="0">
                <a:latin typeface="Consolas" pitchFamily="49" charset="0"/>
              </a:rPr>
              <a:t>;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</a:rPr>
              <a:t>}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 </a:t>
            </a:r>
            <a:r>
              <a:rPr lang="es-ES" sz="1800" dirty="0">
                <a:latin typeface="Consolas" pitchFamily="49" charset="0"/>
              </a:rPr>
              <a:t>{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</a:rPr>
              <a:t>   cout &lt;&lt;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"Positivo"</a:t>
            </a:r>
            <a:r>
              <a:rPr lang="es-ES" sz="1800" dirty="0">
                <a:latin typeface="Consolas" pitchFamily="49" charset="0"/>
              </a:rPr>
              <a:t>;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</a:rPr>
              <a:t>}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</a:rPr>
              <a:t>cout &lt;&lt; endl;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233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6" name="55 Grupo"/>
          <p:cNvGrpSpPr/>
          <p:nvPr/>
        </p:nvGrpSpPr>
        <p:grpSpPr>
          <a:xfrm>
            <a:off x="3742973" y="5589239"/>
            <a:ext cx="1512168" cy="720081"/>
            <a:chOff x="3945499" y="5394868"/>
            <a:chExt cx="1512168" cy="720081"/>
          </a:xfrm>
        </p:grpSpPr>
        <p:cxnSp>
          <p:nvCxnSpPr>
            <p:cNvPr id="7" name="6 Conector recto de flecha"/>
            <p:cNvCxnSpPr/>
            <p:nvPr/>
          </p:nvCxnSpPr>
          <p:spPr>
            <a:xfrm rot="16200000" flipH="1">
              <a:off x="4516741" y="5934532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36" name="35 CuadroTexto"/>
            <p:cNvSpPr txBox="1"/>
            <p:nvPr/>
          </p:nvSpPr>
          <p:spPr>
            <a:xfrm>
              <a:off x="3945499" y="5394868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5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cout &lt;&lt; </a:t>
              </a:r>
              <a:r>
                <a:rPr lang="es-ES" sz="15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endl;</a:t>
              </a:r>
            </a:p>
          </p:txBody>
        </p:sp>
      </p:grpSp>
      <p:grpSp>
        <p:nvGrpSpPr>
          <p:cNvPr id="8" name="57 Grupo"/>
          <p:cNvGrpSpPr/>
          <p:nvPr/>
        </p:nvGrpSpPr>
        <p:grpSpPr>
          <a:xfrm>
            <a:off x="4480175" y="3655001"/>
            <a:ext cx="1964034" cy="1623325"/>
            <a:chOff x="4682701" y="3460630"/>
            <a:chExt cx="1964034" cy="1623325"/>
          </a:xfrm>
        </p:grpSpPr>
        <p:sp>
          <p:nvSpPr>
            <p:cNvPr id="38" name="37 CuadroTexto"/>
            <p:cNvSpPr txBox="1"/>
            <p:nvPr/>
          </p:nvSpPr>
          <p:spPr>
            <a:xfrm>
              <a:off x="4957435" y="4363875"/>
              <a:ext cx="1689300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 anchorCtr="0">
              <a:noAutofit/>
            </a:bodyPr>
            <a:lstStyle/>
            <a:p>
              <a:pPr algn="ctr"/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cout &lt;&lt; "Positivo";</a:t>
              </a:r>
            </a:p>
          </p:txBody>
        </p:sp>
        <p:grpSp>
          <p:nvGrpSpPr>
            <p:cNvPr id="9" name="38 Grupo"/>
            <p:cNvGrpSpPr/>
            <p:nvPr/>
          </p:nvGrpSpPr>
          <p:grpSpPr>
            <a:xfrm flipH="1">
              <a:off x="5588044" y="3909899"/>
              <a:ext cx="215230" cy="442949"/>
              <a:chOff x="1476450" y="3276378"/>
              <a:chExt cx="215230" cy="44294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0" name="39 Conector recto de flecha"/>
              <p:cNvCxnSpPr/>
              <p:nvPr/>
            </p:nvCxnSpPr>
            <p:spPr>
              <a:xfrm rot="5400000">
                <a:off x="1264501" y="3497059"/>
                <a:ext cx="442949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stealth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41" name="40 Conector recto de flecha"/>
              <p:cNvCxnSpPr/>
              <p:nvPr/>
            </p:nvCxnSpPr>
            <p:spPr>
              <a:xfrm rot="10800000">
                <a:off x="1476450" y="3283522"/>
                <a:ext cx="215230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none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sp>
          <p:nvSpPr>
            <p:cNvPr id="43" name="42 CuadroTexto"/>
            <p:cNvSpPr txBox="1"/>
            <p:nvPr/>
          </p:nvSpPr>
          <p:spPr>
            <a:xfrm>
              <a:off x="5457667" y="3460630"/>
              <a:ext cx="817853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  <p:cxnSp>
          <p:nvCxnSpPr>
            <p:cNvPr id="44" name="43 Conector recto de flecha"/>
            <p:cNvCxnSpPr/>
            <p:nvPr/>
          </p:nvCxnSpPr>
          <p:spPr>
            <a:xfrm rot="16200000" flipH="1">
              <a:off x="5623651" y="4903538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6" name="45 Conector recto de flecha"/>
            <p:cNvCxnSpPr/>
            <p:nvPr/>
          </p:nvCxnSpPr>
          <p:spPr>
            <a:xfrm rot="10800000">
              <a:off x="4682701" y="5064906"/>
              <a:ext cx="1121367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29" name="28 Conector recto de flecha"/>
          <p:cNvCxnSpPr/>
          <p:nvPr/>
        </p:nvCxnSpPr>
        <p:spPr>
          <a:xfrm rot="16200000" flipH="1">
            <a:off x="4313421" y="5437397"/>
            <a:ext cx="360040" cy="794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10" name="53 Grupo"/>
          <p:cNvGrpSpPr/>
          <p:nvPr/>
        </p:nvGrpSpPr>
        <p:grpSpPr>
          <a:xfrm>
            <a:off x="3512516" y="3492985"/>
            <a:ext cx="1944216" cy="875716"/>
            <a:chOff x="3715042" y="3298614"/>
            <a:chExt cx="1944216" cy="875716"/>
          </a:xfrm>
        </p:grpSpPr>
        <p:sp>
          <p:nvSpPr>
            <p:cNvPr id="23" name="22 Decisión"/>
            <p:cNvSpPr/>
            <p:nvPr/>
          </p:nvSpPr>
          <p:spPr>
            <a:xfrm>
              <a:off x="3715042" y="3645296"/>
              <a:ext cx="1944216" cy="529034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num &lt; 0</a:t>
              </a:r>
            </a:p>
          </p:txBody>
        </p:sp>
        <p:cxnSp>
          <p:nvCxnSpPr>
            <p:cNvPr id="47" name="46 Conector recto de flecha"/>
            <p:cNvCxnSpPr/>
            <p:nvPr/>
          </p:nvCxnSpPr>
          <p:spPr>
            <a:xfrm rot="16200000" flipH="1">
              <a:off x="4516741" y="3478237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1" name="52 Grupo"/>
          <p:cNvGrpSpPr/>
          <p:nvPr/>
        </p:nvGrpSpPr>
        <p:grpSpPr>
          <a:xfrm>
            <a:off x="3742973" y="2830054"/>
            <a:ext cx="1512168" cy="662930"/>
            <a:chOff x="3945499" y="2635683"/>
            <a:chExt cx="1512168" cy="662930"/>
          </a:xfrm>
        </p:grpSpPr>
        <p:sp>
          <p:nvSpPr>
            <p:cNvPr id="48" name="47 CuadroTexto"/>
            <p:cNvSpPr txBox="1"/>
            <p:nvPr/>
          </p:nvSpPr>
          <p:spPr>
            <a:xfrm>
              <a:off x="3945499" y="2938573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cin &gt;&gt; num;</a:t>
              </a:r>
            </a:p>
          </p:txBody>
        </p:sp>
        <p:cxnSp>
          <p:nvCxnSpPr>
            <p:cNvPr id="37" name="36 Conector recto de flecha"/>
            <p:cNvCxnSpPr/>
            <p:nvPr/>
          </p:nvCxnSpPr>
          <p:spPr>
            <a:xfrm rot="16200000" flipH="1">
              <a:off x="4515153" y="2815306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8" name="27 CuadroTexto"/>
          <p:cNvSpPr txBox="1"/>
          <p:nvPr/>
        </p:nvSpPr>
        <p:spPr>
          <a:xfrm>
            <a:off x="6033731" y="1337108"/>
            <a:ext cx="2570717" cy="1947876"/>
          </a:xfrm>
          <a:prstGeom prst="rect">
            <a:avLst/>
          </a:prstGeom>
          <a:solidFill>
            <a:schemeClr val="dk1"/>
          </a:solidFill>
          <a:ln w="63500" cap="rnd">
            <a:solidFill>
              <a:schemeClr val="tx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endParaRPr lang="es-ES" sz="1600" dirty="0">
              <a:latin typeface="Consolas" pitchFamily="49" charset="0"/>
            </a:endParaRPr>
          </a:p>
        </p:txBody>
      </p:sp>
      <p:sp>
        <p:nvSpPr>
          <p:cNvPr id="30" name="29 CuadroTexto"/>
          <p:cNvSpPr txBox="1"/>
          <p:nvPr/>
        </p:nvSpPr>
        <p:spPr>
          <a:xfrm>
            <a:off x="6105169" y="1622860"/>
            <a:ext cx="26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nsolas" pitchFamily="49" charset="0"/>
              </a:rPr>
              <a:t>_</a:t>
            </a:r>
            <a:endParaRPr lang="es-ES" dirty="0"/>
          </a:p>
        </p:txBody>
      </p:sp>
      <p:sp>
        <p:nvSpPr>
          <p:cNvPr id="31" name="30 CuadroTexto"/>
          <p:cNvSpPr txBox="1"/>
          <p:nvPr/>
        </p:nvSpPr>
        <p:spPr>
          <a:xfrm>
            <a:off x="6105169" y="1372591"/>
            <a:ext cx="1428760" cy="428628"/>
          </a:xfrm>
          <a:prstGeom prst="rect">
            <a:avLst/>
          </a:prstGeom>
          <a:noFill/>
          <a:ln w="63500" cap="rnd"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endParaRPr lang="es-ES" sz="1600" dirty="0">
              <a:latin typeface="Consolas" pitchFamily="49" charset="0"/>
            </a:endParaRPr>
          </a:p>
        </p:txBody>
      </p:sp>
      <p:sp>
        <p:nvSpPr>
          <p:cNvPr id="32" name="31 CuadroTexto"/>
          <p:cNvSpPr txBox="1"/>
          <p:nvPr/>
        </p:nvSpPr>
        <p:spPr>
          <a:xfrm>
            <a:off x="6105169" y="1360449"/>
            <a:ext cx="26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nsolas" pitchFamily="49" charset="0"/>
              </a:rPr>
              <a:t>_</a:t>
            </a:r>
            <a:endParaRPr lang="es-ES" dirty="0"/>
          </a:p>
        </p:txBody>
      </p:sp>
      <p:sp>
        <p:nvSpPr>
          <p:cNvPr id="34" name="33 CuadroTexto"/>
          <p:cNvSpPr txBox="1"/>
          <p:nvPr/>
        </p:nvSpPr>
        <p:spPr>
          <a:xfrm>
            <a:off x="6084168" y="1372591"/>
            <a:ext cx="1428760" cy="428628"/>
          </a:xfrm>
          <a:prstGeom prst="rect">
            <a:avLst/>
          </a:prstGeom>
          <a:solidFill>
            <a:schemeClr val="bg1"/>
          </a:solidFill>
          <a:ln w="63500" cap="rnd"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r>
              <a:rPr lang="es-ES" sz="1600" dirty="0">
                <a:latin typeface="Consolas" pitchFamily="49" charset="0"/>
              </a:rPr>
              <a:t>129</a:t>
            </a:r>
          </a:p>
        </p:txBody>
      </p:sp>
      <p:sp>
        <p:nvSpPr>
          <p:cNvPr id="39" name="38 CuadroTexto"/>
          <p:cNvSpPr txBox="1"/>
          <p:nvPr/>
        </p:nvSpPr>
        <p:spPr>
          <a:xfrm>
            <a:off x="6090882" y="1694298"/>
            <a:ext cx="1428760" cy="428628"/>
          </a:xfrm>
          <a:prstGeom prst="rect">
            <a:avLst/>
          </a:prstGeom>
          <a:solidFill>
            <a:schemeClr val="bg1"/>
          </a:solidFill>
          <a:ln w="63500" cap="rnd"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r>
              <a:rPr lang="es-ES" sz="1600" dirty="0">
                <a:latin typeface="Consolas" pitchFamily="49" charset="0"/>
              </a:rPr>
              <a:t>Positivo</a:t>
            </a:r>
          </a:p>
        </p:txBody>
      </p:sp>
      <p:sp>
        <p:nvSpPr>
          <p:cNvPr id="50" name="49 CuadroTexto"/>
          <p:cNvSpPr txBox="1"/>
          <p:nvPr/>
        </p:nvSpPr>
        <p:spPr>
          <a:xfrm>
            <a:off x="6105169" y="1980050"/>
            <a:ext cx="26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nsolas" pitchFamily="49" charset="0"/>
              </a:rPr>
              <a:t>_</a:t>
            </a:r>
            <a:endParaRPr lang="es-ES" dirty="0"/>
          </a:p>
        </p:txBody>
      </p:sp>
      <p:graphicFrame>
        <p:nvGraphicFramePr>
          <p:cNvPr id="59" name="58 Tabla"/>
          <p:cNvGraphicFramePr>
            <a:graphicFrameLocks noGrp="1"/>
          </p:cNvGraphicFramePr>
          <p:nvPr/>
        </p:nvGraphicFramePr>
        <p:xfrm>
          <a:off x="6929454" y="4024333"/>
          <a:ext cx="1512168" cy="30480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594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num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rgbClr val="C00000"/>
                          </a:solidFill>
                          <a:latin typeface="Consolas" pitchFamily="49" charset="0"/>
                        </a:rPr>
                        <a:t>?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59 Tabla"/>
          <p:cNvGraphicFramePr>
            <a:graphicFrameLocks noGrp="1"/>
          </p:cNvGraphicFramePr>
          <p:nvPr/>
        </p:nvGraphicFramePr>
        <p:xfrm>
          <a:off x="6929454" y="4024333"/>
          <a:ext cx="1512168" cy="30480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594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num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onsolas" pitchFamily="49" charset="0"/>
                        </a:rPr>
                        <a:t>129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2" grpId="1"/>
      <p:bldP spid="32" grpId="2"/>
      <p:bldP spid="34" grpId="0" animBg="1"/>
      <p:bldP spid="39" grpId="0" animBg="1"/>
      <p:bldP spid="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56 Grupo"/>
          <p:cNvGrpSpPr/>
          <p:nvPr/>
        </p:nvGrpSpPr>
        <p:grpSpPr>
          <a:xfrm>
            <a:off x="2502818" y="3733351"/>
            <a:ext cx="2008483" cy="1543474"/>
            <a:chOff x="2686294" y="3540481"/>
            <a:chExt cx="2008483" cy="1543474"/>
          </a:xfrm>
        </p:grpSpPr>
        <p:grpSp>
          <p:nvGrpSpPr>
            <p:cNvPr id="8" name="36 Grupo"/>
            <p:cNvGrpSpPr/>
            <p:nvPr/>
          </p:nvGrpSpPr>
          <p:grpSpPr>
            <a:xfrm>
              <a:off x="3571820" y="3909308"/>
              <a:ext cx="215230" cy="442949"/>
              <a:chOff x="1476450" y="3285903"/>
              <a:chExt cx="215230" cy="44294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68" name="67 Conector recto de flecha"/>
              <p:cNvCxnSpPr/>
              <p:nvPr/>
            </p:nvCxnSpPr>
            <p:spPr>
              <a:xfrm rot="10800000">
                <a:off x="1476450" y="3287792"/>
                <a:ext cx="215230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none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67" name="66 Conector recto de flecha"/>
              <p:cNvCxnSpPr/>
              <p:nvPr/>
            </p:nvCxnSpPr>
            <p:spPr>
              <a:xfrm rot="5400000">
                <a:off x="1274026" y="3506584"/>
                <a:ext cx="442949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stealth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sp>
          <p:nvSpPr>
            <p:cNvPr id="64" name="63 CuadroTexto"/>
            <p:cNvSpPr txBox="1"/>
            <p:nvPr/>
          </p:nvSpPr>
          <p:spPr>
            <a:xfrm>
              <a:off x="3237776" y="3540481"/>
              <a:ext cx="691216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</a:p>
          </p:txBody>
        </p:sp>
        <p:cxnSp>
          <p:nvCxnSpPr>
            <p:cNvPr id="65" name="64 Conector recto de flecha"/>
            <p:cNvCxnSpPr/>
            <p:nvPr/>
          </p:nvCxnSpPr>
          <p:spPr>
            <a:xfrm rot="16200000" flipH="1">
              <a:off x="3392992" y="4903538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6" name="65 Conector recto de flecha"/>
            <p:cNvCxnSpPr/>
            <p:nvPr/>
          </p:nvCxnSpPr>
          <p:spPr>
            <a:xfrm rot="10800000">
              <a:off x="3573410" y="5064906"/>
              <a:ext cx="1121367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62" name="61 CuadroTexto"/>
            <p:cNvSpPr txBox="1"/>
            <p:nvPr/>
          </p:nvSpPr>
          <p:spPr>
            <a:xfrm>
              <a:off x="2686294" y="4354350"/>
              <a:ext cx="1781943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cout &lt;&lt; "Negativo";</a:t>
              </a:r>
            </a:p>
          </p:txBody>
        </p: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instrucción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2421438"/>
          </a:xfrm>
        </p:spPr>
        <p:txBody>
          <a:bodyPr>
            <a:normAutofit fontScale="85000" lnSpcReduction="20000"/>
          </a:bodyPr>
          <a:lstStyle/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</a:rPr>
              <a:t> num;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</a:rPr>
              <a:t>cin &gt;&gt; num;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1800" dirty="0">
                <a:latin typeface="Consolas" pitchFamily="49" charset="0"/>
              </a:rPr>
              <a:t> (num &lt;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</a:rPr>
              <a:t>) {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</a:rPr>
              <a:t>   cout &lt;&lt;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"Negativo"</a:t>
            </a:r>
            <a:r>
              <a:rPr lang="es-ES" sz="1800" dirty="0">
                <a:latin typeface="Consolas" pitchFamily="49" charset="0"/>
              </a:rPr>
              <a:t>;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</a:rPr>
              <a:t>}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 </a:t>
            </a:r>
            <a:r>
              <a:rPr lang="es-ES" sz="1800" dirty="0">
                <a:latin typeface="Consolas" pitchFamily="49" charset="0"/>
              </a:rPr>
              <a:t>{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</a:rPr>
              <a:t>   cout &lt;&lt;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"Positivo"</a:t>
            </a:r>
            <a:r>
              <a:rPr lang="es-ES" sz="1800" dirty="0">
                <a:latin typeface="Consolas" pitchFamily="49" charset="0"/>
              </a:rPr>
              <a:t>;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</a:rPr>
              <a:t>}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</a:rPr>
              <a:t>cout &lt;&lt; endl;</a:t>
            </a:r>
            <a:endParaRPr lang="es-ES" sz="20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234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9" name="55 Grupo"/>
          <p:cNvGrpSpPr/>
          <p:nvPr/>
        </p:nvGrpSpPr>
        <p:grpSpPr>
          <a:xfrm>
            <a:off x="3742973" y="5589239"/>
            <a:ext cx="1512168" cy="720081"/>
            <a:chOff x="3945499" y="5394868"/>
            <a:chExt cx="1512168" cy="720081"/>
          </a:xfrm>
        </p:grpSpPr>
        <p:cxnSp>
          <p:nvCxnSpPr>
            <p:cNvPr id="7" name="6 Conector recto de flecha"/>
            <p:cNvCxnSpPr/>
            <p:nvPr/>
          </p:nvCxnSpPr>
          <p:spPr>
            <a:xfrm rot="16200000" flipH="1">
              <a:off x="4516741" y="5934532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36" name="35 CuadroTexto"/>
            <p:cNvSpPr txBox="1"/>
            <p:nvPr/>
          </p:nvSpPr>
          <p:spPr>
            <a:xfrm>
              <a:off x="3945499" y="5394868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5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cout &lt;&lt; </a:t>
              </a:r>
              <a:r>
                <a:rPr lang="es-ES" sz="15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endl;</a:t>
              </a:r>
            </a:p>
          </p:txBody>
        </p:sp>
      </p:grpSp>
      <p:cxnSp>
        <p:nvCxnSpPr>
          <p:cNvPr id="29" name="28 Conector recto de flecha"/>
          <p:cNvCxnSpPr/>
          <p:nvPr/>
        </p:nvCxnSpPr>
        <p:spPr>
          <a:xfrm rot="16200000" flipH="1">
            <a:off x="4313421" y="5437397"/>
            <a:ext cx="360040" cy="794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10" name="53 Grupo"/>
          <p:cNvGrpSpPr/>
          <p:nvPr/>
        </p:nvGrpSpPr>
        <p:grpSpPr>
          <a:xfrm>
            <a:off x="3512516" y="3492985"/>
            <a:ext cx="1944216" cy="875716"/>
            <a:chOff x="3715042" y="3298614"/>
            <a:chExt cx="1944216" cy="875716"/>
          </a:xfrm>
        </p:grpSpPr>
        <p:sp>
          <p:nvSpPr>
            <p:cNvPr id="23" name="22 Decisión"/>
            <p:cNvSpPr/>
            <p:nvPr/>
          </p:nvSpPr>
          <p:spPr>
            <a:xfrm>
              <a:off x="3715042" y="3645296"/>
              <a:ext cx="1944216" cy="529034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num &lt; 0</a:t>
              </a:r>
            </a:p>
          </p:txBody>
        </p:sp>
        <p:cxnSp>
          <p:nvCxnSpPr>
            <p:cNvPr id="47" name="46 Conector recto de flecha"/>
            <p:cNvCxnSpPr/>
            <p:nvPr/>
          </p:nvCxnSpPr>
          <p:spPr>
            <a:xfrm rot="16200000" flipH="1">
              <a:off x="4516741" y="3478237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1" name="52 Grupo"/>
          <p:cNvGrpSpPr/>
          <p:nvPr/>
        </p:nvGrpSpPr>
        <p:grpSpPr>
          <a:xfrm>
            <a:off x="3742973" y="2830054"/>
            <a:ext cx="1512168" cy="662930"/>
            <a:chOff x="3945499" y="2635683"/>
            <a:chExt cx="1512168" cy="662930"/>
          </a:xfrm>
        </p:grpSpPr>
        <p:sp>
          <p:nvSpPr>
            <p:cNvPr id="48" name="47 CuadroTexto"/>
            <p:cNvSpPr txBox="1"/>
            <p:nvPr/>
          </p:nvSpPr>
          <p:spPr>
            <a:xfrm>
              <a:off x="3945499" y="2938573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cin &gt;&gt; num;</a:t>
              </a:r>
            </a:p>
          </p:txBody>
        </p:sp>
        <p:cxnSp>
          <p:nvCxnSpPr>
            <p:cNvPr id="37" name="36 Conector recto de flecha"/>
            <p:cNvCxnSpPr/>
            <p:nvPr/>
          </p:nvCxnSpPr>
          <p:spPr>
            <a:xfrm rot="16200000" flipH="1">
              <a:off x="4515153" y="2815306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8" name="27 CuadroTexto"/>
          <p:cNvSpPr txBox="1"/>
          <p:nvPr/>
        </p:nvSpPr>
        <p:spPr>
          <a:xfrm>
            <a:off x="6033731" y="1337108"/>
            <a:ext cx="2570717" cy="1947876"/>
          </a:xfrm>
          <a:prstGeom prst="rect">
            <a:avLst/>
          </a:prstGeom>
          <a:solidFill>
            <a:schemeClr val="dk1"/>
          </a:solidFill>
          <a:ln w="63500" cap="rnd">
            <a:solidFill>
              <a:schemeClr val="tx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endParaRPr lang="es-ES" sz="1600" dirty="0">
              <a:latin typeface="Consolas" pitchFamily="49" charset="0"/>
            </a:endParaRPr>
          </a:p>
        </p:txBody>
      </p:sp>
      <p:sp>
        <p:nvSpPr>
          <p:cNvPr id="30" name="29 CuadroTexto"/>
          <p:cNvSpPr txBox="1"/>
          <p:nvPr/>
        </p:nvSpPr>
        <p:spPr>
          <a:xfrm>
            <a:off x="6105169" y="1622860"/>
            <a:ext cx="26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nsolas" pitchFamily="49" charset="0"/>
              </a:rPr>
              <a:t>_</a:t>
            </a:r>
            <a:endParaRPr lang="es-ES" dirty="0"/>
          </a:p>
        </p:txBody>
      </p:sp>
      <p:sp>
        <p:nvSpPr>
          <p:cNvPr id="31" name="30 CuadroTexto"/>
          <p:cNvSpPr txBox="1"/>
          <p:nvPr/>
        </p:nvSpPr>
        <p:spPr>
          <a:xfrm>
            <a:off x="6105169" y="1372591"/>
            <a:ext cx="1428760" cy="428628"/>
          </a:xfrm>
          <a:prstGeom prst="rect">
            <a:avLst/>
          </a:prstGeom>
          <a:noFill/>
          <a:ln w="63500" cap="rnd"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endParaRPr lang="es-ES" sz="1600" dirty="0">
              <a:latin typeface="Consolas" pitchFamily="49" charset="0"/>
            </a:endParaRPr>
          </a:p>
        </p:txBody>
      </p:sp>
      <p:sp>
        <p:nvSpPr>
          <p:cNvPr id="32" name="31 CuadroTexto"/>
          <p:cNvSpPr txBox="1"/>
          <p:nvPr/>
        </p:nvSpPr>
        <p:spPr>
          <a:xfrm>
            <a:off x="6105169" y="1360449"/>
            <a:ext cx="26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nsolas" pitchFamily="49" charset="0"/>
              </a:rPr>
              <a:t>_</a:t>
            </a:r>
            <a:endParaRPr lang="es-ES" dirty="0"/>
          </a:p>
        </p:txBody>
      </p:sp>
      <p:sp>
        <p:nvSpPr>
          <p:cNvPr id="34" name="33 CuadroTexto"/>
          <p:cNvSpPr txBox="1"/>
          <p:nvPr/>
        </p:nvSpPr>
        <p:spPr>
          <a:xfrm>
            <a:off x="6084168" y="1372591"/>
            <a:ext cx="1428760" cy="428628"/>
          </a:xfrm>
          <a:prstGeom prst="rect">
            <a:avLst/>
          </a:prstGeom>
          <a:solidFill>
            <a:schemeClr val="bg1"/>
          </a:solidFill>
          <a:ln w="63500" cap="rnd"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r>
              <a:rPr lang="es-ES" sz="1600" dirty="0">
                <a:latin typeface="Consolas" pitchFamily="49" charset="0"/>
              </a:rPr>
              <a:t>-5</a:t>
            </a:r>
          </a:p>
        </p:txBody>
      </p:sp>
      <p:sp>
        <p:nvSpPr>
          <p:cNvPr id="39" name="38 CuadroTexto"/>
          <p:cNvSpPr txBox="1"/>
          <p:nvPr/>
        </p:nvSpPr>
        <p:spPr>
          <a:xfrm>
            <a:off x="6090882" y="1694298"/>
            <a:ext cx="1428760" cy="428628"/>
          </a:xfrm>
          <a:prstGeom prst="rect">
            <a:avLst/>
          </a:prstGeom>
          <a:solidFill>
            <a:schemeClr val="bg1"/>
          </a:solidFill>
          <a:ln w="63500" cap="rnd"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r>
              <a:rPr lang="es-ES" sz="1600" dirty="0">
                <a:latin typeface="Consolas" pitchFamily="49" charset="0"/>
              </a:rPr>
              <a:t>Negativo</a:t>
            </a:r>
          </a:p>
        </p:txBody>
      </p:sp>
      <p:sp>
        <p:nvSpPr>
          <p:cNvPr id="50" name="49 CuadroTexto"/>
          <p:cNvSpPr txBox="1"/>
          <p:nvPr/>
        </p:nvSpPr>
        <p:spPr>
          <a:xfrm>
            <a:off x="6105169" y="1980050"/>
            <a:ext cx="26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nsolas" pitchFamily="49" charset="0"/>
              </a:rPr>
              <a:t>_</a:t>
            </a:r>
            <a:endParaRPr lang="es-ES" dirty="0"/>
          </a:p>
        </p:txBody>
      </p:sp>
      <p:graphicFrame>
        <p:nvGraphicFramePr>
          <p:cNvPr id="59" name="58 Tabla"/>
          <p:cNvGraphicFramePr>
            <a:graphicFrameLocks noGrp="1"/>
          </p:cNvGraphicFramePr>
          <p:nvPr/>
        </p:nvGraphicFramePr>
        <p:xfrm>
          <a:off x="6929454" y="4024333"/>
          <a:ext cx="1512168" cy="30480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594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num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rgbClr val="C00000"/>
                          </a:solidFill>
                          <a:latin typeface="Consolas" pitchFamily="49" charset="0"/>
                        </a:rPr>
                        <a:t>?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59 Tabla"/>
          <p:cNvGraphicFramePr>
            <a:graphicFrameLocks noGrp="1"/>
          </p:cNvGraphicFramePr>
          <p:nvPr/>
        </p:nvGraphicFramePr>
        <p:xfrm>
          <a:off x="6929454" y="4024333"/>
          <a:ext cx="1512168" cy="30480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594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num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onsolas" pitchFamily="49" charset="0"/>
                        </a:rPr>
                        <a:t>-5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2" grpId="1"/>
      <p:bldP spid="32" grpId="2"/>
      <p:bldP spid="34" grpId="0" animBg="1"/>
      <p:bldP spid="39" grpId="0" animBg="1"/>
      <p:bldP spid="5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235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644548" y="3044280"/>
            <a:ext cx="5855064" cy="14465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Operadores relacionales</a:t>
            </a:r>
            <a:b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</a:br>
            <a:r>
              <a:rPr lang="es-ES" sz="4400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(condiciones simples)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Expresiones lógicas (</a:t>
            </a:r>
            <a:r>
              <a:rPr lang="es-ES" i="1" dirty="0"/>
              <a:t>booleanas</a:t>
            </a:r>
            <a:r>
              <a:rPr lang="es-ES" dirty="0"/>
              <a:t>)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Operadores relacionales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Comparaciones (</a:t>
            </a:r>
            <a:r>
              <a:rPr lang="es-ES" i="1" dirty="0">
                <a:solidFill>
                  <a:srgbClr val="FFC000"/>
                </a:solidFill>
              </a:rPr>
              <a:t>condiciones</a:t>
            </a:r>
            <a:r>
              <a:rPr lang="es-ES" dirty="0"/>
              <a:t>)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/>
              <a:t>Condición simple ::= Expresión  </a:t>
            </a:r>
            <a:r>
              <a:rPr lang="es-ES" sz="2000" dirty="0" err="1"/>
              <a:t>Operador_relacional</a:t>
            </a:r>
            <a:r>
              <a:rPr lang="es-ES" sz="2000" dirty="0"/>
              <a:t>  Expresión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Concordancia de tipo entre las expresiones</a:t>
            </a:r>
          </a:p>
          <a:p>
            <a:pPr lvl="1" indent="1588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dirty="0"/>
              <a:t>Resultado: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bool</a:t>
            </a:r>
            <a:r>
              <a:rPr lang="es-ES" dirty="0"/>
              <a:t> (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true</a:t>
            </a:r>
            <a:r>
              <a:rPr lang="es-ES" dirty="0"/>
              <a:t> o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false</a:t>
            </a:r>
            <a:r>
              <a:rPr lang="es-ES" dirty="0"/>
              <a:t>)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236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1475656" y="3645024"/>
          <a:ext cx="2808312" cy="23774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4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2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159">
                <a:tc>
                  <a:txBody>
                    <a:bodyPr/>
                    <a:lstStyle/>
                    <a:p>
                      <a:r>
                        <a:rPr lang="es-ES" sz="2000" b="0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&lt;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" pitchFamily="18" charset="0"/>
                        </a:rPr>
                        <a:t>menor que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159">
                <a:tc>
                  <a:txBody>
                    <a:bodyPr/>
                    <a:lstStyle/>
                    <a:p>
                      <a:r>
                        <a:rPr lang="es-ES" sz="2000" b="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&lt;=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" pitchFamily="18" charset="0"/>
                        </a:rPr>
                        <a:t>menor o igual que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159">
                <a:tc>
                  <a:txBody>
                    <a:bodyPr/>
                    <a:lstStyle/>
                    <a:p>
                      <a:r>
                        <a:rPr lang="es-ES" sz="2000" b="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&gt;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" pitchFamily="18" charset="0"/>
                        </a:rPr>
                        <a:t>mayor que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159">
                <a:tc>
                  <a:txBody>
                    <a:bodyPr/>
                    <a:lstStyle/>
                    <a:p>
                      <a:r>
                        <a:rPr lang="es-ES" sz="2000" b="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&gt;=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" pitchFamily="18" charset="0"/>
                        </a:rPr>
                        <a:t>mayor o igual que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159">
                <a:tc>
                  <a:txBody>
                    <a:bodyPr/>
                    <a:lstStyle/>
                    <a:p>
                      <a:r>
                        <a:rPr lang="es-ES" sz="2000" b="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==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" pitchFamily="18" charset="0"/>
                        </a:rPr>
                        <a:t>igual que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159">
                <a:tc>
                  <a:txBody>
                    <a:bodyPr/>
                    <a:lstStyle/>
                    <a:p>
                      <a:r>
                        <a:rPr lang="es-ES" sz="2000" b="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!=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s-ES" sz="2000" b="0" i="0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" pitchFamily="18" charset="0"/>
                          <a:ea typeface="+mn-ea"/>
                          <a:cs typeface="+mn-cs"/>
                        </a:rPr>
                        <a:t>distinto de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5004048" y="3429000"/>
          <a:ext cx="2736304" cy="27736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736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6033">
                <a:tc>
                  <a:txBody>
                    <a:bodyPr/>
                    <a:lstStyle/>
                    <a:p>
                      <a:r>
                        <a:rPr lang="es-ES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Operadores (prioridad)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...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* / %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+ -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r>
                        <a:rPr lang="es-ES" sz="2000" dirty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&lt;</a:t>
                      </a:r>
                      <a:r>
                        <a:rPr lang="es-ES" sz="2000" baseline="0" dirty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 &lt;= &gt; &gt;=</a:t>
                      </a:r>
                      <a:endParaRPr lang="es-ES" sz="2000" dirty="0"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r>
                        <a:rPr lang="es-ES" sz="2000" dirty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== !=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= += -= *= /= %=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dirty="0"/>
              <a:t>Operadores relacionales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/>
              <a:t>Menor prioridad que los operadores aditivos y multiplicativos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bool</a:t>
            </a:r>
            <a:r>
              <a:rPr lang="es-ES" sz="2000" dirty="0">
                <a:latin typeface="Consolas" pitchFamily="49" charset="0"/>
              </a:rPr>
              <a:t> resultado;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</a:rPr>
              <a:t> a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2</a:t>
            </a:r>
            <a:r>
              <a:rPr lang="es-ES" sz="2000" dirty="0">
                <a:latin typeface="Consolas" pitchFamily="49" charset="0"/>
              </a:rPr>
              <a:t>, b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sz="2000" dirty="0">
                <a:latin typeface="Consolas" pitchFamily="49" charset="0"/>
              </a:rPr>
              <a:t>, c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4</a:t>
            </a:r>
            <a:r>
              <a:rPr lang="es-ES" sz="20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resultado = a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&lt;</a:t>
            </a:r>
            <a:r>
              <a:rPr lang="es-ES" sz="2000" dirty="0"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sz="2000" dirty="0">
                <a:latin typeface="Consolas" pitchFamily="49" charset="0"/>
              </a:rPr>
              <a:t>;             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2 &lt; 5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  <a:sym typeface="Wingdings" pitchFamily="2" charset="2"/>
              </a:rPr>
              <a:t>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 true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resultado = a * b + c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&gt;=</a:t>
            </a:r>
            <a:r>
              <a:rPr lang="es-ES" sz="2000" dirty="0"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12</a:t>
            </a:r>
            <a:r>
              <a:rPr lang="es-ES" sz="2000" dirty="0">
                <a:latin typeface="Consolas" pitchFamily="49" charset="0"/>
              </a:rPr>
              <a:t>;   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10 &gt;= 12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  <a:sym typeface="Wingdings" pitchFamily="2" charset="2"/>
              </a:rPr>
              <a:t>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 false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resultado = a * (b + c)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&gt;=</a:t>
            </a:r>
            <a:r>
              <a:rPr lang="es-ES" sz="2000" dirty="0"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12</a:t>
            </a:r>
            <a:r>
              <a:rPr lang="es-ES" sz="2000" dirty="0">
                <a:latin typeface="Consolas" pitchFamily="49" charset="0"/>
              </a:rPr>
              <a:t>; 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14 &gt;= 12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  <a:sym typeface="Wingdings" pitchFamily="2" charset="2"/>
              </a:rPr>
              <a:t>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 true</a:t>
            </a:r>
            <a:endParaRPr lang="es-ES" sz="2000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resultado = a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!=</a:t>
            </a:r>
            <a:r>
              <a:rPr lang="es-ES" sz="2000" dirty="0">
                <a:latin typeface="Consolas" pitchFamily="49" charset="0"/>
              </a:rPr>
              <a:t> b;            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2 != 3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  <a:sym typeface="Wingdings" pitchFamily="2" charset="2"/>
              </a:rPr>
              <a:t>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 true</a:t>
            </a:r>
            <a:endParaRPr lang="es-ES" sz="2000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resultado = a * b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&gt;</a:t>
            </a:r>
            <a:r>
              <a:rPr lang="es-ES" sz="2000" dirty="0">
                <a:latin typeface="Consolas" pitchFamily="49" charset="0"/>
              </a:rPr>
              <a:t> c +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sz="2000" dirty="0">
                <a:latin typeface="Consolas" pitchFamily="49" charset="0"/>
              </a:rPr>
              <a:t>;     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6 &gt; 9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  <a:sym typeface="Wingdings" pitchFamily="2" charset="2"/>
              </a:rPr>
              <a:t>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 false</a:t>
            </a:r>
            <a:endParaRPr lang="es-ES" sz="2000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000" dirty="0">
                <a:latin typeface="Consolas" pitchFamily="49" charset="0"/>
              </a:rPr>
              <a:t>resultado = a + b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==</a:t>
            </a:r>
            <a:r>
              <a:rPr lang="es-ES" sz="2000" dirty="0">
                <a:latin typeface="Consolas" pitchFamily="49" charset="0"/>
              </a:rPr>
              <a:t> c +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sz="2000" dirty="0">
                <a:latin typeface="Consolas" pitchFamily="49" charset="0"/>
              </a:rPr>
              <a:t>;    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5 == 5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  <a:sym typeface="Wingdings" pitchFamily="2" charset="2"/>
              </a:rPr>
              <a:t>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 true</a:t>
            </a:r>
            <a:endParaRPr lang="es-ES" sz="2000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237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grpSp>
        <p:nvGrpSpPr>
          <p:cNvPr id="6" name="5 Grupo"/>
          <p:cNvGrpSpPr/>
          <p:nvPr/>
        </p:nvGrpSpPr>
        <p:grpSpPr>
          <a:xfrm>
            <a:off x="2123728" y="5013176"/>
            <a:ext cx="5328592" cy="720080"/>
            <a:chOff x="899592" y="5401791"/>
            <a:chExt cx="5219846" cy="72008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6 CuadroTexto"/>
            <p:cNvSpPr txBox="1"/>
            <p:nvPr/>
          </p:nvSpPr>
          <p:spPr>
            <a:xfrm>
              <a:off x="899592" y="5416649"/>
              <a:ext cx="5219846" cy="7052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540000">
                <a:spcAft>
                  <a:spcPts val="600"/>
                </a:spcAft>
              </a:pPr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No confundas el operador de igualdad (==)</a:t>
              </a:r>
              <a:b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con el operador de asignación (=)</a:t>
              </a:r>
            </a:p>
          </p:txBody>
        </p:sp>
        <p:pic>
          <p:nvPicPr>
            <p:cNvPr id="8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60" y="5401791"/>
              <a:ext cx="426720" cy="4267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238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457960" y="3044280"/>
            <a:ext cx="6228243" cy="14465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Operadores lógicos</a:t>
            </a:r>
            <a:b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</a:br>
            <a:r>
              <a:rPr lang="es-ES" sz="4400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(condiciones compuestas)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Operadores lógicos (booleanos)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Se aplican a valores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bool</a:t>
            </a:r>
            <a:r>
              <a:rPr lang="es-ES" dirty="0"/>
              <a:t> (</a:t>
            </a:r>
            <a:r>
              <a:rPr lang="es-ES" i="1" dirty="0"/>
              <a:t>condiciones</a:t>
            </a:r>
            <a:r>
              <a:rPr lang="es-ES" dirty="0"/>
              <a:t>)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El resultado es de tipo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bool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239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1619672" y="2636912"/>
          <a:ext cx="2264254" cy="1188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59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159">
                <a:tc>
                  <a:txBody>
                    <a:bodyPr/>
                    <a:lstStyle/>
                    <a:p>
                      <a:r>
                        <a:rPr lang="es-ES" sz="1800" b="0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!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0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" pitchFamily="18" charset="0"/>
                        </a:rPr>
                        <a:t>NO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" pitchFamily="18" charset="0"/>
                        </a:rPr>
                        <a:t>Monario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159">
                <a:tc>
                  <a:txBody>
                    <a:bodyPr/>
                    <a:lstStyle/>
                    <a:p>
                      <a:r>
                        <a:rPr lang="es-ES" sz="1800" b="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&amp;&amp;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" pitchFamily="18" charset="0"/>
                        </a:rPr>
                        <a:t>Y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" pitchFamily="18" charset="0"/>
                        </a:rPr>
                        <a:t>Binario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159">
                <a:tc>
                  <a:txBody>
                    <a:bodyPr/>
                    <a:lstStyle/>
                    <a:p>
                      <a:r>
                        <a:rPr lang="es-ES" sz="1800" b="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||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" pitchFamily="18" charset="0"/>
                        </a:rPr>
                        <a:t>O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" pitchFamily="18" charset="0"/>
                        </a:rPr>
                        <a:t>Binario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4788024" y="2492896"/>
          <a:ext cx="2595560" cy="3291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95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6033">
                <a:tc>
                  <a:txBody>
                    <a:bodyPr/>
                    <a:lstStyle/>
                    <a:p>
                      <a:r>
                        <a:rPr lang="es-ES" sz="1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Operadores (prioridad)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r>
                        <a:rPr lang="es-ES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...</a:t>
                      </a:r>
                      <a:endParaRPr lang="es-ES" sz="18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r>
                        <a:rPr lang="es-ES" sz="1800" dirty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!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r>
                        <a:rPr lang="es-ES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* / %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r>
                        <a:rPr lang="es-ES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+ -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r>
                        <a:rPr lang="es-ES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&lt;</a:t>
                      </a:r>
                      <a:r>
                        <a:rPr lang="es-ES" sz="18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 &lt;= &gt; &gt;=</a:t>
                      </a:r>
                      <a:endParaRPr lang="es-ES" sz="18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r>
                        <a:rPr lang="es-ES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== !=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r>
                        <a:rPr lang="es-ES" sz="1800" dirty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&amp;&amp;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r>
                        <a:rPr lang="es-ES" sz="1800" dirty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||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Operadores lógicos - Tablas de verdad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240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539552" y="1196752"/>
          <a:ext cx="2101200" cy="1188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21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6033">
                <a:tc>
                  <a:txBody>
                    <a:bodyPr/>
                    <a:lstStyle/>
                    <a:p>
                      <a:pPr algn="ctr"/>
                      <a:endParaRPr lang="es-ES" sz="2000" b="0" dirty="0"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0" algn="l"/>
                      <a:r>
                        <a:rPr lang="es-ES" sz="2000" b="0" dirty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!</a:t>
                      </a:r>
                      <a:endParaRPr lang="es-ES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r>
                        <a:rPr lang="es-E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true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false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r>
                        <a:rPr lang="es-E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false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true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8 Tabla"/>
          <p:cNvGraphicFramePr>
            <a:graphicFrameLocks noGrp="1"/>
          </p:cNvGraphicFramePr>
          <p:nvPr/>
        </p:nvGraphicFramePr>
        <p:xfrm>
          <a:off x="2771800" y="1196752"/>
          <a:ext cx="2990502" cy="1188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21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83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033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&amp;&amp;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true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r>
                        <a:rPr lang="es-E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true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true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false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r>
                        <a:rPr lang="es-E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false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false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false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9 Tabla"/>
          <p:cNvGraphicFramePr>
            <a:graphicFrameLocks noGrp="1"/>
          </p:cNvGraphicFramePr>
          <p:nvPr/>
        </p:nvGraphicFramePr>
        <p:xfrm>
          <a:off x="5887194" y="1196752"/>
          <a:ext cx="2812285" cy="1188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21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033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||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true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r>
                        <a:rPr lang="es-E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true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true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true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033">
                <a:tc>
                  <a:txBody>
                    <a:bodyPr/>
                    <a:lstStyle/>
                    <a:p>
                      <a:r>
                        <a:rPr lang="es-E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false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true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false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874692" y="2555612"/>
            <a:ext cx="1364477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 (</a:t>
            </a:r>
            <a:r>
              <a:rPr lang="es-ES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Not</a:t>
            </a:r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)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3767960" y="2555612"/>
            <a:ext cx="116749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Y (</a:t>
            </a:r>
            <a:r>
              <a:rPr lang="es-E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</a:t>
            </a:r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)</a:t>
            </a:r>
          </a:p>
        </p:txBody>
      </p:sp>
      <p:sp>
        <p:nvSpPr>
          <p:cNvPr id="13" name="12 CuadroTexto"/>
          <p:cNvSpPr txBox="1"/>
          <p:nvPr/>
        </p:nvSpPr>
        <p:spPr>
          <a:xfrm>
            <a:off x="6874947" y="2555612"/>
            <a:ext cx="1002198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 (</a:t>
            </a:r>
            <a:r>
              <a:rPr lang="es-ES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Or</a:t>
            </a:r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)</a:t>
            </a:r>
          </a:p>
        </p:txBody>
      </p:sp>
      <p:sp>
        <p:nvSpPr>
          <p:cNvPr id="14" name="13 Rectángulo"/>
          <p:cNvSpPr/>
          <p:nvPr/>
        </p:nvSpPr>
        <p:spPr>
          <a:xfrm>
            <a:off x="539552" y="3284984"/>
            <a:ext cx="828092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1588">
              <a:spcBef>
                <a:spcPts val="120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bool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cond1, cond2, resultado;</a:t>
            </a:r>
          </a:p>
          <a:p>
            <a:pPr marL="0" lvl="1" indent="1588"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a =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2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, b =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3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, c =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4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resultado = 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!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(a &lt;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5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);        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 !(2 &lt; 5) 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sym typeface="Wingdings" pitchFamily="2" charset="2"/>
              </a:rPr>
              <a:t>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!true 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sym typeface="Wingdings" pitchFamily="2" charset="2"/>
              </a:rPr>
              <a:t> false</a:t>
            </a:r>
            <a:endParaRPr lang="es-ES" sz="2000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pPr marL="0" lvl="1" indent="1588"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cond1 = (a * b + c) &gt;=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12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   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 10 &gt;= 12 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sym typeface="Wingdings" pitchFamily="2" charset="2"/>
              </a:rPr>
              <a:t>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false</a:t>
            </a:r>
          </a:p>
          <a:p>
            <a:pPr marL="0" lvl="1" indent="1588"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cond2 = (a * (b + c)) &gt;=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12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 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 14 &gt;= 12 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sym typeface="Wingdings" pitchFamily="2" charset="2"/>
              </a:rPr>
              <a:t>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true</a:t>
            </a:r>
            <a:endParaRPr lang="es-ES" sz="20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pPr marL="0" lvl="1" indent="1588"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resultado = cond1 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&amp;&amp;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cond2;  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 false &amp;&amp; true 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sym typeface="Wingdings" pitchFamily="2" charset="2"/>
              </a:rPr>
              <a:t>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false</a:t>
            </a:r>
            <a:endParaRPr lang="es-ES" sz="20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pPr marL="0" lvl="1" indent="1588"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resultado = cond1 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||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cond2;  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 false || true 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sym typeface="Wingdings" pitchFamily="2" charset="2"/>
              </a:rPr>
              <a:t>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true</a:t>
            </a:r>
            <a:endParaRPr lang="es-ES" sz="20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 build="p" bldLvl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Evaluación perezosa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Shortcut Boolean Evaluation</a:t>
            </a:r>
          </a:p>
          <a:p>
            <a:pPr lvl="1" indent="1588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true</a:t>
            </a:r>
            <a:r>
              <a:rPr lang="es-ES" sz="2400" dirty="0">
                <a:latin typeface="Consolas" pitchFamily="49" charset="0"/>
              </a:rPr>
              <a:t> ||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 </a:t>
            </a:r>
            <a:r>
              <a:rPr lang="es-ES" sz="2400" i="1" dirty="0">
                <a:latin typeface="Consolas" pitchFamily="49" charset="0"/>
              </a:rPr>
              <a:t>X</a:t>
            </a:r>
            <a:r>
              <a:rPr lang="es-ES" sz="2400" dirty="0">
                <a:latin typeface="Consolas" pitchFamily="49" charset="0"/>
              </a:rPr>
              <a:t> </a:t>
            </a:r>
            <a:r>
              <a:rPr lang="es-ES" sz="2400" dirty="0">
                <a:latin typeface="Consolas" pitchFamily="49" charset="0"/>
                <a:sym typeface="Symbol"/>
              </a:rPr>
              <a:t>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true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latin typeface="Consolas" pitchFamily="49" charset="0"/>
              </a:rPr>
              <a:t>(n ==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2400" dirty="0">
                <a:latin typeface="Consolas" pitchFamily="49" charset="0"/>
              </a:rPr>
              <a:t>) || (x &gt;=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1.0</a:t>
            </a:r>
            <a:r>
              <a:rPr lang="es-ES" sz="2400" dirty="0">
                <a:latin typeface="Consolas" pitchFamily="49" charset="0"/>
              </a:rPr>
              <a:t> / n)</a:t>
            </a:r>
            <a:endParaRPr lang="es-ES" sz="2000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/>
              <a:t>Si </a:t>
            </a:r>
            <a:r>
              <a:rPr lang="es-ES" sz="2400" dirty="0">
                <a:latin typeface="Consolas" pitchFamily="49" charset="0"/>
              </a:rPr>
              <a:t>n</a:t>
            </a:r>
            <a:r>
              <a:rPr lang="es-ES" sz="2400" dirty="0"/>
              <a:t> es </a:t>
            </a:r>
            <a:r>
              <a:rPr lang="es-ES" sz="2400" dirty="0">
                <a:latin typeface="Consolas" pitchFamily="49" charset="0"/>
                <a:cs typeface="Consolas" pitchFamily="49" charset="0"/>
              </a:rPr>
              <a:t>0</a:t>
            </a:r>
            <a:r>
              <a:rPr lang="es-ES" sz="2400" dirty="0"/>
              <a:t>: ¿división por cero? (segunda condición)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/>
              <a:t>Como la primera sería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true</a:t>
            </a:r>
            <a:r>
              <a:rPr lang="es-ES" sz="2400" dirty="0"/>
              <a:t>: ¡no se evalúa la segunda!</a:t>
            </a:r>
          </a:p>
          <a:p>
            <a:pPr lvl="1" indent="1588" algn="ctr">
              <a:spcBef>
                <a:spcPts val="3000"/>
              </a:spcBef>
              <a:spcAft>
                <a:spcPts val="1200"/>
              </a:spcAft>
              <a:buNone/>
              <a:tabLst>
                <a:tab pos="3943350" algn="l"/>
              </a:tabLst>
            </a:pP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false</a:t>
            </a:r>
            <a:r>
              <a:rPr lang="es-ES" sz="2400" dirty="0">
                <a:latin typeface="Consolas" pitchFamily="49" charset="0"/>
                <a:sym typeface="Symbol"/>
              </a:rPr>
              <a:t> &amp;&amp;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 </a:t>
            </a:r>
            <a:r>
              <a:rPr lang="es-ES" sz="2400" i="1" dirty="0">
                <a:latin typeface="Consolas" pitchFamily="49" charset="0"/>
                <a:sym typeface="Symbol"/>
              </a:rPr>
              <a:t>X</a:t>
            </a:r>
            <a:r>
              <a:rPr lang="es-ES" sz="2400" dirty="0">
                <a:latin typeface="Consolas" pitchFamily="49" charset="0"/>
                <a:sym typeface="Symbol"/>
              </a:rPr>
              <a:t> 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false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  <a:tabLst>
                <a:tab pos="3943350" algn="l"/>
              </a:tabLst>
            </a:pPr>
            <a:r>
              <a:rPr lang="es-ES" sz="2400" dirty="0">
                <a:latin typeface="Consolas" pitchFamily="49" charset="0"/>
              </a:rPr>
              <a:t>(n !=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2400" dirty="0">
                <a:latin typeface="Consolas" pitchFamily="49" charset="0"/>
              </a:rPr>
              <a:t>) &amp;&amp; (x &lt;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1.0</a:t>
            </a:r>
            <a:r>
              <a:rPr lang="es-ES" sz="2400" dirty="0">
                <a:latin typeface="Consolas" pitchFamily="49" charset="0"/>
              </a:rPr>
              <a:t> / n)</a:t>
            </a:r>
            <a:endParaRPr lang="es-ES" sz="2000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/>
              <a:t>Si </a:t>
            </a:r>
            <a:r>
              <a:rPr lang="es-ES" sz="2400" dirty="0">
                <a:latin typeface="Consolas" pitchFamily="49" charset="0"/>
              </a:rPr>
              <a:t>n</a:t>
            </a:r>
            <a:r>
              <a:rPr lang="es-ES" sz="2400" dirty="0"/>
              <a:t> es </a:t>
            </a:r>
            <a:r>
              <a:rPr lang="es-ES" sz="2400" dirty="0">
                <a:latin typeface="Consolas" pitchFamily="49" charset="0"/>
                <a:cs typeface="Consolas" pitchFamily="49" charset="0"/>
              </a:rPr>
              <a:t>0</a:t>
            </a:r>
            <a:r>
              <a:rPr lang="es-ES" sz="2400" dirty="0"/>
              <a:t>: ¿división por cero? (segunda condición)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/>
              <a:t>Como la primera sería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false</a:t>
            </a:r>
            <a:r>
              <a:rPr lang="es-ES" sz="2400" dirty="0"/>
              <a:t>: ¡no se evalúa la segunda!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241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</p:spTree>
    <p:extLst>
      <p:ext uri="{BB962C8B-B14F-4D97-AF65-F5344CB8AC3E}">
        <p14:creationId xmlns:p14="http://schemas.microsoft.com/office/powerpoint/2010/main" val="175124980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</a:t>
            </a:r>
            <a:endParaRPr lang="es-ES" i="1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242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11560" y="946820"/>
            <a:ext cx="820891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#include &lt;iostream&gt;</a:t>
            </a:r>
          </a:p>
          <a:p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using namespace 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std;</a:t>
            </a:r>
          </a:p>
          <a:p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r>
              <a:rPr lang="es-E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int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main()</a:t>
            </a:r>
          </a:p>
          <a:p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s-E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int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num;</a:t>
            </a:r>
          </a:p>
          <a:p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cout &lt;&lt;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"Introduce un número entre 1 y 10: "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cin &gt;&gt; 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num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((num &gt;=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 &amp;&amp; (num &lt;=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10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)) {</a:t>
            </a:r>
          </a:p>
          <a:p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cout &lt;&lt;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"Número dentro del intervalo de valores válidos"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}</a:t>
            </a:r>
          </a:p>
          <a:p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else 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  <a:endParaRPr lang="es-ES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cout &lt;&lt;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"Número no válido!"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}</a:t>
            </a:r>
          </a:p>
          <a:p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return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0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6606361" y="423714"/>
            <a:ext cx="2084225" cy="369332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condiciones.cpp</a:t>
            </a:r>
          </a:p>
        </p:txBody>
      </p:sp>
      <p:grpSp>
        <p:nvGrpSpPr>
          <p:cNvPr id="3" name="14 Grupo"/>
          <p:cNvGrpSpPr/>
          <p:nvPr/>
        </p:nvGrpSpPr>
        <p:grpSpPr>
          <a:xfrm>
            <a:off x="4178998" y="4984601"/>
            <a:ext cx="3993402" cy="1264206"/>
            <a:chOff x="2289003" y="5013176"/>
            <a:chExt cx="3993402" cy="1264206"/>
          </a:xfrm>
        </p:grpSpPr>
        <p:sp>
          <p:nvSpPr>
            <p:cNvPr id="10" name="9 Rectángulo"/>
            <p:cNvSpPr/>
            <p:nvPr/>
          </p:nvSpPr>
          <p:spPr>
            <a:xfrm>
              <a:off x="2289003" y="5013176"/>
              <a:ext cx="399340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(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(</a:t>
              </a:r>
              <a:r>
                <a:rPr lang="es-ES" sz="20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num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&gt;= 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1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) &amp;&amp; (</a:t>
              </a:r>
              <a:r>
                <a:rPr lang="es-ES" sz="20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num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&lt;= 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10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)</a:t>
              </a:r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)</a:t>
              </a:r>
              <a:endParaRPr lang="es-ES" sz="2000" dirty="0">
                <a:solidFill>
                  <a:srgbClr val="FFC000"/>
                </a:solidFill>
              </a:endParaRPr>
            </a:p>
          </p:txBody>
        </p:sp>
        <p:sp>
          <p:nvSpPr>
            <p:cNvPr id="11" name="10 Rectángulo"/>
            <p:cNvSpPr/>
            <p:nvPr/>
          </p:nvSpPr>
          <p:spPr>
            <a:xfrm>
              <a:off x="2430068" y="5301208"/>
              <a:ext cx="371127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(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(</a:t>
              </a:r>
              <a:r>
                <a:rPr lang="es-ES" sz="20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num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&gt; 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0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) &amp;&amp; (</a:t>
              </a:r>
              <a:r>
                <a:rPr lang="es-ES" sz="20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num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&lt; 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11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)</a:t>
              </a:r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)</a:t>
              </a:r>
              <a:endParaRPr lang="es-ES" sz="2000" dirty="0">
                <a:solidFill>
                  <a:srgbClr val="FFC000"/>
                </a:solidFill>
              </a:endParaRPr>
            </a:p>
          </p:txBody>
        </p:sp>
        <p:sp>
          <p:nvSpPr>
            <p:cNvPr id="12" name="11 Rectángulo"/>
            <p:cNvSpPr/>
            <p:nvPr/>
          </p:nvSpPr>
          <p:spPr>
            <a:xfrm>
              <a:off x="2299688" y="5589240"/>
              <a:ext cx="385233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(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(</a:t>
              </a:r>
              <a:r>
                <a:rPr lang="es-ES" sz="20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num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&gt;= 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1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) &amp;&amp; (</a:t>
              </a:r>
              <a:r>
                <a:rPr lang="es-ES" sz="20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num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&lt; 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11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)</a:t>
              </a:r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)</a:t>
              </a:r>
              <a:endParaRPr lang="es-ES" sz="2000" dirty="0">
                <a:solidFill>
                  <a:srgbClr val="FFC000"/>
                </a:solidFill>
              </a:endParaRPr>
            </a:p>
          </p:txBody>
        </p:sp>
        <p:sp>
          <p:nvSpPr>
            <p:cNvPr id="13" name="12 Rectángulo"/>
            <p:cNvSpPr/>
            <p:nvPr/>
          </p:nvSpPr>
          <p:spPr>
            <a:xfrm>
              <a:off x="2422854" y="5877272"/>
              <a:ext cx="385233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(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(</a:t>
              </a:r>
              <a:r>
                <a:rPr lang="es-ES" sz="20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num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&gt; 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0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) &amp;&amp; (</a:t>
              </a:r>
              <a:r>
                <a:rPr lang="es-ES" sz="20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num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&lt;= 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10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)</a:t>
              </a:r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)</a:t>
              </a:r>
              <a:endParaRPr lang="es-ES" sz="2000" dirty="0">
                <a:solidFill>
                  <a:srgbClr val="FFC000"/>
                </a:solidFill>
              </a:endParaRPr>
            </a:p>
          </p:txBody>
        </p:sp>
      </p:grpSp>
      <p:sp>
        <p:nvSpPr>
          <p:cNvPr id="14" name="13 CuadroTexto"/>
          <p:cNvSpPr txBox="1"/>
          <p:nvPr/>
        </p:nvSpPr>
        <p:spPr>
          <a:xfrm>
            <a:off x="1043608" y="5457418"/>
            <a:ext cx="2932021" cy="70788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¡Encierra las condiciones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simples entre paréntesis!</a:t>
            </a:r>
          </a:p>
        </p:txBody>
      </p:sp>
      <p:sp>
        <p:nvSpPr>
          <p:cNvPr id="15" name="14 CuadroTexto"/>
          <p:cNvSpPr txBox="1"/>
          <p:nvPr/>
        </p:nvSpPr>
        <p:spPr>
          <a:xfrm>
            <a:off x="4704769" y="4653136"/>
            <a:ext cx="2954591" cy="40011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Condiciones equivalentes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9" grpId="0" animBg="1"/>
      <p:bldP spid="14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243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343759" y="3044280"/>
            <a:ext cx="4456669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Selección múltiple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Selección múltiple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244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24" name="23 CuadroTexto"/>
          <p:cNvSpPr txBox="1"/>
          <p:nvPr/>
        </p:nvSpPr>
        <p:spPr>
          <a:xfrm>
            <a:off x="4860032" y="1755798"/>
            <a:ext cx="864096" cy="216620"/>
          </a:xfrm>
          <a:prstGeom prst="rect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cxnSp>
        <p:nvCxnSpPr>
          <p:cNvPr id="52" name="51 Conector recto de flecha"/>
          <p:cNvCxnSpPr/>
          <p:nvPr/>
        </p:nvCxnSpPr>
        <p:spPr>
          <a:xfrm>
            <a:off x="4372533" y="1873633"/>
            <a:ext cx="541837" cy="1588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6" name="55 Conector recto de flecha"/>
          <p:cNvCxnSpPr/>
          <p:nvPr/>
        </p:nvCxnSpPr>
        <p:spPr>
          <a:xfrm>
            <a:off x="5724128" y="1864108"/>
            <a:ext cx="360040" cy="1588"/>
          </a:xfrm>
          <a:prstGeom prst="straightConnector1">
            <a:avLst/>
          </a:prstGeom>
          <a:ln w="38100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1" name="60 CuadroTexto"/>
          <p:cNvSpPr txBox="1"/>
          <p:nvPr/>
        </p:nvSpPr>
        <p:spPr>
          <a:xfrm>
            <a:off x="4860032" y="2414897"/>
            <a:ext cx="864096" cy="216620"/>
          </a:xfrm>
          <a:prstGeom prst="rect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cxnSp>
        <p:nvCxnSpPr>
          <p:cNvPr id="62" name="61 Conector recto de flecha"/>
          <p:cNvCxnSpPr/>
          <p:nvPr/>
        </p:nvCxnSpPr>
        <p:spPr>
          <a:xfrm>
            <a:off x="4372533" y="2532732"/>
            <a:ext cx="541837" cy="1588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3" name="62 Decisión"/>
          <p:cNvSpPr/>
          <p:nvPr/>
        </p:nvSpPr>
        <p:spPr>
          <a:xfrm>
            <a:off x="3358294" y="2324591"/>
            <a:ext cx="1042814" cy="397232"/>
          </a:xfrm>
          <a:prstGeom prst="flowChartDecision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cxnSp>
        <p:nvCxnSpPr>
          <p:cNvPr id="64" name="63 Conector recto de flecha"/>
          <p:cNvCxnSpPr/>
          <p:nvPr/>
        </p:nvCxnSpPr>
        <p:spPr>
          <a:xfrm>
            <a:off x="5724128" y="2523207"/>
            <a:ext cx="360040" cy="1588"/>
          </a:xfrm>
          <a:prstGeom prst="straightConnector1">
            <a:avLst/>
          </a:prstGeom>
          <a:ln w="38100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5" name="64 CuadroTexto"/>
          <p:cNvSpPr txBox="1"/>
          <p:nvPr/>
        </p:nvSpPr>
        <p:spPr>
          <a:xfrm>
            <a:off x="4860032" y="3123950"/>
            <a:ext cx="864096" cy="216620"/>
          </a:xfrm>
          <a:prstGeom prst="rect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cxnSp>
        <p:nvCxnSpPr>
          <p:cNvPr id="66" name="65 Conector recto de flecha"/>
          <p:cNvCxnSpPr/>
          <p:nvPr/>
        </p:nvCxnSpPr>
        <p:spPr>
          <a:xfrm>
            <a:off x="4372533" y="3241785"/>
            <a:ext cx="541837" cy="1588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7" name="66 Decisión"/>
          <p:cNvSpPr/>
          <p:nvPr/>
        </p:nvSpPr>
        <p:spPr>
          <a:xfrm>
            <a:off x="3358294" y="3033644"/>
            <a:ext cx="1042814" cy="397232"/>
          </a:xfrm>
          <a:prstGeom prst="flowChartDecision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cxnSp>
        <p:nvCxnSpPr>
          <p:cNvPr id="68" name="67 Conector recto de flecha"/>
          <p:cNvCxnSpPr/>
          <p:nvPr/>
        </p:nvCxnSpPr>
        <p:spPr>
          <a:xfrm>
            <a:off x="5724128" y="3232260"/>
            <a:ext cx="360040" cy="1588"/>
          </a:xfrm>
          <a:prstGeom prst="straightConnector1">
            <a:avLst/>
          </a:prstGeom>
          <a:ln w="38100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9" name="68 CuadroTexto"/>
          <p:cNvSpPr txBox="1"/>
          <p:nvPr/>
        </p:nvSpPr>
        <p:spPr>
          <a:xfrm>
            <a:off x="4860032" y="4168364"/>
            <a:ext cx="864096" cy="216620"/>
          </a:xfrm>
          <a:prstGeom prst="rect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cxnSp>
        <p:nvCxnSpPr>
          <p:cNvPr id="70" name="69 Conector recto de flecha"/>
          <p:cNvCxnSpPr/>
          <p:nvPr/>
        </p:nvCxnSpPr>
        <p:spPr>
          <a:xfrm>
            <a:off x="4372533" y="4286199"/>
            <a:ext cx="541837" cy="1588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1" name="70 Decisión"/>
          <p:cNvSpPr/>
          <p:nvPr/>
        </p:nvSpPr>
        <p:spPr>
          <a:xfrm>
            <a:off x="3358294" y="4078058"/>
            <a:ext cx="1042814" cy="397232"/>
          </a:xfrm>
          <a:prstGeom prst="flowChartDecision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cxnSp>
        <p:nvCxnSpPr>
          <p:cNvPr id="72" name="71 Conector recto de flecha"/>
          <p:cNvCxnSpPr/>
          <p:nvPr/>
        </p:nvCxnSpPr>
        <p:spPr>
          <a:xfrm>
            <a:off x="5724128" y="4276674"/>
            <a:ext cx="360040" cy="1588"/>
          </a:xfrm>
          <a:prstGeom prst="straightConnector1">
            <a:avLst/>
          </a:prstGeom>
          <a:ln w="38100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3" name="72 Conector recto de flecha"/>
          <p:cNvCxnSpPr/>
          <p:nvPr/>
        </p:nvCxnSpPr>
        <p:spPr>
          <a:xfrm rot="16200000" flipH="1">
            <a:off x="3701666" y="2242347"/>
            <a:ext cx="360040" cy="794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4" name="73 Conector recto de flecha"/>
          <p:cNvCxnSpPr/>
          <p:nvPr/>
        </p:nvCxnSpPr>
        <p:spPr>
          <a:xfrm rot="16200000" flipH="1">
            <a:off x="3701666" y="2892375"/>
            <a:ext cx="360040" cy="794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5" name="74 Conector recto de flecha"/>
          <p:cNvCxnSpPr/>
          <p:nvPr/>
        </p:nvCxnSpPr>
        <p:spPr>
          <a:xfrm rot="5400000">
            <a:off x="3764573" y="3547592"/>
            <a:ext cx="233432" cy="1588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7" name="76 Conector recto de flecha"/>
          <p:cNvCxnSpPr/>
          <p:nvPr/>
        </p:nvCxnSpPr>
        <p:spPr>
          <a:xfrm rot="5400000">
            <a:off x="3764573" y="3989123"/>
            <a:ext cx="233432" cy="1588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8" name="77 Conector recto"/>
          <p:cNvCxnSpPr/>
          <p:nvPr/>
        </p:nvCxnSpPr>
        <p:spPr>
          <a:xfrm rot="5400000">
            <a:off x="3774083" y="3765201"/>
            <a:ext cx="216000" cy="0"/>
          </a:xfrm>
          <a:prstGeom prst="line">
            <a:avLst/>
          </a:prstGeom>
          <a:ln w="38100">
            <a:solidFill>
              <a:srgbClr val="FFC000"/>
            </a:solidFill>
            <a:prstDash val="sysDot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49 Decisión"/>
          <p:cNvSpPr/>
          <p:nvPr/>
        </p:nvSpPr>
        <p:spPr>
          <a:xfrm>
            <a:off x="3358294" y="1665492"/>
            <a:ext cx="1042814" cy="397232"/>
          </a:xfrm>
          <a:prstGeom prst="flowChartDecision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cxnSp>
        <p:nvCxnSpPr>
          <p:cNvPr id="51" name="50 Conector recto de flecha"/>
          <p:cNvCxnSpPr/>
          <p:nvPr/>
        </p:nvCxnSpPr>
        <p:spPr>
          <a:xfrm rot="16200000" flipH="1">
            <a:off x="3701666" y="1520391"/>
            <a:ext cx="360040" cy="794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9" name="78 CuadroTexto"/>
          <p:cNvSpPr txBox="1"/>
          <p:nvPr/>
        </p:nvSpPr>
        <p:spPr>
          <a:xfrm>
            <a:off x="4123493" y="1521128"/>
            <a:ext cx="582211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true</a:t>
            </a:r>
          </a:p>
        </p:txBody>
      </p:sp>
      <p:sp>
        <p:nvSpPr>
          <p:cNvPr id="80" name="79 CuadroTexto"/>
          <p:cNvSpPr txBox="1"/>
          <p:nvPr/>
        </p:nvSpPr>
        <p:spPr>
          <a:xfrm>
            <a:off x="4123493" y="2192536"/>
            <a:ext cx="582211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true</a:t>
            </a:r>
          </a:p>
        </p:txBody>
      </p:sp>
      <p:sp>
        <p:nvSpPr>
          <p:cNvPr id="81" name="80 CuadroTexto"/>
          <p:cNvSpPr txBox="1"/>
          <p:nvPr/>
        </p:nvSpPr>
        <p:spPr>
          <a:xfrm>
            <a:off x="4123493" y="2899853"/>
            <a:ext cx="582211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true</a:t>
            </a:r>
          </a:p>
        </p:txBody>
      </p:sp>
      <p:sp>
        <p:nvSpPr>
          <p:cNvPr id="82" name="81 CuadroTexto"/>
          <p:cNvSpPr txBox="1"/>
          <p:nvPr/>
        </p:nvSpPr>
        <p:spPr>
          <a:xfrm>
            <a:off x="4123493" y="3940322"/>
            <a:ext cx="582211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true</a:t>
            </a:r>
          </a:p>
        </p:txBody>
      </p:sp>
      <p:sp>
        <p:nvSpPr>
          <p:cNvPr id="83" name="82 CuadroTexto"/>
          <p:cNvSpPr txBox="1"/>
          <p:nvPr/>
        </p:nvSpPr>
        <p:spPr>
          <a:xfrm>
            <a:off x="3142272" y="1988379"/>
            <a:ext cx="681598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false</a:t>
            </a:r>
          </a:p>
        </p:txBody>
      </p:sp>
      <p:sp>
        <p:nvSpPr>
          <p:cNvPr id="84" name="83 CuadroTexto"/>
          <p:cNvSpPr txBox="1"/>
          <p:nvPr/>
        </p:nvSpPr>
        <p:spPr>
          <a:xfrm>
            <a:off x="3142272" y="2631517"/>
            <a:ext cx="681598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false</a:t>
            </a:r>
          </a:p>
        </p:txBody>
      </p:sp>
      <p:sp>
        <p:nvSpPr>
          <p:cNvPr id="85" name="84 CuadroTexto"/>
          <p:cNvSpPr txBox="1"/>
          <p:nvPr/>
        </p:nvSpPr>
        <p:spPr>
          <a:xfrm>
            <a:off x="3142272" y="3340570"/>
            <a:ext cx="681598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false</a:t>
            </a:r>
          </a:p>
        </p:txBody>
      </p:sp>
      <p:sp>
        <p:nvSpPr>
          <p:cNvPr id="86" name="85 CuadroTexto"/>
          <p:cNvSpPr txBox="1"/>
          <p:nvPr/>
        </p:nvSpPr>
        <p:spPr>
          <a:xfrm>
            <a:off x="3142272" y="4384984"/>
            <a:ext cx="681598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false</a:t>
            </a:r>
          </a:p>
        </p:txBody>
      </p:sp>
      <p:cxnSp>
        <p:nvCxnSpPr>
          <p:cNvPr id="92" name="91 Conector recto de flecha"/>
          <p:cNvCxnSpPr/>
          <p:nvPr/>
        </p:nvCxnSpPr>
        <p:spPr>
          <a:xfrm rot="5400000">
            <a:off x="3772554" y="4584025"/>
            <a:ext cx="217471" cy="1588"/>
          </a:xfrm>
          <a:prstGeom prst="straightConnector1">
            <a:avLst/>
          </a:prstGeom>
          <a:ln w="38100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4" name="93 Conector recto de flecha"/>
          <p:cNvCxnSpPr/>
          <p:nvPr/>
        </p:nvCxnSpPr>
        <p:spPr>
          <a:xfrm>
            <a:off x="3880495" y="4681789"/>
            <a:ext cx="2203673" cy="1588"/>
          </a:xfrm>
          <a:prstGeom prst="straightConnector1">
            <a:avLst/>
          </a:prstGeom>
          <a:ln w="38100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7" name="56 Conector recto de flecha"/>
          <p:cNvCxnSpPr/>
          <p:nvPr/>
        </p:nvCxnSpPr>
        <p:spPr>
          <a:xfrm rot="5400000">
            <a:off x="4485682" y="3436511"/>
            <a:ext cx="3160680" cy="1588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58" name="Picture 5" descr="C:\Documents and Settings\Luis\Configuración local\Archivos temporales de Internet\Content.IE5\VWXD0WTH\MC900345649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9349" y="404664"/>
            <a:ext cx="885139" cy="854964"/>
          </a:xfrm>
          <a:prstGeom prst="rect">
            <a:avLst/>
          </a:prstGeom>
          <a:noFill/>
        </p:spPr>
      </p:pic>
      <p:sp>
        <p:nvSpPr>
          <p:cNvPr id="60" name="59 CuadroTexto"/>
          <p:cNvSpPr txBox="1"/>
          <p:nvPr/>
        </p:nvSpPr>
        <p:spPr>
          <a:xfrm>
            <a:off x="3840279" y="5041339"/>
            <a:ext cx="1883849" cy="90794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if-else-if</a:t>
            </a:r>
          </a:p>
          <a:p>
            <a:pPr algn="ctr">
              <a:spcAft>
                <a:spcPts val="600"/>
              </a:spcAft>
            </a:pPr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switch</a:t>
            </a:r>
          </a:p>
        </p:txBody>
      </p:sp>
    </p:spTree>
  </p:cSld>
  <p:clrMapOvr>
    <a:masterClrMapping/>
  </p:clrMapOvr>
  <p:transition spd="med"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245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229723" y="3044280"/>
            <a:ext cx="4684744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Anidamiento de </a:t>
            </a:r>
            <a:r>
              <a:rPr lang="es-ES" sz="4400" b="1" dirty="0" err="1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j-ea"/>
                <a:cs typeface="Consolas" pitchFamily="49" charset="0"/>
              </a:rPr>
              <a:t>if</a:t>
            </a:r>
            <a:endParaRPr lang="es-ES" sz="2400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escala </a:t>
            </a:r>
            <a:r>
              <a:rPr lang="es-ES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3200" dirty="0">
                <a:latin typeface="Consolas" pitchFamily="49" charset="0"/>
              </a:rPr>
              <a:t>-</a:t>
            </a:r>
            <a:r>
              <a:rPr lang="es-ES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</a:t>
            </a:r>
            <a:r>
              <a:rPr lang="es-ES" sz="3200" dirty="0">
                <a:latin typeface="Consolas" pitchFamily="49" charset="0"/>
              </a:rPr>
              <a:t>-</a:t>
            </a:r>
            <a:r>
              <a:rPr lang="es-ES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marL="36195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Ejemplo:</a:t>
            </a:r>
            <a:br>
              <a:rPr lang="es-ES" dirty="0"/>
            </a:br>
            <a:r>
              <a:rPr lang="es-ES" dirty="0"/>
              <a:t>Calificación (en letras) </a:t>
            </a:r>
            <a:br>
              <a:rPr lang="es-ES" dirty="0"/>
            </a:br>
            <a:r>
              <a:rPr lang="es-ES" dirty="0"/>
              <a:t>de un estudiante en base</a:t>
            </a:r>
            <a:br>
              <a:rPr lang="es-ES" dirty="0"/>
            </a:br>
            <a:r>
              <a:rPr lang="es-ES" dirty="0"/>
              <a:t>a su nota numérica (0-10)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8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246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45" name="44 Grupo"/>
          <p:cNvGrpSpPr/>
          <p:nvPr/>
        </p:nvGrpSpPr>
        <p:grpSpPr>
          <a:xfrm>
            <a:off x="6273300" y="1967757"/>
            <a:ext cx="2320715" cy="3477467"/>
            <a:chOff x="6211725" y="2030240"/>
            <a:chExt cx="2320715" cy="3477467"/>
          </a:xfrm>
        </p:grpSpPr>
        <p:cxnSp>
          <p:nvCxnSpPr>
            <p:cNvPr id="31" name="30 Conector recto de flecha"/>
            <p:cNvCxnSpPr/>
            <p:nvPr/>
          </p:nvCxnSpPr>
          <p:spPr>
            <a:xfrm>
              <a:off x="7812360" y="2363695"/>
              <a:ext cx="720080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64" name="63 CuadroTexto"/>
            <p:cNvSpPr txBox="1"/>
            <p:nvPr/>
          </p:nvSpPr>
          <p:spPr>
            <a:xfrm>
              <a:off x="6211725" y="2030240"/>
              <a:ext cx="582211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</a:p>
          </p:txBody>
        </p:sp>
        <p:cxnSp>
          <p:nvCxnSpPr>
            <p:cNvPr id="74" name="73 Conector recto de flecha"/>
            <p:cNvCxnSpPr/>
            <p:nvPr/>
          </p:nvCxnSpPr>
          <p:spPr>
            <a:xfrm rot="5400000">
              <a:off x="6941781" y="3926573"/>
              <a:ext cx="3160680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28" name="27 CuadroTexto"/>
            <p:cNvSpPr txBox="1"/>
            <p:nvPr/>
          </p:nvSpPr>
          <p:spPr>
            <a:xfrm>
              <a:off x="6948264" y="2255384"/>
              <a:ext cx="1440160" cy="242567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cout &lt;&lt; "MH"</a:t>
              </a:r>
            </a:p>
          </p:txBody>
        </p:sp>
        <p:cxnSp>
          <p:nvCxnSpPr>
            <p:cNvPr id="30" name="29 Conector recto de flecha"/>
            <p:cNvCxnSpPr/>
            <p:nvPr/>
          </p:nvCxnSpPr>
          <p:spPr>
            <a:xfrm>
              <a:off x="6460765" y="2373220"/>
              <a:ext cx="541837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53" name="52 Grupo"/>
          <p:cNvGrpSpPr/>
          <p:nvPr/>
        </p:nvGrpSpPr>
        <p:grpSpPr>
          <a:xfrm>
            <a:off x="6273300" y="2639165"/>
            <a:ext cx="2320715" cy="470919"/>
            <a:chOff x="6211725" y="2701648"/>
            <a:chExt cx="2320715" cy="470919"/>
          </a:xfrm>
        </p:grpSpPr>
        <p:cxnSp>
          <p:nvCxnSpPr>
            <p:cNvPr id="39" name="38 Conector recto de flecha"/>
            <p:cNvCxnSpPr/>
            <p:nvPr/>
          </p:nvCxnSpPr>
          <p:spPr>
            <a:xfrm>
              <a:off x="7812360" y="3022794"/>
              <a:ext cx="720080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65" name="64 CuadroTexto"/>
            <p:cNvSpPr txBox="1"/>
            <p:nvPr/>
          </p:nvSpPr>
          <p:spPr>
            <a:xfrm>
              <a:off x="6211725" y="2701648"/>
              <a:ext cx="582211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</a:p>
          </p:txBody>
        </p:sp>
        <p:sp>
          <p:nvSpPr>
            <p:cNvPr id="46" name="45 CuadroTexto"/>
            <p:cNvSpPr txBox="1"/>
            <p:nvPr/>
          </p:nvSpPr>
          <p:spPr>
            <a:xfrm>
              <a:off x="6948264" y="2930000"/>
              <a:ext cx="1440160" cy="242567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cout &lt;&lt; "SB"</a:t>
              </a:r>
            </a:p>
          </p:txBody>
        </p:sp>
        <p:cxnSp>
          <p:nvCxnSpPr>
            <p:cNvPr id="34" name="33 Conector recto de flecha"/>
            <p:cNvCxnSpPr/>
            <p:nvPr/>
          </p:nvCxnSpPr>
          <p:spPr>
            <a:xfrm>
              <a:off x="6460765" y="3032319"/>
              <a:ext cx="541837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75" name="74 Grupo"/>
          <p:cNvGrpSpPr/>
          <p:nvPr/>
        </p:nvGrpSpPr>
        <p:grpSpPr>
          <a:xfrm>
            <a:off x="6273300" y="3346482"/>
            <a:ext cx="2320715" cy="483682"/>
            <a:chOff x="6211725" y="3408965"/>
            <a:chExt cx="2320715" cy="483682"/>
          </a:xfrm>
        </p:grpSpPr>
        <p:cxnSp>
          <p:nvCxnSpPr>
            <p:cNvPr id="52" name="51 Conector recto de flecha"/>
            <p:cNvCxnSpPr/>
            <p:nvPr/>
          </p:nvCxnSpPr>
          <p:spPr>
            <a:xfrm>
              <a:off x="7812360" y="3731847"/>
              <a:ext cx="720080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66" name="65 CuadroTexto"/>
            <p:cNvSpPr txBox="1"/>
            <p:nvPr/>
          </p:nvSpPr>
          <p:spPr>
            <a:xfrm>
              <a:off x="6211725" y="3408965"/>
              <a:ext cx="582211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</a:p>
          </p:txBody>
        </p:sp>
        <p:sp>
          <p:nvSpPr>
            <p:cNvPr id="47" name="46 CuadroTexto"/>
            <p:cNvSpPr txBox="1"/>
            <p:nvPr/>
          </p:nvSpPr>
          <p:spPr>
            <a:xfrm>
              <a:off x="6948264" y="3650080"/>
              <a:ext cx="1440160" cy="242567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cout &lt;&lt; "NT"</a:t>
              </a:r>
            </a:p>
          </p:txBody>
        </p:sp>
        <p:cxnSp>
          <p:nvCxnSpPr>
            <p:cNvPr id="50" name="49 Conector recto de flecha"/>
            <p:cNvCxnSpPr/>
            <p:nvPr/>
          </p:nvCxnSpPr>
          <p:spPr>
            <a:xfrm>
              <a:off x="6460765" y="3741138"/>
              <a:ext cx="541837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78" name="77 Grupo"/>
          <p:cNvGrpSpPr/>
          <p:nvPr/>
        </p:nvGrpSpPr>
        <p:grpSpPr>
          <a:xfrm>
            <a:off x="6273300" y="4024114"/>
            <a:ext cx="2320715" cy="454122"/>
            <a:chOff x="6211725" y="4086597"/>
            <a:chExt cx="2320715" cy="454122"/>
          </a:xfrm>
        </p:grpSpPr>
        <p:cxnSp>
          <p:nvCxnSpPr>
            <p:cNvPr id="56" name="55 Conector recto de flecha"/>
            <p:cNvCxnSpPr/>
            <p:nvPr/>
          </p:nvCxnSpPr>
          <p:spPr>
            <a:xfrm>
              <a:off x="7812360" y="4445013"/>
              <a:ext cx="720080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67" name="66 CuadroTexto"/>
            <p:cNvSpPr txBox="1"/>
            <p:nvPr/>
          </p:nvSpPr>
          <p:spPr>
            <a:xfrm>
              <a:off x="6211725" y="4086597"/>
              <a:ext cx="582211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</a:p>
          </p:txBody>
        </p:sp>
        <p:sp>
          <p:nvSpPr>
            <p:cNvPr id="48" name="47 CuadroTexto"/>
            <p:cNvSpPr txBox="1"/>
            <p:nvPr/>
          </p:nvSpPr>
          <p:spPr>
            <a:xfrm>
              <a:off x="6948264" y="4298152"/>
              <a:ext cx="1440160" cy="242567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cout &lt;&lt; "AP"</a:t>
              </a:r>
            </a:p>
          </p:txBody>
        </p:sp>
        <p:cxnSp>
          <p:nvCxnSpPr>
            <p:cNvPr id="54" name="53 Conector recto de flecha"/>
            <p:cNvCxnSpPr/>
            <p:nvPr/>
          </p:nvCxnSpPr>
          <p:spPr>
            <a:xfrm>
              <a:off x="6460765" y="4444779"/>
              <a:ext cx="541837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79" name="78 Grupo"/>
          <p:cNvGrpSpPr/>
          <p:nvPr/>
        </p:nvGrpSpPr>
        <p:grpSpPr>
          <a:xfrm>
            <a:off x="5292080" y="4500365"/>
            <a:ext cx="3301935" cy="544410"/>
            <a:chOff x="5230505" y="4562848"/>
            <a:chExt cx="3301935" cy="544410"/>
          </a:xfrm>
        </p:grpSpPr>
        <p:sp>
          <p:nvSpPr>
            <p:cNvPr id="71" name="70 CuadroTexto"/>
            <p:cNvSpPr txBox="1"/>
            <p:nvPr/>
          </p:nvSpPr>
          <p:spPr>
            <a:xfrm>
              <a:off x="5230505" y="4562848"/>
              <a:ext cx="681597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  <p:cxnSp>
          <p:nvCxnSpPr>
            <p:cNvPr id="72" name="71 Conector recto de flecha"/>
            <p:cNvCxnSpPr/>
            <p:nvPr/>
          </p:nvCxnSpPr>
          <p:spPr>
            <a:xfrm rot="5400000">
              <a:off x="5793137" y="4812076"/>
              <a:ext cx="354359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3" name="72 Conector recto de flecha"/>
            <p:cNvCxnSpPr/>
            <p:nvPr/>
          </p:nvCxnSpPr>
          <p:spPr>
            <a:xfrm>
              <a:off x="7524328" y="4985272"/>
              <a:ext cx="1008112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60" name="59 CuadroTexto"/>
            <p:cNvSpPr txBox="1"/>
            <p:nvPr/>
          </p:nvSpPr>
          <p:spPr>
            <a:xfrm>
              <a:off x="6948264" y="4864691"/>
              <a:ext cx="1440160" cy="242567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cout &lt;&lt; "SS"</a:t>
              </a:r>
            </a:p>
          </p:txBody>
        </p:sp>
        <p:cxnSp>
          <p:nvCxnSpPr>
            <p:cNvPr id="77" name="76 Conector recto de flecha"/>
            <p:cNvCxnSpPr/>
            <p:nvPr/>
          </p:nvCxnSpPr>
          <p:spPr>
            <a:xfrm>
              <a:off x="5974060" y="4971558"/>
              <a:ext cx="1044000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76" name="75 Grupo"/>
          <p:cNvGrpSpPr/>
          <p:nvPr/>
        </p:nvGrpSpPr>
        <p:grpSpPr>
          <a:xfrm>
            <a:off x="5292080" y="3787199"/>
            <a:ext cx="1296935" cy="784422"/>
            <a:chOff x="5230505" y="3849682"/>
            <a:chExt cx="1296935" cy="784422"/>
          </a:xfrm>
        </p:grpSpPr>
        <p:sp>
          <p:nvSpPr>
            <p:cNvPr id="70" name="69 CuadroTexto"/>
            <p:cNvSpPr txBox="1"/>
            <p:nvPr/>
          </p:nvSpPr>
          <p:spPr>
            <a:xfrm>
              <a:off x="5230505" y="3849682"/>
              <a:ext cx="681597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  <p:sp>
          <p:nvSpPr>
            <p:cNvPr id="55" name="54 Decisión"/>
            <p:cNvSpPr/>
            <p:nvPr/>
          </p:nvSpPr>
          <p:spPr>
            <a:xfrm>
              <a:off x="5424788" y="4236872"/>
              <a:ext cx="1102652" cy="397232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&gt;= 5</a:t>
              </a:r>
            </a:p>
          </p:txBody>
        </p:sp>
        <p:cxnSp>
          <p:nvCxnSpPr>
            <p:cNvPr id="59" name="58 Conector recto de flecha"/>
            <p:cNvCxnSpPr/>
            <p:nvPr/>
          </p:nvCxnSpPr>
          <p:spPr>
            <a:xfrm rot="5400000">
              <a:off x="5811554" y="4106686"/>
              <a:ext cx="315140" cy="2382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61" name="60 Grupo"/>
          <p:cNvGrpSpPr/>
          <p:nvPr/>
        </p:nvGrpSpPr>
        <p:grpSpPr>
          <a:xfrm>
            <a:off x="5292080" y="3078146"/>
            <a:ext cx="1329144" cy="799359"/>
            <a:chOff x="5230505" y="3140629"/>
            <a:chExt cx="1329144" cy="799359"/>
          </a:xfrm>
        </p:grpSpPr>
        <p:sp>
          <p:nvSpPr>
            <p:cNvPr id="69" name="68 CuadroTexto"/>
            <p:cNvSpPr txBox="1"/>
            <p:nvPr/>
          </p:nvSpPr>
          <p:spPr>
            <a:xfrm>
              <a:off x="5230505" y="3140629"/>
              <a:ext cx="681597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  <p:sp>
          <p:nvSpPr>
            <p:cNvPr id="51" name="50 Decisión"/>
            <p:cNvSpPr/>
            <p:nvPr/>
          </p:nvSpPr>
          <p:spPr>
            <a:xfrm>
              <a:off x="5386688" y="3542756"/>
              <a:ext cx="1172961" cy="397232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&gt;= 7</a:t>
              </a:r>
            </a:p>
          </p:txBody>
        </p:sp>
        <p:cxnSp>
          <p:nvCxnSpPr>
            <p:cNvPr id="58" name="57 Conector recto de flecha"/>
            <p:cNvCxnSpPr/>
            <p:nvPr/>
          </p:nvCxnSpPr>
          <p:spPr>
            <a:xfrm rot="16200000" flipH="1">
              <a:off x="5789898" y="3401487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49" name="48 Grupo"/>
          <p:cNvGrpSpPr/>
          <p:nvPr/>
        </p:nvGrpSpPr>
        <p:grpSpPr>
          <a:xfrm>
            <a:off x="5292080" y="2435008"/>
            <a:ext cx="1329144" cy="733444"/>
            <a:chOff x="5230505" y="2497491"/>
            <a:chExt cx="1329144" cy="733444"/>
          </a:xfrm>
        </p:grpSpPr>
        <p:sp>
          <p:nvSpPr>
            <p:cNvPr id="68" name="67 CuadroTexto"/>
            <p:cNvSpPr txBox="1"/>
            <p:nvPr/>
          </p:nvSpPr>
          <p:spPr>
            <a:xfrm>
              <a:off x="5230505" y="2497491"/>
              <a:ext cx="681597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  <p:sp>
          <p:nvSpPr>
            <p:cNvPr id="35" name="34 Decisión"/>
            <p:cNvSpPr/>
            <p:nvPr/>
          </p:nvSpPr>
          <p:spPr>
            <a:xfrm>
              <a:off x="5386688" y="2833703"/>
              <a:ext cx="1172961" cy="397232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&gt;= 9</a:t>
              </a:r>
            </a:p>
          </p:txBody>
        </p:sp>
        <p:cxnSp>
          <p:nvCxnSpPr>
            <p:cNvPr id="57" name="56 Conector recto de flecha"/>
            <p:cNvCxnSpPr/>
            <p:nvPr/>
          </p:nvCxnSpPr>
          <p:spPr>
            <a:xfrm rot="16200000" flipH="1">
              <a:off x="5789898" y="2722884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44" name="43 Grupo"/>
          <p:cNvGrpSpPr/>
          <p:nvPr/>
        </p:nvGrpSpPr>
        <p:grpSpPr>
          <a:xfrm>
            <a:off x="5377954" y="1787397"/>
            <a:ext cx="1290895" cy="721956"/>
            <a:chOff x="5316379" y="1849880"/>
            <a:chExt cx="1290895" cy="721956"/>
          </a:xfrm>
        </p:grpSpPr>
        <p:sp>
          <p:nvSpPr>
            <p:cNvPr id="62" name="61 Decisión"/>
            <p:cNvSpPr/>
            <p:nvPr/>
          </p:nvSpPr>
          <p:spPr>
            <a:xfrm>
              <a:off x="5316379" y="2174604"/>
              <a:ext cx="1290895" cy="397232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== 10</a:t>
              </a:r>
            </a:p>
          </p:txBody>
        </p:sp>
        <p:cxnSp>
          <p:nvCxnSpPr>
            <p:cNvPr id="63" name="62 Conector recto de flecha"/>
            <p:cNvCxnSpPr/>
            <p:nvPr/>
          </p:nvCxnSpPr>
          <p:spPr>
            <a:xfrm rot="16200000" flipH="1">
              <a:off x="5789898" y="2029503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3" name="42 Rectángulo"/>
          <p:cNvSpPr/>
          <p:nvPr/>
        </p:nvSpPr>
        <p:spPr>
          <a:xfrm>
            <a:off x="745144" y="3068960"/>
            <a:ext cx="4402920" cy="232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11113">
              <a:lnSpc>
                <a:spcPts val="3000"/>
              </a:lnSpc>
              <a:spcAft>
                <a:spcPts val="600"/>
              </a:spcAft>
              <a:buNone/>
            </a:pPr>
            <a:r>
              <a:rPr lang="es-ES" sz="2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nota == </a:t>
            </a:r>
            <a:r>
              <a:rPr lang="es-ES" sz="2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10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entonces </a:t>
            </a:r>
            <a:r>
              <a:rPr lang="es-E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MH</a:t>
            </a:r>
            <a:endParaRPr lang="es-E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marL="0" lvl="1" indent="11113">
              <a:lnSpc>
                <a:spcPts val="3000"/>
              </a:lnSpc>
              <a:spcAft>
                <a:spcPts val="600"/>
              </a:spcAft>
              <a:buNone/>
            </a:pPr>
            <a:r>
              <a:rPr lang="es-ES" sz="2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 no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es-ES" sz="2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nota &gt;= </a:t>
            </a:r>
            <a:r>
              <a:rPr lang="es-ES" sz="2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9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entonces 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SB</a:t>
            </a:r>
          </a:p>
          <a:p>
            <a:pPr marL="0" lvl="1" indent="11113">
              <a:lnSpc>
                <a:spcPts val="3000"/>
              </a:lnSpc>
              <a:spcAft>
                <a:spcPts val="600"/>
              </a:spcAft>
              <a:buNone/>
            </a:pPr>
            <a:r>
              <a:rPr lang="es-ES" sz="2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 no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es-ES" sz="2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nota &gt;= </a:t>
            </a:r>
            <a:r>
              <a:rPr lang="es-ES" sz="2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7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entonces 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NT</a:t>
            </a:r>
          </a:p>
          <a:p>
            <a:pPr marL="0" lvl="1" indent="11113">
              <a:lnSpc>
                <a:spcPts val="3000"/>
              </a:lnSpc>
              <a:spcAft>
                <a:spcPts val="600"/>
              </a:spcAft>
              <a:buNone/>
            </a:pPr>
            <a:r>
              <a:rPr lang="es-ES" sz="2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 no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es-ES" sz="2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nota &gt;= </a:t>
            </a:r>
            <a:r>
              <a:rPr lang="es-ES" sz="2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5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entonces 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AP</a:t>
            </a:r>
          </a:p>
          <a:p>
            <a:pPr marL="0" lvl="1" indent="11113">
              <a:lnSpc>
                <a:spcPts val="3000"/>
              </a:lnSpc>
              <a:spcAft>
                <a:spcPts val="600"/>
              </a:spcAft>
              <a:buNone/>
            </a:pPr>
            <a:r>
              <a:rPr lang="es-ES" sz="2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 no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SS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escala </a:t>
            </a:r>
            <a:r>
              <a:rPr lang="es-ES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3200" dirty="0">
                <a:latin typeface="Consolas" pitchFamily="49" charset="0"/>
              </a:rPr>
              <a:t>-</a:t>
            </a:r>
            <a:r>
              <a:rPr lang="es-ES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</a:t>
            </a:r>
            <a:r>
              <a:rPr lang="es-ES" sz="3200" dirty="0">
                <a:latin typeface="Consolas" pitchFamily="49" charset="0"/>
              </a:rPr>
              <a:t>-</a:t>
            </a:r>
            <a:r>
              <a:rPr lang="es-ES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18864" y="980728"/>
            <a:ext cx="8229600" cy="5110178"/>
          </a:xfrm>
        </p:spPr>
        <p:txBody>
          <a:bodyPr>
            <a:noAutofit/>
          </a:bodyPr>
          <a:lstStyle/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1800" dirty="0">
                <a:latin typeface="Consolas" pitchFamily="49" charset="0"/>
              </a:rPr>
              <a:t> nota;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cin &gt;&gt; nota;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1800" dirty="0">
                <a:latin typeface="Consolas" pitchFamily="49" charset="0"/>
              </a:rPr>
              <a:t> (nota ==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10</a:t>
            </a:r>
            <a:r>
              <a:rPr lang="es-ES" sz="1800" dirty="0">
                <a:latin typeface="Consolas" pitchFamily="49" charset="0"/>
              </a:rPr>
              <a:t>) {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cout &lt;&lt;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"</a:t>
            </a:r>
            <a:r>
              <a:rPr lang="es-ES" sz="1800" dirty="0" err="1">
                <a:solidFill>
                  <a:srgbClr val="FFFF00"/>
                </a:solidFill>
                <a:latin typeface="Consolas" pitchFamily="49" charset="0"/>
              </a:rPr>
              <a:t>MH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"</a:t>
            </a:r>
            <a:r>
              <a:rPr lang="es-ES" sz="1800" dirty="0">
                <a:latin typeface="Consolas" pitchFamily="49" charset="0"/>
              </a:rPr>
              <a:t>;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}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</a:t>
            </a:r>
            <a:r>
              <a:rPr lang="es-ES" sz="1800" dirty="0">
                <a:latin typeface="Consolas" pitchFamily="49" charset="0"/>
              </a:rPr>
              <a:t> {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if</a:t>
            </a:r>
            <a:r>
              <a:rPr lang="es-ES" sz="1800" dirty="0">
                <a:latin typeface="Consolas" pitchFamily="49" charset="0"/>
              </a:rPr>
              <a:t> (nota &gt;=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9</a:t>
            </a:r>
            <a:r>
              <a:rPr lang="es-ES" sz="1800" dirty="0">
                <a:latin typeface="Consolas" pitchFamily="49" charset="0"/>
              </a:rPr>
              <a:t>) {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   cout &lt;&lt;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"SB"</a:t>
            </a:r>
            <a:r>
              <a:rPr lang="es-ES" sz="1800" dirty="0">
                <a:latin typeface="Consolas" pitchFamily="49" charset="0"/>
              </a:rPr>
              <a:t>;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}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else</a:t>
            </a:r>
            <a:r>
              <a:rPr lang="es-ES" sz="1800" dirty="0">
                <a:latin typeface="Consolas" pitchFamily="49" charset="0"/>
              </a:rPr>
              <a:t> {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   if</a:t>
            </a:r>
            <a:r>
              <a:rPr lang="es-ES" sz="1800" dirty="0">
                <a:latin typeface="Consolas" pitchFamily="49" charset="0"/>
              </a:rPr>
              <a:t> (nota &gt;=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7</a:t>
            </a:r>
            <a:r>
              <a:rPr lang="es-ES" sz="1800" dirty="0">
                <a:latin typeface="Consolas" pitchFamily="49" charset="0"/>
              </a:rPr>
              <a:t>) {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      cout &lt;&lt;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"NT"</a:t>
            </a:r>
            <a:r>
              <a:rPr lang="es-ES" sz="1800" dirty="0">
                <a:latin typeface="Consolas" pitchFamily="49" charset="0"/>
              </a:rPr>
              <a:t>;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   }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   else</a:t>
            </a:r>
            <a:r>
              <a:rPr lang="es-ES" sz="1800" dirty="0">
                <a:latin typeface="Consolas" pitchFamily="49" charset="0"/>
              </a:rPr>
              <a:t> {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      if</a:t>
            </a:r>
            <a:r>
              <a:rPr lang="es-ES" sz="1800" dirty="0">
                <a:latin typeface="Consolas" pitchFamily="49" charset="0"/>
              </a:rPr>
              <a:t> (nota &gt;=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sz="1800" dirty="0">
                <a:latin typeface="Consolas" pitchFamily="49" charset="0"/>
              </a:rPr>
              <a:t>) {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         cout &lt;&lt;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"AP"</a:t>
            </a:r>
            <a:r>
              <a:rPr lang="es-ES" sz="1800" dirty="0">
                <a:latin typeface="Consolas" pitchFamily="49" charset="0"/>
              </a:rPr>
              <a:t>;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      }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      else</a:t>
            </a:r>
            <a:r>
              <a:rPr lang="es-ES" sz="1800" dirty="0">
                <a:latin typeface="Consolas" pitchFamily="49" charset="0"/>
              </a:rPr>
              <a:t> {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         cout &lt;&lt;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"SS"</a:t>
            </a:r>
            <a:r>
              <a:rPr lang="es-ES" sz="1800" dirty="0">
                <a:latin typeface="Consolas" pitchFamily="49" charset="0"/>
              </a:rPr>
              <a:t>;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      }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   }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}</a:t>
            </a:r>
          </a:p>
          <a:p>
            <a:pPr marL="361950" lvl="1" indent="1588">
              <a:lnSpc>
                <a:spcPts val="1800"/>
              </a:lnSpc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}</a:t>
            </a:r>
            <a:endParaRPr lang="es-ES" sz="20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247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44" name="43 Grupo"/>
          <p:cNvGrpSpPr/>
          <p:nvPr/>
        </p:nvGrpSpPr>
        <p:grpSpPr>
          <a:xfrm>
            <a:off x="4860032" y="933103"/>
            <a:ext cx="4032448" cy="5324535"/>
            <a:chOff x="3779912" y="3543106"/>
            <a:chExt cx="4032448" cy="5324535"/>
          </a:xfrm>
        </p:grpSpPr>
        <p:sp>
          <p:nvSpPr>
            <p:cNvPr id="42" name="41 Rectángulo"/>
            <p:cNvSpPr/>
            <p:nvPr/>
          </p:nvSpPr>
          <p:spPr>
            <a:xfrm>
              <a:off x="4499992" y="3543106"/>
              <a:ext cx="3312368" cy="53245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indent="1588">
                <a:spcBef>
                  <a:spcPts val="0"/>
                </a:spcBef>
                <a:buNone/>
              </a:pPr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double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 nota;</a:t>
              </a:r>
            </a:p>
            <a:p>
              <a:pPr marL="0" lvl="1" indent="1588">
                <a:spcBef>
                  <a:spcPts val="0"/>
                </a:spcBef>
                <a:buNone/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cin &gt;&gt; nota;</a:t>
              </a:r>
            </a:p>
            <a:p>
              <a:pPr marL="0" lvl="1" indent="1588">
                <a:spcBef>
                  <a:spcPts val="0"/>
                </a:spcBef>
                <a:buNone/>
              </a:pPr>
              <a:r>
                <a:rPr lang="es-ES" sz="2000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if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 (nota == 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10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) {</a:t>
              </a:r>
            </a:p>
            <a:p>
              <a:pPr marL="0" lvl="1" indent="1588">
                <a:spcBef>
                  <a:spcPts val="0"/>
                </a:spcBef>
                <a:buNone/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   cout &lt;&lt; 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"</a:t>
              </a:r>
              <a:r>
                <a:rPr lang="es-ES" sz="2000" dirty="0" err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MH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"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;</a:t>
              </a:r>
            </a:p>
            <a:p>
              <a:pPr marL="0" lvl="1" indent="1588">
                <a:spcBef>
                  <a:spcPts val="0"/>
                </a:spcBef>
                <a:buNone/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}</a:t>
              </a:r>
            </a:p>
            <a:p>
              <a:pPr marL="0" lvl="1" indent="1588">
                <a:spcBef>
                  <a:spcPts val="0"/>
                </a:spcBef>
                <a:buNone/>
              </a:pPr>
              <a:r>
                <a:rPr lang="es-ES" sz="2000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else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 </a:t>
              </a:r>
              <a:r>
                <a:rPr lang="es-ES" sz="2000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if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 (nota &gt;= 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9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) { </a:t>
              </a:r>
            </a:p>
            <a:p>
              <a:pPr marL="0" lvl="1" indent="1588">
                <a:spcBef>
                  <a:spcPts val="0"/>
                </a:spcBef>
                <a:buNone/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   cout &lt;&lt; 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"SB"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;</a:t>
              </a:r>
            </a:p>
            <a:p>
              <a:pPr marL="0" lvl="1" indent="1588">
                <a:spcBef>
                  <a:spcPts val="0"/>
                </a:spcBef>
                <a:buNone/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}</a:t>
              </a:r>
            </a:p>
            <a:p>
              <a:pPr marL="0" lvl="1" indent="1588">
                <a:spcBef>
                  <a:spcPts val="0"/>
                </a:spcBef>
                <a:buNone/>
              </a:pPr>
              <a:r>
                <a:rPr lang="es-ES" sz="2000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else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 </a:t>
              </a:r>
              <a:r>
                <a:rPr lang="es-ES" sz="2000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if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 (nota &gt;= 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7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) {</a:t>
              </a:r>
            </a:p>
            <a:p>
              <a:pPr marL="0" lvl="1" indent="1588">
                <a:spcBef>
                  <a:spcPts val="0"/>
                </a:spcBef>
                <a:buNone/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   cout &lt;&lt; 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"NT"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;</a:t>
              </a:r>
            </a:p>
            <a:p>
              <a:pPr marL="0" lvl="1" indent="1588">
                <a:spcBef>
                  <a:spcPts val="0"/>
                </a:spcBef>
                <a:buNone/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}</a:t>
              </a:r>
            </a:p>
            <a:p>
              <a:pPr marL="0" lvl="1" indent="1588">
                <a:spcBef>
                  <a:spcPts val="0"/>
                </a:spcBef>
                <a:buNone/>
              </a:pPr>
              <a:r>
                <a:rPr lang="es-ES" sz="2000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else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 </a:t>
              </a:r>
              <a:r>
                <a:rPr lang="es-ES" sz="2000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if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 (nota &gt;= 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5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) {</a:t>
              </a:r>
            </a:p>
            <a:p>
              <a:pPr marL="0" lvl="1" indent="1588">
                <a:spcBef>
                  <a:spcPts val="0"/>
                </a:spcBef>
                <a:buNone/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   cout &lt;&lt; 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"AP"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;</a:t>
              </a:r>
            </a:p>
            <a:p>
              <a:pPr marL="0" lvl="1" indent="1588">
                <a:spcBef>
                  <a:spcPts val="0"/>
                </a:spcBef>
                <a:buNone/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}</a:t>
              </a:r>
            </a:p>
            <a:p>
              <a:pPr marL="0" lvl="1" indent="1588">
                <a:spcBef>
                  <a:spcPts val="0"/>
                </a:spcBef>
                <a:buNone/>
              </a:pPr>
              <a:r>
                <a:rPr lang="es-ES" sz="2000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else 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{</a:t>
              </a:r>
            </a:p>
            <a:p>
              <a:pPr marL="0" lvl="1" indent="1588">
                <a:spcBef>
                  <a:spcPts val="0"/>
                </a:spcBef>
                <a:buNone/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   cout &lt;&lt; 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"SS"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;</a:t>
              </a:r>
            </a:p>
            <a:p>
              <a:pPr marL="0" lvl="1" indent="1588">
                <a:spcBef>
                  <a:spcPts val="0"/>
                </a:spcBef>
                <a:buNone/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}</a:t>
              </a:r>
            </a:p>
          </p:txBody>
        </p:sp>
        <p:sp>
          <p:nvSpPr>
            <p:cNvPr id="43" name="42 CuadroTexto"/>
            <p:cNvSpPr txBox="1"/>
            <p:nvPr/>
          </p:nvSpPr>
          <p:spPr>
            <a:xfrm>
              <a:off x="3779912" y="5822979"/>
              <a:ext cx="410690" cy="5847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32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  <a:sym typeface="Symbol"/>
                </a:rPr>
                <a:t></a:t>
              </a:r>
              <a:endParaRPr lang="es-ES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</p:grpSp>
      <p:sp>
        <p:nvSpPr>
          <p:cNvPr id="9" name="8 CuadroTexto"/>
          <p:cNvSpPr txBox="1"/>
          <p:nvPr/>
        </p:nvSpPr>
        <p:spPr>
          <a:xfrm>
            <a:off x="7492822" y="404664"/>
            <a:ext cx="1197764" cy="369332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nota.cpp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4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7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8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9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10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1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20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3000"/>
                            </p:stCondLst>
                            <p:childTnLst>
                              <p:par>
                                <p:cTn id="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escala </a:t>
            </a:r>
            <a:r>
              <a:rPr lang="es-ES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3200" dirty="0">
                <a:latin typeface="Consolas" pitchFamily="49" charset="0"/>
              </a:rPr>
              <a:t>-</a:t>
            </a:r>
            <a:r>
              <a:rPr lang="es-ES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</a:t>
            </a:r>
            <a:r>
              <a:rPr lang="es-ES" sz="3200" dirty="0">
                <a:latin typeface="Consolas" pitchFamily="49" charset="0"/>
              </a:rPr>
              <a:t>-</a:t>
            </a:r>
            <a:r>
              <a:rPr lang="es-ES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 fontScale="92500" lnSpcReduction="10000"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sz="28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¡Cuidado con el orden de las condiciones!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dirty="0">
                <a:latin typeface="Consolas" pitchFamily="49" charset="0"/>
              </a:rPr>
              <a:t> nota;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cin &gt;&gt; nota;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dirty="0">
                <a:latin typeface="Consolas" pitchFamily="49" charset="0"/>
              </a:rPr>
              <a:t> (nota &lt;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dirty="0">
                <a:latin typeface="Consolas" pitchFamily="49" charset="0"/>
              </a:rPr>
              <a:t>) { cout &lt;&lt;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"SS"</a:t>
            </a:r>
            <a:r>
              <a:rPr lang="es-ES" dirty="0">
                <a:latin typeface="Consolas" pitchFamily="49" charset="0"/>
              </a:rPr>
              <a:t>;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</a:t>
            </a:r>
            <a:r>
              <a:rPr lang="es-ES" dirty="0">
                <a:latin typeface="Consolas" pitchFamily="49" charset="0"/>
              </a:rPr>
              <a:t>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dirty="0">
                <a:latin typeface="Consolas" pitchFamily="49" charset="0"/>
              </a:rPr>
              <a:t> (nota &lt;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7</a:t>
            </a:r>
            <a:r>
              <a:rPr lang="es-ES" dirty="0">
                <a:latin typeface="Consolas" pitchFamily="49" charset="0"/>
              </a:rPr>
              <a:t>) { cout &lt;&lt;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"AP"</a:t>
            </a:r>
            <a:r>
              <a:rPr lang="es-ES" dirty="0">
                <a:latin typeface="Consolas" pitchFamily="49" charset="0"/>
              </a:rPr>
              <a:t>;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</a:t>
            </a:r>
            <a:r>
              <a:rPr lang="es-ES" dirty="0">
                <a:latin typeface="Consolas" pitchFamily="49" charset="0"/>
              </a:rPr>
              <a:t>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dirty="0">
                <a:latin typeface="Consolas" pitchFamily="49" charset="0"/>
              </a:rPr>
              <a:t> (nota &lt;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9</a:t>
            </a:r>
            <a:r>
              <a:rPr lang="es-ES" dirty="0">
                <a:latin typeface="Consolas" pitchFamily="49" charset="0"/>
              </a:rPr>
              <a:t>) { cout &lt;&lt;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"NT"</a:t>
            </a:r>
            <a:r>
              <a:rPr lang="es-ES" dirty="0">
                <a:latin typeface="Consolas" pitchFamily="49" charset="0"/>
              </a:rPr>
              <a:t>;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</a:t>
            </a:r>
            <a:r>
              <a:rPr lang="es-ES" dirty="0">
                <a:latin typeface="Consolas" pitchFamily="49" charset="0"/>
              </a:rPr>
              <a:t>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dirty="0">
                <a:latin typeface="Consolas" pitchFamily="49" charset="0"/>
              </a:rPr>
              <a:t> (nota &lt;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10</a:t>
            </a:r>
            <a:r>
              <a:rPr lang="es-ES" dirty="0">
                <a:latin typeface="Consolas" pitchFamily="49" charset="0"/>
              </a:rPr>
              <a:t>) { cout &lt;&lt;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"SB"</a:t>
            </a:r>
            <a:r>
              <a:rPr lang="es-ES" dirty="0">
                <a:latin typeface="Consolas" pitchFamily="49" charset="0"/>
              </a:rPr>
              <a:t>;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</a:t>
            </a:r>
            <a:r>
              <a:rPr lang="es-ES" dirty="0">
                <a:latin typeface="Consolas" pitchFamily="49" charset="0"/>
              </a:rPr>
              <a:t> { cout &lt;&lt;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"</a:t>
            </a:r>
            <a:r>
              <a:rPr lang="es-ES" dirty="0" err="1">
                <a:solidFill>
                  <a:srgbClr val="FFFF00"/>
                </a:solidFill>
                <a:latin typeface="Consolas" pitchFamily="49" charset="0"/>
              </a:rPr>
              <a:t>MH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"</a:t>
            </a:r>
            <a:r>
              <a:rPr lang="es-ES" dirty="0">
                <a:latin typeface="Consolas" pitchFamily="49" charset="0"/>
              </a:rPr>
              <a:t>; }</a:t>
            </a:r>
          </a:p>
          <a:p>
            <a:pPr lvl="1" indent="1588">
              <a:spcBef>
                <a:spcPts val="0"/>
              </a:spcBef>
              <a:buNone/>
            </a:pPr>
            <a:endParaRPr lang="es-ES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dirty="0">
                <a:latin typeface="Consolas" pitchFamily="49" charset="0"/>
              </a:rPr>
              <a:t> nota;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cin &gt;&gt; nota;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dirty="0">
                <a:latin typeface="Consolas" pitchFamily="49" charset="0"/>
              </a:rPr>
              <a:t> (nota &gt;=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dirty="0">
                <a:latin typeface="Consolas" pitchFamily="49" charset="0"/>
              </a:rPr>
              <a:t>) { cout &lt;&lt;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"AP"</a:t>
            </a:r>
            <a:r>
              <a:rPr lang="es-ES" dirty="0">
                <a:latin typeface="Consolas" pitchFamily="49" charset="0"/>
              </a:rPr>
              <a:t>;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</a:t>
            </a:r>
            <a:r>
              <a:rPr lang="es-ES" dirty="0">
                <a:latin typeface="Consolas" pitchFamily="49" charset="0"/>
              </a:rPr>
              <a:t>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dirty="0">
                <a:latin typeface="Consolas" pitchFamily="49" charset="0"/>
              </a:rPr>
              <a:t> (nota &gt;=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7</a:t>
            </a:r>
            <a:r>
              <a:rPr lang="es-ES" dirty="0">
                <a:latin typeface="Consolas" pitchFamily="49" charset="0"/>
              </a:rPr>
              <a:t>) { cout &lt;&lt;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"NT"</a:t>
            </a:r>
            <a:r>
              <a:rPr lang="es-ES" dirty="0">
                <a:latin typeface="Consolas" pitchFamily="49" charset="0"/>
              </a:rPr>
              <a:t>;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</a:t>
            </a:r>
            <a:r>
              <a:rPr lang="es-ES" dirty="0">
                <a:latin typeface="Consolas" pitchFamily="49" charset="0"/>
              </a:rPr>
              <a:t>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dirty="0">
                <a:latin typeface="Consolas" pitchFamily="49" charset="0"/>
              </a:rPr>
              <a:t> (nota &gt;=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9</a:t>
            </a:r>
            <a:r>
              <a:rPr lang="es-ES" dirty="0">
                <a:latin typeface="Consolas" pitchFamily="49" charset="0"/>
              </a:rPr>
              <a:t>) { cout &lt;&lt;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"SB"</a:t>
            </a:r>
            <a:r>
              <a:rPr lang="es-ES" dirty="0">
                <a:latin typeface="Consolas" pitchFamily="49" charset="0"/>
              </a:rPr>
              <a:t>;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</a:t>
            </a:r>
            <a:r>
              <a:rPr lang="es-ES" dirty="0">
                <a:latin typeface="Consolas" pitchFamily="49" charset="0"/>
              </a:rPr>
              <a:t>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dirty="0">
                <a:latin typeface="Consolas" pitchFamily="49" charset="0"/>
              </a:rPr>
              <a:t> (nota ==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10</a:t>
            </a:r>
            <a:r>
              <a:rPr lang="es-ES" dirty="0">
                <a:latin typeface="Consolas" pitchFamily="49" charset="0"/>
              </a:rPr>
              <a:t>) { cout &lt;&lt;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"</a:t>
            </a:r>
            <a:r>
              <a:rPr lang="es-ES" dirty="0" err="1">
                <a:solidFill>
                  <a:srgbClr val="FFFF00"/>
                </a:solidFill>
                <a:latin typeface="Consolas" pitchFamily="49" charset="0"/>
              </a:rPr>
              <a:t>MH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"</a:t>
            </a:r>
            <a:r>
              <a:rPr lang="es-ES" dirty="0">
                <a:latin typeface="Consolas" pitchFamily="49" charset="0"/>
              </a:rPr>
              <a:t>;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</a:t>
            </a:r>
            <a:r>
              <a:rPr lang="es-ES" dirty="0">
                <a:latin typeface="Consolas" pitchFamily="49" charset="0"/>
              </a:rPr>
              <a:t> { cout &lt;&lt;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"SS"</a:t>
            </a:r>
            <a:r>
              <a:rPr lang="es-ES" dirty="0">
                <a:latin typeface="Consolas" pitchFamily="49" charset="0"/>
              </a:rPr>
              <a:t>; }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248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40" name="39 CuadroTexto"/>
          <p:cNvSpPr txBox="1"/>
          <p:nvPr/>
        </p:nvSpPr>
        <p:spPr>
          <a:xfrm>
            <a:off x="7020272" y="1850157"/>
            <a:ext cx="1343638" cy="1862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115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</a:t>
            </a:r>
            <a:endParaRPr lang="es-ES" sz="115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41" name="40 CuadroTexto"/>
          <p:cNvSpPr txBox="1"/>
          <p:nvPr/>
        </p:nvSpPr>
        <p:spPr>
          <a:xfrm>
            <a:off x="7067104" y="4231248"/>
            <a:ext cx="1120820" cy="1862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115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</a:t>
            </a:r>
            <a:endParaRPr lang="es-ES" sz="115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42" name="41 CuadroTexto"/>
          <p:cNvSpPr txBox="1"/>
          <p:nvPr/>
        </p:nvSpPr>
        <p:spPr>
          <a:xfrm>
            <a:off x="5364088" y="5949280"/>
            <a:ext cx="2528706" cy="40011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Sólo muestra AP o SS</a:t>
            </a:r>
          </a:p>
        </p:txBody>
      </p:sp>
      <p:grpSp>
        <p:nvGrpSpPr>
          <p:cNvPr id="16" name="15 Grupo"/>
          <p:cNvGrpSpPr/>
          <p:nvPr/>
        </p:nvGrpSpPr>
        <p:grpSpPr>
          <a:xfrm>
            <a:off x="3952502" y="3882826"/>
            <a:ext cx="4953107" cy="1922944"/>
            <a:chOff x="3952502" y="3959661"/>
            <a:chExt cx="4953107" cy="1922944"/>
          </a:xfrm>
        </p:grpSpPr>
        <p:sp>
          <p:nvSpPr>
            <p:cNvPr id="9" name="8 Rectángulo"/>
            <p:cNvSpPr/>
            <p:nvPr/>
          </p:nvSpPr>
          <p:spPr>
            <a:xfrm>
              <a:off x="3952502" y="4937209"/>
              <a:ext cx="2834075" cy="945396"/>
            </a:xfrm>
            <a:prstGeom prst="rect">
              <a:avLst/>
            </a:prstGeom>
            <a:noFill/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11" name="10 Conector recto"/>
            <p:cNvCxnSpPr/>
            <p:nvPr/>
          </p:nvCxnSpPr>
          <p:spPr>
            <a:xfrm flipV="1">
              <a:off x="6389870" y="4355579"/>
              <a:ext cx="558394" cy="581631"/>
            </a:xfrm>
            <a:prstGeom prst="line">
              <a:avLst/>
            </a:prstGeom>
            <a:ln w="38100">
              <a:solidFill>
                <a:schemeClr val="accent2">
                  <a:lumMod val="40000"/>
                  <a:lumOff val="60000"/>
                </a:schemeClr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11 CuadroTexto"/>
            <p:cNvSpPr txBox="1"/>
            <p:nvPr/>
          </p:nvSpPr>
          <p:spPr>
            <a:xfrm>
              <a:off x="6265143" y="3959661"/>
              <a:ext cx="2640466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¡No se ejecutan nunca!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0" grpId="0"/>
      <p:bldP spid="41" grpId="0"/>
      <p:bldP spid="4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escala </a:t>
            </a:r>
            <a:r>
              <a:rPr lang="es-ES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3200" dirty="0">
                <a:latin typeface="Consolas" pitchFamily="49" charset="0"/>
              </a:rPr>
              <a:t>-</a:t>
            </a:r>
            <a:r>
              <a:rPr lang="es-ES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</a:t>
            </a:r>
            <a:r>
              <a:rPr lang="es-ES" sz="3200" dirty="0">
                <a:latin typeface="Consolas" pitchFamily="49" charset="0"/>
              </a:rPr>
              <a:t>-</a:t>
            </a:r>
            <a:r>
              <a:rPr lang="es-ES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Simplificación de las condiciones</a:t>
            </a:r>
          </a:p>
          <a:p>
            <a:pPr lvl="1" indent="1588">
              <a:spcBef>
                <a:spcPts val="0"/>
              </a:spcBef>
              <a:buNone/>
            </a:pPr>
            <a:endParaRPr lang="es-ES" sz="1800" dirty="0">
              <a:solidFill>
                <a:schemeClr val="accent2">
                  <a:lumMod val="60000"/>
                  <a:lumOff val="40000"/>
                </a:schemeClr>
              </a:solidFill>
              <a:latin typeface="Consolas" pitchFamily="49" charset="0"/>
            </a:endParaRPr>
          </a:p>
          <a:p>
            <a:pPr marL="84138" lvl="1" indent="1588">
              <a:spcBef>
                <a:spcPts val="3000"/>
              </a:spcBef>
              <a:spcAft>
                <a:spcPts val="300"/>
              </a:spcAft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2000" dirty="0">
                <a:latin typeface="Consolas" pitchFamily="49" charset="0"/>
              </a:rPr>
              <a:t> (nota ==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10</a:t>
            </a:r>
            <a:r>
              <a:rPr lang="es-ES" sz="2000" dirty="0">
                <a:latin typeface="Consolas" pitchFamily="49" charset="0"/>
              </a:rPr>
              <a:t>) { cout &lt;&lt;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"</a:t>
            </a:r>
            <a:r>
              <a:rPr lang="es-ES" sz="2000" dirty="0" err="1">
                <a:solidFill>
                  <a:srgbClr val="FFFF00"/>
                </a:solidFill>
                <a:latin typeface="Consolas" pitchFamily="49" charset="0"/>
              </a:rPr>
              <a:t>MH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"</a:t>
            </a:r>
            <a:r>
              <a:rPr lang="es-ES" sz="2000" dirty="0">
                <a:latin typeface="Consolas" pitchFamily="49" charset="0"/>
              </a:rPr>
              <a:t>; }</a:t>
            </a:r>
          </a:p>
          <a:p>
            <a:pPr marL="84138" lvl="1" indent="1588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</a:t>
            </a:r>
            <a:r>
              <a:rPr lang="es-ES" sz="2000" dirty="0">
                <a:latin typeface="Consolas" pitchFamily="49" charset="0"/>
              </a:rPr>
              <a:t> 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2000" dirty="0">
                <a:latin typeface="Consolas" pitchFamily="49" charset="0"/>
              </a:rPr>
              <a:t> ((nota &lt;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10</a:t>
            </a:r>
            <a:r>
              <a:rPr lang="es-ES" sz="2000" dirty="0">
                <a:latin typeface="Consolas" pitchFamily="49" charset="0"/>
              </a:rPr>
              <a:t>) &amp;&amp; (nota &gt;=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9</a:t>
            </a:r>
            <a:r>
              <a:rPr lang="es-ES" sz="2000" dirty="0">
                <a:latin typeface="Consolas" pitchFamily="49" charset="0"/>
              </a:rPr>
              <a:t>)) { cout &lt;&lt;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"SB"</a:t>
            </a:r>
            <a:r>
              <a:rPr lang="es-ES" sz="2000" dirty="0">
                <a:latin typeface="Consolas" pitchFamily="49" charset="0"/>
              </a:rPr>
              <a:t>; }</a:t>
            </a:r>
          </a:p>
          <a:p>
            <a:pPr marL="84138" lvl="1" indent="1588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</a:t>
            </a:r>
            <a:r>
              <a:rPr lang="es-ES" sz="2000" dirty="0">
                <a:latin typeface="Consolas" pitchFamily="49" charset="0"/>
              </a:rPr>
              <a:t> 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2000" dirty="0">
                <a:latin typeface="Consolas" pitchFamily="49" charset="0"/>
              </a:rPr>
              <a:t> ((nota &lt;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9</a:t>
            </a:r>
            <a:r>
              <a:rPr lang="es-ES" sz="2000" dirty="0">
                <a:latin typeface="Consolas" pitchFamily="49" charset="0"/>
              </a:rPr>
              <a:t>) &amp;&amp; (nota &gt;=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7</a:t>
            </a:r>
            <a:r>
              <a:rPr lang="es-ES" sz="2000" dirty="0">
                <a:latin typeface="Consolas" pitchFamily="49" charset="0"/>
              </a:rPr>
              <a:t>)) { cout &lt;&lt;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"NT"</a:t>
            </a:r>
            <a:r>
              <a:rPr lang="es-ES" sz="2000" dirty="0">
                <a:latin typeface="Consolas" pitchFamily="49" charset="0"/>
              </a:rPr>
              <a:t>; }</a:t>
            </a:r>
          </a:p>
          <a:p>
            <a:pPr marL="84138" lvl="1" indent="1588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</a:t>
            </a:r>
            <a:r>
              <a:rPr lang="es-ES" sz="2000" dirty="0">
                <a:latin typeface="Consolas" pitchFamily="49" charset="0"/>
              </a:rPr>
              <a:t> 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2000" dirty="0">
                <a:latin typeface="Consolas" pitchFamily="49" charset="0"/>
              </a:rPr>
              <a:t> ((nota &lt;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7</a:t>
            </a:r>
            <a:r>
              <a:rPr lang="es-ES" sz="2000" dirty="0">
                <a:latin typeface="Consolas" pitchFamily="49" charset="0"/>
              </a:rPr>
              <a:t>) &amp;&amp; (nota &gt;=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sz="2000" dirty="0">
                <a:latin typeface="Consolas" pitchFamily="49" charset="0"/>
              </a:rPr>
              <a:t>)) { cout &lt;&lt;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"AP"</a:t>
            </a:r>
            <a:r>
              <a:rPr lang="es-ES" sz="2000" dirty="0">
                <a:latin typeface="Consolas" pitchFamily="49" charset="0"/>
              </a:rPr>
              <a:t>; }</a:t>
            </a:r>
          </a:p>
          <a:p>
            <a:pPr marL="84138" lvl="1" indent="1588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</a:t>
            </a:r>
            <a:r>
              <a:rPr lang="es-ES" sz="2000" dirty="0">
                <a:latin typeface="Consolas" pitchFamily="49" charset="0"/>
              </a:rPr>
              <a:t> 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2000" dirty="0">
                <a:latin typeface="Consolas" pitchFamily="49" charset="0"/>
              </a:rPr>
              <a:t> (nota &lt;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sz="2000" dirty="0">
                <a:latin typeface="Consolas" pitchFamily="49" charset="0"/>
              </a:rPr>
              <a:t>)  { cout &lt;&lt;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"SS"</a:t>
            </a:r>
            <a:r>
              <a:rPr lang="es-ES" sz="2000" dirty="0">
                <a:latin typeface="Consolas" pitchFamily="49" charset="0"/>
              </a:rPr>
              <a:t>; }</a:t>
            </a:r>
          </a:p>
          <a:p>
            <a:pPr lvl="1" indent="1588">
              <a:spcBef>
                <a:spcPts val="0"/>
              </a:spcBef>
              <a:spcAft>
                <a:spcPts val="300"/>
              </a:spcAft>
              <a:buNone/>
            </a:pPr>
            <a:endParaRPr lang="es-ES" sz="2000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249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28" name="27 Grupo"/>
          <p:cNvGrpSpPr/>
          <p:nvPr/>
        </p:nvGrpSpPr>
        <p:grpSpPr>
          <a:xfrm>
            <a:off x="1175186" y="1628800"/>
            <a:ext cx="7046647" cy="864096"/>
            <a:chOff x="1175186" y="1700808"/>
            <a:chExt cx="7046647" cy="864096"/>
          </a:xfrm>
        </p:grpSpPr>
        <p:sp>
          <p:nvSpPr>
            <p:cNvPr id="9" name="8 Rectángulo"/>
            <p:cNvSpPr/>
            <p:nvPr/>
          </p:nvSpPr>
          <p:spPr>
            <a:xfrm>
              <a:off x="1331640" y="1700808"/>
              <a:ext cx="6624736" cy="144016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11" name="10 Conector recto"/>
            <p:cNvCxnSpPr/>
            <p:nvPr/>
          </p:nvCxnSpPr>
          <p:spPr>
            <a:xfrm rot="5400000">
              <a:off x="1187624" y="1844824"/>
              <a:ext cx="288032" cy="0"/>
            </a:xfrm>
            <a:prstGeom prst="line">
              <a:avLst/>
            </a:prstGeom>
            <a:ln w="12700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11 Conector recto"/>
            <p:cNvCxnSpPr/>
            <p:nvPr/>
          </p:nvCxnSpPr>
          <p:spPr>
            <a:xfrm rot="5400000">
              <a:off x="7812360" y="1844824"/>
              <a:ext cx="288032" cy="0"/>
            </a:xfrm>
            <a:prstGeom prst="line">
              <a:avLst/>
            </a:prstGeom>
            <a:ln w="12700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14 Conector recto"/>
            <p:cNvCxnSpPr/>
            <p:nvPr/>
          </p:nvCxnSpPr>
          <p:spPr>
            <a:xfrm rot="5400000">
              <a:off x="4499992" y="1844824"/>
              <a:ext cx="288032" cy="0"/>
            </a:xfrm>
            <a:prstGeom prst="line">
              <a:avLst/>
            </a:prstGeom>
            <a:ln w="12700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15 Conector recto"/>
            <p:cNvCxnSpPr/>
            <p:nvPr/>
          </p:nvCxnSpPr>
          <p:spPr>
            <a:xfrm rot="5400000">
              <a:off x="5796136" y="1844824"/>
              <a:ext cx="288032" cy="0"/>
            </a:xfrm>
            <a:prstGeom prst="line">
              <a:avLst/>
            </a:prstGeom>
            <a:ln w="12700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"/>
            <p:cNvCxnSpPr/>
            <p:nvPr/>
          </p:nvCxnSpPr>
          <p:spPr>
            <a:xfrm rot="5400000">
              <a:off x="7020272" y="1844824"/>
              <a:ext cx="288032" cy="0"/>
            </a:xfrm>
            <a:prstGeom prst="line">
              <a:avLst/>
            </a:prstGeom>
            <a:ln w="12700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45 CuadroTexto"/>
            <p:cNvSpPr txBox="1"/>
            <p:nvPr/>
          </p:nvSpPr>
          <p:spPr>
            <a:xfrm>
              <a:off x="1175186" y="1916832"/>
              <a:ext cx="312907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0</a:t>
              </a:r>
            </a:p>
          </p:txBody>
        </p:sp>
        <p:sp>
          <p:nvSpPr>
            <p:cNvPr id="47" name="46 CuadroTexto"/>
            <p:cNvSpPr txBox="1"/>
            <p:nvPr/>
          </p:nvSpPr>
          <p:spPr>
            <a:xfrm>
              <a:off x="4487554" y="1916832"/>
              <a:ext cx="312907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5</a:t>
              </a:r>
            </a:p>
          </p:txBody>
        </p:sp>
        <p:sp>
          <p:nvSpPr>
            <p:cNvPr id="48" name="47 CuadroTexto"/>
            <p:cNvSpPr txBox="1"/>
            <p:nvPr/>
          </p:nvSpPr>
          <p:spPr>
            <a:xfrm>
              <a:off x="5784499" y="1916832"/>
              <a:ext cx="311304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7</a:t>
              </a:r>
            </a:p>
          </p:txBody>
        </p:sp>
        <p:sp>
          <p:nvSpPr>
            <p:cNvPr id="49" name="48 CuadroTexto"/>
            <p:cNvSpPr txBox="1"/>
            <p:nvPr/>
          </p:nvSpPr>
          <p:spPr>
            <a:xfrm>
              <a:off x="7008636" y="1916832"/>
              <a:ext cx="311304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9</a:t>
              </a:r>
            </a:p>
          </p:txBody>
        </p:sp>
        <p:sp>
          <p:nvSpPr>
            <p:cNvPr id="50" name="49 CuadroTexto"/>
            <p:cNvSpPr txBox="1"/>
            <p:nvPr/>
          </p:nvSpPr>
          <p:spPr>
            <a:xfrm>
              <a:off x="7737406" y="1916832"/>
              <a:ext cx="437941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10</a:t>
              </a:r>
            </a:p>
          </p:txBody>
        </p:sp>
        <p:sp>
          <p:nvSpPr>
            <p:cNvPr id="51" name="50 CuadroTexto"/>
            <p:cNvSpPr txBox="1"/>
            <p:nvPr/>
          </p:nvSpPr>
          <p:spPr>
            <a:xfrm>
              <a:off x="7690918" y="2195572"/>
              <a:ext cx="530915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MH</a:t>
              </a:r>
            </a:p>
          </p:txBody>
        </p:sp>
        <p:sp>
          <p:nvSpPr>
            <p:cNvPr id="52" name="51 CuadroTexto"/>
            <p:cNvSpPr txBox="1"/>
            <p:nvPr/>
          </p:nvSpPr>
          <p:spPr>
            <a:xfrm>
              <a:off x="7344314" y="1844824"/>
              <a:ext cx="439544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SB</a:t>
              </a:r>
            </a:p>
          </p:txBody>
        </p:sp>
        <p:sp>
          <p:nvSpPr>
            <p:cNvPr id="53" name="52 CuadroTexto"/>
            <p:cNvSpPr txBox="1"/>
            <p:nvPr/>
          </p:nvSpPr>
          <p:spPr>
            <a:xfrm>
              <a:off x="6327798" y="1826240"/>
              <a:ext cx="478016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NT</a:t>
              </a:r>
            </a:p>
          </p:txBody>
        </p:sp>
        <p:sp>
          <p:nvSpPr>
            <p:cNvPr id="54" name="53 CuadroTexto"/>
            <p:cNvSpPr txBox="1"/>
            <p:nvPr/>
          </p:nvSpPr>
          <p:spPr>
            <a:xfrm>
              <a:off x="5084873" y="1826240"/>
              <a:ext cx="460382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AP</a:t>
              </a:r>
            </a:p>
          </p:txBody>
        </p:sp>
        <p:sp>
          <p:nvSpPr>
            <p:cNvPr id="55" name="54 CuadroTexto"/>
            <p:cNvSpPr txBox="1"/>
            <p:nvPr/>
          </p:nvSpPr>
          <p:spPr>
            <a:xfrm>
              <a:off x="2939860" y="1826240"/>
              <a:ext cx="412293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SS</a:t>
              </a:r>
            </a:p>
          </p:txBody>
        </p:sp>
      </p:grpSp>
      <p:grpSp>
        <p:nvGrpSpPr>
          <p:cNvPr id="27" name="26 Grupo"/>
          <p:cNvGrpSpPr/>
          <p:nvPr/>
        </p:nvGrpSpPr>
        <p:grpSpPr>
          <a:xfrm>
            <a:off x="1744637" y="2617862"/>
            <a:ext cx="7147843" cy="3232479"/>
            <a:chOff x="2050576" y="2733302"/>
            <a:chExt cx="7147843" cy="3232479"/>
          </a:xfrm>
        </p:grpSpPr>
        <p:sp>
          <p:nvSpPr>
            <p:cNvPr id="56" name="55 Rectángulo"/>
            <p:cNvSpPr/>
            <p:nvPr/>
          </p:nvSpPr>
          <p:spPr>
            <a:xfrm>
              <a:off x="2050576" y="2733302"/>
              <a:ext cx="1692000" cy="1368000"/>
            </a:xfrm>
            <a:prstGeom prst="rect">
              <a:avLst/>
            </a:prstGeom>
            <a:noFill/>
            <a:ln w="190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58" name="57 Conector recto"/>
            <p:cNvCxnSpPr>
              <a:stCxn id="56" idx="2"/>
            </p:cNvCxnSpPr>
            <p:nvPr/>
          </p:nvCxnSpPr>
          <p:spPr>
            <a:xfrm>
              <a:off x="2896576" y="4101302"/>
              <a:ext cx="0" cy="248944"/>
            </a:xfrm>
            <a:prstGeom prst="line">
              <a:avLst/>
            </a:prstGeom>
            <a:ln w="19050">
              <a:solidFill>
                <a:schemeClr val="accent3">
                  <a:lumMod val="60000"/>
                  <a:lumOff val="40000"/>
                </a:schemeClr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59 Conector recto"/>
            <p:cNvCxnSpPr/>
            <p:nvPr/>
          </p:nvCxnSpPr>
          <p:spPr>
            <a:xfrm>
              <a:off x="2896576" y="4350246"/>
              <a:ext cx="3349515" cy="0"/>
            </a:xfrm>
            <a:prstGeom prst="line">
              <a:avLst/>
            </a:prstGeom>
            <a:ln w="19050">
              <a:solidFill>
                <a:schemeClr val="accent3">
                  <a:lumMod val="60000"/>
                  <a:lumOff val="40000"/>
                </a:schemeClr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62 CuadroTexto"/>
            <p:cNvSpPr txBox="1"/>
            <p:nvPr/>
          </p:nvSpPr>
          <p:spPr>
            <a:xfrm>
              <a:off x="6173232" y="4134510"/>
              <a:ext cx="3025187" cy="183127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Siempre </a:t>
              </a:r>
              <a:r>
                <a:rPr lang="es-ES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: ramas </a:t>
              </a:r>
              <a:r>
                <a:rPr lang="es-ES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else</a:t>
              </a:r>
              <a:b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Si no es 10, es menor que 10</a:t>
              </a:r>
              <a:b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Si no es &gt;= 9, es menor que 9</a:t>
              </a:r>
              <a:b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Si no es &gt;= 7, es menor que 7</a:t>
              </a:r>
              <a:b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…</a:t>
              </a:r>
            </a:p>
            <a:p>
              <a:pPr>
                <a:spcAft>
                  <a:spcPts val="600"/>
                </a:spcAft>
              </a:pPr>
              <a:r>
                <a:rPr lang="es-ES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 &amp;&amp; X 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sym typeface="Symbol"/>
                </a:rPr>
                <a:t>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 X</a:t>
              </a:r>
            </a:p>
          </p:txBody>
        </p:sp>
      </p:grpSp>
      <p:sp>
        <p:nvSpPr>
          <p:cNvPr id="26" name="25 Rectángulo"/>
          <p:cNvSpPr/>
          <p:nvPr/>
        </p:nvSpPr>
        <p:spPr>
          <a:xfrm>
            <a:off x="549077" y="4452208"/>
            <a:ext cx="550713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1588"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if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(nota ==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10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{ cout &lt;&lt;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</a:t>
            </a:r>
            <a:r>
              <a:rPr lang="es-ES" sz="2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MH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 }</a:t>
            </a:r>
          </a:p>
          <a:p>
            <a:pPr marL="0" lvl="1" indent="1588"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else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if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(nota &gt;=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9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{cout &lt;&lt;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"SB"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 }</a:t>
            </a:r>
          </a:p>
          <a:p>
            <a:pPr marL="0" lvl="1" indent="1588"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else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if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(nota &gt;=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7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{ cout &lt;&lt;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"NT"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 }</a:t>
            </a:r>
          </a:p>
          <a:p>
            <a:pPr marL="0" lvl="1" indent="1588"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else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if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(nota &gt;=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5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{ cout &lt;&lt;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"AP"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 }</a:t>
            </a:r>
          </a:p>
          <a:p>
            <a:pPr marL="0" lvl="1" indent="1588"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else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{ cout &lt;&lt;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"SS"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 }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6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Número de días de un mes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250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539552" y="956186"/>
            <a:ext cx="8147248" cy="5452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mes, </a:t>
            </a:r>
            <a:r>
              <a:rPr lang="es-ES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anio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, </a:t>
            </a:r>
            <a:r>
              <a:rPr lang="es-ES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dias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cout &lt;&lt;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"Número de mes: "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 </a:t>
            </a:r>
          </a:p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cin &gt;&gt; mes;</a:t>
            </a:r>
          </a:p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cout &lt;&lt;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"Año: "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 </a:t>
            </a:r>
          </a:p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cin &gt;&gt; </a:t>
            </a:r>
            <a:r>
              <a:rPr lang="es-ES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anio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solidFill>
                  <a:srgbClr val="009DD9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if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(mes ==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2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{</a:t>
            </a:r>
          </a:p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if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(bisiesto(mes, 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anio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)) {</a:t>
            </a:r>
          </a:p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dias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29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else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{</a:t>
            </a:r>
          </a:p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dias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28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solidFill>
                  <a:srgbClr val="009DD9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else 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{</a:t>
            </a:r>
          </a:p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solidFill>
                  <a:srgbClr val="009DD9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if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(mes ==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|| (mes ==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3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|| (mes ==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5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|| (mes ==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7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</a:t>
            </a:r>
          </a:p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 || (mes ==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8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|| (mes ==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10) 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|| (mes ==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12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{</a:t>
            </a:r>
          </a:p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</a:t>
            </a:r>
            <a:r>
              <a:rPr lang="es-ES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dias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31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solidFill>
                  <a:srgbClr val="009DD9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else 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{</a:t>
            </a:r>
          </a:p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solidFill>
                  <a:srgbClr val="009DD9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</a:t>
            </a:r>
            <a:r>
              <a:rPr lang="es-ES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dias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30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361950" lvl="1" indent="1588">
              <a:lnSpc>
                <a:spcPts val="1900"/>
              </a:lnSpc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</p:txBody>
      </p:sp>
      <p:cxnSp>
        <p:nvCxnSpPr>
          <p:cNvPr id="10" name="9 Conector recto"/>
          <p:cNvCxnSpPr/>
          <p:nvPr/>
        </p:nvCxnSpPr>
        <p:spPr>
          <a:xfrm>
            <a:off x="1653580" y="3429000"/>
            <a:ext cx="0" cy="288032"/>
          </a:xfrm>
          <a:prstGeom prst="line">
            <a:avLst/>
          </a:prstGeom>
          <a:ln w="3175">
            <a:solidFill>
              <a:srgbClr val="FFC000"/>
            </a:solidFill>
            <a:prstDash val="sysDot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>
            <a:off x="1303065" y="2492896"/>
            <a:ext cx="0" cy="1440160"/>
          </a:xfrm>
          <a:prstGeom prst="line">
            <a:avLst/>
          </a:prstGeom>
          <a:ln w="3175">
            <a:solidFill>
              <a:srgbClr val="FFC000"/>
            </a:solidFill>
            <a:prstDash val="sysDot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1653580" y="2699395"/>
            <a:ext cx="0" cy="288032"/>
          </a:xfrm>
          <a:prstGeom prst="line">
            <a:avLst/>
          </a:prstGeom>
          <a:ln w="3175">
            <a:solidFill>
              <a:srgbClr val="FFC000"/>
            </a:solidFill>
            <a:prstDash val="sysDot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>
            <a:off x="1303065" y="4365104"/>
            <a:ext cx="0" cy="1728192"/>
          </a:xfrm>
          <a:prstGeom prst="line">
            <a:avLst/>
          </a:prstGeom>
          <a:ln w="3175">
            <a:solidFill>
              <a:srgbClr val="FFC000"/>
            </a:solidFill>
            <a:prstDash val="sysDot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1653580" y="4821535"/>
            <a:ext cx="0" cy="288032"/>
          </a:xfrm>
          <a:prstGeom prst="line">
            <a:avLst/>
          </a:prstGeom>
          <a:ln w="3175">
            <a:solidFill>
              <a:srgbClr val="FFC000"/>
            </a:solidFill>
            <a:prstDash val="sysDot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1653580" y="5589240"/>
            <a:ext cx="0" cy="288032"/>
          </a:xfrm>
          <a:prstGeom prst="line">
            <a:avLst/>
          </a:prstGeom>
          <a:ln w="3175">
            <a:solidFill>
              <a:srgbClr val="FFC000"/>
            </a:solidFill>
            <a:prstDash val="sysDot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22744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11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1000"/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1000"/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000"/>
                            </p:stCondLst>
                            <p:childTnLst>
                              <p:par>
                                <p:cTn id="9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0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1000"/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1000"/>
                                        <p:tgtEl>
                                          <p:spTgt spid="1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0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1000"/>
                                        <p:tgtEl>
                                          <p:spTgt spid="1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 bldLvl="2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¿Año bisiesto?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284804"/>
          </a:xfrm>
        </p:spPr>
        <p:txBody>
          <a:bodyPr>
            <a:normAutofit/>
          </a:bodyPr>
          <a:lstStyle/>
          <a:p>
            <a:pPr marL="0" lvl="1" indent="1588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i="1" dirty="0"/>
              <a:t>Calendario Gregoriano</a:t>
            </a:r>
            <a:r>
              <a:rPr lang="es-ES" sz="2400" dirty="0"/>
              <a:t>: bisiesto si divisible por 4, excepto el último de cada siglo (divisible por 100), salvo que sea divisible por 400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251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611560" y="2266994"/>
            <a:ext cx="807524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1588"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bool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bisiesto(</a:t>
            </a:r>
            <a:r>
              <a:rPr lang="es-ES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anio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{</a:t>
            </a:r>
          </a:p>
          <a:p>
            <a:pPr marL="0" lvl="1" indent="1588"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bool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esBisiesto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if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((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anio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%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4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==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{ </a:t>
            </a:r>
            <a:r>
              <a:rPr lang="es-ES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 Divisible por 4</a:t>
            </a:r>
          </a:p>
          <a:p>
            <a:pPr marL="0" lvl="1" indent="1588"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if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(((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anio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%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100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==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&amp;&amp; ((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anio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%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400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!=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)) {</a:t>
            </a:r>
          </a:p>
          <a:p>
            <a:pPr marL="0" lvl="1" indent="1588"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   </a:t>
            </a:r>
            <a:r>
              <a:rPr lang="es-ES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 Pero último de siglo y no múltiplo de 400</a:t>
            </a:r>
          </a:p>
          <a:p>
            <a:pPr marL="0" lvl="1" indent="1588"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   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esBisiesto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false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}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else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{</a:t>
            </a:r>
          </a:p>
          <a:p>
            <a:pPr marL="0" lvl="1" indent="1588"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   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esBisiesto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true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 </a:t>
            </a:r>
            <a:r>
              <a:rPr lang="es-ES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 Año bisiesto</a:t>
            </a:r>
          </a:p>
          <a:p>
            <a:pPr marL="0" lvl="1" indent="1588"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}</a:t>
            </a:r>
          </a:p>
          <a:p>
            <a:pPr marL="0" lvl="1" indent="1588"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 </a:t>
            </a:r>
            <a:r>
              <a:rPr lang="es-ES" dirty="0" err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else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{</a:t>
            </a:r>
          </a:p>
          <a:p>
            <a:pPr marL="0" lvl="1" indent="1588"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esBisiesto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false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0" lvl="1" indent="1588"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return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esBisiesto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</p:txBody>
      </p:sp>
      <p:cxnSp>
        <p:nvCxnSpPr>
          <p:cNvPr id="9" name="8 Conector recto"/>
          <p:cNvCxnSpPr/>
          <p:nvPr/>
        </p:nvCxnSpPr>
        <p:spPr>
          <a:xfrm>
            <a:off x="1009700" y="2157239"/>
            <a:ext cx="0" cy="3744416"/>
          </a:xfrm>
          <a:prstGeom prst="line">
            <a:avLst/>
          </a:prstGeom>
          <a:ln w="3175">
            <a:solidFill>
              <a:srgbClr val="FFC000"/>
            </a:solidFill>
            <a:prstDash val="sysDot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>
            <a:off x="1403648" y="2685144"/>
            <a:ext cx="0" cy="1895984"/>
          </a:xfrm>
          <a:prstGeom prst="line">
            <a:avLst/>
          </a:prstGeom>
          <a:ln w="3175">
            <a:solidFill>
              <a:srgbClr val="FFC000"/>
            </a:solidFill>
            <a:prstDash val="sysDot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1763688" y="3001144"/>
            <a:ext cx="0" cy="475481"/>
          </a:xfrm>
          <a:prstGeom prst="line">
            <a:avLst/>
          </a:prstGeom>
          <a:ln w="3175">
            <a:solidFill>
              <a:srgbClr val="FFC000"/>
            </a:solidFill>
            <a:prstDash val="sysDot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1763688" y="4041104"/>
            <a:ext cx="0" cy="324000"/>
          </a:xfrm>
          <a:prstGeom prst="line">
            <a:avLst/>
          </a:prstGeom>
          <a:ln w="3175">
            <a:solidFill>
              <a:srgbClr val="FFC000"/>
            </a:solidFill>
            <a:prstDash val="sysDot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>
            <a:off x="1403648" y="5138142"/>
            <a:ext cx="0" cy="324000"/>
          </a:xfrm>
          <a:prstGeom prst="line">
            <a:avLst/>
          </a:prstGeom>
          <a:ln w="3175">
            <a:solidFill>
              <a:srgbClr val="FFC000"/>
            </a:solidFill>
            <a:prstDash val="sysDot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629246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80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0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 bldLvl="2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Asociación de cláusulas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284804"/>
          </a:xfrm>
        </p:spPr>
        <p:txBody>
          <a:bodyPr>
            <a:normAutofit/>
          </a:bodyPr>
          <a:lstStyle/>
          <a:p>
            <a:pPr marL="0" lvl="1" indent="1588">
              <a:spcBef>
                <a:spcPts val="0"/>
              </a:spcBef>
              <a:spcAft>
                <a:spcPts val="1500"/>
              </a:spcAft>
              <a:buNone/>
            </a:pPr>
            <a:r>
              <a:rPr lang="es-ES" sz="2000" spc="-20" dirty="0"/>
              <a:t>Cada </a:t>
            </a:r>
            <a:r>
              <a:rPr lang="es-ES" sz="2000" spc="-2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</a:t>
            </a:r>
            <a:r>
              <a:rPr lang="es-ES" sz="2000" spc="-20" dirty="0"/>
              <a:t> se asocia al </a:t>
            </a:r>
            <a:r>
              <a:rPr lang="es-ES" sz="2000" spc="-2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2000" spc="-20" dirty="0"/>
              <a:t> anterior más cercano sin asociar (mismo bloque)</a:t>
            </a:r>
          </a:p>
          <a:p>
            <a:pPr marL="180975" lvl="1" indent="1588">
              <a:lnSpc>
                <a:spcPts val="23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2000" dirty="0">
                <a:latin typeface="Consolas" pitchFamily="49" charset="0"/>
              </a:rPr>
              <a:t> (</a:t>
            </a:r>
            <a:r>
              <a:rPr lang="es-ES" sz="2000" i="1" dirty="0">
                <a:latin typeface="Consolas" pitchFamily="49" charset="0"/>
              </a:rPr>
              <a:t>condición1</a:t>
            </a:r>
            <a:r>
              <a:rPr lang="es-ES" sz="2000" dirty="0">
                <a:latin typeface="Consolas" pitchFamily="49" charset="0"/>
              </a:rPr>
              <a:t>) { </a:t>
            </a:r>
          </a:p>
          <a:p>
            <a:pPr marL="180975" lvl="1" indent="1588">
              <a:lnSpc>
                <a:spcPts val="23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   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2000" dirty="0">
                <a:latin typeface="Consolas" pitchFamily="49" charset="0"/>
              </a:rPr>
              <a:t> (</a:t>
            </a:r>
            <a:r>
              <a:rPr lang="es-ES" sz="2000" i="1" dirty="0">
                <a:latin typeface="Consolas" pitchFamily="49" charset="0"/>
              </a:rPr>
              <a:t>condición2</a:t>
            </a:r>
            <a:r>
              <a:rPr lang="es-ES" sz="2000" dirty="0">
                <a:latin typeface="Consolas" pitchFamily="49" charset="0"/>
              </a:rPr>
              <a:t>) {...}</a:t>
            </a:r>
            <a:endParaRPr lang="es-ES" sz="2000" dirty="0">
              <a:solidFill>
                <a:srgbClr val="92D050"/>
              </a:solidFill>
              <a:latin typeface="Consolas" pitchFamily="49" charset="0"/>
            </a:endParaRPr>
          </a:p>
          <a:p>
            <a:pPr marL="180975" lvl="1" indent="1588">
              <a:lnSpc>
                <a:spcPts val="23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else</a:t>
            </a:r>
            <a:r>
              <a:rPr lang="es-ES" sz="2000" dirty="0">
                <a:latin typeface="Consolas" pitchFamily="49" charset="0"/>
              </a:rPr>
              <a:t>  {...}</a:t>
            </a:r>
          </a:p>
          <a:p>
            <a:pPr marL="180975" lvl="1" indent="1588">
              <a:lnSpc>
                <a:spcPts val="23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}</a:t>
            </a:r>
          </a:p>
          <a:p>
            <a:pPr marL="180975" lvl="1" indent="1588">
              <a:lnSpc>
                <a:spcPts val="23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 </a:t>
            </a:r>
            <a:r>
              <a:rPr lang="es-ES" sz="2000" dirty="0">
                <a:latin typeface="Consolas" pitchFamily="49" charset="0"/>
              </a:rPr>
              <a:t>{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</a:t>
            </a:r>
          </a:p>
          <a:p>
            <a:pPr marL="180975" lvl="1" indent="1588">
              <a:lnSpc>
                <a:spcPts val="23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if</a:t>
            </a:r>
            <a:r>
              <a:rPr lang="es-ES" sz="2000" dirty="0">
                <a:latin typeface="Consolas" pitchFamily="49" charset="0"/>
              </a:rPr>
              <a:t> (</a:t>
            </a:r>
            <a:r>
              <a:rPr lang="es-ES" sz="2000" i="1" dirty="0">
                <a:latin typeface="Consolas" pitchFamily="49" charset="0"/>
              </a:rPr>
              <a:t>condición3</a:t>
            </a:r>
            <a:r>
              <a:rPr lang="es-ES" sz="2000" dirty="0">
                <a:latin typeface="Consolas" pitchFamily="49" charset="0"/>
              </a:rPr>
              <a:t>) {</a:t>
            </a:r>
          </a:p>
          <a:p>
            <a:pPr marL="180975" lvl="1" indent="1588">
              <a:lnSpc>
                <a:spcPts val="23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      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2000" dirty="0">
                <a:latin typeface="Consolas" pitchFamily="49" charset="0"/>
              </a:rPr>
              <a:t> (</a:t>
            </a:r>
            <a:r>
              <a:rPr lang="es-ES" sz="2000" i="1" dirty="0">
                <a:latin typeface="Consolas" pitchFamily="49" charset="0"/>
              </a:rPr>
              <a:t>condición4</a:t>
            </a:r>
            <a:r>
              <a:rPr lang="es-ES" sz="2000" dirty="0">
                <a:latin typeface="Consolas" pitchFamily="49" charset="0"/>
              </a:rPr>
              <a:t>) {...}</a:t>
            </a:r>
          </a:p>
          <a:p>
            <a:pPr marL="180975" lvl="1" indent="1588">
              <a:lnSpc>
                <a:spcPts val="23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      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2000" dirty="0">
                <a:latin typeface="Consolas" pitchFamily="49" charset="0"/>
              </a:rPr>
              <a:t> (</a:t>
            </a:r>
            <a:r>
              <a:rPr lang="es-ES" sz="2000" i="1" dirty="0">
                <a:latin typeface="Consolas" pitchFamily="49" charset="0"/>
              </a:rPr>
              <a:t>condición5</a:t>
            </a:r>
            <a:r>
              <a:rPr lang="es-ES" sz="2000" dirty="0">
                <a:latin typeface="Consolas" pitchFamily="49" charset="0"/>
              </a:rPr>
              <a:t>) {...}</a:t>
            </a:r>
          </a:p>
          <a:p>
            <a:pPr marL="180975" lvl="1" indent="1588">
              <a:lnSpc>
                <a:spcPts val="23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   else</a:t>
            </a:r>
            <a:r>
              <a:rPr lang="es-ES" sz="2000" dirty="0">
                <a:latin typeface="Consolas" pitchFamily="49" charset="0"/>
              </a:rPr>
              <a:t> {...}</a:t>
            </a:r>
          </a:p>
          <a:p>
            <a:pPr marL="180975" lvl="1" indent="1588">
              <a:lnSpc>
                <a:spcPts val="23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   }</a:t>
            </a:r>
          </a:p>
          <a:p>
            <a:pPr marL="180975" lvl="1" indent="1588">
              <a:lnSpc>
                <a:spcPts val="23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else</a:t>
            </a:r>
            <a:r>
              <a:rPr lang="es-ES" sz="2000" dirty="0">
                <a:latin typeface="Consolas" pitchFamily="49" charset="0"/>
              </a:rPr>
              <a:t> { ...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252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6" name="5 Grupo"/>
          <p:cNvGrpSpPr/>
          <p:nvPr/>
        </p:nvGrpSpPr>
        <p:grpSpPr>
          <a:xfrm>
            <a:off x="1907704" y="5733256"/>
            <a:ext cx="5773079" cy="426720"/>
            <a:chOff x="899591" y="5401791"/>
            <a:chExt cx="5655260" cy="426720"/>
          </a:xfrm>
        </p:grpSpPr>
        <p:sp>
          <p:nvSpPr>
            <p:cNvPr id="7" name="6 CuadroTexto"/>
            <p:cNvSpPr txBox="1"/>
            <p:nvPr/>
          </p:nvSpPr>
          <p:spPr>
            <a:xfrm>
              <a:off x="899591" y="5416649"/>
              <a:ext cx="5655260" cy="41186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540000"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La sangría ayuda a asociar los 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else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con sus 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if</a:t>
              </a:r>
              <a:endPara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  <p:pic>
          <p:nvPicPr>
            <p:cNvPr id="8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60" y="5401791"/>
              <a:ext cx="426720" cy="4267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7" name="26 Grupo"/>
          <p:cNvGrpSpPr/>
          <p:nvPr/>
        </p:nvGrpSpPr>
        <p:grpSpPr>
          <a:xfrm>
            <a:off x="626419" y="1499642"/>
            <a:ext cx="746248" cy="1838300"/>
            <a:chOff x="860296" y="1926357"/>
            <a:chExt cx="746248" cy="1838300"/>
          </a:xfrm>
        </p:grpSpPr>
        <p:sp>
          <p:nvSpPr>
            <p:cNvPr id="13" name="12 Elipse"/>
            <p:cNvSpPr/>
            <p:nvPr/>
          </p:nvSpPr>
          <p:spPr>
            <a:xfrm>
              <a:off x="860296" y="1926357"/>
              <a:ext cx="504000" cy="360040"/>
            </a:xfrm>
            <a:prstGeom prst="ellipse">
              <a:avLst/>
            </a:prstGeom>
            <a:noFill/>
            <a:ln w="19050"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13 Elipse"/>
            <p:cNvSpPr/>
            <p:nvPr/>
          </p:nvSpPr>
          <p:spPr>
            <a:xfrm>
              <a:off x="884734" y="3404617"/>
              <a:ext cx="721810" cy="360040"/>
            </a:xfrm>
            <a:prstGeom prst="ellipse">
              <a:avLst/>
            </a:prstGeom>
            <a:noFill/>
            <a:ln w="19050"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16" name="15 Conector recto"/>
            <p:cNvCxnSpPr>
              <a:stCxn id="13" idx="2"/>
              <a:endCxn id="14" idx="2"/>
            </p:cNvCxnSpPr>
            <p:nvPr/>
          </p:nvCxnSpPr>
          <p:spPr>
            <a:xfrm>
              <a:off x="860296" y="2106377"/>
              <a:ext cx="24438" cy="1478260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28 Grupo"/>
          <p:cNvGrpSpPr/>
          <p:nvPr/>
        </p:nvGrpSpPr>
        <p:grpSpPr>
          <a:xfrm>
            <a:off x="1087041" y="3328417"/>
            <a:ext cx="715944" cy="2207865"/>
            <a:chOff x="1125141" y="3395092"/>
            <a:chExt cx="715944" cy="2207865"/>
          </a:xfrm>
        </p:grpSpPr>
        <p:sp>
          <p:nvSpPr>
            <p:cNvPr id="20" name="19 Elipse"/>
            <p:cNvSpPr/>
            <p:nvPr/>
          </p:nvSpPr>
          <p:spPr>
            <a:xfrm>
              <a:off x="1134666" y="3395092"/>
              <a:ext cx="432000" cy="360040"/>
            </a:xfrm>
            <a:prstGeom prst="ellipse">
              <a:avLst/>
            </a:prstGeom>
            <a:noFill/>
            <a:ln w="19050"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" name="20 Elipse"/>
            <p:cNvSpPr/>
            <p:nvPr/>
          </p:nvSpPr>
          <p:spPr>
            <a:xfrm>
              <a:off x="1125141" y="5242917"/>
              <a:ext cx="715944" cy="360040"/>
            </a:xfrm>
            <a:prstGeom prst="ellipse">
              <a:avLst/>
            </a:prstGeom>
            <a:noFill/>
            <a:ln w="19050"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22" name="21 Conector recto"/>
            <p:cNvCxnSpPr>
              <a:stCxn id="20" idx="2"/>
              <a:endCxn id="21" idx="2"/>
            </p:cNvCxnSpPr>
            <p:nvPr/>
          </p:nvCxnSpPr>
          <p:spPr>
            <a:xfrm flipH="1">
              <a:off x="1125141" y="3575112"/>
              <a:ext cx="9525" cy="1847825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49 Grupo"/>
          <p:cNvGrpSpPr/>
          <p:nvPr/>
        </p:nvGrpSpPr>
        <p:grpSpPr>
          <a:xfrm>
            <a:off x="1087097" y="1850157"/>
            <a:ext cx="715888" cy="758180"/>
            <a:chOff x="1087097" y="1941215"/>
            <a:chExt cx="715888" cy="758180"/>
          </a:xfrm>
        </p:grpSpPr>
        <p:grpSp>
          <p:nvGrpSpPr>
            <p:cNvPr id="28" name="27 Grupo"/>
            <p:cNvGrpSpPr/>
            <p:nvPr/>
          </p:nvGrpSpPr>
          <p:grpSpPr>
            <a:xfrm>
              <a:off x="1087097" y="1941215"/>
              <a:ext cx="715888" cy="758180"/>
              <a:chOff x="1115616" y="2276872"/>
              <a:chExt cx="715888" cy="758180"/>
            </a:xfrm>
          </p:grpSpPr>
          <p:sp>
            <p:nvSpPr>
              <p:cNvPr id="11" name="10 Elipse"/>
              <p:cNvSpPr/>
              <p:nvPr/>
            </p:nvSpPr>
            <p:spPr>
              <a:xfrm>
                <a:off x="1115616" y="2276872"/>
                <a:ext cx="432000" cy="360040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2" name="11 Elipse"/>
              <p:cNvSpPr/>
              <p:nvPr/>
            </p:nvSpPr>
            <p:spPr>
              <a:xfrm>
                <a:off x="1115616" y="2675012"/>
                <a:ext cx="715888" cy="360040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cxnSp>
          <p:nvCxnSpPr>
            <p:cNvPr id="47" name="46 Conector recto"/>
            <p:cNvCxnSpPr>
              <a:endCxn id="12" idx="2"/>
            </p:cNvCxnSpPr>
            <p:nvPr/>
          </p:nvCxnSpPr>
          <p:spPr>
            <a:xfrm flipH="1">
              <a:off x="1087097" y="2092088"/>
              <a:ext cx="1" cy="427287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50 Grupo"/>
          <p:cNvGrpSpPr/>
          <p:nvPr/>
        </p:nvGrpSpPr>
        <p:grpSpPr>
          <a:xfrm>
            <a:off x="1504231" y="4051952"/>
            <a:ext cx="715888" cy="758180"/>
            <a:chOff x="1087097" y="1941215"/>
            <a:chExt cx="715888" cy="758180"/>
          </a:xfrm>
        </p:grpSpPr>
        <p:grpSp>
          <p:nvGrpSpPr>
            <p:cNvPr id="52" name="51 Grupo"/>
            <p:cNvGrpSpPr/>
            <p:nvPr/>
          </p:nvGrpSpPr>
          <p:grpSpPr>
            <a:xfrm>
              <a:off x="1087097" y="1941215"/>
              <a:ext cx="715888" cy="758180"/>
              <a:chOff x="1115616" y="2276872"/>
              <a:chExt cx="715888" cy="758180"/>
            </a:xfrm>
          </p:grpSpPr>
          <p:sp>
            <p:nvSpPr>
              <p:cNvPr id="54" name="53 Elipse"/>
              <p:cNvSpPr/>
              <p:nvPr/>
            </p:nvSpPr>
            <p:spPr>
              <a:xfrm>
                <a:off x="1115616" y="2276872"/>
                <a:ext cx="432000" cy="360040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5" name="54 Elipse"/>
              <p:cNvSpPr/>
              <p:nvPr/>
            </p:nvSpPr>
            <p:spPr>
              <a:xfrm>
                <a:off x="1115616" y="2675012"/>
                <a:ext cx="715888" cy="360040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cxnSp>
          <p:nvCxnSpPr>
            <p:cNvPr id="53" name="52 Conector recto"/>
            <p:cNvCxnSpPr>
              <a:endCxn id="55" idx="2"/>
            </p:cNvCxnSpPr>
            <p:nvPr/>
          </p:nvCxnSpPr>
          <p:spPr>
            <a:xfrm flipH="1">
              <a:off x="1087097" y="2092088"/>
              <a:ext cx="1" cy="427287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42 Grupo"/>
          <p:cNvGrpSpPr/>
          <p:nvPr/>
        </p:nvGrpSpPr>
        <p:grpSpPr>
          <a:xfrm>
            <a:off x="4716016" y="1700808"/>
            <a:ext cx="3970784" cy="3031599"/>
            <a:chOff x="4716016" y="1700808"/>
            <a:chExt cx="3970784" cy="3031599"/>
          </a:xfrm>
        </p:grpSpPr>
        <p:grpSp>
          <p:nvGrpSpPr>
            <p:cNvPr id="31" name="30 Grupo"/>
            <p:cNvGrpSpPr/>
            <p:nvPr/>
          </p:nvGrpSpPr>
          <p:grpSpPr>
            <a:xfrm>
              <a:off x="4716016" y="1700808"/>
              <a:ext cx="3970784" cy="3031599"/>
              <a:chOff x="4788023" y="2008579"/>
              <a:chExt cx="3771801" cy="3031599"/>
            </a:xfrm>
          </p:grpSpPr>
          <p:sp>
            <p:nvSpPr>
              <p:cNvPr id="37" name="36 CuadroTexto"/>
              <p:cNvSpPr txBox="1"/>
              <p:nvPr/>
            </p:nvSpPr>
            <p:spPr>
              <a:xfrm>
                <a:off x="4788023" y="2008579"/>
                <a:ext cx="3771801" cy="3031599"/>
              </a:xfrm>
              <a:prstGeom prst="rect">
                <a:avLst/>
              </a:prstGeom>
              <a:noFill/>
              <a:ln w="1905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72000">
                  <a:spcAft>
                    <a:spcPts val="600"/>
                  </a:spcAft>
                </a:pPr>
                <a:r>
                  <a:rPr lang="es-ES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Una mala sangría puede confundir</a:t>
                </a:r>
              </a:p>
              <a:p>
                <a:pPr marL="541338">
                  <a:spcAft>
                    <a:spcPts val="600"/>
                  </a:spcAft>
                </a:pPr>
                <a:r>
                  <a:rPr lang="es-ES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if</a:t>
                </a:r>
                <a:r>
                  <a:rPr lang="es-ES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 (x &gt; </a:t>
                </a:r>
                <a:r>
                  <a:rPr lang="es-ES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0</a:t>
                </a:r>
                <a:r>
                  <a:rPr lang="es-ES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) {</a:t>
                </a:r>
              </a:p>
              <a:p>
                <a:pPr marL="541338">
                  <a:spcAft>
                    <a:spcPts val="600"/>
                  </a:spcAft>
                </a:pPr>
                <a:r>
                  <a:rPr lang="es-ES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   if</a:t>
                </a:r>
                <a:r>
                  <a:rPr lang="es-ES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 (y &gt; </a:t>
                </a:r>
                <a:r>
                  <a:rPr lang="es-ES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0</a:t>
                </a:r>
                <a:r>
                  <a:rPr lang="es-ES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) {...}</a:t>
                </a:r>
              </a:p>
              <a:p>
                <a:pPr marL="541338">
                  <a:spcAft>
                    <a:spcPts val="1200"/>
                  </a:spcAft>
                </a:pPr>
                <a:r>
                  <a:rPr lang="es-ES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else</a:t>
                </a:r>
                <a:r>
                  <a:rPr lang="es-ES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 {...}</a:t>
                </a:r>
              </a:p>
              <a:p>
                <a:pPr marL="541338">
                  <a:spcAft>
                    <a:spcPts val="1200"/>
                  </a:spcAft>
                </a:pPr>
                <a:endPara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endParaRPr>
              </a:p>
              <a:p>
                <a:pPr marL="541338">
                  <a:spcAft>
                    <a:spcPts val="600"/>
                  </a:spcAft>
                </a:pPr>
                <a:r>
                  <a:rPr lang="es-ES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if</a:t>
                </a:r>
                <a:r>
                  <a:rPr lang="es-ES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 (x &gt; </a:t>
                </a:r>
                <a:r>
                  <a:rPr lang="es-ES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0</a:t>
                </a:r>
                <a:r>
                  <a:rPr lang="es-ES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) {</a:t>
                </a:r>
              </a:p>
              <a:p>
                <a:pPr marL="541338">
                  <a:spcAft>
                    <a:spcPts val="600"/>
                  </a:spcAft>
                </a:pPr>
                <a:r>
                  <a:rPr lang="es-ES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   if</a:t>
                </a:r>
                <a:r>
                  <a:rPr lang="es-ES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 (y &gt; </a:t>
                </a:r>
                <a:r>
                  <a:rPr lang="es-ES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0</a:t>
                </a:r>
                <a:r>
                  <a:rPr lang="es-ES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) {...}</a:t>
                </a:r>
              </a:p>
              <a:p>
                <a:pPr marL="541338">
                  <a:spcAft>
                    <a:spcPts val="1200"/>
                  </a:spcAft>
                </a:pPr>
                <a:r>
                  <a:rPr lang="es-ES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   else</a:t>
                </a:r>
                <a:r>
                  <a:rPr lang="es-ES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 {...}</a:t>
                </a:r>
              </a:p>
            </p:txBody>
          </p:sp>
          <p:sp>
            <p:nvSpPr>
              <p:cNvPr id="38" name="37 Elipse"/>
              <p:cNvSpPr/>
              <p:nvPr/>
            </p:nvSpPr>
            <p:spPr>
              <a:xfrm>
                <a:off x="5312811" y="3109881"/>
                <a:ext cx="612000" cy="324000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1600"/>
              </a:p>
            </p:txBody>
          </p:sp>
          <p:sp>
            <p:nvSpPr>
              <p:cNvPr id="39" name="38 Elipse"/>
              <p:cNvSpPr/>
              <p:nvPr/>
            </p:nvSpPr>
            <p:spPr>
              <a:xfrm>
                <a:off x="5682376" y="2757234"/>
                <a:ext cx="360000" cy="324000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1600"/>
              </a:p>
            </p:txBody>
          </p:sp>
        </p:grpSp>
        <p:sp>
          <p:nvSpPr>
            <p:cNvPr id="40" name="39 Flecha abajo"/>
            <p:cNvSpPr/>
            <p:nvPr/>
          </p:nvSpPr>
          <p:spPr>
            <a:xfrm>
              <a:off x="5796136" y="3337942"/>
              <a:ext cx="1008112" cy="180020"/>
            </a:xfrm>
            <a:prstGeom prst="down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91460146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253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351898" y="3044280"/>
            <a:ext cx="4440383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Bloques de código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24 CuadroTexto"/>
          <p:cNvSpPr txBox="1"/>
          <p:nvPr/>
        </p:nvSpPr>
        <p:spPr>
          <a:xfrm>
            <a:off x="6226935" y="2204864"/>
            <a:ext cx="2161489" cy="193899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s-ES" sz="2000" i="1" dirty="0">
                <a:latin typeface="Consolas" pitchFamily="49" charset="0"/>
                <a:cs typeface="Consolas" pitchFamily="49" charset="0"/>
              </a:rPr>
              <a:t>intrucción1</a:t>
            </a:r>
            <a:endParaRPr lang="es-ES" sz="2000" dirty="0">
              <a:latin typeface="Consolas" pitchFamily="49" charset="0"/>
              <a:cs typeface="Consolas" pitchFamily="49" charset="0"/>
            </a:endParaRP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s-ES" sz="2000" i="1" dirty="0">
                <a:latin typeface="Consolas" pitchFamily="49" charset="0"/>
                <a:cs typeface="Consolas" pitchFamily="49" charset="0"/>
              </a:rPr>
              <a:t>intrucción2</a:t>
            </a:r>
            <a:endParaRPr lang="es-ES" sz="2000" dirty="0">
              <a:latin typeface="Consolas" pitchFamily="49" charset="0"/>
              <a:cs typeface="Consolas" pitchFamily="49" charset="0"/>
            </a:endParaRP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s-ES" sz="2000" i="1" dirty="0" err="1">
                <a:latin typeface="Consolas" pitchFamily="49" charset="0"/>
                <a:cs typeface="Consolas" pitchFamily="49" charset="0"/>
              </a:rPr>
              <a:t>intrucciónN</a:t>
            </a:r>
            <a:endParaRPr lang="es-ES" sz="2000" dirty="0">
              <a:latin typeface="Consolas" pitchFamily="49" charset="0"/>
              <a:cs typeface="Consolas" pitchFamily="49" charset="0"/>
            </a:endParaRP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Bloques de código</a:t>
            </a:r>
            <a:endParaRPr lang="es-ES" i="1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254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42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Agrupación de instrucciones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Grupo de instrucciones a ejecutar en una rama del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endParaRPr lang="es-ES" dirty="0"/>
          </a:p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SzPct val="85000"/>
              <a:buNone/>
            </a:pPr>
            <a:endParaRPr lang="es-ES" sz="1800" dirty="0">
              <a:solidFill>
                <a:prstClr val="white"/>
              </a:solidFill>
              <a:latin typeface="Consolas" pitchFamily="49" charset="0"/>
            </a:endParaRPr>
          </a:p>
        </p:txBody>
      </p:sp>
      <p:grpSp>
        <p:nvGrpSpPr>
          <p:cNvPr id="33" name="32 Grupo"/>
          <p:cNvGrpSpPr/>
          <p:nvPr/>
        </p:nvGrpSpPr>
        <p:grpSpPr>
          <a:xfrm>
            <a:off x="5752114" y="2622054"/>
            <a:ext cx="959827" cy="1152128"/>
            <a:chOff x="5700405" y="3054102"/>
            <a:chExt cx="959827" cy="1152128"/>
          </a:xfrm>
        </p:grpSpPr>
        <p:cxnSp>
          <p:nvCxnSpPr>
            <p:cNvPr id="6" name="5 Conector recto"/>
            <p:cNvCxnSpPr/>
            <p:nvPr/>
          </p:nvCxnSpPr>
          <p:spPr>
            <a:xfrm>
              <a:off x="6654899" y="3054102"/>
              <a:ext cx="0" cy="1152128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6 Conector recto de flecha"/>
            <p:cNvCxnSpPr/>
            <p:nvPr/>
          </p:nvCxnSpPr>
          <p:spPr>
            <a:xfrm>
              <a:off x="6372200" y="3645024"/>
              <a:ext cx="288032" cy="0"/>
            </a:xfrm>
            <a:prstGeom prst="straightConnector1">
              <a:avLst/>
            </a:prstGeom>
            <a:ln w="2222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7 CuadroTexto"/>
            <p:cNvSpPr txBox="1"/>
            <p:nvPr/>
          </p:nvSpPr>
          <p:spPr>
            <a:xfrm>
              <a:off x="5700405" y="3314769"/>
              <a:ext cx="686406" cy="66172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Tab ó</a:t>
              </a:r>
            </a:p>
            <a:p>
              <a:pPr algn="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3 </a:t>
              </a:r>
              <a:r>
                <a:rPr lang="es-ES" sz="16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esp</a:t>
              </a: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.</a:t>
              </a:r>
            </a:p>
          </p:txBody>
        </p:sp>
      </p:grpSp>
      <p:grpSp>
        <p:nvGrpSpPr>
          <p:cNvPr id="13" name="12 Grupo"/>
          <p:cNvGrpSpPr/>
          <p:nvPr/>
        </p:nvGrpSpPr>
        <p:grpSpPr>
          <a:xfrm>
            <a:off x="2015956" y="2489286"/>
            <a:ext cx="2160241" cy="515339"/>
            <a:chOff x="2267744" y="5194312"/>
            <a:chExt cx="2160241" cy="5153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14" name="13 Conector recto"/>
            <p:cNvCxnSpPr/>
            <p:nvPr/>
          </p:nvCxnSpPr>
          <p:spPr>
            <a:xfrm rot="5400000" flipH="1" flipV="1">
              <a:off x="4170315" y="5451982"/>
              <a:ext cx="515339" cy="0"/>
            </a:xfrm>
            <a:prstGeom prst="line">
              <a:avLst/>
            </a:prstGeom>
            <a:ln w="28575">
              <a:solidFill>
                <a:srgbClr val="FFC000"/>
              </a:solidFill>
              <a:headEnd type="none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14 Conector recto"/>
            <p:cNvCxnSpPr/>
            <p:nvPr/>
          </p:nvCxnSpPr>
          <p:spPr>
            <a:xfrm rot="5400000" flipH="1" flipV="1">
              <a:off x="2015716" y="5457623"/>
              <a:ext cx="504056" cy="0"/>
            </a:xfrm>
            <a:prstGeom prst="line">
              <a:avLst/>
            </a:prstGeom>
            <a:ln w="28575">
              <a:solidFill>
                <a:srgbClr val="FFC000"/>
              </a:solidFill>
              <a:headEnd type="none"/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15 Conector recto"/>
            <p:cNvCxnSpPr/>
            <p:nvPr/>
          </p:nvCxnSpPr>
          <p:spPr>
            <a:xfrm>
              <a:off x="2267744" y="5700126"/>
              <a:ext cx="216024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21 Rectángulo"/>
          <p:cNvSpPr/>
          <p:nvPr/>
        </p:nvSpPr>
        <p:spPr>
          <a:xfrm>
            <a:off x="1115616" y="3429000"/>
            <a:ext cx="403244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SzPct val="85000"/>
              <a:buNone/>
            </a:pPr>
            <a:r>
              <a:rPr lang="es-E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num, total =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SzPct val="85000"/>
              <a:buNone/>
            </a:pP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cin &gt;&gt; num;</a:t>
            </a:r>
          </a:p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SzPct val="85000"/>
              <a:buNone/>
            </a:pPr>
            <a:r>
              <a:rPr lang="es-ES" sz="2000" dirty="0">
                <a:solidFill>
                  <a:srgbClr val="009DD9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if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(num &gt;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</a:t>
            </a:r>
          </a:p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SzPct val="85000"/>
              <a:buNone/>
            </a:pP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{</a:t>
            </a:r>
          </a:p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SzPct val="85000"/>
              <a:buNone/>
            </a:pP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cout &lt;&lt;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"Positivo"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SzPct val="85000"/>
              <a:buNone/>
            </a:pP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total = total + num;</a:t>
            </a:r>
          </a:p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SzPct val="85000"/>
              <a:buNone/>
            </a:pP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  <a:p>
            <a:pPr lvl="1" indent="1588">
              <a:spcBef>
                <a:spcPts val="0"/>
              </a:spcBef>
              <a:spcAft>
                <a:spcPts val="300"/>
              </a:spcAft>
              <a:buClr>
                <a:srgbClr val="0F6FC6">
                  <a:lumMod val="40000"/>
                  <a:lumOff val="60000"/>
                </a:srgbClr>
              </a:buClr>
              <a:buSzPct val="85000"/>
              <a:buNone/>
            </a:pP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cout &lt;&lt; endl;</a:t>
            </a:r>
            <a:endPara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22 Rectángulo"/>
          <p:cNvSpPr/>
          <p:nvPr/>
        </p:nvSpPr>
        <p:spPr>
          <a:xfrm>
            <a:off x="1644054" y="4403204"/>
            <a:ext cx="3359994" cy="1258044"/>
          </a:xfrm>
          <a:prstGeom prst="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23 CuadroTexto"/>
          <p:cNvSpPr txBox="1"/>
          <p:nvPr/>
        </p:nvSpPr>
        <p:spPr>
          <a:xfrm>
            <a:off x="5364088" y="4665330"/>
            <a:ext cx="2685800" cy="70788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Ámbito local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(declaraciones locales)</a:t>
            </a:r>
          </a:p>
        </p:txBody>
      </p:sp>
      <p:grpSp>
        <p:nvGrpSpPr>
          <p:cNvPr id="31" name="30 Grupo"/>
          <p:cNvGrpSpPr/>
          <p:nvPr/>
        </p:nvGrpSpPr>
        <p:grpSpPr>
          <a:xfrm>
            <a:off x="4423762" y="2289950"/>
            <a:ext cx="868318" cy="432000"/>
            <a:chOff x="4423762" y="2714326"/>
            <a:chExt cx="868318" cy="432000"/>
          </a:xfrm>
        </p:grpSpPr>
        <p:cxnSp>
          <p:nvCxnSpPr>
            <p:cNvPr id="28" name="27 Conector recto de flecha"/>
            <p:cNvCxnSpPr/>
            <p:nvPr/>
          </p:nvCxnSpPr>
          <p:spPr>
            <a:xfrm flipV="1">
              <a:off x="4788024" y="2924947"/>
              <a:ext cx="504056" cy="1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18 Elipse"/>
            <p:cNvSpPr/>
            <p:nvPr/>
          </p:nvSpPr>
          <p:spPr>
            <a:xfrm>
              <a:off x="4423762" y="2714326"/>
              <a:ext cx="370384" cy="4320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}</a:t>
              </a:r>
            </a:p>
          </p:txBody>
        </p:sp>
      </p:grpSp>
      <p:grpSp>
        <p:nvGrpSpPr>
          <p:cNvPr id="30" name="29 Grupo"/>
          <p:cNvGrpSpPr/>
          <p:nvPr/>
        </p:nvGrpSpPr>
        <p:grpSpPr>
          <a:xfrm>
            <a:off x="1655916" y="2309000"/>
            <a:ext cx="2772068" cy="400110"/>
            <a:chOff x="1655916" y="2733376"/>
            <a:chExt cx="2772068" cy="400110"/>
          </a:xfrm>
        </p:grpSpPr>
        <p:cxnSp>
          <p:nvCxnSpPr>
            <p:cNvPr id="12" name="11 Conector recto de flecha"/>
            <p:cNvCxnSpPr/>
            <p:nvPr/>
          </p:nvCxnSpPr>
          <p:spPr>
            <a:xfrm flipV="1">
              <a:off x="1655916" y="2924946"/>
              <a:ext cx="2772068" cy="1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16 CuadroTexto"/>
            <p:cNvSpPr txBox="1"/>
            <p:nvPr/>
          </p:nvSpPr>
          <p:spPr>
            <a:xfrm>
              <a:off x="2483768" y="2733376"/>
              <a:ext cx="1312860" cy="40011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sz="2000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instrucción</a:t>
              </a:r>
            </a:p>
          </p:txBody>
        </p:sp>
      </p:grpSp>
      <p:grpSp>
        <p:nvGrpSpPr>
          <p:cNvPr id="26" name="25 Grupo"/>
          <p:cNvGrpSpPr/>
          <p:nvPr/>
        </p:nvGrpSpPr>
        <p:grpSpPr>
          <a:xfrm>
            <a:off x="971600" y="2276872"/>
            <a:ext cx="874440" cy="432000"/>
            <a:chOff x="971600" y="2701248"/>
            <a:chExt cx="874440" cy="432000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971600" y="2917248"/>
              <a:ext cx="50405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19 Elipse"/>
            <p:cNvSpPr/>
            <p:nvPr/>
          </p:nvSpPr>
          <p:spPr>
            <a:xfrm>
              <a:off x="1475656" y="2701248"/>
              <a:ext cx="370384" cy="4320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{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2" grpId="0" uiExpand="1" build="p" bldLvl="2"/>
      <p:bldP spid="23" grpId="0" animBg="1"/>
      <p:bldP spid="2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Bloques de código</a:t>
            </a:r>
            <a:endParaRPr lang="es-ES" i="1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255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42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 lnSpcReduction="10000"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Posición de las llaves: cuestión de estilo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buNone/>
              <a:tabLst>
                <a:tab pos="4305300" algn="l"/>
              </a:tabLst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2000" dirty="0">
                <a:latin typeface="Consolas" pitchFamily="49" charset="0"/>
              </a:rPr>
              <a:t> (num &gt;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2000" dirty="0">
                <a:latin typeface="Consolas" pitchFamily="49" charset="0"/>
              </a:rPr>
              <a:t>)	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2000" dirty="0">
                <a:latin typeface="Consolas" pitchFamily="49" charset="0"/>
              </a:rPr>
              <a:t> (num &gt;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2000" dirty="0">
                <a:latin typeface="Consolas" pitchFamily="49" charset="0"/>
              </a:rPr>
              <a:t>)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{</a:t>
            </a:r>
          </a:p>
          <a:p>
            <a:pPr lvl="1" indent="1588">
              <a:spcBef>
                <a:spcPts val="0"/>
              </a:spcBef>
              <a:buNone/>
              <a:tabLst>
                <a:tab pos="4305300" algn="l"/>
              </a:tabLst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{</a:t>
            </a:r>
            <a:r>
              <a:rPr lang="es-ES" sz="2000" dirty="0">
                <a:latin typeface="Consolas" pitchFamily="49" charset="0"/>
              </a:rPr>
              <a:t>	   cout &lt;&lt;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"Positivo"</a:t>
            </a:r>
            <a:r>
              <a:rPr lang="es-ES" sz="20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None/>
              <a:tabLst>
                <a:tab pos="4305300" algn="l"/>
              </a:tabLst>
            </a:pPr>
            <a:r>
              <a:rPr lang="es-ES" sz="2000" dirty="0">
                <a:latin typeface="Consolas" pitchFamily="49" charset="0"/>
              </a:rPr>
              <a:t>   cout &lt;&lt;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"Positivo"</a:t>
            </a:r>
            <a:r>
              <a:rPr lang="es-ES" sz="2000" dirty="0">
                <a:latin typeface="Consolas" pitchFamily="49" charset="0"/>
              </a:rPr>
              <a:t>;	   total = total + num;</a:t>
            </a:r>
          </a:p>
          <a:p>
            <a:pPr lvl="1" indent="1588">
              <a:spcBef>
                <a:spcPts val="0"/>
              </a:spcBef>
              <a:buNone/>
              <a:tabLst>
                <a:tab pos="4305300" algn="l"/>
              </a:tabLst>
            </a:pPr>
            <a:r>
              <a:rPr lang="es-ES" sz="2000" dirty="0">
                <a:latin typeface="Consolas" pitchFamily="49" charset="0"/>
              </a:rPr>
              <a:t>   total = total + num;	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}</a:t>
            </a:r>
          </a:p>
          <a:p>
            <a:pPr lvl="1" indent="1588">
              <a:spcBef>
                <a:spcPts val="0"/>
              </a:spcBef>
              <a:buNone/>
              <a:tabLst>
                <a:tab pos="4305300" algn="l"/>
              </a:tabLst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}</a:t>
            </a:r>
            <a:r>
              <a:rPr lang="es-ES" sz="2000" dirty="0">
                <a:latin typeface="Consolas" pitchFamily="49" charset="0"/>
              </a:rPr>
              <a:t>	</a:t>
            </a:r>
          </a:p>
          <a:p>
            <a:pPr lvl="1" indent="1588">
              <a:spcBef>
                <a:spcPts val="0"/>
              </a:spcBef>
              <a:spcAft>
                <a:spcPts val="1200"/>
              </a:spcAft>
              <a:buNone/>
              <a:tabLst>
                <a:tab pos="4305300" algn="l"/>
              </a:tabLst>
            </a:pPr>
            <a:endParaRPr lang="es-ES" sz="1800" dirty="0">
              <a:latin typeface="Consolas" pitchFamily="49" charset="0"/>
            </a:endParaRPr>
          </a:p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No necesitamos las llaves si sólo hay una instrucción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buNone/>
              <a:tabLst>
                <a:tab pos="4305300" algn="l"/>
              </a:tabLst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2000" dirty="0">
                <a:latin typeface="Consolas" pitchFamily="49" charset="0"/>
              </a:rPr>
              <a:t> (num &gt;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2000" dirty="0">
                <a:latin typeface="Consolas" pitchFamily="49" charset="0"/>
              </a:rPr>
              <a:t>)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{</a:t>
            </a:r>
            <a:r>
              <a:rPr lang="es-ES" sz="2000" dirty="0">
                <a:latin typeface="Consolas" pitchFamily="49" charset="0"/>
              </a:rPr>
              <a:t>	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s-ES" sz="2000" dirty="0">
                <a:latin typeface="Consolas" pitchFamily="49" charset="0"/>
              </a:rPr>
              <a:t> (num &gt;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2000" dirty="0">
                <a:latin typeface="Consolas" pitchFamily="49" charset="0"/>
              </a:rPr>
              <a:t>)</a:t>
            </a:r>
            <a:endParaRPr lang="es-ES" sz="2000" dirty="0">
              <a:solidFill>
                <a:srgbClr val="FFC000"/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buNone/>
              <a:tabLst>
                <a:tab pos="4305300" algn="l"/>
              </a:tabLst>
            </a:pPr>
            <a:r>
              <a:rPr lang="es-ES" sz="2000" dirty="0">
                <a:latin typeface="Consolas" pitchFamily="49" charset="0"/>
              </a:rPr>
              <a:t>   cout &lt;&lt;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"Positivo"</a:t>
            </a:r>
            <a:r>
              <a:rPr lang="es-ES" sz="2000" dirty="0">
                <a:latin typeface="Consolas" pitchFamily="49" charset="0"/>
              </a:rPr>
              <a:t>;	   cout &lt;&lt;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"Positivo"</a:t>
            </a:r>
            <a:r>
              <a:rPr lang="es-ES" sz="20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  <a:tabLst>
                <a:tab pos="4305300" algn="l"/>
              </a:tabLst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}</a:t>
            </a:r>
            <a:endParaRPr lang="es-ES" sz="2000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</a:rPr>
              <a:t>Usaremos siempre llaves por simplicidad...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</a:rPr>
              <a:t>Evita poner el 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s-ES" sz="2000" dirty="0">
                <a:solidFill>
                  <a:prstClr val="white"/>
                </a:solidFill>
              </a:rPr>
              <a:t> y la instrucción objetivo en la misma línea: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	if</a:t>
            </a:r>
            <a:r>
              <a:rPr lang="es-ES" sz="1800" dirty="0">
                <a:latin typeface="Consolas" pitchFamily="49" charset="0"/>
              </a:rPr>
              <a:t> (num &gt;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</a:rPr>
              <a:t>) cout &lt;&lt;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"Positivo"</a:t>
            </a:r>
            <a:r>
              <a:rPr lang="es-ES" sz="1800" dirty="0">
                <a:latin typeface="Consolas" pitchFamily="49" charset="0"/>
              </a:rPr>
              <a:t>;</a:t>
            </a:r>
            <a:endParaRPr lang="es-ES" sz="1800" dirty="0">
              <a:solidFill>
                <a:prstClr val="white"/>
              </a:solidFill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4211960" y="3789040"/>
            <a:ext cx="437941" cy="64633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3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sym typeface="Symbol"/>
              </a:rPr>
              <a:t></a:t>
            </a:r>
            <a:endParaRPr lang="es-ES" sz="36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  <p:grpSp>
        <p:nvGrpSpPr>
          <p:cNvPr id="7" name="6 Grupo"/>
          <p:cNvGrpSpPr/>
          <p:nvPr/>
        </p:nvGrpSpPr>
        <p:grpSpPr>
          <a:xfrm>
            <a:off x="3131840" y="5445224"/>
            <a:ext cx="2160240" cy="288032"/>
            <a:chOff x="7092280" y="5301208"/>
            <a:chExt cx="1152128" cy="360040"/>
          </a:xfrm>
        </p:grpSpPr>
        <p:cxnSp>
          <p:nvCxnSpPr>
            <p:cNvPr id="8" name="7 Conector recto"/>
            <p:cNvCxnSpPr/>
            <p:nvPr/>
          </p:nvCxnSpPr>
          <p:spPr>
            <a:xfrm>
              <a:off x="7092280" y="5301208"/>
              <a:ext cx="1152128" cy="36004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8 Conector recto"/>
            <p:cNvCxnSpPr/>
            <p:nvPr/>
          </p:nvCxnSpPr>
          <p:spPr>
            <a:xfrm flipV="1">
              <a:off x="7092280" y="5301208"/>
              <a:ext cx="1152128" cy="36004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upo 9"/>
          <p:cNvGrpSpPr/>
          <p:nvPr/>
        </p:nvGrpSpPr>
        <p:grpSpPr>
          <a:xfrm>
            <a:off x="1907704" y="5551140"/>
            <a:ext cx="4176464" cy="335062"/>
            <a:chOff x="1907704" y="6021288"/>
            <a:chExt cx="4176464" cy="335062"/>
          </a:xfrm>
        </p:grpSpPr>
        <p:cxnSp>
          <p:nvCxnSpPr>
            <p:cNvPr id="11" name="Conector recto 10"/>
            <p:cNvCxnSpPr/>
            <p:nvPr/>
          </p:nvCxnSpPr>
          <p:spPr>
            <a:xfrm>
              <a:off x="5580112" y="6021288"/>
              <a:ext cx="504056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/>
            <p:cNvCxnSpPr/>
            <p:nvPr/>
          </p:nvCxnSpPr>
          <p:spPr>
            <a:xfrm>
              <a:off x="6074120" y="6021288"/>
              <a:ext cx="0" cy="335062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/>
            <p:cNvCxnSpPr/>
            <p:nvPr/>
          </p:nvCxnSpPr>
          <p:spPr>
            <a:xfrm flipH="1">
              <a:off x="1907704" y="6356350"/>
              <a:ext cx="4176464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35" presetClass="emph" presetSubtype="0" repeatCount="5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256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873249" y="3044280"/>
            <a:ext cx="5397696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La instrucción </a:t>
            </a:r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j-ea"/>
                <a:cs typeface="Consolas" pitchFamily="49" charset="0"/>
              </a:rPr>
              <a:t>switch</a:t>
            </a:r>
            <a:endParaRPr lang="es-ES" sz="2400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La instrucción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switch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marL="0"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8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Selección entre valores posibles de una expresión</a:t>
            </a:r>
          </a:p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endParaRPr lang="es-ES" sz="18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257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41" name="40 Rectángulo"/>
          <p:cNvSpPr/>
          <p:nvPr/>
        </p:nvSpPr>
        <p:spPr>
          <a:xfrm>
            <a:off x="827584" y="1772816"/>
            <a:ext cx="7859216" cy="3785652"/>
          </a:xfrm>
          <a:prstGeom prst="rect">
            <a:avLst/>
          </a:prstGeom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numCol="2" spcCol="720000">
            <a:spAutoFit/>
          </a:bodyPr>
          <a:lstStyle/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switch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(</a:t>
            </a:r>
            <a:r>
              <a:rPr lang="es-E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expresión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{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case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constante1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: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{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código1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[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break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;]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case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constante2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: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{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código2</a:t>
            </a:r>
            <a:endPara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[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break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;]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...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case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constanteN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: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{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</a:t>
            </a:r>
            <a:r>
              <a:rPr lang="es-ES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códigoN</a:t>
            </a:r>
            <a:endPara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[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break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;]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[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default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: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{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</a:t>
            </a:r>
            <a:r>
              <a:rPr lang="es-ES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códigoDefault</a:t>
            </a:r>
            <a:endPara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}]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</p:txBody>
      </p:sp>
      <p:cxnSp>
        <p:nvCxnSpPr>
          <p:cNvPr id="13" name="12 Conector recto"/>
          <p:cNvCxnSpPr/>
          <p:nvPr/>
        </p:nvCxnSpPr>
        <p:spPr>
          <a:xfrm>
            <a:off x="1547664" y="5507707"/>
            <a:ext cx="3024336" cy="0"/>
          </a:xfrm>
          <a:prstGeom prst="line">
            <a:avLst/>
          </a:prstGeom>
          <a:ln w="28575">
            <a:solidFill>
              <a:srgbClr val="FFC00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flipV="1">
            <a:off x="4572000" y="1988840"/>
            <a:ext cx="0" cy="3528392"/>
          </a:xfrm>
          <a:prstGeom prst="line">
            <a:avLst/>
          </a:prstGeom>
          <a:ln w="28575">
            <a:solidFill>
              <a:srgbClr val="FFC00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 de flecha"/>
          <p:cNvCxnSpPr/>
          <p:nvPr/>
        </p:nvCxnSpPr>
        <p:spPr>
          <a:xfrm>
            <a:off x="4572000" y="1998365"/>
            <a:ext cx="432048" cy="0"/>
          </a:xfrm>
          <a:prstGeom prst="straightConnector1">
            <a:avLst/>
          </a:prstGeom>
          <a:ln w="28575">
            <a:solidFill>
              <a:srgbClr val="FFC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1288207" y="2464513"/>
            <a:ext cx="0" cy="1180511"/>
          </a:xfrm>
          <a:prstGeom prst="line">
            <a:avLst/>
          </a:prstGeom>
          <a:ln w="3175">
            <a:solidFill>
              <a:srgbClr val="FFC000"/>
            </a:solidFill>
            <a:prstDash val="sysDot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1288207" y="3980681"/>
            <a:ext cx="0" cy="1180511"/>
          </a:xfrm>
          <a:prstGeom prst="line">
            <a:avLst/>
          </a:prstGeom>
          <a:ln w="3175">
            <a:solidFill>
              <a:srgbClr val="FFC000"/>
            </a:solidFill>
            <a:prstDash val="sysDot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>
            <a:off x="5508104" y="2128664"/>
            <a:ext cx="0" cy="1180511"/>
          </a:xfrm>
          <a:prstGeom prst="line">
            <a:avLst/>
          </a:prstGeom>
          <a:ln w="3175">
            <a:solidFill>
              <a:srgbClr val="FFC000"/>
            </a:solidFill>
            <a:prstDash val="sysDot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>
            <a:off x="5508104" y="3664074"/>
            <a:ext cx="0" cy="936104"/>
          </a:xfrm>
          <a:prstGeom prst="line">
            <a:avLst/>
          </a:prstGeom>
          <a:ln w="3175">
            <a:solidFill>
              <a:srgbClr val="FFC000"/>
            </a:solidFill>
            <a:prstDash val="sysDot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La instrucción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switch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258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7239548" y="404664"/>
            <a:ext cx="1451038" cy="369332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nivel2.cpp</a:t>
            </a:r>
          </a:p>
        </p:txBody>
      </p:sp>
      <p:sp>
        <p:nvSpPr>
          <p:cNvPr id="9" name="8 Rectángulo"/>
          <p:cNvSpPr/>
          <p:nvPr/>
        </p:nvSpPr>
        <p:spPr>
          <a:xfrm>
            <a:off x="808534" y="980728"/>
            <a:ext cx="5707682" cy="54286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switch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(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num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{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case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4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: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{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cout &lt;&lt; 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"Muy alto"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break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case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3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: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{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cout &lt;&lt; 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"Alto"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break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case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2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: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{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cout &lt;&lt; 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"Medio"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break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case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: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{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cout &lt;&lt; 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"Bajo"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break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default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: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{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cout &lt;&lt; 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"Valor no válido"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0" lvl="1" indent="1588">
              <a:lnSpc>
                <a:spcPts val="1600"/>
              </a:lnSpc>
              <a:spcBef>
                <a:spcPts val="0"/>
              </a:spcBef>
              <a:buNone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5859602" y="980728"/>
            <a:ext cx="296087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 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num == 4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sym typeface="Wingdings" pitchFamily="2" charset="2"/>
              </a:rPr>
              <a:t>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Muy alto</a:t>
            </a:r>
            <a:b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 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num == 3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sym typeface="Wingdings" pitchFamily="2" charset="2"/>
              </a:rPr>
              <a:t>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Alto</a:t>
            </a:r>
            <a:b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 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num == 2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sym typeface="Wingdings" pitchFamily="2" charset="2"/>
              </a:rPr>
              <a:t>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Medio</a:t>
            </a:r>
            <a:b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 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num == 1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sym typeface="Wingdings" pitchFamily="2" charset="2"/>
              </a:rPr>
              <a:t>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Bajo</a:t>
            </a:r>
            <a:endParaRPr lang="es-ES" sz="20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marL="8572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i="1" dirty="0"/>
              <a:t>Interrumpe</a:t>
            </a:r>
            <a:r>
              <a:rPr lang="es-ES" sz="2400" dirty="0"/>
              <a:t> el </a:t>
            </a:r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switch</a:t>
            </a:r>
            <a:r>
              <a:rPr lang="es-ES" sz="2400" dirty="0"/>
              <a:t>; continúa en la instrucción que le siga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i="0" dirty="0"/>
          </a:p>
        </p:txBody>
      </p:sp>
      <p:grpSp>
        <p:nvGrpSpPr>
          <p:cNvPr id="7" name="16 Grupo"/>
          <p:cNvGrpSpPr/>
          <p:nvPr/>
        </p:nvGrpSpPr>
        <p:grpSpPr>
          <a:xfrm>
            <a:off x="5580112" y="2951073"/>
            <a:ext cx="2249432" cy="1630055"/>
            <a:chOff x="6516216" y="2591033"/>
            <a:chExt cx="2088232" cy="1486039"/>
          </a:xfrm>
        </p:grpSpPr>
        <p:sp>
          <p:nvSpPr>
            <p:cNvPr id="67" name="66 CuadroTexto"/>
            <p:cNvSpPr txBox="1"/>
            <p:nvPr/>
          </p:nvSpPr>
          <p:spPr>
            <a:xfrm>
              <a:off x="6516216" y="2591033"/>
              <a:ext cx="2088232" cy="1486039"/>
            </a:xfrm>
            <a:prstGeom prst="rect">
              <a:avLst/>
            </a:prstGeom>
            <a:solidFill>
              <a:schemeClr val="dk1"/>
            </a:solidFill>
            <a:ln w="63500" cap="rnd">
              <a:solidFill>
                <a:schemeClr val="tx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 tIns="72000" bIns="72000" rtlCol="0">
              <a:noAutofit/>
            </a:bodyPr>
            <a:lstStyle/>
            <a:p>
              <a:endParaRPr lang="es-ES" sz="1600" dirty="0">
                <a:latin typeface="Consolas" pitchFamily="49" charset="0"/>
              </a:endParaRPr>
            </a:p>
          </p:txBody>
        </p:sp>
        <p:sp>
          <p:nvSpPr>
            <p:cNvPr id="69" name="68 CuadroTexto"/>
            <p:cNvSpPr txBox="1"/>
            <p:nvPr/>
          </p:nvSpPr>
          <p:spPr>
            <a:xfrm>
              <a:off x="6587653" y="2626516"/>
              <a:ext cx="1428760" cy="428628"/>
            </a:xfrm>
            <a:prstGeom prst="rect">
              <a:avLst/>
            </a:prstGeom>
            <a:noFill/>
            <a:ln w="63500" cap="rnd">
              <a:noFill/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 tIns="72000" bIns="72000" rtlCol="0">
              <a:noAutofit/>
            </a:bodyPr>
            <a:lstStyle/>
            <a:p>
              <a:endParaRPr lang="es-ES" sz="1600" dirty="0">
                <a:latin typeface="Consolas" pitchFamily="49" charset="0"/>
              </a:endParaRPr>
            </a:p>
          </p:txBody>
        </p:sp>
        <p:sp>
          <p:nvSpPr>
            <p:cNvPr id="70" name="69 CuadroTexto"/>
            <p:cNvSpPr txBox="1"/>
            <p:nvPr/>
          </p:nvSpPr>
          <p:spPr>
            <a:xfrm>
              <a:off x="6566652" y="2635674"/>
              <a:ext cx="1428760" cy="865334"/>
            </a:xfrm>
            <a:prstGeom prst="rect">
              <a:avLst/>
            </a:prstGeom>
            <a:noFill/>
            <a:ln w="63500" cap="rnd">
              <a:noFill/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 tIns="72000" bIns="72000" rtlCol="0">
              <a:noAutofit/>
            </a:bodyPr>
            <a:lstStyle/>
            <a:p>
              <a:r>
                <a:rPr lang="es-ES" dirty="0">
                  <a:latin typeface="Consolas" pitchFamily="49" charset="0"/>
                </a:rPr>
                <a:t>Num: 3</a:t>
              </a:r>
            </a:p>
            <a:p>
              <a:r>
                <a:rPr lang="es-ES" dirty="0">
                  <a:latin typeface="Consolas" pitchFamily="49" charset="0"/>
                </a:rPr>
                <a:t>Alto</a:t>
              </a:r>
            </a:p>
          </p:txBody>
        </p: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La instrucción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break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259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46" name="45 Rectángulo"/>
          <p:cNvSpPr/>
          <p:nvPr/>
        </p:nvSpPr>
        <p:spPr>
          <a:xfrm>
            <a:off x="863588" y="1620083"/>
            <a:ext cx="558062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switch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(num) {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...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case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3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: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{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cout &lt;&lt;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"Alto"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break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case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2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: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{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cout &lt;&lt;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"Medio"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break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...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</p:txBody>
      </p:sp>
      <p:grpSp>
        <p:nvGrpSpPr>
          <p:cNvPr id="26" name="25 Grupo"/>
          <p:cNvGrpSpPr/>
          <p:nvPr/>
        </p:nvGrpSpPr>
        <p:grpSpPr>
          <a:xfrm>
            <a:off x="-164176" y="3356992"/>
            <a:ext cx="2863968" cy="2733917"/>
            <a:chOff x="-164176" y="3356992"/>
            <a:chExt cx="2863968" cy="2733917"/>
          </a:xfrm>
        </p:grpSpPr>
        <p:sp>
          <p:nvSpPr>
            <p:cNvPr id="75" name="74 Arco"/>
            <p:cNvSpPr/>
            <p:nvPr/>
          </p:nvSpPr>
          <p:spPr>
            <a:xfrm rot="5400000">
              <a:off x="-99151" y="3291967"/>
              <a:ext cx="2733917" cy="2863968"/>
            </a:xfrm>
            <a:prstGeom prst="arc">
              <a:avLst>
                <a:gd name="adj1" fmla="val 13485488"/>
                <a:gd name="adj2" fmla="val 403413"/>
              </a:avLst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" name="20 Elipse"/>
            <p:cNvSpPr/>
            <p:nvPr/>
          </p:nvSpPr>
          <p:spPr>
            <a:xfrm>
              <a:off x="1214414" y="3508787"/>
              <a:ext cx="1116096" cy="301848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4" name="23 Elipse"/>
          <p:cNvSpPr>
            <a:spLocks noChangeAspect="1"/>
          </p:cNvSpPr>
          <p:nvPr/>
        </p:nvSpPr>
        <p:spPr>
          <a:xfrm>
            <a:off x="1576207" y="2286381"/>
            <a:ext cx="288000" cy="2880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La instrucción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break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260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46" name="45 Rectángulo"/>
          <p:cNvSpPr/>
          <p:nvPr/>
        </p:nvSpPr>
        <p:spPr>
          <a:xfrm>
            <a:off x="863588" y="980728"/>
            <a:ext cx="5580620" cy="5452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1588">
              <a:lnSpc>
                <a:spcPts val="22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switch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(num) {</a:t>
            </a:r>
          </a:p>
          <a:p>
            <a:pPr marL="0" lvl="1" indent="1588">
              <a:lnSpc>
                <a:spcPts val="22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...</a:t>
            </a:r>
          </a:p>
          <a:p>
            <a:pPr marL="0" lvl="1" indent="1588">
              <a:lnSpc>
                <a:spcPts val="22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case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3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:</a:t>
            </a:r>
          </a:p>
          <a:p>
            <a:pPr marL="0" lvl="1" indent="1588">
              <a:lnSpc>
                <a:spcPts val="22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{</a:t>
            </a:r>
          </a:p>
          <a:p>
            <a:pPr marL="0" lvl="1" indent="1588">
              <a:lnSpc>
                <a:spcPts val="22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cout &lt;&lt;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"Alto"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lnSpc>
                <a:spcPts val="22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0" lvl="1" indent="1588">
              <a:lnSpc>
                <a:spcPts val="22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case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2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:</a:t>
            </a:r>
          </a:p>
          <a:p>
            <a:pPr marL="0" lvl="1" indent="1588">
              <a:lnSpc>
                <a:spcPts val="22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{</a:t>
            </a:r>
          </a:p>
          <a:p>
            <a:pPr marL="0" lvl="1" indent="1588">
              <a:lnSpc>
                <a:spcPts val="22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cout &lt;&lt;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"Medio"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lnSpc>
                <a:spcPts val="22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0" lvl="1" indent="1588">
              <a:lnSpc>
                <a:spcPts val="22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case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:</a:t>
            </a:r>
          </a:p>
          <a:p>
            <a:pPr marL="0" lvl="1" indent="1588">
              <a:lnSpc>
                <a:spcPts val="22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{</a:t>
            </a:r>
          </a:p>
          <a:p>
            <a:pPr marL="0" lvl="1" indent="1588">
              <a:lnSpc>
                <a:spcPts val="22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cout &lt;&lt;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"Bajo"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lnSpc>
                <a:spcPts val="22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0" lvl="1" indent="1588">
              <a:lnSpc>
                <a:spcPts val="22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default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:</a:t>
            </a:r>
          </a:p>
          <a:p>
            <a:pPr marL="0" lvl="1" indent="1588">
              <a:lnSpc>
                <a:spcPts val="22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{</a:t>
            </a:r>
          </a:p>
          <a:p>
            <a:pPr marL="0" lvl="1" indent="1588">
              <a:lnSpc>
                <a:spcPts val="22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cout &lt;&lt;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"Valor no válido"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lnSpc>
                <a:spcPts val="22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0" lvl="1" indent="1588">
              <a:lnSpc>
                <a:spcPts val="22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</p:txBody>
      </p:sp>
      <p:sp>
        <p:nvSpPr>
          <p:cNvPr id="24" name="23 Elipse"/>
          <p:cNvSpPr>
            <a:spLocks noChangeAspect="1"/>
          </p:cNvSpPr>
          <p:nvPr/>
        </p:nvSpPr>
        <p:spPr>
          <a:xfrm>
            <a:off x="1576207" y="1575842"/>
            <a:ext cx="288000" cy="2880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0" name="17 Grupo"/>
          <p:cNvGrpSpPr/>
          <p:nvPr/>
        </p:nvGrpSpPr>
        <p:grpSpPr>
          <a:xfrm>
            <a:off x="5580112" y="2968377"/>
            <a:ext cx="2233433" cy="1612751"/>
            <a:chOff x="1042423" y="4568973"/>
            <a:chExt cx="2233433" cy="1612751"/>
          </a:xfrm>
        </p:grpSpPr>
        <p:sp>
          <p:nvSpPr>
            <p:cNvPr id="22" name="21 CuadroTexto"/>
            <p:cNvSpPr txBox="1"/>
            <p:nvPr/>
          </p:nvSpPr>
          <p:spPr>
            <a:xfrm>
              <a:off x="1042423" y="4568973"/>
              <a:ext cx="2233433" cy="1612751"/>
            </a:xfrm>
            <a:prstGeom prst="rect">
              <a:avLst/>
            </a:prstGeom>
            <a:solidFill>
              <a:schemeClr val="dk1"/>
            </a:solidFill>
            <a:ln w="63500" cap="rnd">
              <a:solidFill>
                <a:schemeClr val="tx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 tIns="72000" bIns="72000" rtlCol="0">
              <a:noAutofit/>
            </a:bodyPr>
            <a:lstStyle/>
            <a:p>
              <a:endParaRPr lang="es-ES" sz="1600" dirty="0">
                <a:latin typeface="Consolas" pitchFamily="49" charset="0"/>
              </a:endParaRPr>
            </a:p>
          </p:txBody>
        </p:sp>
        <p:sp>
          <p:nvSpPr>
            <p:cNvPr id="23" name="22 CuadroTexto"/>
            <p:cNvSpPr txBox="1"/>
            <p:nvPr/>
          </p:nvSpPr>
          <p:spPr>
            <a:xfrm>
              <a:off x="1099574" y="4610194"/>
              <a:ext cx="1888250" cy="1427514"/>
            </a:xfrm>
            <a:prstGeom prst="rect">
              <a:avLst/>
            </a:prstGeom>
            <a:noFill/>
            <a:ln w="63500" cap="rnd">
              <a:noFill/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 tIns="72000" bIns="72000" rtlCol="0">
              <a:noAutofit/>
            </a:bodyPr>
            <a:lstStyle/>
            <a:p>
              <a:r>
                <a:rPr lang="es-ES" dirty="0">
                  <a:latin typeface="Consolas" pitchFamily="49" charset="0"/>
                </a:rPr>
                <a:t>Num: 3</a:t>
              </a:r>
            </a:p>
            <a:p>
              <a:r>
                <a:rPr lang="es-ES" dirty="0">
                  <a:latin typeface="Consolas" pitchFamily="49" charset="0"/>
                </a:rPr>
                <a:t>Alto</a:t>
              </a:r>
            </a:p>
            <a:p>
              <a:r>
                <a:rPr lang="es-ES" dirty="0">
                  <a:latin typeface="Consolas" pitchFamily="49" charset="0"/>
                </a:rPr>
                <a:t>Medio</a:t>
              </a:r>
            </a:p>
            <a:p>
              <a:r>
                <a:rPr lang="es-ES" dirty="0">
                  <a:latin typeface="Consolas" pitchFamily="49" charset="0"/>
                </a:rPr>
                <a:t>Bajo</a:t>
              </a:r>
            </a:p>
            <a:p>
              <a:r>
                <a:rPr lang="es-ES" dirty="0">
                  <a:latin typeface="Consolas" pitchFamily="49" charset="0"/>
                </a:rPr>
                <a:t>Valor no válido</a:t>
              </a:r>
            </a:p>
          </p:txBody>
        </p:sp>
      </p:grpSp>
      <p:cxnSp>
        <p:nvCxnSpPr>
          <p:cNvPr id="25" name="24 Conector recto de flecha"/>
          <p:cNvCxnSpPr/>
          <p:nvPr/>
        </p:nvCxnSpPr>
        <p:spPr>
          <a:xfrm>
            <a:off x="2445668" y="1988840"/>
            <a:ext cx="0" cy="4248472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Con y sin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break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261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93" name="92 Grupo"/>
          <p:cNvGrpSpPr/>
          <p:nvPr/>
        </p:nvGrpSpPr>
        <p:grpSpPr>
          <a:xfrm>
            <a:off x="2555774" y="1239841"/>
            <a:ext cx="1042814" cy="774084"/>
            <a:chOff x="2887261" y="1693089"/>
            <a:chExt cx="1042814" cy="774084"/>
          </a:xfrm>
        </p:grpSpPr>
        <p:sp>
          <p:nvSpPr>
            <p:cNvPr id="80" name="79 Decisión"/>
            <p:cNvSpPr/>
            <p:nvPr/>
          </p:nvSpPr>
          <p:spPr>
            <a:xfrm>
              <a:off x="2887261" y="2069941"/>
              <a:ext cx="1042814" cy="397232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num==4</a:t>
              </a:r>
            </a:p>
          </p:txBody>
        </p:sp>
        <p:cxnSp>
          <p:nvCxnSpPr>
            <p:cNvPr id="81" name="80 Conector recto de flecha"/>
            <p:cNvCxnSpPr/>
            <p:nvPr/>
          </p:nvCxnSpPr>
          <p:spPr>
            <a:xfrm rot="16200000" flipH="1">
              <a:off x="3230633" y="1872712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94" name="93 Grupo"/>
          <p:cNvGrpSpPr/>
          <p:nvPr/>
        </p:nvGrpSpPr>
        <p:grpSpPr>
          <a:xfrm>
            <a:off x="3320973" y="1472329"/>
            <a:ext cx="2376264" cy="451290"/>
            <a:chOff x="3652460" y="1925577"/>
            <a:chExt cx="2376264" cy="451290"/>
          </a:xfrm>
        </p:grpSpPr>
        <p:sp>
          <p:nvSpPr>
            <p:cNvPr id="46" name="45 CuadroTexto"/>
            <p:cNvSpPr txBox="1"/>
            <p:nvPr/>
          </p:nvSpPr>
          <p:spPr>
            <a:xfrm>
              <a:off x="4804588" y="2160247"/>
              <a:ext cx="864096" cy="21662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Muy alto</a:t>
              </a:r>
            </a:p>
          </p:txBody>
        </p:sp>
        <p:cxnSp>
          <p:nvCxnSpPr>
            <p:cNvPr id="47" name="46 Conector recto de flecha"/>
            <p:cNvCxnSpPr/>
            <p:nvPr/>
          </p:nvCxnSpPr>
          <p:spPr>
            <a:xfrm>
              <a:off x="3901500" y="2278082"/>
              <a:ext cx="90308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8" name="47 Conector recto de flecha"/>
            <p:cNvCxnSpPr/>
            <p:nvPr/>
          </p:nvCxnSpPr>
          <p:spPr>
            <a:xfrm>
              <a:off x="5668684" y="2268557"/>
              <a:ext cx="360040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82" name="81 CuadroTexto"/>
            <p:cNvSpPr txBox="1"/>
            <p:nvPr/>
          </p:nvSpPr>
          <p:spPr>
            <a:xfrm>
              <a:off x="3652460" y="1925577"/>
              <a:ext cx="582211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</a:p>
          </p:txBody>
        </p:sp>
      </p:grpSp>
      <p:grpSp>
        <p:nvGrpSpPr>
          <p:cNvPr id="98" name="97 Grupo"/>
          <p:cNvGrpSpPr/>
          <p:nvPr/>
        </p:nvGrpSpPr>
        <p:grpSpPr>
          <a:xfrm>
            <a:off x="3320973" y="2323811"/>
            <a:ext cx="2376264" cy="438981"/>
            <a:chOff x="3652460" y="2777059"/>
            <a:chExt cx="2376264" cy="438981"/>
          </a:xfrm>
        </p:grpSpPr>
        <p:sp>
          <p:nvSpPr>
            <p:cNvPr id="50" name="49 CuadroTexto"/>
            <p:cNvSpPr txBox="1"/>
            <p:nvPr/>
          </p:nvSpPr>
          <p:spPr>
            <a:xfrm>
              <a:off x="4804588" y="2999420"/>
              <a:ext cx="864096" cy="21662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Alto</a:t>
              </a:r>
            </a:p>
          </p:txBody>
        </p:sp>
        <p:cxnSp>
          <p:nvCxnSpPr>
            <p:cNvPr id="52" name="51 Conector recto de flecha"/>
            <p:cNvCxnSpPr/>
            <p:nvPr/>
          </p:nvCxnSpPr>
          <p:spPr>
            <a:xfrm>
              <a:off x="3901500" y="3117255"/>
              <a:ext cx="90308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7" name="56 Conector recto de flecha"/>
            <p:cNvCxnSpPr/>
            <p:nvPr/>
          </p:nvCxnSpPr>
          <p:spPr>
            <a:xfrm>
              <a:off x="5668684" y="3107730"/>
              <a:ext cx="360040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83" name="82 CuadroTexto"/>
            <p:cNvSpPr txBox="1"/>
            <p:nvPr/>
          </p:nvSpPr>
          <p:spPr>
            <a:xfrm>
              <a:off x="3652460" y="2777059"/>
              <a:ext cx="582211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</a:p>
          </p:txBody>
        </p:sp>
      </p:grpSp>
      <p:grpSp>
        <p:nvGrpSpPr>
          <p:cNvPr id="102" name="101 Grupo"/>
          <p:cNvGrpSpPr/>
          <p:nvPr/>
        </p:nvGrpSpPr>
        <p:grpSpPr>
          <a:xfrm>
            <a:off x="3320973" y="3192985"/>
            <a:ext cx="2376264" cy="440717"/>
            <a:chOff x="3652460" y="3636708"/>
            <a:chExt cx="2376264" cy="440717"/>
          </a:xfrm>
        </p:grpSpPr>
        <p:sp>
          <p:nvSpPr>
            <p:cNvPr id="64" name="63 CuadroTexto"/>
            <p:cNvSpPr txBox="1"/>
            <p:nvPr/>
          </p:nvSpPr>
          <p:spPr>
            <a:xfrm>
              <a:off x="4804588" y="3860805"/>
              <a:ext cx="864096" cy="21662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Medio</a:t>
              </a:r>
            </a:p>
          </p:txBody>
        </p:sp>
        <p:cxnSp>
          <p:nvCxnSpPr>
            <p:cNvPr id="65" name="64 Conector recto de flecha"/>
            <p:cNvCxnSpPr/>
            <p:nvPr/>
          </p:nvCxnSpPr>
          <p:spPr>
            <a:xfrm>
              <a:off x="3901500" y="3978640"/>
              <a:ext cx="90308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9" name="68 Conector recto de flecha"/>
            <p:cNvCxnSpPr/>
            <p:nvPr/>
          </p:nvCxnSpPr>
          <p:spPr>
            <a:xfrm>
              <a:off x="5668684" y="3969115"/>
              <a:ext cx="360040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84" name="83 CuadroTexto"/>
            <p:cNvSpPr txBox="1"/>
            <p:nvPr/>
          </p:nvSpPr>
          <p:spPr>
            <a:xfrm>
              <a:off x="3652460" y="3636708"/>
              <a:ext cx="582211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</a:p>
          </p:txBody>
        </p:sp>
      </p:grpSp>
      <p:grpSp>
        <p:nvGrpSpPr>
          <p:cNvPr id="118" name="117 Grupo"/>
          <p:cNvGrpSpPr/>
          <p:nvPr/>
        </p:nvGrpSpPr>
        <p:grpSpPr>
          <a:xfrm>
            <a:off x="3320973" y="3966620"/>
            <a:ext cx="2376264" cy="444662"/>
            <a:chOff x="3652460" y="4893201"/>
            <a:chExt cx="2376264" cy="444662"/>
          </a:xfrm>
        </p:grpSpPr>
        <p:sp>
          <p:nvSpPr>
            <p:cNvPr id="70" name="69 CuadroTexto"/>
            <p:cNvSpPr txBox="1"/>
            <p:nvPr/>
          </p:nvSpPr>
          <p:spPr>
            <a:xfrm>
              <a:off x="4804588" y="5121243"/>
              <a:ext cx="864096" cy="21662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Bajo</a:t>
              </a:r>
            </a:p>
          </p:txBody>
        </p:sp>
        <p:cxnSp>
          <p:nvCxnSpPr>
            <p:cNvPr id="72" name="71 Conector recto de flecha"/>
            <p:cNvCxnSpPr>
              <a:endCxn id="70" idx="1"/>
            </p:cNvCxnSpPr>
            <p:nvPr/>
          </p:nvCxnSpPr>
          <p:spPr>
            <a:xfrm flipV="1">
              <a:off x="3901500" y="5229553"/>
              <a:ext cx="903088" cy="9525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4" name="73 Conector recto de flecha"/>
            <p:cNvCxnSpPr/>
            <p:nvPr/>
          </p:nvCxnSpPr>
          <p:spPr>
            <a:xfrm>
              <a:off x="5668684" y="5229553"/>
              <a:ext cx="360040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85" name="84 CuadroTexto"/>
            <p:cNvSpPr txBox="1"/>
            <p:nvPr/>
          </p:nvSpPr>
          <p:spPr>
            <a:xfrm>
              <a:off x="3652460" y="4893201"/>
              <a:ext cx="582211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</a:p>
          </p:txBody>
        </p:sp>
      </p:grpSp>
      <p:grpSp>
        <p:nvGrpSpPr>
          <p:cNvPr id="97" name="96 Grupo"/>
          <p:cNvGrpSpPr/>
          <p:nvPr/>
        </p:nvGrpSpPr>
        <p:grpSpPr>
          <a:xfrm>
            <a:off x="2339752" y="1939580"/>
            <a:ext cx="1258836" cy="913518"/>
            <a:chOff x="2671239" y="2392828"/>
            <a:chExt cx="1258836" cy="913518"/>
          </a:xfrm>
        </p:grpSpPr>
        <p:sp>
          <p:nvSpPr>
            <p:cNvPr id="54" name="53 Decisión"/>
            <p:cNvSpPr/>
            <p:nvPr/>
          </p:nvSpPr>
          <p:spPr>
            <a:xfrm>
              <a:off x="2887261" y="2909114"/>
              <a:ext cx="1042814" cy="397232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num==3</a:t>
              </a:r>
            </a:p>
          </p:txBody>
        </p:sp>
        <p:cxnSp>
          <p:nvCxnSpPr>
            <p:cNvPr id="75" name="74 Conector recto de flecha"/>
            <p:cNvCxnSpPr>
              <a:endCxn id="54" idx="0"/>
            </p:cNvCxnSpPr>
            <p:nvPr/>
          </p:nvCxnSpPr>
          <p:spPr>
            <a:xfrm rot="5400000">
              <a:off x="3188492" y="2687349"/>
              <a:ext cx="441941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86" name="85 CuadroTexto"/>
            <p:cNvSpPr txBox="1"/>
            <p:nvPr/>
          </p:nvSpPr>
          <p:spPr>
            <a:xfrm>
              <a:off x="2671239" y="2392828"/>
              <a:ext cx="681598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</p:grpSp>
      <p:grpSp>
        <p:nvGrpSpPr>
          <p:cNvPr id="101" name="100 Grupo"/>
          <p:cNvGrpSpPr/>
          <p:nvPr/>
        </p:nvGrpSpPr>
        <p:grpSpPr>
          <a:xfrm>
            <a:off x="2339752" y="2772317"/>
            <a:ext cx="1258836" cy="951691"/>
            <a:chOff x="2671239" y="3216040"/>
            <a:chExt cx="1258836" cy="951691"/>
          </a:xfrm>
        </p:grpSpPr>
        <p:sp>
          <p:nvSpPr>
            <p:cNvPr id="67" name="66 Decisión"/>
            <p:cNvSpPr/>
            <p:nvPr/>
          </p:nvSpPr>
          <p:spPr>
            <a:xfrm>
              <a:off x="2887261" y="3770499"/>
              <a:ext cx="1042814" cy="397232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num==2</a:t>
              </a:r>
            </a:p>
          </p:txBody>
        </p:sp>
        <p:cxnSp>
          <p:nvCxnSpPr>
            <p:cNvPr id="76" name="75 Conector recto de flecha"/>
            <p:cNvCxnSpPr>
              <a:endCxn id="67" idx="0"/>
            </p:cNvCxnSpPr>
            <p:nvPr/>
          </p:nvCxnSpPr>
          <p:spPr>
            <a:xfrm rot="5400000">
              <a:off x="3177406" y="3536853"/>
              <a:ext cx="464909" cy="2383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87" name="86 CuadroTexto"/>
            <p:cNvSpPr txBox="1"/>
            <p:nvPr/>
          </p:nvSpPr>
          <p:spPr>
            <a:xfrm>
              <a:off x="2671239" y="3216040"/>
              <a:ext cx="681598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</p:grpSp>
      <p:grpSp>
        <p:nvGrpSpPr>
          <p:cNvPr id="108" name="107 Grupo"/>
          <p:cNvGrpSpPr/>
          <p:nvPr/>
        </p:nvGrpSpPr>
        <p:grpSpPr>
          <a:xfrm>
            <a:off x="2339752" y="3633702"/>
            <a:ext cx="1258836" cy="867886"/>
            <a:chOff x="2339752" y="3581088"/>
            <a:chExt cx="1258836" cy="867886"/>
          </a:xfrm>
        </p:grpSpPr>
        <p:sp>
          <p:nvSpPr>
            <p:cNvPr id="73" name="72 Decisión"/>
            <p:cNvSpPr/>
            <p:nvPr/>
          </p:nvSpPr>
          <p:spPr>
            <a:xfrm>
              <a:off x="2555774" y="4051742"/>
              <a:ext cx="1042814" cy="397232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num==1</a:t>
              </a:r>
            </a:p>
          </p:txBody>
        </p:sp>
        <p:grpSp>
          <p:nvGrpSpPr>
            <p:cNvPr id="106" name="105 Grupo"/>
            <p:cNvGrpSpPr/>
            <p:nvPr/>
          </p:nvGrpSpPr>
          <p:grpSpPr>
            <a:xfrm>
              <a:off x="2339752" y="3581088"/>
              <a:ext cx="739018" cy="444275"/>
              <a:chOff x="2671239" y="4077425"/>
              <a:chExt cx="739018" cy="444275"/>
            </a:xfrm>
          </p:grpSpPr>
          <p:cxnSp>
            <p:nvCxnSpPr>
              <p:cNvPr id="77" name="76 Conector recto de flecha"/>
              <p:cNvCxnSpPr>
                <a:stCxn id="67" idx="2"/>
              </p:cNvCxnSpPr>
              <p:nvPr/>
            </p:nvCxnSpPr>
            <p:spPr>
              <a:xfrm>
                <a:off x="3408668" y="4167731"/>
                <a:ext cx="1589" cy="353969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stealth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88" name="87 CuadroTexto"/>
              <p:cNvSpPr txBox="1"/>
              <p:nvPr/>
            </p:nvSpPr>
            <p:spPr>
              <a:xfrm>
                <a:off x="2671239" y="4077425"/>
                <a:ext cx="681598" cy="30777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s-ES" sz="1400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false</a:t>
                </a:r>
              </a:p>
            </p:txBody>
          </p:sp>
        </p:grpSp>
      </p:grpSp>
      <p:grpSp>
        <p:nvGrpSpPr>
          <p:cNvPr id="123" name="122 Grupo"/>
          <p:cNvGrpSpPr/>
          <p:nvPr/>
        </p:nvGrpSpPr>
        <p:grpSpPr>
          <a:xfrm>
            <a:off x="2339752" y="4411282"/>
            <a:ext cx="740606" cy="668754"/>
            <a:chOff x="2671239" y="5337863"/>
            <a:chExt cx="740606" cy="668754"/>
          </a:xfrm>
        </p:grpSpPr>
        <p:sp>
          <p:nvSpPr>
            <p:cNvPr id="89" name="88 CuadroTexto"/>
            <p:cNvSpPr txBox="1"/>
            <p:nvPr/>
          </p:nvSpPr>
          <p:spPr>
            <a:xfrm>
              <a:off x="2671239" y="5337863"/>
              <a:ext cx="681598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  <p:cxnSp>
          <p:nvCxnSpPr>
            <p:cNvPr id="90" name="89 Conector recto de flecha"/>
            <p:cNvCxnSpPr/>
            <p:nvPr/>
          </p:nvCxnSpPr>
          <p:spPr>
            <a:xfrm rot="5400000">
              <a:off x="3127383" y="5722155"/>
              <a:ext cx="567336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24" name="123 Grupo"/>
          <p:cNvGrpSpPr/>
          <p:nvPr/>
        </p:nvGrpSpPr>
        <p:grpSpPr>
          <a:xfrm>
            <a:off x="3068450" y="4962058"/>
            <a:ext cx="2601802" cy="453253"/>
            <a:chOff x="3409462" y="5888639"/>
            <a:chExt cx="2601802" cy="453253"/>
          </a:xfrm>
        </p:grpSpPr>
        <p:cxnSp>
          <p:nvCxnSpPr>
            <p:cNvPr id="91" name="90 Conector recto de flecha"/>
            <p:cNvCxnSpPr/>
            <p:nvPr/>
          </p:nvCxnSpPr>
          <p:spPr>
            <a:xfrm>
              <a:off x="3409462" y="5985183"/>
              <a:ext cx="259941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2" name="91 Conector recto de flecha"/>
            <p:cNvCxnSpPr/>
            <p:nvPr/>
          </p:nvCxnSpPr>
          <p:spPr>
            <a:xfrm>
              <a:off x="6001739" y="5967373"/>
              <a:ext cx="9525" cy="374519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20" name="119 CuadroTexto"/>
            <p:cNvSpPr txBox="1"/>
            <p:nvPr/>
          </p:nvSpPr>
          <p:spPr>
            <a:xfrm>
              <a:off x="4804588" y="5888639"/>
              <a:ext cx="864096" cy="21662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No válido</a:t>
              </a:r>
            </a:p>
          </p:txBody>
        </p:sp>
        <p:sp>
          <p:nvSpPr>
            <p:cNvPr id="122" name="121 CuadroTexto"/>
            <p:cNvSpPr txBox="1"/>
            <p:nvPr/>
          </p:nvSpPr>
          <p:spPr>
            <a:xfrm>
              <a:off x="3572125" y="5977899"/>
              <a:ext cx="88037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default</a:t>
              </a:r>
            </a:p>
          </p:txBody>
        </p:sp>
      </p:grpSp>
      <p:grpSp>
        <p:nvGrpSpPr>
          <p:cNvPr id="99" name="98 Grupo"/>
          <p:cNvGrpSpPr/>
          <p:nvPr/>
        </p:nvGrpSpPr>
        <p:grpSpPr>
          <a:xfrm>
            <a:off x="3975767" y="2640194"/>
            <a:ext cx="2929042" cy="2805030"/>
            <a:chOff x="4307254" y="3083916"/>
            <a:chExt cx="2929042" cy="3005843"/>
          </a:xfrm>
        </p:grpSpPr>
        <p:sp>
          <p:nvSpPr>
            <p:cNvPr id="139" name="138 Arco"/>
            <p:cNvSpPr/>
            <p:nvPr/>
          </p:nvSpPr>
          <p:spPr>
            <a:xfrm>
              <a:off x="4307254" y="3083916"/>
              <a:ext cx="2929042" cy="3005843"/>
            </a:xfrm>
            <a:prstGeom prst="arc">
              <a:avLst>
                <a:gd name="adj1" fmla="val 16742733"/>
                <a:gd name="adj2" fmla="val 4494027"/>
              </a:avLst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0" name="139 CuadroTexto"/>
            <p:cNvSpPr txBox="1"/>
            <p:nvPr/>
          </p:nvSpPr>
          <p:spPr>
            <a:xfrm>
              <a:off x="6300192" y="3197280"/>
              <a:ext cx="720000" cy="216620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break;</a:t>
              </a:r>
            </a:p>
          </p:txBody>
        </p:sp>
      </p:grpSp>
      <p:grpSp>
        <p:nvGrpSpPr>
          <p:cNvPr id="103" name="102 Grupo"/>
          <p:cNvGrpSpPr/>
          <p:nvPr/>
        </p:nvGrpSpPr>
        <p:grpSpPr>
          <a:xfrm>
            <a:off x="3903184" y="3486471"/>
            <a:ext cx="2785601" cy="1958752"/>
            <a:chOff x="4234671" y="3930193"/>
            <a:chExt cx="2785601" cy="2227391"/>
          </a:xfrm>
        </p:grpSpPr>
        <p:sp>
          <p:nvSpPr>
            <p:cNvPr id="141" name="140 Arco"/>
            <p:cNvSpPr/>
            <p:nvPr/>
          </p:nvSpPr>
          <p:spPr>
            <a:xfrm>
              <a:off x="4234671" y="3930193"/>
              <a:ext cx="2785601" cy="2227391"/>
            </a:xfrm>
            <a:prstGeom prst="arc">
              <a:avLst>
                <a:gd name="adj1" fmla="val 17429311"/>
                <a:gd name="adj2" fmla="val 3793155"/>
              </a:avLst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2" name="141 CuadroTexto"/>
            <p:cNvSpPr txBox="1"/>
            <p:nvPr/>
          </p:nvSpPr>
          <p:spPr>
            <a:xfrm>
              <a:off x="6300192" y="4077425"/>
              <a:ext cx="720000" cy="216620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break;</a:t>
              </a:r>
            </a:p>
          </p:txBody>
        </p:sp>
      </p:grpSp>
      <p:grpSp>
        <p:nvGrpSpPr>
          <p:cNvPr id="119" name="118 Grupo"/>
          <p:cNvGrpSpPr/>
          <p:nvPr/>
        </p:nvGrpSpPr>
        <p:grpSpPr>
          <a:xfrm>
            <a:off x="3914377" y="4224734"/>
            <a:ext cx="2535097" cy="1277210"/>
            <a:chOff x="4265855" y="5213136"/>
            <a:chExt cx="2754337" cy="1277210"/>
          </a:xfrm>
        </p:grpSpPr>
        <p:sp>
          <p:nvSpPr>
            <p:cNvPr id="143" name="142 Arco"/>
            <p:cNvSpPr/>
            <p:nvPr/>
          </p:nvSpPr>
          <p:spPr>
            <a:xfrm>
              <a:off x="4265855" y="5230346"/>
              <a:ext cx="2622200" cy="1260000"/>
            </a:xfrm>
            <a:prstGeom prst="arc">
              <a:avLst>
                <a:gd name="adj1" fmla="val 18904861"/>
                <a:gd name="adj2" fmla="val 2083983"/>
              </a:avLst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4" name="143 CuadroTexto"/>
            <p:cNvSpPr txBox="1"/>
            <p:nvPr/>
          </p:nvSpPr>
          <p:spPr>
            <a:xfrm>
              <a:off x="6300192" y="5213136"/>
              <a:ext cx="720000" cy="216620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break;</a:t>
              </a:r>
            </a:p>
          </p:txBody>
        </p:sp>
      </p:grpSp>
      <p:grpSp>
        <p:nvGrpSpPr>
          <p:cNvPr id="95" name="94 Grupo"/>
          <p:cNvGrpSpPr/>
          <p:nvPr/>
        </p:nvGrpSpPr>
        <p:grpSpPr>
          <a:xfrm>
            <a:off x="3975767" y="1815309"/>
            <a:ext cx="3145066" cy="3600000"/>
            <a:chOff x="4307254" y="2259033"/>
            <a:chExt cx="3361090" cy="3836702"/>
          </a:xfrm>
        </p:grpSpPr>
        <p:sp>
          <p:nvSpPr>
            <p:cNvPr id="137" name="136 Arco"/>
            <p:cNvSpPr/>
            <p:nvPr/>
          </p:nvSpPr>
          <p:spPr>
            <a:xfrm>
              <a:off x="4307254" y="2259033"/>
              <a:ext cx="3361090" cy="3836702"/>
            </a:xfrm>
            <a:prstGeom prst="arc">
              <a:avLst>
                <a:gd name="adj1" fmla="val 16264779"/>
                <a:gd name="adj2" fmla="val 5122408"/>
              </a:avLst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8" name="137 CuadroTexto"/>
            <p:cNvSpPr txBox="1"/>
            <p:nvPr/>
          </p:nvSpPr>
          <p:spPr>
            <a:xfrm>
              <a:off x="6300192" y="2358863"/>
              <a:ext cx="720000" cy="216620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break;</a:t>
              </a:r>
            </a:p>
          </p:txBody>
        </p:sp>
      </p:grpSp>
      <p:grpSp>
        <p:nvGrpSpPr>
          <p:cNvPr id="96" name="95 Grupo"/>
          <p:cNvGrpSpPr/>
          <p:nvPr/>
        </p:nvGrpSpPr>
        <p:grpSpPr>
          <a:xfrm>
            <a:off x="4113061" y="1827215"/>
            <a:ext cx="1584176" cy="839173"/>
            <a:chOff x="4444548" y="2270938"/>
            <a:chExt cx="1584176" cy="839173"/>
          </a:xfrm>
        </p:grpSpPr>
        <p:cxnSp>
          <p:nvCxnSpPr>
            <p:cNvPr id="105" name="104 Conector recto de flecha"/>
            <p:cNvCxnSpPr/>
            <p:nvPr/>
          </p:nvCxnSpPr>
          <p:spPr>
            <a:xfrm rot="5400000">
              <a:off x="5799207" y="2480612"/>
              <a:ext cx="420935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7" name="106 Conector recto de flecha"/>
            <p:cNvCxnSpPr/>
            <p:nvPr/>
          </p:nvCxnSpPr>
          <p:spPr>
            <a:xfrm>
              <a:off x="4444548" y="2692668"/>
              <a:ext cx="1584176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9" name="108 Conector recto de flecha"/>
            <p:cNvCxnSpPr/>
            <p:nvPr/>
          </p:nvCxnSpPr>
          <p:spPr>
            <a:xfrm rot="5400000">
              <a:off x="4244559" y="2897421"/>
              <a:ext cx="423793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63" name="62 CuadroTexto"/>
            <p:cNvSpPr txBox="1"/>
            <p:nvPr/>
          </p:nvSpPr>
          <p:spPr>
            <a:xfrm>
              <a:off x="5004048" y="2564904"/>
              <a:ext cx="936024" cy="216024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Sin </a:t>
              </a:r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break;</a:t>
              </a:r>
            </a:p>
          </p:txBody>
        </p:sp>
      </p:grpSp>
      <p:grpSp>
        <p:nvGrpSpPr>
          <p:cNvPr id="100" name="99 Grupo"/>
          <p:cNvGrpSpPr/>
          <p:nvPr/>
        </p:nvGrpSpPr>
        <p:grpSpPr>
          <a:xfrm>
            <a:off x="4113061" y="2671468"/>
            <a:ext cx="1584176" cy="845193"/>
            <a:chOff x="4444548" y="3115191"/>
            <a:chExt cx="1584176" cy="845193"/>
          </a:xfrm>
        </p:grpSpPr>
        <p:cxnSp>
          <p:nvCxnSpPr>
            <p:cNvPr id="126" name="125 Conector recto de flecha"/>
            <p:cNvCxnSpPr/>
            <p:nvPr/>
          </p:nvCxnSpPr>
          <p:spPr>
            <a:xfrm rot="5400000">
              <a:off x="5799207" y="3324865"/>
              <a:ext cx="420935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7" name="126 Conector recto de flecha"/>
            <p:cNvCxnSpPr/>
            <p:nvPr/>
          </p:nvCxnSpPr>
          <p:spPr>
            <a:xfrm>
              <a:off x="4444548" y="3536921"/>
              <a:ext cx="1584176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8" name="127 Conector recto de flecha"/>
            <p:cNvCxnSpPr/>
            <p:nvPr/>
          </p:nvCxnSpPr>
          <p:spPr>
            <a:xfrm rot="5400000">
              <a:off x="4242740" y="3745081"/>
              <a:ext cx="42901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66" name="65 CuadroTexto"/>
            <p:cNvSpPr txBox="1"/>
            <p:nvPr/>
          </p:nvSpPr>
          <p:spPr>
            <a:xfrm>
              <a:off x="5004048" y="3419475"/>
              <a:ext cx="936024" cy="216024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Sin </a:t>
              </a:r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break;</a:t>
              </a:r>
            </a:p>
          </p:txBody>
        </p:sp>
      </p:grpSp>
      <p:grpSp>
        <p:nvGrpSpPr>
          <p:cNvPr id="104" name="103 Grupo"/>
          <p:cNvGrpSpPr/>
          <p:nvPr/>
        </p:nvGrpSpPr>
        <p:grpSpPr>
          <a:xfrm>
            <a:off x="4113061" y="3536504"/>
            <a:ext cx="1584176" cy="775995"/>
            <a:chOff x="4444548" y="3980227"/>
            <a:chExt cx="1584176" cy="775995"/>
          </a:xfrm>
        </p:grpSpPr>
        <p:cxnSp>
          <p:nvCxnSpPr>
            <p:cNvPr id="113" name="112 Conector recto de flecha"/>
            <p:cNvCxnSpPr/>
            <p:nvPr/>
          </p:nvCxnSpPr>
          <p:spPr>
            <a:xfrm rot="5400000">
              <a:off x="5799207" y="4189901"/>
              <a:ext cx="420935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4" name="113 Conector recto de flecha"/>
            <p:cNvCxnSpPr/>
            <p:nvPr/>
          </p:nvCxnSpPr>
          <p:spPr>
            <a:xfrm>
              <a:off x="4444548" y="4401957"/>
              <a:ext cx="1584176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5" name="114 Conector recto de flecha"/>
            <p:cNvCxnSpPr/>
            <p:nvPr/>
          </p:nvCxnSpPr>
          <p:spPr>
            <a:xfrm>
              <a:off x="4458045" y="4396400"/>
              <a:ext cx="0" cy="359822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68" name="67 CuadroTexto"/>
            <p:cNvSpPr txBox="1"/>
            <p:nvPr/>
          </p:nvSpPr>
          <p:spPr>
            <a:xfrm>
              <a:off x="5004048" y="4293096"/>
              <a:ext cx="936024" cy="216024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Sin </a:t>
              </a:r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break;</a:t>
              </a:r>
            </a:p>
          </p:txBody>
        </p:sp>
      </p:grpSp>
      <p:grpSp>
        <p:nvGrpSpPr>
          <p:cNvPr id="121" name="120 Grupo"/>
          <p:cNvGrpSpPr/>
          <p:nvPr/>
        </p:nvGrpSpPr>
        <p:grpSpPr>
          <a:xfrm>
            <a:off x="4113061" y="4294239"/>
            <a:ext cx="1584176" cy="747347"/>
            <a:chOff x="4444548" y="5220820"/>
            <a:chExt cx="1584176" cy="747347"/>
          </a:xfrm>
        </p:grpSpPr>
        <p:cxnSp>
          <p:nvCxnSpPr>
            <p:cNvPr id="110" name="109 Conector recto de flecha"/>
            <p:cNvCxnSpPr/>
            <p:nvPr/>
          </p:nvCxnSpPr>
          <p:spPr>
            <a:xfrm rot="5400000">
              <a:off x="5851547" y="5378949"/>
              <a:ext cx="317845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1" name="110 Conector recto de flecha"/>
            <p:cNvCxnSpPr/>
            <p:nvPr/>
          </p:nvCxnSpPr>
          <p:spPr>
            <a:xfrm>
              <a:off x="4444548" y="5517232"/>
              <a:ext cx="1584176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2" name="111 Conector recto de flecha"/>
            <p:cNvCxnSpPr/>
            <p:nvPr/>
          </p:nvCxnSpPr>
          <p:spPr>
            <a:xfrm rot="5400000">
              <a:off x="4227019" y="5737937"/>
              <a:ext cx="458872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71" name="70 CuadroTexto"/>
            <p:cNvSpPr txBox="1"/>
            <p:nvPr/>
          </p:nvSpPr>
          <p:spPr>
            <a:xfrm>
              <a:off x="5004048" y="5411316"/>
              <a:ext cx="936024" cy="216024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Sin </a:t>
              </a:r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break;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262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3235485" y="3044280"/>
            <a:ext cx="2673232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Repetición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Repetición (iteración)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263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48" name="47 Grupo"/>
          <p:cNvGrpSpPr/>
          <p:nvPr/>
        </p:nvGrpSpPr>
        <p:grpSpPr>
          <a:xfrm>
            <a:off x="2579676" y="2762309"/>
            <a:ext cx="1512168" cy="1173909"/>
            <a:chOff x="1211524" y="2762309"/>
            <a:chExt cx="1512168" cy="1173909"/>
          </a:xfrm>
        </p:grpSpPr>
        <p:sp>
          <p:nvSpPr>
            <p:cNvPr id="6" name="5 CuadroTexto"/>
            <p:cNvSpPr txBox="1"/>
            <p:nvPr/>
          </p:nvSpPr>
          <p:spPr>
            <a:xfrm>
              <a:off x="1211524" y="3576178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Cuerpo</a:t>
              </a:r>
            </a:p>
          </p:txBody>
        </p:sp>
        <p:grpSp>
          <p:nvGrpSpPr>
            <p:cNvPr id="8" name="36 Grupo"/>
            <p:cNvGrpSpPr/>
            <p:nvPr/>
          </p:nvGrpSpPr>
          <p:grpSpPr>
            <a:xfrm>
              <a:off x="1970498" y="3131136"/>
              <a:ext cx="215230" cy="442949"/>
              <a:chOff x="1476450" y="3285903"/>
              <a:chExt cx="215230" cy="44294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25" name="24 Conector recto de flecha"/>
              <p:cNvCxnSpPr/>
              <p:nvPr/>
            </p:nvCxnSpPr>
            <p:spPr>
              <a:xfrm rot="5400000">
                <a:off x="1274026" y="3506584"/>
                <a:ext cx="442949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stealth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7" name="26 Conector recto de flecha"/>
              <p:cNvCxnSpPr/>
              <p:nvPr/>
            </p:nvCxnSpPr>
            <p:spPr>
              <a:xfrm rot="10800000">
                <a:off x="1476450" y="3287792"/>
                <a:ext cx="215230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none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sp>
          <p:nvSpPr>
            <p:cNvPr id="42" name="41 CuadroTexto"/>
            <p:cNvSpPr txBox="1"/>
            <p:nvPr/>
          </p:nvSpPr>
          <p:spPr>
            <a:xfrm>
              <a:off x="1800762" y="2762309"/>
              <a:ext cx="362600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Sí</a:t>
              </a:r>
            </a:p>
          </p:txBody>
        </p:sp>
      </p:grpSp>
      <p:grpSp>
        <p:nvGrpSpPr>
          <p:cNvPr id="9" name="100 Grupo"/>
          <p:cNvGrpSpPr/>
          <p:nvPr/>
        </p:nvGrpSpPr>
        <p:grpSpPr>
          <a:xfrm>
            <a:off x="2411760" y="2485031"/>
            <a:ext cx="2032384" cy="1820752"/>
            <a:chOff x="899592" y="3284984"/>
            <a:chExt cx="2032384" cy="1820752"/>
          </a:xfrm>
        </p:grpSpPr>
        <p:cxnSp>
          <p:nvCxnSpPr>
            <p:cNvPr id="33" name="32 Conector recto de flecha"/>
            <p:cNvCxnSpPr/>
            <p:nvPr/>
          </p:nvCxnSpPr>
          <p:spPr>
            <a:xfrm rot="16200000" flipH="1">
              <a:off x="1647654" y="4925319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9" name="28 Conector recto de flecha"/>
            <p:cNvCxnSpPr/>
            <p:nvPr/>
          </p:nvCxnSpPr>
          <p:spPr>
            <a:xfrm>
              <a:off x="901180" y="3287366"/>
              <a:ext cx="2030796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3" name="92 Conector recto de flecha"/>
            <p:cNvCxnSpPr/>
            <p:nvPr/>
          </p:nvCxnSpPr>
          <p:spPr>
            <a:xfrm rot="5400000">
              <a:off x="9457" y="4194169"/>
              <a:ext cx="181995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5" name="44 Conector recto de flecha"/>
            <p:cNvCxnSpPr/>
            <p:nvPr/>
          </p:nvCxnSpPr>
          <p:spPr>
            <a:xfrm rot="10800000">
              <a:off x="899592" y="5088275"/>
              <a:ext cx="946736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49" name="48 Grupo"/>
          <p:cNvGrpSpPr/>
          <p:nvPr/>
        </p:nvGrpSpPr>
        <p:grpSpPr>
          <a:xfrm>
            <a:off x="4444144" y="2771920"/>
            <a:ext cx="1336504" cy="1988791"/>
            <a:chOff x="3075992" y="2771920"/>
            <a:chExt cx="1336504" cy="1988791"/>
          </a:xfrm>
        </p:grpSpPr>
        <p:cxnSp>
          <p:nvCxnSpPr>
            <p:cNvPr id="41" name="40 Conector recto de flecha"/>
            <p:cNvCxnSpPr/>
            <p:nvPr/>
          </p:nvCxnSpPr>
          <p:spPr>
            <a:xfrm rot="10800000" flipH="1">
              <a:off x="3986722" y="3138871"/>
              <a:ext cx="215230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43" name="42 CuadroTexto"/>
            <p:cNvSpPr txBox="1"/>
            <p:nvPr/>
          </p:nvSpPr>
          <p:spPr>
            <a:xfrm>
              <a:off x="3928068" y="2771920"/>
              <a:ext cx="484428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No</a:t>
              </a:r>
            </a:p>
          </p:txBody>
        </p:sp>
        <p:cxnSp>
          <p:nvCxnSpPr>
            <p:cNvPr id="44" name="43 Conector recto de flecha"/>
            <p:cNvCxnSpPr/>
            <p:nvPr/>
          </p:nvCxnSpPr>
          <p:spPr>
            <a:xfrm rot="5400000">
              <a:off x="3587398" y="3749245"/>
              <a:ext cx="1194184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1" name="90 Conector recto de flecha"/>
            <p:cNvCxnSpPr/>
            <p:nvPr/>
          </p:nvCxnSpPr>
          <p:spPr>
            <a:xfrm>
              <a:off x="3075992" y="4327287"/>
              <a:ext cx="1109292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0" name="39 Conector recto de flecha"/>
            <p:cNvCxnSpPr/>
            <p:nvPr/>
          </p:nvCxnSpPr>
          <p:spPr>
            <a:xfrm rot="16200000" flipH="1">
              <a:off x="2866426" y="4538443"/>
              <a:ext cx="442949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37" name="Picture 2" descr="C:\Documents and Settings\Luis\Configuración local\Archivos temporales de Internet\Content.IE5\8852AIMF\MC900431582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28384" y="236265"/>
            <a:ext cx="914286" cy="914286"/>
          </a:xfrm>
          <a:prstGeom prst="rect">
            <a:avLst/>
          </a:prstGeom>
          <a:noFill/>
        </p:spPr>
      </p:pic>
      <p:sp>
        <p:nvSpPr>
          <p:cNvPr id="38" name="37 Rectángulo"/>
          <p:cNvSpPr/>
          <p:nvPr/>
        </p:nvSpPr>
        <p:spPr>
          <a:xfrm>
            <a:off x="2699792" y="5013176"/>
            <a:ext cx="27622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4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Bucles </a:t>
            </a:r>
            <a:r>
              <a:rPr lang="es-ES" sz="2400" dirty="0">
                <a:solidFill>
                  <a:srgbClr val="009DD9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while</a:t>
            </a:r>
            <a:r>
              <a:rPr lang="es-ES" sz="24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y </a:t>
            </a:r>
            <a:r>
              <a:rPr lang="es-ES" sz="2400" dirty="0">
                <a:solidFill>
                  <a:srgbClr val="009DD9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for</a:t>
            </a:r>
            <a:endParaRPr lang="es-ES" sz="2400" dirty="0"/>
          </a:p>
        </p:txBody>
      </p:sp>
      <p:grpSp>
        <p:nvGrpSpPr>
          <p:cNvPr id="47" name="46 Grupo"/>
          <p:cNvGrpSpPr/>
          <p:nvPr/>
        </p:nvGrpSpPr>
        <p:grpSpPr>
          <a:xfrm>
            <a:off x="3481872" y="2177083"/>
            <a:ext cx="1944216" cy="1219075"/>
            <a:chOff x="2113720" y="2177083"/>
            <a:chExt cx="1944216" cy="1219075"/>
          </a:xfrm>
        </p:grpSpPr>
        <p:sp>
          <p:nvSpPr>
            <p:cNvPr id="23" name="22 Decisión"/>
            <p:cNvSpPr/>
            <p:nvPr/>
          </p:nvSpPr>
          <p:spPr>
            <a:xfrm>
              <a:off x="2113720" y="2867124"/>
              <a:ext cx="1944216" cy="529034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¿Iterar?</a:t>
              </a:r>
            </a:p>
          </p:txBody>
        </p:sp>
        <p:cxnSp>
          <p:nvCxnSpPr>
            <p:cNvPr id="7" name="6 Conector recto de flecha"/>
            <p:cNvCxnSpPr/>
            <p:nvPr/>
          </p:nvCxnSpPr>
          <p:spPr>
            <a:xfrm rot="5400000">
              <a:off x="2729229" y="2540006"/>
              <a:ext cx="727433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46" name="45 Grupo"/>
          <p:cNvGrpSpPr/>
          <p:nvPr/>
        </p:nvGrpSpPr>
        <p:grpSpPr>
          <a:xfrm>
            <a:off x="3707904" y="1484785"/>
            <a:ext cx="1512168" cy="691505"/>
            <a:chOff x="2339752" y="1484785"/>
            <a:chExt cx="1512168" cy="691505"/>
          </a:xfrm>
        </p:grpSpPr>
        <p:sp>
          <p:nvSpPr>
            <p:cNvPr id="58" name="57 CuadroTexto"/>
            <p:cNvSpPr txBox="1"/>
            <p:nvPr/>
          </p:nvSpPr>
          <p:spPr>
            <a:xfrm>
              <a:off x="2339752" y="1816250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Inicialización</a:t>
              </a:r>
            </a:p>
          </p:txBody>
        </p:sp>
        <p:cxnSp>
          <p:nvCxnSpPr>
            <p:cNvPr id="59" name="58 Conector recto de flecha"/>
            <p:cNvCxnSpPr/>
            <p:nvPr/>
          </p:nvCxnSpPr>
          <p:spPr>
            <a:xfrm rot="16200000" flipH="1">
              <a:off x="2915419" y="1664408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bucles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284804"/>
          </a:xfrm>
        </p:spPr>
        <p:txBody>
          <a:bodyPr>
            <a:noAutofit/>
          </a:bodyPr>
          <a:lstStyle/>
          <a:p>
            <a:pPr lvl="1" indent="-27463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Número de iteraciones condicionado (</a:t>
            </a:r>
            <a:r>
              <a:rPr lang="es-ES" i="1" dirty="0"/>
              <a:t>recorrido variable</a:t>
            </a:r>
            <a:r>
              <a:rPr lang="es-ES" dirty="0"/>
              <a:t>):</a:t>
            </a:r>
          </a:p>
          <a:p>
            <a:pPr lvl="2" indent="-265113">
              <a:spcBef>
                <a:spcPts val="600"/>
              </a:spcBef>
              <a:spcAft>
                <a:spcPts val="600"/>
              </a:spcAft>
            </a:pPr>
            <a:r>
              <a:rPr lang="es-ES" sz="2200" dirty="0"/>
              <a:t>Bucle </a:t>
            </a:r>
            <a:r>
              <a:rPr lang="es-ES" sz="2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while</a:t>
            </a:r>
          </a:p>
          <a:p>
            <a:pPr lvl="2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while </a:t>
            </a:r>
            <a:r>
              <a:rPr lang="es-ES" sz="2200" dirty="0">
                <a:latin typeface="Consolas" pitchFamily="49" charset="0"/>
              </a:rPr>
              <a:t>(</a:t>
            </a:r>
            <a:r>
              <a:rPr lang="es-ES" sz="2200" i="1" dirty="0">
                <a:latin typeface="Consolas" pitchFamily="49" charset="0"/>
              </a:rPr>
              <a:t>condición</a:t>
            </a:r>
            <a:r>
              <a:rPr lang="es-ES" sz="2200" dirty="0">
                <a:latin typeface="Consolas" pitchFamily="49" charset="0"/>
              </a:rPr>
              <a:t>) </a:t>
            </a:r>
            <a:r>
              <a:rPr lang="es-ES" sz="2200" i="1" dirty="0">
                <a:latin typeface="Consolas" pitchFamily="49" charset="0"/>
              </a:rPr>
              <a:t>cuerpo</a:t>
            </a:r>
          </a:p>
          <a:p>
            <a:pPr lvl="2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Ejecuta el </a:t>
            </a:r>
            <a:r>
              <a:rPr lang="es-ES" sz="2200" i="1" dirty="0">
                <a:latin typeface="Consolas" pitchFamily="49" charset="0"/>
              </a:rPr>
              <a:t>cuerpo</a:t>
            </a:r>
            <a:r>
              <a:rPr lang="es-ES" sz="2200" dirty="0"/>
              <a:t> mientras la </a:t>
            </a:r>
            <a:r>
              <a:rPr lang="es-ES" sz="2200" i="1" dirty="0">
                <a:latin typeface="Consolas" pitchFamily="49" charset="0"/>
              </a:rPr>
              <a:t>condición</a:t>
            </a:r>
            <a:r>
              <a:rPr lang="es-ES" sz="2200" dirty="0"/>
              <a:t> sea </a:t>
            </a:r>
            <a:r>
              <a:rPr lang="es-ES" sz="2200" dirty="0">
                <a:solidFill>
                  <a:srgbClr val="FFFF00"/>
                </a:solidFill>
                <a:latin typeface="Consolas" pitchFamily="49" charset="0"/>
              </a:rPr>
              <a:t>true</a:t>
            </a:r>
            <a:endParaRPr lang="es-ES" sz="2200" dirty="0"/>
          </a:p>
          <a:p>
            <a:pPr lvl="2" indent="-265113">
              <a:spcBef>
                <a:spcPts val="600"/>
              </a:spcBef>
              <a:spcAft>
                <a:spcPts val="600"/>
              </a:spcAft>
            </a:pPr>
            <a:r>
              <a:rPr lang="es-ES" sz="2200" dirty="0"/>
              <a:t>Bucle </a:t>
            </a:r>
            <a:r>
              <a:rPr lang="es-ES" sz="2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do</a:t>
            </a:r>
            <a:r>
              <a:rPr lang="es-ES" sz="2200" dirty="0">
                <a:latin typeface="Consolas" pitchFamily="49" charset="0"/>
              </a:rPr>
              <a:t>-</a:t>
            </a:r>
            <a:r>
              <a:rPr lang="es-ES" sz="2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while</a:t>
            </a:r>
          </a:p>
          <a:p>
            <a:pPr lvl="2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Comprueba la condición al final</a:t>
            </a:r>
          </a:p>
          <a:p>
            <a:pPr lvl="1" indent="-274638">
              <a:spcBef>
                <a:spcPts val="1200"/>
              </a:spcBef>
              <a:spcAft>
                <a:spcPts val="600"/>
              </a:spcAft>
            </a:pPr>
            <a:r>
              <a:rPr lang="es-ES" dirty="0"/>
              <a:t>Número de iteraciones prefijado (</a:t>
            </a:r>
            <a:r>
              <a:rPr lang="es-ES" i="1" dirty="0"/>
              <a:t>recorrido fijo</a:t>
            </a:r>
            <a:r>
              <a:rPr lang="es-ES" dirty="0"/>
              <a:t>):</a:t>
            </a:r>
          </a:p>
          <a:p>
            <a:pPr lvl="2" indent="-265113">
              <a:spcBef>
                <a:spcPts val="600"/>
              </a:spcBef>
              <a:spcAft>
                <a:spcPts val="600"/>
              </a:spcAft>
            </a:pPr>
            <a:r>
              <a:rPr lang="es-ES" sz="2200" dirty="0"/>
              <a:t>Bucle </a:t>
            </a:r>
            <a:r>
              <a:rPr lang="es-ES" sz="2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</a:t>
            </a:r>
          </a:p>
          <a:p>
            <a:pPr lvl="2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 </a:t>
            </a:r>
            <a:r>
              <a:rPr lang="es-ES" sz="2200" dirty="0">
                <a:latin typeface="Consolas" pitchFamily="49" charset="0"/>
              </a:rPr>
              <a:t>(</a:t>
            </a:r>
            <a:r>
              <a:rPr lang="es-ES" sz="2200" i="1" dirty="0">
                <a:latin typeface="Consolas" pitchFamily="49" charset="0"/>
              </a:rPr>
              <a:t>inicialización</a:t>
            </a:r>
            <a:r>
              <a:rPr lang="es-ES" sz="2200" dirty="0">
                <a:latin typeface="Consolas" pitchFamily="49" charset="0"/>
              </a:rPr>
              <a:t>; </a:t>
            </a:r>
            <a:r>
              <a:rPr lang="es-ES" sz="2200" i="1" dirty="0">
                <a:latin typeface="Consolas" pitchFamily="49" charset="0"/>
              </a:rPr>
              <a:t>condición</a:t>
            </a:r>
            <a:r>
              <a:rPr lang="es-ES" sz="2200" dirty="0">
                <a:latin typeface="Consolas" pitchFamily="49" charset="0"/>
              </a:rPr>
              <a:t>; </a:t>
            </a:r>
            <a:r>
              <a:rPr lang="es-ES" sz="2200" i="1" dirty="0">
                <a:latin typeface="Consolas" pitchFamily="49" charset="0"/>
              </a:rPr>
              <a:t>paso</a:t>
            </a:r>
            <a:r>
              <a:rPr lang="es-ES" sz="2200" dirty="0">
                <a:latin typeface="Consolas" pitchFamily="49" charset="0"/>
              </a:rPr>
              <a:t>) </a:t>
            </a:r>
            <a:r>
              <a:rPr lang="es-ES" sz="2200" i="1" dirty="0">
                <a:latin typeface="Consolas" pitchFamily="49" charset="0"/>
              </a:rPr>
              <a:t>cuerpo</a:t>
            </a:r>
          </a:p>
          <a:p>
            <a:pPr lvl="2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Ejecuta el </a:t>
            </a:r>
            <a:r>
              <a:rPr lang="es-ES" sz="2200" i="1" dirty="0">
                <a:latin typeface="Consolas" pitchFamily="49" charset="0"/>
              </a:rPr>
              <a:t>cuerpo</a:t>
            </a:r>
            <a:r>
              <a:rPr lang="es-ES" sz="2200" dirty="0"/>
              <a:t> mientras la </a:t>
            </a:r>
            <a:r>
              <a:rPr lang="es-ES" sz="2200" i="1" dirty="0">
                <a:latin typeface="Consolas" pitchFamily="49" charset="0"/>
              </a:rPr>
              <a:t>condición</a:t>
            </a:r>
            <a:r>
              <a:rPr lang="es-ES" sz="2200" dirty="0"/>
              <a:t> sea </a:t>
            </a:r>
            <a:r>
              <a:rPr lang="es-ES" sz="2200" dirty="0">
                <a:solidFill>
                  <a:srgbClr val="FFFF00"/>
                </a:solidFill>
                <a:latin typeface="Consolas" pitchFamily="49" charset="0"/>
              </a:rPr>
              <a:t>true</a:t>
            </a:r>
          </a:p>
          <a:p>
            <a:pPr lvl="2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Se usa una variable contadora entera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264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265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735703" y="3044280"/>
            <a:ext cx="3672801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El bucle </a:t>
            </a:r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j-ea"/>
                <a:cs typeface="Consolas" pitchFamily="49" charset="0"/>
              </a:rPr>
              <a:t>while</a:t>
            </a:r>
            <a:endParaRPr lang="es-ES" sz="2400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79 Grupo"/>
          <p:cNvGrpSpPr/>
          <p:nvPr/>
        </p:nvGrpSpPr>
        <p:grpSpPr>
          <a:xfrm>
            <a:off x="899592" y="2990675"/>
            <a:ext cx="2304256" cy="1765426"/>
            <a:chOff x="2332542" y="3081733"/>
            <a:chExt cx="2304256" cy="1765426"/>
          </a:xfrm>
        </p:grpSpPr>
        <p:cxnSp>
          <p:nvCxnSpPr>
            <p:cNvPr id="31" name="30 Conector recto de flecha"/>
            <p:cNvCxnSpPr/>
            <p:nvPr/>
          </p:nvCxnSpPr>
          <p:spPr>
            <a:xfrm rot="5400000">
              <a:off x="3067498" y="4652844"/>
              <a:ext cx="387042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6" name="45 Conector recto de flecha"/>
            <p:cNvCxnSpPr/>
            <p:nvPr/>
          </p:nvCxnSpPr>
          <p:spPr>
            <a:xfrm>
              <a:off x="2334130" y="3082527"/>
              <a:ext cx="2302668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8" name="47 Conector recto de flecha"/>
            <p:cNvCxnSpPr/>
            <p:nvPr/>
          </p:nvCxnSpPr>
          <p:spPr>
            <a:xfrm rot="5400000">
              <a:off x="1472055" y="3962858"/>
              <a:ext cx="176383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5" name="54 Conector recto de flecha"/>
            <p:cNvCxnSpPr/>
            <p:nvPr/>
          </p:nvCxnSpPr>
          <p:spPr>
            <a:xfrm rot="10800000">
              <a:off x="2332542" y="4844777"/>
              <a:ext cx="946736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i="1" dirty="0"/>
              <a:t>Mientras la condición sea cierta, repetir...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266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42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Mientras la condición sea cierta, ejecuta el cuerpo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</p:txBody>
      </p:sp>
      <p:sp>
        <p:nvSpPr>
          <p:cNvPr id="64" name="63 Rectángulo"/>
          <p:cNvSpPr/>
          <p:nvPr/>
        </p:nvSpPr>
        <p:spPr>
          <a:xfrm>
            <a:off x="5436096" y="3573016"/>
            <a:ext cx="3384376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1588"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400" dirty="0">
                <a:solidFill>
                  <a:srgbClr val="009DD9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while</a:t>
            </a:r>
            <a:r>
              <a:rPr lang="es-ES" sz="24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s-ES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</a:t>
            </a:r>
            <a:r>
              <a:rPr lang="es-ES" sz="2400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condición</a:t>
            </a:r>
            <a:r>
              <a:rPr lang="es-ES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{</a:t>
            </a:r>
            <a:br>
              <a:rPr lang="es-ES" sz="24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</a:br>
            <a:r>
              <a:rPr lang="es-ES" sz="24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s-ES" sz="2400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cuerpo</a:t>
            </a:r>
          </a:p>
          <a:p>
            <a:pPr marL="0" lvl="1" indent="1588"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4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cxnSp>
        <p:nvCxnSpPr>
          <p:cNvPr id="66" name="65 Conector recto de flecha"/>
          <p:cNvCxnSpPr/>
          <p:nvPr/>
        </p:nvCxnSpPr>
        <p:spPr>
          <a:xfrm>
            <a:off x="5580112" y="4221088"/>
            <a:ext cx="446906" cy="0"/>
          </a:xfrm>
          <a:prstGeom prst="straightConnector1">
            <a:avLst/>
          </a:prstGeom>
          <a:ln w="19050">
            <a:solidFill>
              <a:srgbClr val="FFC000"/>
            </a:solidFill>
            <a:headEnd type="oval" w="lg" len="sm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78 Grupo"/>
          <p:cNvGrpSpPr/>
          <p:nvPr/>
        </p:nvGrpSpPr>
        <p:grpSpPr>
          <a:xfrm>
            <a:off x="1115616" y="3266365"/>
            <a:ext cx="1368152" cy="1173909"/>
            <a:chOff x="2572466" y="3357423"/>
            <a:chExt cx="1368152" cy="1173909"/>
          </a:xfrm>
        </p:grpSpPr>
        <p:sp>
          <p:nvSpPr>
            <p:cNvPr id="32" name="31 CuadroTexto"/>
            <p:cNvSpPr txBox="1"/>
            <p:nvPr/>
          </p:nvSpPr>
          <p:spPr>
            <a:xfrm>
              <a:off x="2572466" y="4171292"/>
              <a:ext cx="1368152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Cuerpo</a:t>
              </a:r>
              <a:endParaRPr lang="es-ES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endParaRPr>
            </a:p>
          </p:txBody>
        </p:sp>
        <p:grpSp>
          <p:nvGrpSpPr>
            <p:cNvPr id="33" name="36 Grupo"/>
            <p:cNvGrpSpPr/>
            <p:nvPr/>
          </p:nvGrpSpPr>
          <p:grpSpPr>
            <a:xfrm>
              <a:off x="3259432" y="3726250"/>
              <a:ext cx="215230" cy="442949"/>
              <a:chOff x="1476450" y="3285903"/>
              <a:chExt cx="215230" cy="44294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34" name="33 Conector recto de flecha"/>
              <p:cNvCxnSpPr/>
              <p:nvPr/>
            </p:nvCxnSpPr>
            <p:spPr>
              <a:xfrm rot="5400000">
                <a:off x="1274026" y="3506584"/>
                <a:ext cx="442949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stealth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35" name="34 Conector recto de flecha"/>
              <p:cNvCxnSpPr/>
              <p:nvPr/>
            </p:nvCxnSpPr>
            <p:spPr>
              <a:xfrm rot="10800000">
                <a:off x="1476450" y="3287792"/>
                <a:ext cx="215230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none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sp>
          <p:nvSpPr>
            <p:cNvPr id="39" name="38 CuadroTexto"/>
            <p:cNvSpPr txBox="1"/>
            <p:nvPr/>
          </p:nvSpPr>
          <p:spPr>
            <a:xfrm>
              <a:off x="2896536" y="3357423"/>
              <a:ext cx="748923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  <a:endPara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</p:grpSp>
      <p:grpSp>
        <p:nvGrpSpPr>
          <p:cNvPr id="81" name="80 Grupo"/>
          <p:cNvGrpSpPr/>
          <p:nvPr/>
        </p:nvGrpSpPr>
        <p:grpSpPr>
          <a:xfrm>
            <a:off x="3266331" y="3275976"/>
            <a:ext cx="1800200" cy="1934173"/>
            <a:chOff x="4104011" y="3367034"/>
            <a:chExt cx="1800200" cy="1934173"/>
          </a:xfrm>
        </p:grpSpPr>
        <p:cxnSp>
          <p:nvCxnSpPr>
            <p:cNvPr id="36" name="35 Conector recto de flecha"/>
            <p:cNvCxnSpPr/>
            <p:nvPr/>
          </p:nvCxnSpPr>
          <p:spPr>
            <a:xfrm rot="10800000" flipH="1">
              <a:off x="5275656" y="3733985"/>
              <a:ext cx="215230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40" name="39 CuadroTexto"/>
            <p:cNvSpPr txBox="1"/>
            <p:nvPr/>
          </p:nvSpPr>
          <p:spPr>
            <a:xfrm>
              <a:off x="5014224" y="3367034"/>
              <a:ext cx="889987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  <a:endPara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  <p:cxnSp>
          <p:nvCxnSpPr>
            <p:cNvPr id="41" name="40 Conector recto de flecha"/>
            <p:cNvCxnSpPr/>
            <p:nvPr/>
          </p:nvCxnSpPr>
          <p:spPr>
            <a:xfrm>
              <a:off x="5475012" y="3748855"/>
              <a:ext cx="0" cy="1139355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3" name="42 Conector recto de flecha"/>
            <p:cNvCxnSpPr/>
            <p:nvPr/>
          </p:nvCxnSpPr>
          <p:spPr>
            <a:xfrm>
              <a:off x="4104011" y="4869371"/>
              <a:ext cx="1379732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7" name="56 Conector recto de flecha"/>
            <p:cNvCxnSpPr/>
            <p:nvPr/>
          </p:nvCxnSpPr>
          <p:spPr>
            <a:xfrm rot="16200000" flipH="1">
              <a:off x="3892856" y="5078939"/>
              <a:ext cx="442949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4" name="43 Rectángulo"/>
          <p:cNvSpPr/>
          <p:nvPr/>
        </p:nvSpPr>
        <p:spPr>
          <a:xfrm>
            <a:off x="6158033" y="2276872"/>
            <a:ext cx="11272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Bloque </a:t>
            </a:r>
            <a:b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de código</a:t>
            </a:r>
            <a:endParaRPr lang="es-ES" sz="1600" dirty="0"/>
          </a:p>
        </p:txBody>
      </p:sp>
      <p:grpSp>
        <p:nvGrpSpPr>
          <p:cNvPr id="45" name="44 Grupo"/>
          <p:cNvGrpSpPr/>
          <p:nvPr/>
        </p:nvGrpSpPr>
        <p:grpSpPr>
          <a:xfrm>
            <a:off x="2303748" y="5445224"/>
            <a:ext cx="4644516" cy="720080"/>
            <a:chOff x="899592" y="5401791"/>
            <a:chExt cx="4549731" cy="72008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7" name="46 CuadroTexto"/>
            <p:cNvSpPr txBox="1"/>
            <p:nvPr/>
          </p:nvSpPr>
          <p:spPr>
            <a:xfrm>
              <a:off x="899592" y="5416649"/>
              <a:ext cx="4549731" cy="7052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540000"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Si la condición es 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false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al empezar,</a:t>
              </a:r>
              <a:b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no se ejecuta el cuerpo ninguna vez</a:t>
              </a:r>
            </a:p>
          </p:txBody>
        </p:sp>
        <p:pic>
          <p:nvPicPr>
            <p:cNvPr id="49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60" y="5401791"/>
              <a:ext cx="426720" cy="4267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63" name="62 Grupo"/>
          <p:cNvGrpSpPr/>
          <p:nvPr/>
        </p:nvGrpSpPr>
        <p:grpSpPr>
          <a:xfrm>
            <a:off x="5834236" y="1860040"/>
            <a:ext cx="2088232" cy="400110"/>
            <a:chOff x="5906244" y="1719202"/>
            <a:chExt cx="2088232" cy="400110"/>
          </a:xfrm>
        </p:grpSpPr>
        <p:cxnSp>
          <p:nvCxnSpPr>
            <p:cNvPr id="56" name="55 Conector recto de flecha"/>
            <p:cNvCxnSpPr/>
            <p:nvPr/>
          </p:nvCxnSpPr>
          <p:spPr>
            <a:xfrm>
              <a:off x="7202388" y="1916832"/>
              <a:ext cx="792088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69 CuadroTexto"/>
            <p:cNvSpPr txBox="1"/>
            <p:nvPr/>
          </p:nvSpPr>
          <p:spPr>
            <a:xfrm>
              <a:off x="6339897" y="1719202"/>
              <a:ext cx="896399" cy="40011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sz="2000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cuerpo</a:t>
              </a:r>
              <a:endParaRPr lang="es-ES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endParaRPr>
            </a:p>
          </p:txBody>
        </p:sp>
        <p:cxnSp>
          <p:nvCxnSpPr>
            <p:cNvPr id="54" name="53 Conector recto de flecha"/>
            <p:cNvCxnSpPr/>
            <p:nvPr/>
          </p:nvCxnSpPr>
          <p:spPr>
            <a:xfrm>
              <a:off x="5906244" y="1916832"/>
              <a:ext cx="432048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61 Grupo"/>
          <p:cNvGrpSpPr/>
          <p:nvPr/>
        </p:nvGrpSpPr>
        <p:grpSpPr>
          <a:xfrm>
            <a:off x="5104631" y="1835347"/>
            <a:ext cx="791982" cy="432000"/>
            <a:chOff x="5176639" y="1694509"/>
            <a:chExt cx="791982" cy="432000"/>
          </a:xfrm>
        </p:grpSpPr>
        <p:sp>
          <p:nvSpPr>
            <p:cNvPr id="73" name="72 Elipse"/>
            <p:cNvSpPr/>
            <p:nvPr/>
          </p:nvSpPr>
          <p:spPr>
            <a:xfrm>
              <a:off x="5598237" y="1694509"/>
              <a:ext cx="370384" cy="4320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)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  <p:cxnSp>
          <p:nvCxnSpPr>
            <p:cNvPr id="53" name="52 Conector recto de flecha"/>
            <p:cNvCxnSpPr/>
            <p:nvPr/>
          </p:nvCxnSpPr>
          <p:spPr>
            <a:xfrm>
              <a:off x="5176639" y="1916832"/>
              <a:ext cx="432048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60 Grupo"/>
          <p:cNvGrpSpPr/>
          <p:nvPr/>
        </p:nvGrpSpPr>
        <p:grpSpPr>
          <a:xfrm>
            <a:off x="3563888" y="1860040"/>
            <a:ext cx="1591066" cy="400110"/>
            <a:chOff x="3635896" y="1719202"/>
            <a:chExt cx="1591066" cy="400110"/>
          </a:xfrm>
        </p:grpSpPr>
        <p:sp>
          <p:nvSpPr>
            <p:cNvPr id="69" name="68 CuadroTexto"/>
            <p:cNvSpPr txBox="1"/>
            <p:nvPr/>
          </p:nvSpPr>
          <p:spPr>
            <a:xfrm>
              <a:off x="4053756" y="1719202"/>
              <a:ext cx="1173206" cy="40011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sz="2000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condición</a:t>
              </a:r>
              <a:endParaRPr lang="es-ES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endParaRPr>
            </a:p>
          </p:txBody>
        </p:sp>
        <p:cxnSp>
          <p:nvCxnSpPr>
            <p:cNvPr id="51" name="50 Conector recto de flecha"/>
            <p:cNvCxnSpPr/>
            <p:nvPr/>
          </p:nvCxnSpPr>
          <p:spPr>
            <a:xfrm>
              <a:off x="3635896" y="1916832"/>
              <a:ext cx="432048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59 Grupo"/>
          <p:cNvGrpSpPr/>
          <p:nvPr/>
        </p:nvGrpSpPr>
        <p:grpSpPr>
          <a:xfrm>
            <a:off x="2521868" y="1844872"/>
            <a:ext cx="1088605" cy="432000"/>
            <a:chOff x="2593876" y="1704034"/>
            <a:chExt cx="1088605" cy="432000"/>
          </a:xfrm>
        </p:grpSpPr>
        <p:sp>
          <p:nvSpPr>
            <p:cNvPr id="72" name="71 Elipse"/>
            <p:cNvSpPr/>
            <p:nvPr/>
          </p:nvSpPr>
          <p:spPr>
            <a:xfrm>
              <a:off x="3312097" y="1704034"/>
              <a:ext cx="370384" cy="4320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(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  <p:cxnSp>
          <p:nvCxnSpPr>
            <p:cNvPr id="65" name="64 Conector recto de flecha"/>
            <p:cNvCxnSpPr/>
            <p:nvPr/>
          </p:nvCxnSpPr>
          <p:spPr>
            <a:xfrm>
              <a:off x="2593876" y="1916832"/>
              <a:ext cx="714188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58 Grupo"/>
          <p:cNvGrpSpPr/>
          <p:nvPr/>
        </p:nvGrpSpPr>
        <p:grpSpPr>
          <a:xfrm>
            <a:off x="1331640" y="1841646"/>
            <a:ext cx="1537174" cy="432000"/>
            <a:chOff x="1403648" y="1700808"/>
            <a:chExt cx="1537174" cy="432000"/>
          </a:xfrm>
        </p:grpSpPr>
        <p:sp>
          <p:nvSpPr>
            <p:cNvPr id="71" name="70 Elipse"/>
            <p:cNvSpPr/>
            <p:nvPr/>
          </p:nvSpPr>
          <p:spPr>
            <a:xfrm>
              <a:off x="1907704" y="1700808"/>
              <a:ext cx="1033118" cy="4320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2000" dirty="0">
                  <a:solidFill>
                    <a:schemeClr val="accent2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while</a:t>
              </a:r>
              <a:endParaRPr lang="es-ES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  <p:cxnSp>
          <p:nvCxnSpPr>
            <p:cNvPr id="68" name="67 Conector recto de flecha"/>
            <p:cNvCxnSpPr/>
            <p:nvPr/>
          </p:nvCxnSpPr>
          <p:spPr>
            <a:xfrm>
              <a:off x="1403648" y="1915220"/>
              <a:ext cx="50405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77 Grupo"/>
          <p:cNvGrpSpPr/>
          <p:nvPr/>
        </p:nvGrpSpPr>
        <p:grpSpPr>
          <a:xfrm>
            <a:off x="1970187" y="2780928"/>
            <a:ext cx="2520280" cy="1119286"/>
            <a:chOff x="3124630" y="2871986"/>
            <a:chExt cx="2520280" cy="1119286"/>
          </a:xfrm>
        </p:grpSpPr>
        <p:sp>
          <p:nvSpPr>
            <p:cNvPr id="37" name="36 Decisión"/>
            <p:cNvSpPr/>
            <p:nvPr/>
          </p:nvSpPr>
          <p:spPr>
            <a:xfrm>
              <a:off x="3124630" y="3462238"/>
              <a:ext cx="2520280" cy="529034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Condición</a:t>
              </a:r>
              <a:endParaRPr lang="es-ES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endParaRPr>
            </a:p>
          </p:txBody>
        </p:sp>
        <p:cxnSp>
          <p:nvCxnSpPr>
            <p:cNvPr id="38" name="37 Conector recto de flecha"/>
            <p:cNvCxnSpPr>
              <a:endCxn id="37" idx="0"/>
            </p:cNvCxnSpPr>
            <p:nvPr/>
          </p:nvCxnSpPr>
          <p:spPr>
            <a:xfrm flipH="1">
              <a:off x="4384770" y="2871986"/>
              <a:ext cx="2" cy="590252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4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Ejecución del bucle </a:t>
            </a:r>
            <a:r>
              <a:rPr lang="es-ES" dirty="0">
                <a:latin typeface="Consolas" pitchFamily="49" charset="0"/>
              </a:rPr>
              <a:t>while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marL="84138" lvl="1" indent="1588">
              <a:spcBef>
                <a:spcPts val="0"/>
              </a:spcBef>
              <a:buNone/>
            </a:pPr>
            <a:r>
              <a:rPr lang="es-ES" sz="24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400" dirty="0">
                <a:latin typeface="Consolas" pitchFamily="49" charset="0"/>
              </a:rPr>
              <a:t> i 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sz="2400" dirty="0">
                <a:latin typeface="Consolas" pitchFamily="49" charset="0"/>
              </a:rPr>
              <a:t>;</a:t>
            </a:r>
          </a:p>
          <a:p>
            <a:pPr marL="84138" lvl="1" indent="1588">
              <a:spcBef>
                <a:spcPts val="0"/>
              </a:spcBef>
              <a:buNone/>
            </a:pPr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while </a:t>
            </a:r>
            <a:r>
              <a:rPr lang="es-ES" sz="2400" dirty="0">
                <a:latin typeface="Consolas" pitchFamily="49" charset="0"/>
              </a:rPr>
              <a:t>(i &lt;=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sz="2400" dirty="0">
                <a:latin typeface="Consolas" pitchFamily="49" charset="0"/>
              </a:rPr>
              <a:t>) {</a:t>
            </a:r>
          </a:p>
          <a:p>
            <a:pPr marL="84138" lvl="1" indent="1588">
              <a:spcBef>
                <a:spcPts val="0"/>
              </a:spcBef>
              <a:buNone/>
            </a:pPr>
            <a:r>
              <a:rPr lang="es-ES" sz="2400" dirty="0">
                <a:latin typeface="Consolas" pitchFamily="49" charset="0"/>
              </a:rPr>
              <a:t>   cout &lt;&lt; i &lt;&lt; endl; </a:t>
            </a:r>
          </a:p>
          <a:p>
            <a:pPr marL="84138" lvl="1" indent="1588">
              <a:spcBef>
                <a:spcPts val="0"/>
              </a:spcBef>
              <a:buNone/>
            </a:pPr>
            <a:r>
              <a:rPr lang="es-ES" sz="2400" dirty="0">
                <a:latin typeface="Consolas" pitchFamily="49" charset="0"/>
              </a:rPr>
              <a:t>   i++;</a:t>
            </a:r>
          </a:p>
          <a:p>
            <a:pPr marL="84138" lvl="1" indent="1588">
              <a:spcBef>
                <a:spcPts val="0"/>
              </a:spcBef>
              <a:buNone/>
            </a:pPr>
            <a:r>
              <a:rPr lang="es-ES" sz="2400" dirty="0">
                <a:latin typeface="Consolas" pitchFamily="49" charset="0"/>
              </a:rPr>
              <a:t>}</a:t>
            </a:r>
            <a:endParaRPr lang="es-ES" sz="1800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267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51" name="50 Grupo"/>
          <p:cNvGrpSpPr/>
          <p:nvPr/>
        </p:nvGrpSpPr>
        <p:grpSpPr>
          <a:xfrm>
            <a:off x="5992459" y="1124744"/>
            <a:ext cx="2828013" cy="1800200"/>
            <a:chOff x="971600" y="3112393"/>
            <a:chExt cx="3555094" cy="2944462"/>
          </a:xfrm>
        </p:grpSpPr>
        <p:cxnSp>
          <p:nvCxnSpPr>
            <p:cNvPr id="21" name="20 Conector recto de flecha"/>
            <p:cNvCxnSpPr/>
            <p:nvPr/>
          </p:nvCxnSpPr>
          <p:spPr>
            <a:xfrm rot="5400000">
              <a:off x="1706556" y="4893251"/>
              <a:ext cx="387042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7" name="6 CuadroTexto"/>
            <p:cNvSpPr txBox="1"/>
            <p:nvPr/>
          </p:nvSpPr>
          <p:spPr>
            <a:xfrm>
              <a:off x="1139516" y="4411699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4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Cuerpo</a:t>
              </a:r>
            </a:p>
          </p:txBody>
        </p:sp>
        <p:grpSp>
          <p:nvGrpSpPr>
            <p:cNvPr id="6" name="36 Grupo"/>
            <p:cNvGrpSpPr/>
            <p:nvPr/>
          </p:nvGrpSpPr>
          <p:grpSpPr>
            <a:xfrm>
              <a:off x="1898490" y="3966657"/>
              <a:ext cx="215230" cy="442949"/>
              <a:chOff x="1476450" y="3285903"/>
              <a:chExt cx="215230" cy="44294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9" name="8 Conector recto de flecha"/>
              <p:cNvCxnSpPr/>
              <p:nvPr/>
            </p:nvCxnSpPr>
            <p:spPr>
              <a:xfrm rot="5400000">
                <a:off x="1274026" y="3506584"/>
                <a:ext cx="442949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stealth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0" name="9 Conector recto de flecha"/>
              <p:cNvCxnSpPr/>
              <p:nvPr/>
            </p:nvCxnSpPr>
            <p:spPr>
              <a:xfrm rot="10800000">
                <a:off x="1476450" y="3287792"/>
                <a:ext cx="215230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none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cxnSp>
          <p:nvCxnSpPr>
            <p:cNvPr id="11" name="10 Conector recto de flecha"/>
            <p:cNvCxnSpPr/>
            <p:nvPr/>
          </p:nvCxnSpPr>
          <p:spPr>
            <a:xfrm rot="10800000" flipH="1">
              <a:off x="3914714" y="3974392"/>
              <a:ext cx="215230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2" name="11 Decisión"/>
            <p:cNvSpPr/>
            <p:nvPr/>
          </p:nvSpPr>
          <p:spPr>
            <a:xfrm>
              <a:off x="1918337" y="3702645"/>
              <a:ext cx="2194939" cy="529033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4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Condición</a:t>
              </a:r>
            </a:p>
          </p:txBody>
        </p:sp>
        <p:cxnSp>
          <p:nvCxnSpPr>
            <p:cNvPr id="13" name="12 Conector recto de flecha"/>
            <p:cNvCxnSpPr>
              <a:endCxn id="12" idx="0"/>
            </p:cNvCxnSpPr>
            <p:nvPr/>
          </p:nvCxnSpPr>
          <p:spPr>
            <a:xfrm flipH="1">
              <a:off x="3015806" y="3112393"/>
              <a:ext cx="8025" cy="590252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4" name="13 CuadroTexto"/>
            <p:cNvSpPr txBox="1"/>
            <p:nvPr/>
          </p:nvSpPr>
          <p:spPr>
            <a:xfrm>
              <a:off x="1544106" y="3465728"/>
              <a:ext cx="731897" cy="50340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</a:p>
          </p:txBody>
        </p:sp>
        <p:sp>
          <p:nvSpPr>
            <p:cNvPr id="15" name="14 CuadroTexto"/>
            <p:cNvSpPr txBox="1"/>
            <p:nvPr/>
          </p:nvSpPr>
          <p:spPr>
            <a:xfrm>
              <a:off x="3669857" y="3475339"/>
              <a:ext cx="856837" cy="50340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  <p:cxnSp>
          <p:nvCxnSpPr>
            <p:cNvPr id="16" name="15 Conector recto de flecha"/>
            <p:cNvCxnSpPr/>
            <p:nvPr/>
          </p:nvCxnSpPr>
          <p:spPr>
            <a:xfrm rot="5400000">
              <a:off x="3291032" y="4801187"/>
              <a:ext cx="162543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9" name="18 Conector recto de flecha"/>
            <p:cNvCxnSpPr/>
            <p:nvPr/>
          </p:nvCxnSpPr>
          <p:spPr>
            <a:xfrm>
              <a:off x="3003984" y="5623431"/>
              <a:ext cx="1109292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2" name="21 Conector recto de flecha"/>
            <p:cNvCxnSpPr/>
            <p:nvPr/>
          </p:nvCxnSpPr>
          <p:spPr>
            <a:xfrm>
              <a:off x="973188" y="3322934"/>
              <a:ext cx="2030796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22 Conector recto de flecha"/>
            <p:cNvCxnSpPr/>
            <p:nvPr/>
          </p:nvCxnSpPr>
          <p:spPr>
            <a:xfrm rot="5400000">
              <a:off x="111113" y="4203265"/>
              <a:ext cx="176383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4" name="23 Conector recto de flecha"/>
            <p:cNvCxnSpPr/>
            <p:nvPr/>
          </p:nvCxnSpPr>
          <p:spPr>
            <a:xfrm rot="10800000">
              <a:off x="971600" y="5085184"/>
              <a:ext cx="946736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5" name="24 Conector recto de flecha"/>
            <p:cNvCxnSpPr/>
            <p:nvPr/>
          </p:nvCxnSpPr>
          <p:spPr>
            <a:xfrm rot="16200000" flipH="1">
              <a:off x="2794418" y="5834587"/>
              <a:ext cx="442949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56" name="55 Grupo"/>
          <p:cNvGrpSpPr/>
          <p:nvPr/>
        </p:nvGrpSpPr>
        <p:grpSpPr>
          <a:xfrm>
            <a:off x="2483768" y="3448845"/>
            <a:ext cx="2032384" cy="2305050"/>
            <a:chOff x="1972502" y="3427412"/>
            <a:chExt cx="2032384" cy="2305050"/>
          </a:xfrm>
        </p:grpSpPr>
        <p:cxnSp>
          <p:nvCxnSpPr>
            <p:cNvPr id="46" name="45 Conector recto de flecha"/>
            <p:cNvCxnSpPr/>
            <p:nvPr/>
          </p:nvCxnSpPr>
          <p:spPr>
            <a:xfrm>
              <a:off x="1974090" y="3429000"/>
              <a:ext cx="2030796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7" name="46 Conector recto de flecha"/>
            <p:cNvCxnSpPr/>
            <p:nvPr/>
          </p:nvCxnSpPr>
          <p:spPr>
            <a:xfrm rot="5400000">
              <a:off x="841012" y="4578746"/>
              <a:ext cx="2304256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8" name="47 Conector recto de flecha"/>
            <p:cNvCxnSpPr/>
            <p:nvPr/>
          </p:nvCxnSpPr>
          <p:spPr>
            <a:xfrm rot="10800000">
              <a:off x="1972502" y="5730874"/>
              <a:ext cx="946736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57" name="56 Grupo"/>
          <p:cNvGrpSpPr/>
          <p:nvPr/>
        </p:nvGrpSpPr>
        <p:grpSpPr>
          <a:xfrm>
            <a:off x="4525677" y="3717032"/>
            <a:ext cx="1637709" cy="2448272"/>
            <a:chOff x="4014411" y="3695599"/>
            <a:chExt cx="1637709" cy="2448272"/>
          </a:xfrm>
        </p:grpSpPr>
        <p:cxnSp>
          <p:nvCxnSpPr>
            <p:cNvPr id="37" name="36 Conector recto de flecha"/>
            <p:cNvCxnSpPr/>
            <p:nvPr/>
          </p:nvCxnSpPr>
          <p:spPr>
            <a:xfrm rot="10800000" flipH="1">
              <a:off x="4915616" y="4080458"/>
              <a:ext cx="215230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41" name="40 CuadroTexto"/>
            <p:cNvSpPr txBox="1"/>
            <p:nvPr/>
          </p:nvSpPr>
          <p:spPr>
            <a:xfrm>
              <a:off x="4762133" y="3695599"/>
              <a:ext cx="889987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  <p:cxnSp>
          <p:nvCxnSpPr>
            <p:cNvPr id="42" name="41 Conector recto de flecha"/>
            <p:cNvCxnSpPr/>
            <p:nvPr/>
          </p:nvCxnSpPr>
          <p:spPr>
            <a:xfrm rot="5400000">
              <a:off x="4301459" y="4907253"/>
              <a:ext cx="162543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5" name="44 Conector recto de flecha"/>
            <p:cNvCxnSpPr/>
            <p:nvPr/>
          </p:nvCxnSpPr>
          <p:spPr>
            <a:xfrm>
              <a:off x="4014411" y="5710447"/>
              <a:ext cx="1109292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9" name="48 Conector recto de flecha"/>
            <p:cNvCxnSpPr/>
            <p:nvPr/>
          </p:nvCxnSpPr>
          <p:spPr>
            <a:xfrm rot="16200000" flipH="1">
              <a:off x="3814370" y="5921603"/>
              <a:ext cx="442949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55" name="54 Grupo"/>
          <p:cNvGrpSpPr/>
          <p:nvPr/>
        </p:nvGrpSpPr>
        <p:grpSpPr>
          <a:xfrm>
            <a:off x="2651683" y="3676962"/>
            <a:ext cx="2208349" cy="2075345"/>
            <a:chOff x="2140417" y="3655529"/>
            <a:chExt cx="2208349" cy="2075345"/>
          </a:xfrm>
        </p:grpSpPr>
        <p:cxnSp>
          <p:nvCxnSpPr>
            <p:cNvPr id="32" name="31 Conector recto de flecha"/>
            <p:cNvCxnSpPr/>
            <p:nvPr/>
          </p:nvCxnSpPr>
          <p:spPr>
            <a:xfrm rot="5400000">
              <a:off x="2437646" y="5267541"/>
              <a:ext cx="92507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33" name="32 CuadroTexto"/>
            <p:cNvSpPr txBox="1"/>
            <p:nvPr/>
          </p:nvSpPr>
          <p:spPr>
            <a:xfrm>
              <a:off x="2140417" y="4517765"/>
              <a:ext cx="2208349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cout &lt;&lt; i &lt;&lt; endl;</a:t>
              </a:r>
            </a:p>
          </p:txBody>
        </p:sp>
        <p:grpSp>
          <p:nvGrpSpPr>
            <p:cNvPr id="8" name="36 Grupo"/>
            <p:cNvGrpSpPr/>
            <p:nvPr/>
          </p:nvGrpSpPr>
          <p:grpSpPr>
            <a:xfrm>
              <a:off x="2899392" y="4072723"/>
              <a:ext cx="215230" cy="442949"/>
              <a:chOff x="1476450" y="3285903"/>
              <a:chExt cx="215230" cy="44294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35" name="34 Conector recto de flecha"/>
              <p:cNvCxnSpPr/>
              <p:nvPr/>
            </p:nvCxnSpPr>
            <p:spPr>
              <a:xfrm rot="5400000">
                <a:off x="1274026" y="3506584"/>
                <a:ext cx="442949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stealth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36" name="35 Conector recto de flecha"/>
              <p:cNvCxnSpPr/>
              <p:nvPr/>
            </p:nvCxnSpPr>
            <p:spPr>
              <a:xfrm rot="10800000">
                <a:off x="1476450" y="3287792"/>
                <a:ext cx="215230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none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sp>
          <p:nvSpPr>
            <p:cNvPr id="40" name="39 CuadroTexto"/>
            <p:cNvSpPr txBox="1"/>
            <p:nvPr/>
          </p:nvSpPr>
          <p:spPr>
            <a:xfrm>
              <a:off x="2483768" y="3655529"/>
              <a:ext cx="748923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</a:p>
          </p:txBody>
        </p:sp>
        <p:sp>
          <p:nvSpPr>
            <p:cNvPr id="50" name="49 CuadroTexto"/>
            <p:cNvSpPr txBox="1"/>
            <p:nvPr/>
          </p:nvSpPr>
          <p:spPr>
            <a:xfrm>
              <a:off x="2140418" y="5066556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i++</a:t>
              </a:r>
            </a:p>
          </p:txBody>
        </p:sp>
      </p:grpSp>
      <p:grpSp>
        <p:nvGrpSpPr>
          <p:cNvPr id="53" name="52 Grupo"/>
          <p:cNvGrpSpPr/>
          <p:nvPr/>
        </p:nvGrpSpPr>
        <p:grpSpPr>
          <a:xfrm>
            <a:off x="3553880" y="3239893"/>
            <a:ext cx="1944216" cy="1119285"/>
            <a:chOff x="3042614" y="3218460"/>
            <a:chExt cx="1944216" cy="1119285"/>
          </a:xfrm>
        </p:grpSpPr>
        <p:sp>
          <p:nvSpPr>
            <p:cNvPr id="38" name="37 Decisión"/>
            <p:cNvSpPr/>
            <p:nvPr/>
          </p:nvSpPr>
          <p:spPr>
            <a:xfrm>
              <a:off x="3042614" y="3808711"/>
              <a:ext cx="1944216" cy="529034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0" tIns="36000" rIns="0" bIns="36000" rtlCol="0" anchor="ctr" anchorCtr="0">
              <a:noAutofit/>
            </a:bodyPr>
            <a:lstStyle/>
            <a:p>
              <a:pPr algn="ctr"/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 &lt;= 100</a:t>
              </a:r>
            </a:p>
          </p:txBody>
        </p:sp>
        <p:cxnSp>
          <p:nvCxnSpPr>
            <p:cNvPr id="39" name="38 Conector recto de flecha"/>
            <p:cNvCxnSpPr>
              <a:stCxn id="43" idx="2"/>
              <a:endCxn id="38" idx="0"/>
            </p:cNvCxnSpPr>
            <p:nvPr/>
          </p:nvCxnSpPr>
          <p:spPr>
            <a:xfrm flipH="1">
              <a:off x="4014722" y="3218460"/>
              <a:ext cx="10008" cy="590251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52" name="51 Grupo"/>
          <p:cNvGrpSpPr/>
          <p:nvPr/>
        </p:nvGrpSpPr>
        <p:grpSpPr>
          <a:xfrm>
            <a:off x="3779912" y="2548388"/>
            <a:ext cx="1512168" cy="691505"/>
            <a:chOff x="3268646" y="2526955"/>
            <a:chExt cx="1512168" cy="691505"/>
          </a:xfrm>
        </p:grpSpPr>
        <p:sp>
          <p:nvSpPr>
            <p:cNvPr id="43" name="42 CuadroTexto"/>
            <p:cNvSpPr txBox="1"/>
            <p:nvPr/>
          </p:nvSpPr>
          <p:spPr>
            <a:xfrm>
              <a:off x="3268646" y="2858420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 = 1</a:t>
              </a:r>
            </a:p>
          </p:txBody>
        </p:sp>
        <p:cxnSp>
          <p:nvCxnSpPr>
            <p:cNvPr id="44" name="43 Conector recto de flecha"/>
            <p:cNvCxnSpPr/>
            <p:nvPr/>
          </p:nvCxnSpPr>
          <p:spPr>
            <a:xfrm rot="16200000" flipH="1">
              <a:off x="3844313" y="2706578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aphicFrame>
        <p:nvGraphicFramePr>
          <p:cNvPr id="60" name="59 Tabla"/>
          <p:cNvGraphicFramePr>
            <a:graphicFrameLocks noGrp="1"/>
          </p:cNvGraphicFramePr>
          <p:nvPr/>
        </p:nvGraphicFramePr>
        <p:xfrm>
          <a:off x="494793" y="3362415"/>
          <a:ext cx="1282813" cy="39624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415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i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rgbClr val="C00000"/>
                          </a:solidFill>
                          <a:latin typeface="Consolas" pitchFamily="49" charset="0"/>
                        </a:rPr>
                        <a:t>?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1" name="60 Rectángulo"/>
          <p:cNvSpPr/>
          <p:nvPr/>
        </p:nvSpPr>
        <p:spPr>
          <a:xfrm>
            <a:off x="1083966" y="3382143"/>
            <a:ext cx="529690" cy="3561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s-ES" sz="20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62" name="61 Rectángulo"/>
          <p:cNvSpPr/>
          <p:nvPr/>
        </p:nvSpPr>
        <p:spPr>
          <a:xfrm>
            <a:off x="1083966" y="3382143"/>
            <a:ext cx="529690" cy="3561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s-ES" sz="20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2</a:t>
            </a:r>
          </a:p>
        </p:txBody>
      </p:sp>
      <p:sp>
        <p:nvSpPr>
          <p:cNvPr id="63" name="62 Rectángulo"/>
          <p:cNvSpPr/>
          <p:nvPr/>
        </p:nvSpPr>
        <p:spPr>
          <a:xfrm>
            <a:off x="1083966" y="3382143"/>
            <a:ext cx="529690" cy="3561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s-ES" sz="20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3</a:t>
            </a:r>
          </a:p>
        </p:txBody>
      </p:sp>
      <p:sp>
        <p:nvSpPr>
          <p:cNvPr id="64" name="63 CuadroTexto"/>
          <p:cNvSpPr txBox="1"/>
          <p:nvPr/>
        </p:nvSpPr>
        <p:spPr>
          <a:xfrm>
            <a:off x="6805389" y="3356992"/>
            <a:ext cx="1368151" cy="2308277"/>
          </a:xfrm>
          <a:prstGeom prst="rect">
            <a:avLst/>
          </a:prstGeom>
          <a:solidFill>
            <a:schemeClr val="dk1"/>
          </a:solidFill>
          <a:ln w="63500" cap="rnd">
            <a:solidFill>
              <a:schemeClr val="tx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endParaRPr lang="es-ES" sz="1600" dirty="0">
              <a:latin typeface="Consolas" pitchFamily="49" charset="0"/>
            </a:endParaRPr>
          </a:p>
        </p:txBody>
      </p:sp>
      <p:sp>
        <p:nvSpPr>
          <p:cNvPr id="65" name="64 CuadroTexto"/>
          <p:cNvSpPr txBox="1"/>
          <p:nvPr/>
        </p:nvSpPr>
        <p:spPr>
          <a:xfrm>
            <a:off x="6877397" y="5166718"/>
            <a:ext cx="26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nsolas" pitchFamily="49" charset="0"/>
              </a:rPr>
              <a:t>_</a:t>
            </a:r>
            <a:endParaRPr lang="es-ES" dirty="0"/>
          </a:p>
        </p:txBody>
      </p:sp>
      <p:sp>
        <p:nvSpPr>
          <p:cNvPr id="66" name="65 CuadroTexto"/>
          <p:cNvSpPr txBox="1"/>
          <p:nvPr/>
        </p:nvSpPr>
        <p:spPr>
          <a:xfrm>
            <a:off x="6876827" y="3392476"/>
            <a:ext cx="792658" cy="428628"/>
          </a:xfrm>
          <a:prstGeom prst="rect">
            <a:avLst/>
          </a:prstGeom>
          <a:noFill/>
          <a:ln w="63500" cap="rnd"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endParaRPr lang="es-ES" sz="1600" dirty="0">
              <a:latin typeface="Consolas" pitchFamily="49" charset="0"/>
            </a:endParaRPr>
          </a:p>
        </p:txBody>
      </p:sp>
      <p:sp>
        <p:nvSpPr>
          <p:cNvPr id="67" name="66 CuadroTexto"/>
          <p:cNvSpPr txBox="1"/>
          <p:nvPr/>
        </p:nvSpPr>
        <p:spPr>
          <a:xfrm>
            <a:off x="6876827" y="3380334"/>
            <a:ext cx="26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nsolas" pitchFamily="49" charset="0"/>
              </a:rPr>
              <a:t>_</a:t>
            </a:r>
            <a:endParaRPr lang="es-ES" dirty="0"/>
          </a:p>
        </p:txBody>
      </p:sp>
      <p:sp>
        <p:nvSpPr>
          <p:cNvPr id="68" name="67 CuadroTexto"/>
          <p:cNvSpPr txBox="1"/>
          <p:nvPr/>
        </p:nvSpPr>
        <p:spPr>
          <a:xfrm>
            <a:off x="6877397" y="3419476"/>
            <a:ext cx="646328" cy="428628"/>
          </a:xfrm>
          <a:prstGeom prst="rect">
            <a:avLst/>
          </a:prstGeom>
          <a:solidFill>
            <a:schemeClr val="bg1"/>
          </a:solidFill>
          <a:ln w="63500" cap="rnd"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r>
              <a:rPr lang="es-ES" sz="1600" dirty="0">
                <a:latin typeface="Consolas" pitchFamily="49" charset="0"/>
              </a:rPr>
              <a:t>1</a:t>
            </a:r>
          </a:p>
        </p:txBody>
      </p:sp>
      <p:sp>
        <p:nvSpPr>
          <p:cNvPr id="69" name="68 CuadroTexto"/>
          <p:cNvSpPr txBox="1"/>
          <p:nvPr/>
        </p:nvSpPr>
        <p:spPr>
          <a:xfrm>
            <a:off x="6877397" y="3717033"/>
            <a:ext cx="267958" cy="276999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r>
              <a:rPr lang="es-ES" dirty="0">
                <a:latin typeface="Consolas" pitchFamily="49" charset="0"/>
              </a:rPr>
              <a:t>_</a:t>
            </a:r>
            <a:endParaRPr lang="es-ES" dirty="0"/>
          </a:p>
        </p:txBody>
      </p:sp>
      <p:sp>
        <p:nvSpPr>
          <p:cNvPr id="70" name="69 CuadroTexto"/>
          <p:cNvSpPr txBox="1"/>
          <p:nvPr/>
        </p:nvSpPr>
        <p:spPr>
          <a:xfrm>
            <a:off x="6877397" y="3720453"/>
            <a:ext cx="646328" cy="428628"/>
          </a:xfrm>
          <a:prstGeom prst="rect">
            <a:avLst/>
          </a:prstGeom>
          <a:solidFill>
            <a:schemeClr val="bg1"/>
          </a:solidFill>
          <a:ln w="63500" cap="rnd"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r>
              <a:rPr lang="es-ES" sz="1600" dirty="0">
                <a:latin typeface="Consolas" pitchFamily="49" charset="0"/>
              </a:rPr>
              <a:t>2</a:t>
            </a:r>
          </a:p>
        </p:txBody>
      </p:sp>
      <p:sp>
        <p:nvSpPr>
          <p:cNvPr id="71" name="70 CuadroTexto"/>
          <p:cNvSpPr txBox="1"/>
          <p:nvPr/>
        </p:nvSpPr>
        <p:spPr>
          <a:xfrm>
            <a:off x="6876827" y="3923765"/>
            <a:ext cx="26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nsolas" pitchFamily="49" charset="0"/>
              </a:rPr>
              <a:t>_</a:t>
            </a:r>
            <a:endParaRPr lang="es-ES" dirty="0"/>
          </a:p>
        </p:txBody>
      </p:sp>
      <p:cxnSp>
        <p:nvCxnSpPr>
          <p:cNvPr id="72" name="71 Conector recto"/>
          <p:cNvCxnSpPr/>
          <p:nvPr/>
        </p:nvCxnSpPr>
        <p:spPr>
          <a:xfrm>
            <a:off x="6775673" y="4628972"/>
            <a:ext cx="144000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73 CuadroTexto"/>
          <p:cNvSpPr txBox="1"/>
          <p:nvPr/>
        </p:nvSpPr>
        <p:spPr>
          <a:xfrm>
            <a:off x="6876827" y="4887094"/>
            <a:ext cx="26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nsolas" pitchFamily="49" charset="0"/>
              </a:rPr>
              <a:t>_</a:t>
            </a:r>
            <a:endParaRPr lang="es-ES" dirty="0"/>
          </a:p>
        </p:txBody>
      </p:sp>
      <p:sp>
        <p:nvSpPr>
          <p:cNvPr id="75" name="74 CuadroTexto"/>
          <p:cNvSpPr txBox="1"/>
          <p:nvPr/>
        </p:nvSpPr>
        <p:spPr>
          <a:xfrm>
            <a:off x="6879141" y="4975077"/>
            <a:ext cx="646328" cy="428628"/>
          </a:xfrm>
          <a:prstGeom prst="rect">
            <a:avLst/>
          </a:prstGeom>
          <a:solidFill>
            <a:schemeClr val="bg1"/>
          </a:solidFill>
          <a:ln w="63500" cap="rnd"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r>
              <a:rPr lang="es-ES" sz="1600" dirty="0">
                <a:latin typeface="Consolas" pitchFamily="49" charset="0"/>
              </a:rPr>
              <a:t>100</a:t>
            </a:r>
          </a:p>
        </p:txBody>
      </p:sp>
      <p:sp>
        <p:nvSpPr>
          <p:cNvPr id="76" name="75 CuadroTexto"/>
          <p:cNvSpPr txBox="1"/>
          <p:nvPr/>
        </p:nvSpPr>
        <p:spPr>
          <a:xfrm>
            <a:off x="6877397" y="4061443"/>
            <a:ext cx="646328" cy="428628"/>
          </a:xfrm>
          <a:prstGeom prst="rect">
            <a:avLst/>
          </a:prstGeom>
          <a:solidFill>
            <a:schemeClr val="bg1"/>
          </a:solidFill>
          <a:ln w="63500" cap="rnd"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r>
              <a:rPr lang="es-ES" sz="1600" dirty="0">
                <a:latin typeface="Consolas" pitchFamily="49" charset="0"/>
              </a:rPr>
              <a:t>3</a:t>
            </a:r>
          </a:p>
        </p:txBody>
      </p:sp>
      <p:sp>
        <p:nvSpPr>
          <p:cNvPr id="84" name="83 CuadroTexto"/>
          <p:cNvSpPr txBox="1"/>
          <p:nvPr/>
        </p:nvSpPr>
        <p:spPr>
          <a:xfrm>
            <a:off x="6877397" y="4690590"/>
            <a:ext cx="26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nsolas" pitchFamily="49" charset="0"/>
              </a:rPr>
              <a:t>_</a:t>
            </a:r>
            <a:endParaRPr lang="es-ES" dirty="0"/>
          </a:p>
        </p:txBody>
      </p:sp>
      <p:sp>
        <p:nvSpPr>
          <p:cNvPr id="83" name="82 Rectángulo"/>
          <p:cNvSpPr/>
          <p:nvPr/>
        </p:nvSpPr>
        <p:spPr>
          <a:xfrm>
            <a:off x="1083966" y="3382143"/>
            <a:ext cx="529690" cy="3561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s-ES" sz="20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4</a:t>
            </a:r>
          </a:p>
        </p:txBody>
      </p:sp>
      <p:sp>
        <p:nvSpPr>
          <p:cNvPr id="73" name="72 CuadroTexto"/>
          <p:cNvSpPr txBox="1"/>
          <p:nvPr/>
        </p:nvSpPr>
        <p:spPr>
          <a:xfrm>
            <a:off x="6877397" y="4680940"/>
            <a:ext cx="646328" cy="378982"/>
          </a:xfrm>
          <a:prstGeom prst="rect">
            <a:avLst/>
          </a:prstGeom>
          <a:solidFill>
            <a:schemeClr val="bg1"/>
          </a:solidFill>
          <a:ln w="63500" cap="rnd"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r>
              <a:rPr lang="es-ES" sz="1600" dirty="0">
                <a:latin typeface="Consolas" pitchFamily="49" charset="0"/>
              </a:rPr>
              <a:t>99</a:t>
            </a:r>
          </a:p>
        </p:txBody>
      </p:sp>
      <p:sp>
        <p:nvSpPr>
          <p:cNvPr id="79" name="78 Rectángulo"/>
          <p:cNvSpPr/>
          <p:nvPr/>
        </p:nvSpPr>
        <p:spPr>
          <a:xfrm>
            <a:off x="1083966" y="3382143"/>
            <a:ext cx="529690" cy="3561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s-ES" sz="20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99</a:t>
            </a:r>
          </a:p>
        </p:txBody>
      </p:sp>
      <p:sp>
        <p:nvSpPr>
          <p:cNvPr id="80" name="79 Rectángulo"/>
          <p:cNvSpPr/>
          <p:nvPr/>
        </p:nvSpPr>
        <p:spPr>
          <a:xfrm>
            <a:off x="1015906" y="3382143"/>
            <a:ext cx="665810" cy="3561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s-ES" sz="20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100</a:t>
            </a:r>
          </a:p>
        </p:txBody>
      </p:sp>
      <p:sp>
        <p:nvSpPr>
          <p:cNvPr id="81" name="80 Rectángulo"/>
          <p:cNvSpPr/>
          <p:nvPr/>
        </p:nvSpPr>
        <p:spPr>
          <a:xfrm>
            <a:off x="1044960" y="3382143"/>
            <a:ext cx="607702" cy="3561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s-ES" sz="20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101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00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000"/>
                            </p:stCondLst>
                            <p:childTnLst>
                              <p:par>
                                <p:cTn id="12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00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000"/>
                            </p:stCondLst>
                            <p:childTnLst>
                              <p:par>
                                <p:cTn id="1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63" grpId="0" animBg="1"/>
      <p:bldP spid="65" grpId="0"/>
      <p:bldP spid="68" grpId="0" animBg="1"/>
      <p:bldP spid="69" grpId="0"/>
      <p:bldP spid="70" grpId="0" animBg="1"/>
      <p:bldP spid="71" grpId="0"/>
      <p:bldP spid="74" grpId="0"/>
      <p:bldP spid="74" grpId="1"/>
      <p:bldP spid="75" grpId="0" animBg="1"/>
      <p:bldP spid="76" grpId="0" animBg="1"/>
      <p:bldP spid="84" grpId="0"/>
      <p:bldP spid="83" grpId="0" animBg="1"/>
      <p:bldP spid="73" grpId="0" animBg="1"/>
      <p:bldP spid="73" grpId="1" animBg="1"/>
      <p:bldP spid="79" grpId="0" animBg="1"/>
      <p:bldP spid="80" grpId="0" animBg="1"/>
      <p:bldP spid="8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268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3046687" y="3044280"/>
            <a:ext cx="3050836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El bucle </a:t>
            </a:r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j-ea"/>
                <a:cs typeface="Consolas" pitchFamily="49" charset="0"/>
              </a:rPr>
              <a:t>for</a:t>
            </a:r>
            <a:endParaRPr lang="es-ES" sz="2400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Bucle </a:t>
            </a:r>
            <a:r>
              <a:rPr lang="es-ES" dirty="0">
                <a:latin typeface="Consolas" pitchFamily="49" charset="0"/>
              </a:rPr>
              <a:t>for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54543"/>
            <a:ext cx="8363272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Número de iteraciones prefijado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/>
              <a:t>Variable contadora que determina el número de iteraciones:</a:t>
            </a:r>
          </a:p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for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 ([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] </a:t>
            </a:r>
            <a:r>
              <a:rPr lang="es-ES" i="1" dirty="0" err="1">
                <a:latin typeface="Consolas" pitchFamily="49" charset="0"/>
                <a:cs typeface="Consolas" pitchFamily="49" charset="0"/>
              </a:rPr>
              <a:t>var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 = </a:t>
            </a:r>
            <a:r>
              <a:rPr lang="es-ES" i="1" dirty="0">
                <a:latin typeface="Consolas" pitchFamily="49" charset="0"/>
                <a:cs typeface="Consolas" pitchFamily="49" charset="0"/>
              </a:rPr>
              <a:t>ini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; </a:t>
            </a:r>
            <a:r>
              <a:rPr lang="es-ES" i="1" dirty="0">
                <a:latin typeface="Consolas" pitchFamily="49" charset="0"/>
                <a:cs typeface="Consolas" pitchFamily="49" charset="0"/>
              </a:rPr>
              <a:t>condición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; </a:t>
            </a:r>
            <a:r>
              <a:rPr lang="es-ES" i="1" dirty="0">
                <a:latin typeface="Consolas" pitchFamily="49" charset="0"/>
                <a:cs typeface="Consolas" pitchFamily="49" charset="0"/>
              </a:rPr>
              <a:t>paso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) </a:t>
            </a:r>
            <a:r>
              <a:rPr lang="es-ES" i="1" dirty="0">
                <a:latin typeface="Consolas" pitchFamily="49" charset="0"/>
                <a:cs typeface="Consolas" pitchFamily="49" charset="0"/>
              </a:rPr>
              <a:t>cuerpo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La </a:t>
            </a:r>
            <a:r>
              <a:rPr lang="es-ES" i="1" dirty="0"/>
              <a:t>condición</a:t>
            </a:r>
            <a:r>
              <a:rPr lang="es-ES" dirty="0"/>
              <a:t> compara el valor de </a:t>
            </a:r>
            <a:r>
              <a:rPr lang="es-ES" i="1" dirty="0" err="1"/>
              <a:t>var</a:t>
            </a:r>
            <a:r>
              <a:rPr lang="es-ES" dirty="0"/>
              <a:t> con un valor final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El </a:t>
            </a:r>
            <a:r>
              <a:rPr lang="es-ES" i="1" dirty="0"/>
              <a:t>paso</a:t>
            </a:r>
            <a:r>
              <a:rPr lang="es-ES" dirty="0"/>
              <a:t> incrementa o decrementa el valor de </a:t>
            </a:r>
            <a:r>
              <a:rPr lang="es-ES" i="1" dirty="0" err="1"/>
              <a:t>var</a:t>
            </a:r>
            <a:endParaRPr lang="es-ES" dirty="0"/>
          </a:p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/>
              <a:t>El valor de </a:t>
            </a:r>
            <a:r>
              <a:rPr lang="es-ES" i="1" dirty="0" err="1"/>
              <a:t>var</a:t>
            </a:r>
            <a:r>
              <a:rPr lang="es-ES" dirty="0"/>
              <a:t> debe ir aproximándose al valor final</a:t>
            </a:r>
          </a:p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 </a:t>
            </a:r>
            <a:r>
              <a:rPr lang="es-ES" sz="2000" dirty="0">
                <a:latin typeface="Consolas" pitchFamily="49" charset="0"/>
              </a:rPr>
              <a:t>(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</a:rPr>
              <a:t> i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sz="2000" dirty="0">
                <a:latin typeface="Consolas" pitchFamily="49" charset="0"/>
              </a:rPr>
              <a:t>; i &lt;=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sz="2000" dirty="0">
                <a:latin typeface="Consolas" pitchFamily="49" charset="0"/>
              </a:rPr>
              <a:t>; i++)...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 </a:t>
            </a:r>
            <a:r>
              <a:rPr lang="es-ES" sz="2000" dirty="0">
                <a:latin typeface="Consolas" pitchFamily="49" charset="0"/>
              </a:rPr>
              <a:t>(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</a:rPr>
              <a:t> i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sz="2000" dirty="0">
                <a:latin typeface="Consolas" pitchFamily="49" charset="0"/>
              </a:rPr>
              <a:t>; i &gt;=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sz="2000" dirty="0">
                <a:latin typeface="Consolas" pitchFamily="49" charset="0"/>
              </a:rPr>
              <a:t>; i--)...</a:t>
            </a:r>
          </a:p>
          <a:p>
            <a:pPr lvl="1" indent="1588">
              <a:spcBef>
                <a:spcPts val="120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Tantos ciclos como valores toma la variable contadora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269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33" name="32 CuadroTexto"/>
          <p:cNvSpPr txBox="1"/>
          <p:nvPr/>
        </p:nvSpPr>
        <p:spPr>
          <a:xfrm>
            <a:off x="5723149" y="3844667"/>
            <a:ext cx="3097323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1, 2, 3, 4, 5, ..., 100</a:t>
            </a:r>
          </a:p>
        </p:txBody>
      </p:sp>
      <p:sp>
        <p:nvSpPr>
          <p:cNvPr id="34" name="33 CuadroTexto"/>
          <p:cNvSpPr txBox="1"/>
          <p:nvPr/>
        </p:nvSpPr>
        <p:spPr>
          <a:xfrm>
            <a:off x="5723149" y="4283804"/>
            <a:ext cx="3097323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100, 99, 98, 97, ..., 1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3" grpId="0"/>
      <p:bldP spid="3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Ejecución del bucle </a:t>
            </a:r>
            <a:r>
              <a:rPr lang="es-ES" dirty="0">
                <a:latin typeface="Consolas" pitchFamily="49" charset="0"/>
              </a:rPr>
              <a:t>for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 </a:t>
            </a:r>
            <a:r>
              <a:rPr lang="es-ES" dirty="0">
                <a:latin typeface="Consolas" pitchFamily="49" charset="0"/>
              </a:rPr>
              <a:t>(</a:t>
            </a:r>
            <a:r>
              <a:rPr lang="es-ES" i="1" dirty="0">
                <a:latin typeface="Consolas" pitchFamily="49" charset="0"/>
              </a:rPr>
              <a:t>inicialización</a:t>
            </a:r>
            <a:r>
              <a:rPr lang="es-ES" dirty="0">
                <a:latin typeface="Consolas" pitchFamily="49" charset="0"/>
              </a:rPr>
              <a:t>; </a:t>
            </a:r>
            <a:r>
              <a:rPr lang="es-ES" i="1" dirty="0">
                <a:latin typeface="Consolas" pitchFamily="49" charset="0"/>
              </a:rPr>
              <a:t>condición</a:t>
            </a:r>
            <a:r>
              <a:rPr lang="es-ES" dirty="0">
                <a:latin typeface="Consolas" pitchFamily="49" charset="0"/>
              </a:rPr>
              <a:t>; </a:t>
            </a:r>
            <a:r>
              <a:rPr lang="es-ES" i="1" dirty="0">
                <a:latin typeface="Consolas" pitchFamily="49" charset="0"/>
              </a:rPr>
              <a:t>paso</a:t>
            </a:r>
            <a:r>
              <a:rPr lang="es-ES" dirty="0">
                <a:latin typeface="Consolas" pitchFamily="49" charset="0"/>
              </a:rPr>
              <a:t>) </a:t>
            </a:r>
            <a:r>
              <a:rPr lang="es-ES" i="1" dirty="0">
                <a:latin typeface="Consolas" pitchFamily="49" charset="0"/>
              </a:rPr>
              <a:t>cuerpo</a:t>
            </a:r>
            <a:endParaRPr lang="es-ES" dirty="0"/>
          </a:p>
          <a:p>
            <a:pPr lvl="1" indent="1588">
              <a:spcBef>
                <a:spcPts val="0"/>
              </a:spcBef>
              <a:buNone/>
            </a:pPr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 </a:t>
            </a:r>
            <a:r>
              <a:rPr lang="es-ES" sz="2400" dirty="0">
                <a:latin typeface="Consolas" pitchFamily="49" charset="0"/>
              </a:rPr>
              <a:t>(</a:t>
            </a:r>
            <a:r>
              <a:rPr lang="es-ES" sz="24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400" dirty="0">
                <a:latin typeface="Consolas" pitchFamily="49" charset="0"/>
              </a:rPr>
              <a:t> i 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sz="2400" dirty="0">
                <a:latin typeface="Consolas" pitchFamily="49" charset="0"/>
              </a:rPr>
              <a:t>; i &lt;=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sz="2400" dirty="0">
                <a:latin typeface="Consolas" pitchFamily="49" charset="0"/>
              </a:rPr>
              <a:t>; i++) {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latin typeface="Consolas" pitchFamily="49" charset="0"/>
              </a:rPr>
              <a:t>   cout &lt;&lt; i;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latin typeface="Consolas" pitchFamily="49" charset="0"/>
              </a:rPr>
              <a:t>}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270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55" name="54 Grupo"/>
          <p:cNvGrpSpPr/>
          <p:nvPr/>
        </p:nvGrpSpPr>
        <p:grpSpPr>
          <a:xfrm>
            <a:off x="2548566" y="3321345"/>
            <a:ext cx="2032384" cy="2305050"/>
            <a:chOff x="2548566" y="3321345"/>
            <a:chExt cx="2032384" cy="2305050"/>
          </a:xfrm>
        </p:grpSpPr>
        <p:cxnSp>
          <p:nvCxnSpPr>
            <p:cNvPr id="46" name="45 Conector recto de flecha"/>
            <p:cNvCxnSpPr/>
            <p:nvPr/>
          </p:nvCxnSpPr>
          <p:spPr>
            <a:xfrm>
              <a:off x="2550154" y="3322933"/>
              <a:ext cx="2030796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7" name="46 Conector recto de flecha"/>
            <p:cNvCxnSpPr/>
            <p:nvPr/>
          </p:nvCxnSpPr>
          <p:spPr>
            <a:xfrm rot="5400000">
              <a:off x="1417076" y="4472679"/>
              <a:ext cx="2304256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8" name="47 Conector recto de flecha"/>
            <p:cNvCxnSpPr/>
            <p:nvPr/>
          </p:nvCxnSpPr>
          <p:spPr>
            <a:xfrm rot="10800000">
              <a:off x="2548566" y="5624807"/>
              <a:ext cx="946736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56" name="55 Grupo"/>
          <p:cNvGrpSpPr/>
          <p:nvPr/>
        </p:nvGrpSpPr>
        <p:grpSpPr>
          <a:xfrm>
            <a:off x="4590475" y="3607440"/>
            <a:ext cx="1493693" cy="2430364"/>
            <a:chOff x="4590475" y="3607440"/>
            <a:chExt cx="1493693" cy="2430364"/>
          </a:xfrm>
        </p:grpSpPr>
        <p:cxnSp>
          <p:nvCxnSpPr>
            <p:cNvPr id="37" name="36 Conector recto de flecha"/>
            <p:cNvCxnSpPr/>
            <p:nvPr/>
          </p:nvCxnSpPr>
          <p:spPr>
            <a:xfrm rot="10800000" flipH="1">
              <a:off x="5491680" y="3974391"/>
              <a:ext cx="215230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41" name="40 CuadroTexto"/>
            <p:cNvSpPr txBox="1"/>
            <p:nvPr/>
          </p:nvSpPr>
          <p:spPr>
            <a:xfrm>
              <a:off x="5266315" y="3607440"/>
              <a:ext cx="817853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  <p:cxnSp>
          <p:nvCxnSpPr>
            <p:cNvPr id="42" name="41 Conector recto de flecha"/>
            <p:cNvCxnSpPr/>
            <p:nvPr/>
          </p:nvCxnSpPr>
          <p:spPr>
            <a:xfrm rot="5400000">
              <a:off x="4877523" y="4801186"/>
              <a:ext cx="162543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5" name="44 Conector recto de flecha"/>
            <p:cNvCxnSpPr/>
            <p:nvPr/>
          </p:nvCxnSpPr>
          <p:spPr>
            <a:xfrm>
              <a:off x="4590475" y="5604380"/>
              <a:ext cx="1109292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9" name="48 Conector recto de flecha"/>
            <p:cNvCxnSpPr/>
            <p:nvPr/>
          </p:nvCxnSpPr>
          <p:spPr>
            <a:xfrm rot="16200000" flipH="1">
              <a:off x="4380909" y="5815536"/>
              <a:ext cx="442949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54" name="53 Grupo"/>
          <p:cNvGrpSpPr/>
          <p:nvPr/>
        </p:nvGrpSpPr>
        <p:grpSpPr>
          <a:xfrm>
            <a:off x="2716482" y="3597829"/>
            <a:ext cx="1512168" cy="2026978"/>
            <a:chOff x="2716482" y="3597829"/>
            <a:chExt cx="1512168" cy="2026978"/>
          </a:xfrm>
        </p:grpSpPr>
        <p:cxnSp>
          <p:nvCxnSpPr>
            <p:cNvPr id="32" name="31 Conector recto de flecha"/>
            <p:cNvCxnSpPr/>
            <p:nvPr/>
          </p:nvCxnSpPr>
          <p:spPr>
            <a:xfrm rot="5400000">
              <a:off x="3013710" y="5161474"/>
              <a:ext cx="92507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33" name="32 CuadroTexto"/>
            <p:cNvSpPr txBox="1"/>
            <p:nvPr/>
          </p:nvSpPr>
          <p:spPr>
            <a:xfrm>
              <a:off x="2716482" y="4411698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cout &lt;&lt; i;</a:t>
              </a:r>
            </a:p>
          </p:txBody>
        </p:sp>
        <p:grpSp>
          <p:nvGrpSpPr>
            <p:cNvPr id="8" name="36 Grupo"/>
            <p:cNvGrpSpPr/>
            <p:nvPr/>
          </p:nvGrpSpPr>
          <p:grpSpPr>
            <a:xfrm>
              <a:off x="3475456" y="3966656"/>
              <a:ext cx="215230" cy="442949"/>
              <a:chOff x="1476450" y="3285903"/>
              <a:chExt cx="215230" cy="44294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35" name="34 Conector recto de flecha"/>
              <p:cNvCxnSpPr/>
              <p:nvPr/>
            </p:nvCxnSpPr>
            <p:spPr>
              <a:xfrm rot="5400000">
                <a:off x="1274026" y="3506584"/>
                <a:ext cx="442949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stealth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36" name="35 Conector recto de flecha"/>
              <p:cNvCxnSpPr/>
              <p:nvPr/>
            </p:nvCxnSpPr>
            <p:spPr>
              <a:xfrm rot="10800000">
                <a:off x="1476450" y="3287792"/>
                <a:ext cx="215230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none" w="lg" len="lg"/>
              </a:ln>
              <a:effectLst/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sp>
          <p:nvSpPr>
            <p:cNvPr id="40" name="39 CuadroTexto"/>
            <p:cNvSpPr txBox="1"/>
            <p:nvPr/>
          </p:nvSpPr>
          <p:spPr>
            <a:xfrm>
              <a:off x="3141413" y="3597829"/>
              <a:ext cx="691216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</a:p>
          </p:txBody>
        </p:sp>
        <p:sp>
          <p:nvSpPr>
            <p:cNvPr id="50" name="49 CuadroTexto"/>
            <p:cNvSpPr txBox="1"/>
            <p:nvPr/>
          </p:nvSpPr>
          <p:spPr>
            <a:xfrm>
              <a:off x="2716482" y="4960489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i++</a:t>
              </a:r>
            </a:p>
          </p:txBody>
        </p:sp>
      </p:grpSp>
      <p:grpSp>
        <p:nvGrpSpPr>
          <p:cNvPr id="53" name="52 Grupo"/>
          <p:cNvGrpSpPr/>
          <p:nvPr/>
        </p:nvGrpSpPr>
        <p:grpSpPr>
          <a:xfrm>
            <a:off x="3618678" y="3112392"/>
            <a:ext cx="1944216" cy="1119286"/>
            <a:chOff x="3618678" y="3112392"/>
            <a:chExt cx="1944216" cy="1119286"/>
          </a:xfrm>
        </p:grpSpPr>
        <p:sp>
          <p:nvSpPr>
            <p:cNvPr id="38" name="37 Decisión"/>
            <p:cNvSpPr/>
            <p:nvPr/>
          </p:nvSpPr>
          <p:spPr>
            <a:xfrm>
              <a:off x="3618678" y="3702644"/>
              <a:ext cx="1944216" cy="529034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0" tIns="36000" rIns="0" bIns="36000" rtlCol="0" anchor="ctr" anchorCtr="0">
              <a:noAutofit/>
            </a:bodyPr>
            <a:lstStyle/>
            <a:p>
              <a:pPr algn="ctr"/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 &lt;= 100</a:t>
              </a:r>
            </a:p>
          </p:txBody>
        </p:sp>
        <p:cxnSp>
          <p:nvCxnSpPr>
            <p:cNvPr id="39" name="38 Conector recto de flecha"/>
            <p:cNvCxnSpPr>
              <a:stCxn id="43" idx="2"/>
              <a:endCxn id="38" idx="0"/>
            </p:cNvCxnSpPr>
            <p:nvPr/>
          </p:nvCxnSpPr>
          <p:spPr>
            <a:xfrm rot="5400000">
              <a:off x="4300665" y="3402514"/>
              <a:ext cx="590251" cy="1000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52" name="51 Grupo"/>
          <p:cNvGrpSpPr/>
          <p:nvPr/>
        </p:nvGrpSpPr>
        <p:grpSpPr>
          <a:xfrm>
            <a:off x="3844710" y="2420888"/>
            <a:ext cx="1512168" cy="691505"/>
            <a:chOff x="3844710" y="2420888"/>
            <a:chExt cx="1512168" cy="691505"/>
          </a:xfrm>
        </p:grpSpPr>
        <p:sp>
          <p:nvSpPr>
            <p:cNvPr id="43" name="42 CuadroTexto"/>
            <p:cNvSpPr txBox="1"/>
            <p:nvPr/>
          </p:nvSpPr>
          <p:spPr>
            <a:xfrm>
              <a:off x="3844710" y="2752353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 = 1</a:t>
              </a:r>
            </a:p>
          </p:txBody>
        </p:sp>
        <p:cxnSp>
          <p:nvCxnSpPr>
            <p:cNvPr id="44" name="43 Conector recto de flecha"/>
            <p:cNvCxnSpPr/>
            <p:nvPr/>
          </p:nvCxnSpPr>
          <p:spPr>
            <a:xfrm rot="16200000" flipH="1">
              <a:off x="4420377" y="2600511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Ejecución del bucle </a:t>
            </a:r>
            <a:r>
              <a:rPr lang="es-ES" dirty="0">
                <a:latin typeface="Consolas" pitchFamily="49" charset="0"/>
              </a:rPr>
              <a:t>for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 </a:t>
            </a:r>
            <a:r>
              <a:rPr lang="es-ES" dirty="0">
                <a:latin typeface="Consolas" pitchFamily="49" charset="0"/>
              </a:rPr>
              <a:t>(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dirty="0">
                <a:latin typeface="Consolas" pitchFamily="49" charset="0"/>
              </a:rPr>
              <a:t>; i &lt;=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dirty="0">
                <a:latin typeface="Consolas" pitchFamily="49" charset="0"/>
              </a:rPr>
              <a:t>; i++) {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latin typeface="Consolas" pitchFamily="49" charset="0"/>
              </a:rPr>
              <a:t>   cout &lt;&lt; i &lt;&lt; endl;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latin typeface="Consolas" pitchFamily="49" charset="0"/>
              </a:rPr>
              <a:t>}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271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032243" y="2564904"/>
            <a:ext cx="1080120" cy="2308277"/>
          </a:xfrm>
          <a:prstGeom prst="rect">
            <a:avLst/>
          </a:prstGeom>
          <a:solidFill>
            <a:schemeClr val="dk1"/>
          </a:solidFill>
          <a:ln w="63500" cap="rnd">
            <a:solidFill>
              <a:schemeClr val="tx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endParaRPr lang="es-ES" sz="1600" dirty="0">
              <a:latin typeface="Consolas" pitchFamily="49" charset="0"/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7104250" y="4374630"/>
            <a:ext cx="26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nsolas" pitchFamily="49" charset="0"/>
              </a:rPr>
              <a:t>_</a:t>
            </a:r>
            <a:endParaRPr lang="es-ES" dirty="0"/>
          </a:p>
        </p:txBody>
      </p:sp>
      <p:sp>
        <p:nvSpPr>
          <p:cNvPr id="9" name="8 CuadroTexto"/>
          <p:cNvSpPr txBox="1"/>
          <p:nvPr/>
        </p:nvSpPr>
        <p:spPr>
          <a:xfrm>
            <a:off x="7103680" y="2600388"/>
            <a:ext cx="1428760" cy="428628"/>
          </a:xfrm>
          <a:prstGeom prst="rect">
            <a:avLst/>
          </a:prstGeom>
          <a:noFill/>
          <a:ln w="63500" cap="rnd"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endParaRPr lang="es-ES" sz="1600" dirty="0">
              <a:latin typeface="Consolas" pitchFamily="49" charset="0"/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7103680" y="2588246"/>
            <a:ext cx="26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nsolas" pitchFamily="49" charset="0"/>
              </a:rPr>
              <a:t>_</a:t>
            </a:r>
            <a:endParaRPr lang="es-ES" dirty="0"/>
          </a:p>
        </p:txBody>
      </p:sp>
      <p:sp>
        <p:nvSpPr>
          <p:cNvPr id="11" name="10 CuadroTexto"/>
          <p:cNvSpPr txBox="1"/>
          <p:nvPr/>
        </p:nvSpPr>
        <p:spPr>
          <a:xfrm>
            <a:off x="7104250" y="2627388"/>
            <a:ext cx="646328" cy="428628"/>
          </a:xfrm>
          <a:prstGeom prst="rect">
            <a:avLst/>
          </a:prstGeom>
          <a:solidFill>
            <a:schemeClr val="bg1"/>
          </a:solidFill>
          <a:ln w="63500" cap="rnd"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r>
              <a:rPr lang="es-ES" sz="1600" dirty="0">
                <a:latin typeface="Consolas" pitchFamily="49" charset="0"/>
              </a:rPr>
              <a:t>1</a:t>
            </a:r>
          </a:p>
        </p:txBody>
      </p:sp>
      <p:graphicFrame>
        <p:nvGraphicFramePr>
          <p:cNvPr id="14" name="13 Tabla"/>
          <p:cNvGraphicFramePr>
            <a:graphicFrameLocks noGrp="1"/>
          </p:cNvGraphicFramePr>
          <p:nvPr/>
        </p:nvGraphicFramePr>
        <p:xfrm>
          <a:off x="899592" y="2343160"/>
          <a:ext cx="1512168" cy="36576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594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i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rgbClr val="C00000"/>
                          </a:solidFill>
                          <a:latin typeface="Consolas" pitchFamily="49" charset="0"/>
                        </a:rPr>
                        <a:t>?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" name="38 Grupo"/>
          <p:cNvGrpSpPr/>
          <p:nvPr/>
        </p:nvGrpSpPr>
        <p:grpSpPr>
          <a:xfrm>
            <a:off x="4366663" y="3522494"/>
            <a:ext cx="1599126" cy="1912024"/>
            <a:chOff x="3733278" y="3954541"/>
            <a:chExt cx="1599126" cy="1912024"/>
          </a:xfrm>
        </p:grpSpPr>
        <p:cxnSp>
          <p:nvCxnSpPr>
            <p:cNvPr id="20" name="19 Conector recto de flecha"/>
            <p:cNvCxnSpPr/>
            <p:nvPr/>
          </p:nvCxnSpPr>
          <p:spPr>
            <a:xfrm>
              <a:off x="4352374" y="4279004"/>
              <a:ext cx="742801" cy="1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24" name="23 CuadroTexto"/>
            <p:cNvSpPr txBox="1"/>
            <p:nvPr/>
          </p:nvSpPr>
          <p:spPr>
            <a:xfrm>
              <a:off x="4586687" y="3954541"/>
              <a:ext cx="745717" cy="33855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  <p:cxnSp>
          <p:nvCxnSpPr>
            <p:cNvPr id="25" name="24 Conector recto de flecha"/>
            <p:cNvCxnSpPr/>
            <p:nvPr/>
          </p:nvCxnSpPr>
          <p:spPr>
            <a:xfrm rot="5400000">
              <a:off x="4448599" y="4909385"/>
              <a:ext cx="1239149" cy="106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8" name="27 Conector recto de flecha"/>
            <p:cNvCxnSpPr/>
            <p:nvPr/>
          </p:nvCxnSpPr>
          <p:spPr>
            <a:xfrm>
              <a:off x="3733278" y="5537356"/>
              <a:ext cx="1360300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2" name="31 Conector recto de flecha"/>
            <p:cNvCxnSpPr/>
            <p:nvPr/>
          </p:nvCxnSpPr>
          <p:spPr>
            <a:xfrm rot="16200000" flipH="1">
              <a:off x="3573331" y="5697195"/>
              <a:ext cx="337681" cy="106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2" name="41 Grupo"/>
          <p:cNvGrpSpPr/>
          <p:nvPr/>
        </p:nvGrpSpPr>
        <p:grpSpPr>
          <a:xfrm>
            <a:off x="1693675" y="3349108"/>
            <a:ext cx="2693776" cy="1757252"/>
            <a:chOff x="2125723" y="3781155"/>
            <a:chExt cx="2693776" cy="1757252"/>
          </a:xfrm>
        </p:grpSpPr>
        <p:grpSp>
          <p:nvGrpSpPr>
            <p:cNvPr id="13" name="36 Grupo"/>
            <p:cNvGrpSpPr/>
            <p:nvPr/>
          </p:nvGrpSpPr>
          <p:grpSpPr>
            <a:xfrm>
              <a:off x="2430810" y="3935491"/>
              <a:ext cx="2388689" cy="951369"/>
              <a:chOff x="2430810" y="3935491"/>
              <a:chExt cx="2388689" cy="951369"/>
            </a:xfrm>
          </p:grpSpPr>
          <p:grpSp>
            <p:nvGrpSpPr>
              <p:cNvPr id="17" name="36 Grupo"/>
              <p:cNvGrpSpPr/>
              <p:nvPr/>
            </p:nvGrpSpPr>
            <p:grpSpPr>
              <a:xfrm>
                <a:off x="3606276" y="4273107"/>
                <a:ext cx="379234" cy="337681"/>
                <a:chOff x="1476451" y="3285903"/>
                <a:chExt cx="568366" cy="442949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cxnSp>
              <p:nvCxnSpPr>
                <p:cNvPr id="18" name="17 Conector recto de flecha"/>
                <p:cNvCxnSpPr/>
                <p:nvPr/>
              </p:nvCxnSpPr>
              <p:spPr>
                <a:xfrm rot="5400000">
                  <a:off x="1274026" y="3506584"/>
                  <a:ext cx="442949" cy="1588"/>
                </a:xfrm>
                <a:prstGeom prst="straightConnector1">
                  <a:avLst/>
                </a:prstGeom>
                <a:ln w="38100">
                  <a:solidFill>
                    <a:srgbClr val="FFC000"/>
                  </a:solidFill>
                  <a:tailEnd type="stealth" w="lg" len="lg"/>
                </a:ln>
                <a:effectLst/>
              </p:spPr>
              <p:style>
                <a:lnRef idx="2">
                  <a:schemeClr val="accent3"/>
                </a:lnRef>
                <a:fillRef idx="0">
                  <a:schemeClr val="accent3"/>
                </a:fillRef>
                <a:effectRef idx="1">
                  <a:schemeClr val="accent3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18 Conector recto de flecha"/>
                <p:cNvCxnSpPr/>
                <p:nvPr/>
              </p:nvCxnSpPr>
              <p:spPr>
                <a:xfrm flipH="1">
                  <a:off x="1476451" y="3287792"/>
                  <a:ext cx="568366" cy="1"/>
                </a:xfrm>
                <a:prstGeom prst="straightConnector1">
                  <a:avLst/>
                </a:prstGeom>
                <a:ln w="38100">
                  <a:solidFill>
                    <a:srgbClr val="FFC000"/>
                  </a:solidFill>
                  <a:tailEnd type="none" w="lg" len="lg"/>
                </a:ln>
                <a:effectLst/>
              </p:spPr>
              <p:style>
                <a:lnRef idx="2">
                  <a:schemeClr val="accent3"/>
                </a:lnRef>
                <a:fillRef idx="0">
                  <a:schemeClr val="accent3"/>
                </a:fillRef>
                <a:effectRef idx="1">
                  <a:schemeClr val="accent3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22 CuadroTexto"/>
              <p:cNvSpPr txBox="1"/>
              <p:nvPr/>
            </p:nvSpPr>
            <p:spPr>
              <a:xfrm>
                <a:off x="3297239" y="3935491"/>
                <a:ext cx="633507" cy="33855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s-ES" sz="1600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true</a:t>
                </a:r>
              </a:p>
            </p:txBody>
          </p:sp>
          <p:sp>
            <p:nvSpPr>
              <p:cNvPr id="16" name="15 CuadroTexto"/>
              <p:cNvSpPr txBox="1"/>
              <p:nvPr/>
            </p:nvSpPr>
            <p:spPr>
              <a:xfrm>
                <a:off x="2430810" y="4612384"/>
                <a:ext cx="2388689" cy="274476"/>
              </a:xfrm>
              <a:prstGeom prst="rect">
                <a:avLst/>
              </a:prstGeom>
              <a:solidFill>
                <a:srgbClr val="0037A8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 anchorCtr="0">
                <a:noAutofit/>
              </a:bodyPr>
              <a:lstStyle/>
              <a:p>
                <a:pPr algn="ctr"/>
                <a:r>
                  <a:rPr lang="es-ES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cout &lt;&lt; i &lt;&lt; endl;</a:t>
                </a:r>
              </a:p>
            </p:txBody>
          </p:sp>
        </p:grpSp>
        <p:grpSp>
          <p:nvGrpSpPr>
            <p:cNvPr id="34" name="37 Grupo"/>
            <p:cNvGrpSpPr/>
            <p:nvPr/>
          </p:nvGrpSpPr>
          <p:grpSpPr>
            <a:xfrm>
              <a:off x="2125723" y="3781155"/>
              <a:ext cx="2662015" cy="1757252"/>
              <a:chOff x="2125723" y="3781155"/>
              <a:chExt cx="2662015" cy="1757252"/>
            </a:xfrm>
          </p:grpSpPr>
          <p:cxnSp>
            <p:nvCxnSpPr>
              <p:cNvPr id="15" name="14 Conector recto de flecha"/>
              <p:cNvCxnSpPr/>
              <p:nvPr/>
            </p:nvCxnSpPr>
            <p:spPr>
              <a:xfrm rot="5400000">
                <a:off x="3281109" y="5212028"/>
                <a:ext cx="650332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none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9" name="28 Conector recto de flecha"/>
              <p:cNvCxnSpPr/>
              <p:nvPr/>
            </p:nvCxnSpPr>
            <p:spPr>
              <a:xfrm>
                <a:off x="2125723" y="3783577"/>
                <a:ext cx="2662015" cy="0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stealth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30" name="29 Conector recto de flecha"/>
              <p:cNvCxnSpPr/>
              <p:nvPr/>
            </p:nvCxnSpPr>
            <p:spPr>
              <a:xfrm rot="5400000">
                <a:off x="1264986" y="4658948"/>
                <a:ext cx="1756645" cy="1060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none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31" name="30 Conector recto de flecha"/>
              <p:cNvCxnSpPr/>
              <p:nvPr/>
            </p:nvCxnSpPr>
            <p:spPr>
              <a:xfrm flipH="1" flipV="1">
                <a:off x="2125723" y="5538406"/>
                <a:ext cx="1493795" cy="1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none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33" name="32 CuadroTexto"/>
              <p:cNvSpPr txBox="1"/>
              <p:nvPr/>
            </p:nvSpPr>
            <p:spPr>
              <a:xfrm>
                <a:off x="3099863" y="5030753"/>
                <a:ext cx="1008968" cy="274476"/>
              </a:xfrm>
              <a:prstGeom prst="rect">
                <a:avLst/>
              </a:prstGeom>
              <a:solidFill>
                <a:srgbClr val="0037A8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 lIns="72000" tIns="36000" rIns="72000" bIns="36000" rtlCol="0" anchor="ctr" anchorCtr="0">
                <a:noAutofit/>
              </a:bodyPr>
              <a:lstStyle/>
              <a:p>
                <a:pPr algn="ctr"/>
                <a:r>
                  <a:rPr lang="es-ES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i++</a:t>
                </a:r>
              </a:p>
            </p:txBody>
          </p:sp>
        </p:grpSp>
      </p:grpSp>
      <p:sp>
        <p:nvSpPr>
          <p:cNvPr id="40" name="39 CuadroTexto"/>
          <p:cNvSpPr txBox="1"/>
          <p:nvPr/>
        </p:nvSpPr>
        <p:spPr>
          <a:xfrm>
            <a:off x="1795376" y="2402930"/>
            <a:ext cx="296877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6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</a:rPr>
              <a:t>1</a:t>
            </a:r>
            <a:endParaRPr lang="es-ES" sz="2000" b="1" dirty="0">
              <a:solidFill>
                <a:schemeClr val="accent2">
                  <a:lumMod val="50000"/>
                </a:schemeClr>
              </a:solidFill>
              <a:latin typeface="Consolas" pitchFamily="49" charset="0"/>
            </a:endParaRPr>
          </a:p>
        </p:txBody>
      </p:sp>
      <p:sp>
        <p:nvSpPr>
          <p:cNvPr id="43" name="42 CuadroTexto"/>
          <p:cNvSpPr txBox="1"/>
          <p:nvPr/>
        </p:nvSpPr>
        <p:spPr>
          <a:xfrm>
            <a:off x="7104250" y="2924945"/>
            <a:ext cx="267958" cy="276999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r>
              <a:rPr lang="es-ES" dirty="0">
                <a:latin typeface="Consolas" pitchFamily="49" charset="0"/>
              </a:rPr>
              <a:t>_</a:t>
            </a:r>
            <a:endParaRPr lang="es-ES" dirty="0"/>
          </a:p>
        </p:txBody>
      </p:sp>
      <p:sp>
        <p:nvSpPr>
          <p:cNvPr id="44" name="43 CuadroTexto"/>
          <p:cNvSpPr txBox="1"/>
          <p:nvPr/>
        </p:nvSpPr>
        <p:spPr>
          <a:xfrm>
            <a:off x="1795376" y="2402930"/>
            <a:ext cx="296877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6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</a:rPr>
              <a:t>2</a:t>
            </a:r>
            <a:endParaRPr lang="es-ES" sz="2000" b="1" dirty="0">
              <a:solidFill>
                <a:schemeClr val="accent2">
                  <a:lumMod val="50000"/>
                </a:schemeClr>
              </a:solidFill>
              <a:latin typeface="Consolas" pitchFamily="49" charset="0"/>
            </a:endParaRPr>
          </a:p>
        </p:txBody>
      </p:sp>
      <p:sp>
        <p:nvSpPr>
          <p:cNvPr id="45" name="44 CuadroTexto"/>
          <p:cNvSpPr txBox="1"/>
          <p:nvPr/>
        </p:nvSpPr>
        <p:spPr>
          <a:xfrm>
            <a:off x="7104250" y="2928365"/>
            <a:ext cx="646328" cy="428628"/>
          </a:xfrm>
          <a:prstGeom prst="rect">
            <a:avLst/>
          </a:prstGeom>
          <a:solidFill>
            <a:schemeClr val="bg1"/>
          </a:solidFill>
          <a:ln w="63500" cap="rnd"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r>
              <a:rPr lang="es-ES" sz="1600" dirty="0">
                <a:latin typeface="Consolas" pitchFamily="49" charset="0"/>
              </a:rPr>
              <a:t>2</a:t>
            </a:r>
          </a:p>
        </p:txBody>
      </p:sp>
      <p:sp>
        <p:nvSpPr>
          <p:cNvPr id="46" name="45 CuadroTexto"/>
          <p:cNvSpPr txBox="1"/>
          <p:nvPr/>
        </p:nvSpPr>
        <p:spPr>
          <a:xfrm>
            <a:off x="7103680" y="3131677"/>
            <a:ext cx="26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nsolas" pitchFamily="49" charset="0"/>
              </a:rPr>
              <a:t>_</a:t>
            </a:r>
            <a:endParaRPr lang="es-ES" dirty="0"/>
          </a:p>
        </p:txBody>
      </p:sp>
      <p:sp>
        <p:nvSpPr>
          <p:cNvPr id="47" name="46 CuadroTexto"/>
          <p:cNvSpPr txBox="1"/>
          <p:nvPr/>
        </p:nvSpPr>
        <p:spPr>
          <a:xfrm>
            <a:off x="1814426" y="2402930"/>
            <a:ext cx="296877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6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</a:rPr>
              <a:t>3</a:t>
            </a:r>
            <a:endParaRPr lang="es-ES" sz="2000" b="1" dirty="0">
              <a:solidFill>
                <a:schemeClr val="accent2">
                  <a:lumMod val="50000"/>
                </a:schemeClr>
              </a:solidFill>
              <a:latin typeface="Consolas" pitchFamily="49" charset="0"/>
            </a:endParaRPr>
          </a:p>
        </p:txBody>
      </p:sp>
      <p:sp>
        <p:nvSpPr>
          <p:cNvPr id="48" name="47 CuadroTexto"/>
          <p:cNvSpPr txBox="1"/>
          <p:nvPr/>
        </p:nvSpPr>
        <p:spPr>
          <a:xfrm>
            <a:off x="2988884" y="2788405"/>
            <a:ext cx="564578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...</a:t>
            </a:r>
          </a:p>
        </p:txBody>
      </p:sp>
      <p:cxnSp>
        <p:nvCxnSpPr>
          <p:cNvPr id="50" name="49 Conector recto"/>
          <p:cNvCxnSpPr/>
          <p:nvPr/>
        </p:nvCxnSpPr>
        <p:spPr>
          <a:xfrm>
            <a:off x="6973951" y="3836884"/>
            <a:ext cx="1224137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52 CuadroTexto"/>
          <p:cNvSpPr txBox="1"/>
          <p:nvPr/>
        </p:nvSpPr>
        <p:spPr>
          <a:xfrm>
            <a:off x="7104250" y="3888852"/>
            <a:ext cx="646328" cy="428628"/>
          </a:xfrm>
          <a:prstGeom prst="rect">
            <a:avLst/>
          </a:prstGeom>
          <a:solidFill>
            <a:schemeClr val="bg1"/>
          </a:solidFill>
          <a:ln w="63500" cap="rnd"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r>
              <a:rPr lang="es-ES" sz="1600" dirty="0">
                <a:latin typeface="Consolas" pitchFamily="49" charset="0"/>
              </a:rPr>
              <a:t>99</a:t>
            </a:r>
          </a:p>
        </p:txBody>
      </p:sp>
      <p:sp>
        <p:nvSpPr>
          <p:cNvPr id="54" name="53 CuadroTexto"/>
          <p:cNvSpPr txBox="1"/>
          <p:nvPr/>
        </p:nvSpPr>
        <p:spPr>
          <a:xfrm>
            <a:off x="7103680" y="4095006"/>
            <a:ext cx="26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onsolas" pitchFamily="49" charset="0"/>
              </a:rPr>
              <a:t>_</a:t>
            </a:r>
            <a:endParaRPr lang="es-ES" dirty="0"/>
          </a:p>
        </p:txBody>
      </p:sp>
      <p:sp>
        <p:nvSpPr>
          <p:cNvPr id="55" name="54 CuadroTexto"/>
          <p:cNvSpPr txBox="1"/>
          <p:nvPr/>
        </p:nvSpPr>
        <p:spPr>
          <a:xfrm>
            <a:off x="1693675" y="2402930"/>
            <a:ext cx="521298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6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</a:rPr>
              <a:t>100</a:t>
            </a:r>
            <a:endParaRPr lang="es-ES" sz="2000" b="1" dirty="0">
              <a:solidFill>
                <a:schemeClr val="accent2">
                  <a:lumMod val="50000"/>
                </a:schemeClr>
              </a:solidFill>
              <a:latin typeface="Consolas" pitchFamily="49" charset="0"/>
            </a:endParaRPr>
          </a:p>
        </p:txBody>
      </p:sp>
      <p:sp>
        <p:nvSpPr>
          <p:cNvPr id="56" name="55 CuadroTexto"/>
          <p:cNvSpPr txBox="1"/>
          <p:nvPr/>
        </p:nvSpPr>
        <p:spPr>
          <a:xfrm>
            <a:off x="7105994" y="4182989"/>
            <a:ext cx="646328" cy="428628"/>
          </a:xfrm>
          <a:prstGeom prst="rect">
            <a:avLst/>
          </a:prstGeom>
          <a:solidFill>
            <a:schemeClr val="bg1"/>
          </a:solidFill>
          <a:ln w="63500" cap="rnd"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r>
              <a:rPr lang="es-ES" sz="1600" dirty="0">
                <a:latin typeface="Consolas" pitchFamily="49" charset="0"/>
              </a:rPr>
              <a:t>100</a:t>
            </a:r>
          </a:p>
        </p:txBody>
      </p:sp>
      <p:sp>
        <p:nvSpPr>
          <p:cNvPr id="41" name="40 CuadroTexto"/>
          <p:cNvSpPr txBox="1"/>
          <p:nvPr/>
        </p:nvSpPr>
        <p:spPr>
          <a:xfrm>
            <a:off x="1703200" y="2402930"/>
            <a:ext cx="521298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6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</a:rPr>
              <a:t>101</a:t>
            </a:r>
            <a:endParaRPr lang="es-ES" sz="2000" b="1" dirty="0">
              <a:solidFill>
                <a:schemeClr val="accent2">
                  <a:lumMod val="50000"/>
                </a:schemeClr>
              </a:solidFill>
              <a:latin typeface="Consolas" pitchFamily="49" charset="0"/>
            </a:endParaRPr>
          </a:p>
        </p:txBody>
      </p:sp>
      <p:sp>
        <p:nvSpPr>
          <p:cNvPr id="57" name="56 CuadroTexto"/>
          <p:cNvSpPr txBox="1"/>
          <p:nvPr/>
        </p:nvSpPr>
        <p:spPr>
          <a:xfrm>
            <a:off x="7104250" y="3269355"/>
            <a:ext cx="646328" cy="428628"/>
          </a:xfrm>
          <a:prstGeom prst="rect">
            <a:avLst/>
          </a:prstGeom>
          <a:solidFill>
            <a:schemeClr val="bg1"/>
          </a:solidFill>
          <a:ln w="63500" cap="rnd"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r>
              <a:rPr lang="es-ES" sz="1600" dirty="0">
                <a:latin typeface="Consolas" pitchFamily="49" charset="0"/>
              </a:rPr>
              <a:t>3</a:t>
            </a:r>
          </a:p>
        </p:txBody>
      </p:sp>
      <p:grpSp>
        <p:nvGrpSpPr>
          <p:cNvPr id="35" name="35 Grupo"/>
          <p:cNvGrpSpPr/>
          <p:nvPr/>
        </p:nvGrpSpPr>
        <p:grpSpPr>
          <a:xfrm>
            <a:off x="3376439" y="3189815"/>
            <a:ext cx="1958502" cy="853284"/>
            <a:chOff x="3376439" y="3621862"/>
            <a:chExt cx="1958502" cy="853284"/>
          </a:xfrm>
        </p:grpSpPr>
        <p:sp>
          <p:nvSpPr>
            <p:cNvPr id="21" name="20 Decisión"/>
            <p:cNvSpPr/>
            <p:nvPr/>
          </p:nvSpPr>
          <p:spPr>
            <a:xfrm>
              <a:off x="3376439" y="4071838"/>
              <a:ext cx="1958502" cy="403308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0" tIns="36000" rIns="0" bIns="36000" rtlCol="0" anchor="ctr" anchorCtr="0">
              <a:noAutofit/>
            </a:bodyPr>
            <a:lstStyle/>
            <a:p>
              <a:pPr algn="ctr"/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 &lt;= 100</a:t>
              </a:r>
            </a:p>
          </p:txBody>
        </p:sp>
        <p:cxnSp>
          <p:nvCxnSpPr>
            <p:cNvPr id="22" name="21 Conector recto de flecha"/>
            <p:cNvCxnSpPr>
              <a:stCxn id="26" idx="2"/>
              <a:endCxn id="21" idx="0"/>
            </p:cNvCxnSpPr>
            <p:nvPr/>
          </p:nvCxnSpPr>
          <p:spPr>
            <a:xfrm flipH="1">
              <a:off x="4355690" y="3621862"/>
              <a:ext cx="1448" cy="449976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6" name="34 Grupo"/>
          <p:cNvGrpSpPr/>
          <p:nvPr/>
        </p:nvGrpSpPr>
        <p:grpSpPr>
          <a:xfrm>
            <a:off x="3852654" y="2662647"/>
            <a:ext cx="1008968" cy="527168"/>
            <a:chOff x="3852654" y="3094694"/>
            <a:chExt cx="1008968" cy="527168"/>
          </a:xfrm>
        </p:grpSpPr>
        <p:sp>
          <p:nvSpPr>
            <p:cNvPr id="26" name="25 CuadroTexto"/>
            <p:cNvSpPr txBox="1"/>
            <p:nvPr/>
          </p:nvSpPr>
          <p:spPr>
            <a:xfrm>
              <a:off x="3852654" y="3347386"/>
              <a:ext cx="1008968" cy="274476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 = 1</a:t>
              </a:r>
            </a:p>
          </p:txBody>
        </p:sp>
        <p:cxnSp>
          <p:nvCxnSpPr>
            <p:cNvPr id="27" name="26 Conector recto de flecha"/>
            <p:cNvCxnSpPr/>
            <p:nvPr/>
          </p:nvCxnSpPr>
          <p:spPr>
            <a:xfrm rot="16200000" flipH="1">
              <a:off x="4219635" y="3231667"/>
              <a:ext cx="274476" cy="53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1" name="50 CuadroTexto"/>
          <p:cNvSpPr txBox="1"/>
          <p:nvPr/>
        </p:nvSpPr>
        <p:spPr>
          <a:xfrm>
            <a:off x="7452320" y="404664"/>
            <a:ext cx="1197764" cy="369332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for1.cpp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  <p:bldP spid="40" grpId="0" animBg="1"/>
      <p:bldP spid="43" grpId="0"/>
      <p:bldP spid="44" grpId="0" animBg="1"/>
      <p:bldP spid="45" grpId="0" animBg="1"/>
      <p:bldP spid="46" grpId="0"/>
      <p:bldP spid="47" grpId="0" animBg="1"/>
      <p:bldP spid="48" grpId="0"/>
      <p:bldP spid="53" grpId="0" animBg="1"/>
      <p:bldP spid="53" grpId="1" animBg="1"/>
      <p:bldP spid="54" grpId="0"/>
      <p:bldP spid="54" grpId="1"/>
      <p:bldP spid="55" grpId="0" animBg="1"/>
      <p:bldP spid="56" grpId="0" animBg="1"/>
      <p:bldP spid="41" grpId="0" animBg="1"/>
      <p:bldP spid="57" grpId="0" animBg="1"/>
      <p:bldP spid="57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Bucle </a:t>
            </a:r>
            <a:r>
              <a:rPr lang="es-ES" dirty="0">
                <a:latin typeface="Consolas" pitchFamily="49" charset="0"/>
              </a:rPr>
              <a:t>for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La variable contadora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El </a:t>
            </a:r>
            <a:r>
              <a:rPr lang="es-ES" i="1" dirty="0"/>
              <a:t>paso</a:t>
            </a:r>
            <a:r>
              <a:rPr lang="es-ES" dirty="0"/>
              <a:t> no tiene porqué ir de uno en uno: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 </a:t>
            </a:r>
            <a:r>
              <a:rPr lang="es-ES" dirty="0">
                <a:latin typeface="Consolas" pitchFamily="49" charset="0"/>
              </a:rPr>
              <a:t>(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dirty="0">
                <a:latin typeface="Consolas" pitchFamily="49" charset="0"/>
              </a:rPr>
              <a:t>; i &lt;=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dirty="0">
                <a:latin typeface="Consolas" pitchFamily="49" charset="0"/>
              </a:rPr>
              <a:t>; i = i +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2</a:t>
            </a:r>
            <a:r>
              <a:rPr lang="es-ES" dirty="0">
                <a:latin typeface="Consolas" pitchFamily="49" charset="0"/>
              </a:rPr>
              <a:t>)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Este bucle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</a:t>
            </a:r>
            <a:r>
              <a:rPr lang="es-ES" dirty="0"/>
              <a:t> muestra los números impares de 1 a 99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Garantía de terminación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Todo bucle debe terminar su ejecución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Bucles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</a:t>
            </a:r>
            <a:r>
              <a:rPr lang="es-ES" dirty="0"/>
              <a:t>: la variable contadora debe converger al valor final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272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6" name="7 Grupo"/>
          <p:cNvGrpSpPr/>
          <p:nvPr/>
        </p:nvGrpSpPr>
        <p:grpSpPr>
          <a:xfrm>
            <a:off x="1065950" y="3356992"/>
            <a:ext cx="7322474" cy="734858"/>
            <a:chOff x="899592" y="5401791"/>
            <a:chExt cx="7173035" cy="734858"/>
          </a:xfrm>
        </p:grpSpPr>
        <p:sp>
          <p:nvSpPr>
            <p:cNvPr id="9" name="8 CuadroTexto"/>
            <p:cNvSpPr txBox="1"/>
            <p:nvPr/>
          </p:nvSpPr>
          <p:spPr>
            <a:xfrm>
              <a:off x="899592" y="5416649"/>
              <a:ext cx="7173035" cy="72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540000">
                <a:spcAft>
                  <a:spcPts val="600"/>
                </a:spcAft>
              </a:pPr>
              <a:r>
                <a:rPr lang="es-ES" sz="2000" i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Muy importante</a:t>
              </a:r>
              <a:b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El cuerpo del bucle </a:t>
              </a:r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NUNCA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debe alterar el valor del contador</a:t>
              </a:r>
            </a:p>
          </p:txBody>
        </p:sp>
        <p:pic>
          <p:nvPicPr>
            <p:cNvPr id="10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60" y="5401791"/>
              <a:ext cx="426720" cy="4267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Bucle </a:t>
            </a:r>
            <a:r>
              <a:rPr lang="es-ES" dirty="0">
                <a:latin typeface="Consolas" pitchFamily="49" charset="0"/>
              </a:rPr>
              <a:t>for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¿Incremento/decremento prefijo o postfijo?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Es indiferente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Estos dos bucles producen el mismo resultado:</a:t>
            </a:r>
          </a:p>
          <a:p>
            <a:pPr lvl="1" indent="1588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 </a:t>
            </a:r>
            <a:r>
              <a:rPr lang="es-ES" dirty="0">
                <a:latin typeface="Consolas" pitchFamily="49" charset="0"/>
              </a:rPr>
              <a:t>(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dirty="0">
                <a:latin typeface="Consolas" pitchFamily="49" charset="0"/>
              </a:rPr>
              <a:t>; i &lt;=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dirty="0">
                <a:latin typeface="Consolas" pitchFamily="49" charset="0"/>
              </a:rPr>
              <a:t>; i++) ...</a:t>
            </a:r>
          </a:p>
          <a:p>
            <a:pPr lvl="1" indent="1588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 </a:t>
            </a:r>
            <a:r>
              <a:rPr lang="es-ES" dirty="0">
                <a:latin typeface="Consolas" pitchFamily="49" charset="0"/>
              </a:rPr>
              <a:t>(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dirty="0">
                <a:latin typeface="Consolas" pitchFamily="49" charset="0"/>
              </a:rPr>
              <a:t>; i &lt;=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dirty="0">
                <a:latin typeface="Consolas" pitchFamily="49" charset="0"/>
              </a:rPr>
              <a:t>; ++i) ...</a:t>
            </a:r>
          </a:p>
          <a:p>
            <a:pPr>
              <a:spcBef>
                <a:spcPts val="240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Bucles infinitos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  <a:latin typeface="Consolas" pitchFamily="49" charset="0"/>
            </a:endParaRPr>
          </a:p>
          <a:p>
            <a:pPr lvl="1" indent="1588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 </a:t>
            </a:r>
            <a:r>
              <a:rPr lang="es-ES" dirty="0">
                <a:latin typeface="Consolas" pitchFamily="49" charset="0"/>
              </a:rPr>
              <a:t>(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dirty="0">
                <a:latin typeface="Consolas" pitchFamily="49" charset="0"/>
              </a:rPr>
              <a:t>; i &lt;=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dirty="0">
                <a:latin typeface="Consolas" pitchFamily="49" charset="0"/>
              </a:rPr>
              <a:t>; i--) ...</a:t>
            </a:r>
          </a:p>
          <a:p>
            <a:pPr marL="107473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latin typeface="Consolas" pitchFamily="49" charset="0"/>
              </a:rPr>
              <a:t>1 0 -1 -2 -3 -4 -5 -6 -7 -8 -9 -10 -11 ...</a:t>
            </a:r>
          </a:p>
          <a:p>
            <a:pPr marL="107473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Cada vez más lejos del valor final (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dirty="0"/>
              <a:t>)</a:t>
            </a:r>
          </a:p>
          <a:p>
            <a:pPr lvl="1" indent="1588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dirty="0"/>
              <a:t>Es un error de diseño/programación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273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Ámbito de la variable contadora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8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Declarada en el propio bucle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 </a:t>
            </a:r>
            <a:r>
              <a:rPr lang="es-ES" dirty="0">
                <a:latin typeface="Consolas" pitchFamily="49" charset="0"/>
              </a:rPr>
              <a:t>(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dirty="0">
                <a:latin typeface="Consolas" pitchFamily="49" charset="0"/>
              </a:rPr>
              <a:t>; ...)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Sólo se conoce en el cuerpo del bucle (su ámbito)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No se puede usar en instrucciones que sigan al bucle</a:t>
            </a:r>
          </a:p>
          <a:p>
            <a:pPr marL="0" lvl="1" indent="1588">
              <a:spcBef>
                <a:spcPts val="2400"/>
              </a:spcBef>
              <a:spcAft>
                <a:spcPts val="600"/>
              </a:spcAft>
              <a:buNone/>
            </a:pPr>
            <a:r>
              <a:rPr lang="es-ES" sz="28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Declarada antes del bucle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 </a:t>
            </a:r>
            <a:r>
              <a:rPr lang="es-ES" dirty="0">
                <a:latin typeface="Consolas" pitchFamily="49" charset="0"/>
              </a:rPr>
              <a:t>(i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dirty="0">
                <a:latin typeface="Consolas" pitchFamily="49" charset="0"/>
              </a:rPr>
              <a:t>; ...)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Se conoce en el cuerpo del bucle y después del mismo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/>
              <a:t>Ámbito externo al bucle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274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Bucle </a:t>
            </a:r>
            <a:r>
              <a:rPr lang="es-ES" dirty="0">
                <a:latin typeface="Consolas" pitchFamily="49" charset="0"/>
              </a:rPr>
              <a:t>for</a:t>
            </a:r>
            <a:r>
              <a:rPr lang="es-ES" dirty="0"/>
              <a:t> </a:t>
            </a:r>
            <a:r>
              <a:rPr lang="es-ES" i="1" dirty="0"/>
              <a:t>versus</a:t>
            </a:r>
            <a:r>
              <a:rPr lang="es-ES" dirty="0"/>
              <a:t> bucle 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while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 lnSpcReduction="10000"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Los bucles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for</a:t>
            </a:r>
            <a:r>
              <a:rPr lang="es-ES" dirty="0"/>
              <a:t> se pueden reescribir como bucles condicionados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 </a:t>
            </a:r>
            <a:r>
              <a:rPr lang="es-ES" dirty="0">
                <a:latin typeface="Consolas" pitchFamily="49" charset="0"/>
              </a:rPr>
              <a:t>(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dirty="0">
                <a:latin typeface="Consolas" pitchFamily="49" charset="0"/>
              </a:rPr>
              <a:t>; i &lt;=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dirty="0">
                <a:latin typeface="Consolas" pitchFamily="49" charset="0"/>
              </a:rPr>
              <a:t>; i++) </a:t>
            </a:r>
            <a:r>
              <a:rPr lang="es-ES" i="1" dirty="0">
                <a:latin typeface="Consolas" pitchFamily="49" charset="0"/>
              </a:rPr>
              <a:t>cuerpo</a:t>
            </a:r>
            <a:endParaRPr lang="es-ES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Es equivalente a: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endParaRPr lang="es-ES" sz="2000" dirty="0">
              <a:solidFill>
                <a:prstClr val="white"/>
              </a:solidFill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endParaRPr lang="es-ES" sz="2000" dirty="0">
              <a:solidFill>
                <a:prstClr val="white"/>
              </a:solidFill>
            </a:endParaRP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endParaRPr lang="es-ES" sz="2000" dirty="0">
              <a:solidFill>
                <a:prstClr val="white"/>
              </a:solidFill>
            </a:endParaRP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endParaRPr lang="es-ES" sz="2000" dirty="0">
              <a:solidFill>
                <a:prstClr val="white"/>
              </a:solidFill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endParaRPr lang="es-ES" sz="2000" dirty="0">
              <a:solidFill>
                <a:prstClr val="white"/>
              </a:solidFill>
            </a:endParaRPr>
          </a:p>
          <a:p>
            <a:pPr marL="361950" lvl="1" indent="1588">
              <a:spcBef>
                <a:spcPts val="60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SzTx/>
              <a:buNone/>
            </a:pPr>
            <a:r>
              <a:rPr lang="es-ES" dirty="0">
                <a:solidFill>
                  <a:prstClr val="white"/>
                </a:solidFill>
              </a:rPr>
              <a:t>La inversa no es siempre posible:</a:t>
            </a:r>
          </a:p>
          <a:p>
            <a:pPr marL="361950" lvl="1" indent="1588">
              <a:lnSpc>
                <a:spcPts val="2200"/>
              </a:lnSpc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SzTx/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i;</a:t>
            </a:r>
          </a:p>
          <a:p>
            <a:pPr marL="361950" lvl="1" indent="1588">
              <a:lnSpc>
                <a:spcPts val="2200"/>
              </a:lnSpc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SzTx/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cin &gt;&gt; i;</a:t>
            </a:r>
          </a:p>
          <a:p>
            <a:pPr marL="361950" lvl="1" indent="1588">
              <a:lnSpc>
                <a:spcPts val="2200"/>
              </a:lnSpc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SzTx/>
              <a:buNone/>
            </a:pPr>
            <a:r>
              <a:rPr lang="es-ES" sz="20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</a:rPr>
              <a:t>while 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(i !=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) {</a:t>
            </a:r>
          </a:p>
          <a:p>
            <a:pPr marL="361950" lvl="1" indent="1588">
              <a:lnSpc>
                <a:spcPts val="2200"/>
              </a:lnSpc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SzTx/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2000" i="1" dirty="0">
                <a:solidFill>
                  <a:prstClr val="white"/>
                </a:solidFill>
                <a:latin typeface="Consolas" pitchFamily="49" charset="0"/>
              </a:rPr>
              <a:t>cuerpo</a:t>
            </a:r>
          </a:p>
          <a:p>
            <a:pPr marL="361950" lvl="1" indent="1588">
              <a:lnSpc>
                <a:spcPts val="2200"/>
              </a:lnSpc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SzTx/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2000" dirty="0" err="1">
                <a:solidFill>
                  <a:prstClr val="white"/>
                </a:solidFill>
                <a:latin typeface="Consolas" pitchFamily="49" charset="0"/>
              </a:rPr>
              <a:t>cin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&gt;&gt; i;</a:t>
            </a:r>
          </a:p>
          <a:p>
            <a:pPr marL="361950" lvl="1" indent="1588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SzTx/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}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endParaRPr lang="es-ES" sz="2000" dirty="0">
              <a:solidFill>
                <a:prstClr val="white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275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827584" y="2204864"/>
            <a:ext cx="3096344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2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200" dirty="0">
                <a:latin typeface="Consolas" pitchFamily="49" charset="0"/>
              </a:rPr>
              <a:t> i = </a:t>
            </a:r>
            <a:r>
              <a:rPr lang="es-ES" sz="2200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sz="2200" dirty="0">
                <a:latin typeface="Consolas" pitchFamily="49" charset="0"/>
              </a:rPr>
              <a:t>;</a:t>
            </a:r>
          </a:p>
          <a:p>
            <a:pPr marL="0"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while </a:t>
            </a:r>
            <a:r>
              <a:rPr lang="es-ES" sz="2200" dirty="0">
                <a:latin typeface="Consolas" pitchFamily="49" charset="0"/>
              </a:rPr>
              <a:t>(i &lt;= </a:t>
            </a:r>
            <a:r>
              <a:rPr lang="es-ES" sz="2200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sz="2200" dirty="0">
                <a:latin typeface="Consolas" pitchFamily="49" charset="0"/>
              </a:rPr>
              <a:t>) {</a:t>
            </a:r>
          </a:p>
          <a:p>
            <a:pPr marL="0"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200" dirty="0">
                <a:latin typeface="Consolas" pitchFamily="49" charset="0"/>
              </a:rPr>
              <a:t>   </a:t>
            </a:r>
            <a:r>
              <a:rPr lang="es-ES" sz="2200" i="1" dirty="0">
                <a:latin typeface="Consolas" pitchFamily="49" charset="0"/>
              </a:rPr>
              <a:t>cuerpo</a:t>
            </a:r>
          </a:p>
          <a:p>
            <a:pPr marL="0"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200" i="1" dirty="0">
                <a:latin typeface="Consolas" pitchFamily="49" charset="0"/>
              </a:rPr>
              <a:t>   </a:t>
            </a:r>
            <a:r>
              <a:rPr lang="es-ES" sz="2200" dirty="0">
                <a:latin typeface="Consolas" pitchFamily="49" charset="0"/>
              </a:rPr>
              <a:t>i++;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200" dirty="0">
                <a:latin typeface="Consolas" pitchFamily="49" charset="0"/>
              </a:rPr>
              <a:t>}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4156937" y="4764340"/>
            <a:ext cx="3727431" cy="118494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¿Bucle </a:t>
            </a:r>
            <a:r>
              <a:rPr lang="es-ES" sz="22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</a:t>
            </a:r>
            <a:r>
              <a:rPr lang="es-ES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equivalente?</a:t>
            </a:r>
          </a:p>
          <a:p>
            <a:pPr algn="ctr">
              <a:spcAft>
                <a:spcPts val="600"/>
              </a:spcAft>
            </a:pPr>
            <a:r>
              <a:rPr lang="es-ES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¡No sabemos cuántos números</a:t>
            </a:r>
            <a:br>
              <a:rPr lang="es-ES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introducirá el usuario!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uiExpand="1" build="p" bldLvl="2"/>
      <p:bldP spid="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276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599452" y="3044280"/>
            <a:ext cx="3945311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Bucles </a:t>
            </a:r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anidados</a:t>
            </a:r>
            <a:endParaRPr lang="es-ES" sz="2400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Bucles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for</a:t>
            </a:r>
            <a:r>
              <a:rPr lang="es-ES" dirty="0"/>
              <a:t> anidados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Un bucle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for</a:t>
            </a:r>
            <a:r>
              <a:rPr lang="es-ES" dirty="0"/>
              <a:t> en el cuerpo de otro bucle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for</a:t>
            </a: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Cada uno con su propia variable contadora: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 </a:t>
            </a:r>
            <a:r>
              <a:rPr lang="es-ES" dirty="0">
                <a:latin typeface="Consolas" pitchFamily="49" charset="0"/>
              </a:rPr>
              <a:t>(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dirty="0">
                <a:latin typeface="Consolas" pitchFamily="49" charset="0"/>
              </a:rPr>
              <a:t>; i &lt;=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dirty="0">
                <a:latin typeface="Consolas" pitchFamily="49" charset="0"/>
              </a:rPr>
              <a:t>; i++) {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for </a:t>
            </a:r>
            <a:r>
              <a:rPr lang="es-ES" dirty="0">
                <a:latin typeface="Consolas" pitchFamily="49" charset="0"/>
              </a:rPr>
              <a:t>(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j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dirty="0">
                <a:latin typeface="Consolas" pitchFamily="49" charset="0"/>
              </a:rPr>
              <a:t>; j &lt;=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dirty="0">
                <a:latin typeface="Consolas" pitchFamily="49" charset="0"/>
              </a:rPr>
              <a:t>; </a:t>
            </a:r>
            <a:r>
              <a:rPr lang="es-ES" dirty="0" err="1">
                <a:latin typeface="Consolas" pitchFamily="49" charset="0"/>
              </a:rPr>
              <a:t>j++</a:t>
            </a:r>
            <a:r>
              <a:rPr lang="es-ES" dirty="0">
                <a:latin typeface="Consolas" pitchFamily="49" charset="0"/>
              </a:rPr>
              <a:t>) {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>
                <a:latin typeface="Consolas" pitchFamily="49" charset="0"/>
              </a:rPr>
              <a:t>      cuerpo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latin typeface="Consolas" pitchFamily="49" charset="0"/>
              </a:rPr>
              <a:t>   }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latin typeface="Consolas" pitchFamily="49" charset="0"/>
              </a:rPr>
              <a:t>}</a:t>
            </a:r>
          </a:p>
          <a:p>
            <a:pPr marL="361950" lvl="0">
              <a:spcBef>
                <a:spcPts val="0"/>
              </a:spcBef>
              <a:spcAft>
                <a:spcPts val="600"/>
              </a:spcAft>
              <a:buClrTx/>
              <a:buSzTx/>
            </a:pPr>
            <a:r>
              <a:rPr lang="es-ES" sz="2200" i="0" dirty="0">
                <a:solidFill>
                  <a:prstClr val="white"/>
                </a:solidFill>
              </a:rPr>
              <a:t>Para cada valor de </a:t>
            </a:r>
            <a:r>
              <a:rPr lang="es-ES" sz="2200" i="0" dirty="0">
                <a:solidFill>
                  <a:prstClr val="white"/>
                </a:solidFill>
                <a:latin typeface="Consolas" pitchFamily="49" charset="0"/>
              </a:rPr>
              <a:t>i</a:t>
            </a:r>
            <a:br>
              <a:rPr lang="es-ES" sz="2200" i="0" dirty="0">
                <a:solidFill>
                  <a:prstClr val="white"/>
                </a:solidFill>
              </a:rPr>
            </a:br>
            <a:r>
              <a:rPr lang="es-ES" sz="2200" i="0" dirty="0">
                <a:solidFill>
                  <a:prstClr val="white"/>
                </a:solidFill>
              </a:rPr>
              <a:t>el valor de </a:t>
            </a:r>
            <a:r>
              <a:rPr lang="es-ES" sz="2200" i="0" dirty="0">
                <a:solidFill>
                  <a:prstClr val="white"/>
                </a:solidFill>
                <a:latin typeface="Consolas" pitchFamily="49" charset="0"/>
              </a:rPr>
              <a:t>j</a:t>
            </a:r>
            <a:r>
              <a:rPr lang="es-ES" sz="2200" i="0" dirty="0">
                <a:solidFill>
                  <a:prstClr val="white"/>
                </a:solidFill>
              </a:rPr>
              <a:t> varía entre </a:t>
            </a:r>
            <a:r>
              <a:rPr lang="es-ES" sz="2200" i="0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sz="2200" i="0" dirty="0">
                <a:solidFill>
                  <a:prstClr val="white"/>
                </a:solidFill>
              </a:rPr>
              <a:t> y </a:t>
            </a:r>
            <a:r>
              <a:rPr lang="es-ES" sz="2200" i="0" dirty="0">
                <a:solidFill>
                  <a:srgbClr val="FFFF00"/>
                </a:solidFill>
                <a:latin typeface="Consolas" pitchFamily="49" charset="0"/>
              </a:rPr>
              <a:t>5</a:t>
            </a:r>
            <a:endParaRPr lang="es-ES" sz="2200" i="0" dirty="0">
              <a:solidFill>
                <a:prstClr val="white"/>
              </a:solidFill>
              <a:effectLst/>
              <a:latin typeface="Constantia"/>
            </a:endParaRPr>
          </a:p>
          <a:p>
            <a:pPr lvl="1" indent="1588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dirty="0">
                <a:latin typeface="Consolas" pitchFamily="49" charset="0"/>
              </a:rPr>
              <a:t>j</a:t>
            </a:r>
            <a:r>
              <a:rPr lang="es-ES" dirty="0"/>
              <a:t> </a:t>
            </a:r>
            <a:r>
              <a:rPr lang="es-ES" i="1" dirty="0"/>
              <a:t>varía más rápido</a:t>
            </a:r>
            <a:r>
              <a:rPr lang="es-ES" dirty="0"/>
              <a:t> que </a:t>
            </a:r>
            <a:r>
              <a:rPr lang="es-ES" dirty="0">
                <a:latin typeface="Consolas" pitchFamily="49" charset="0"/>
              </a:rPr>
              <a:t>i</a:t>
            </a: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277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6804248" y="1988840"/>
          <a:ext cx="1584176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021">
                <a:tc>
                  <a:txBody>
                    <a:bodyPr/>
                    <a:lstStyle/>
                    <a:p>
                      <a:pPr algn="r"/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i</a:t>
                      </a:r>
                    </a:p>
                  </a:txBody>
                  <a:tcPr marL="36000" marR="252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j</a:t>
                      </a:r>
                    </a:p>
                  </a:txBody>
                  <a:tcPr marL="36000" marR="252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021"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</a:t>
                      </a:r>
                    </a:p>
                  </a:txBody>
                  <a:tcPr marL="36000" marR="252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</a:t>
                      </a:r>
                    </a:p>
                  </a:txBody>
                  <a:tcPr marL="36000" marR="252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021"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</a:t>
                      </a:r>
                    </a:p>
                  </a:txBody>
                  <a:tcPr marL="36000" marR="252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2</a:t>
                      </a:r>
                    </a:p>
                  </a:txBody>
                  <a:tcPr marL="36000" marR="252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021"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</a:t>
                      </a:r>
                    </a:p>
                  </a:txBody>
                  <a:tcPr marL="36000" marR="252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</a:t>
                      </a:r>
                    </a:p>
                  </a:txBody>
                  <a:tcPr marL="36000" marR="252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021"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</a:t>
                      </a:r>
                    </a:p>
                  </a:txBody>
                  <a:tcPr marL="36000" marR="252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4</a:t>
                      </a:r>
                    </a:p>
                  </a:txBody>
                  <a:tcPr marL="36000" marR="252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021"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</a:t>
                      </a:r>
                    </a:p>
                  </a:txBody>
                  <a:tcPr marL="36000" marR="252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5</a:t>
                      </a:r>
                    </a:p>
                  </a:txBody>
                  <a:tcPr marL="36000" marR="252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021"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2</a:t>
                      </a:r>
                    </a:p>
                  </a:txBody>
                  <a:tcPr marL="36000" marR="252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</a:t>
                      </a:r>
                    </a:p>
                  </a:txBody>
                  <a:tcPr marL="36000" marR="252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9021"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2</a:t>
                      </a:r>
                    </a:p>
                  </a:txBody>
                  <a:tcPr marL="36000" marR="252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2</a:t>
                      </a:r>
                    </a:p>
                  </a:txBody>
                  <a:tcPr marL="36000" marR="252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9021"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2</a:t>
                      </a:r>
                    </a:p>
                  </a:txBody>
                  <a:tcPr marL="36000" marR="252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</a:t>
                      </a:r>
                    </a:p>
                  </a:txBody>
                  <a:tcPr marL="36000" marR="252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021"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2</a:t>
                      </a:r>
                    </a:p>
                  </a:txBody>
                  <a:tcPr marL="36000" marR="252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4</a:t>
                      </a:r>
                    </a:p>
                  </a:txBody>
                  <a:tcPr marL="36000" marR="252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9021"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2</a:t>
                      </a:r>
                    </a:p>
                  </a:txBody>
                  <a:tcPr marL="36000" marR="252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5</a:t>
                      </a:r>
                    </a:p>
                  </a:txBody>
                  <a:tcPr marL="36000" marR="252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9021"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</a:t>
                      </a:r>
                    </a:p>
                  </a:txBody>
                  <a:tcPr marL="36000" marR="252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</a:t>
                      </a:r>
                    </a:p>
                  </a:txBody>
                  <a:tcPr marL="36000" marR="252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9021">
                <a:tc gridSpan="2"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...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s-ES" sz="1400" dirty="0">
                        <a:solidFill>
                          <a:schemeClr val="tx1"/>
                        </a:solidFill>
                        <a:latin typeface="Consolas" pitchFamily="49" charset="0"/>
                      </a:endParaRPr>
                    </a:p>
                  </a:txBody>
                  <a:tcPr marL="36000" marR="252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Tablas de multiplicación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278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6" name="17 Grupo"/>
          <p:cNvGrpSpPr/>
          <p:nvPr/>
        </p:nvGrpSpPr>
        <p:grpSpPr>
          <a:xfrm>
            <a:off x="6516216" y="1268760"/>
            <a:ext cx="2104274" cy="4059059"/>
            <a:chOff x="1042423" y="4568973"/>
            <a:chExt cx="2233433" cy="16127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10 CuadroTexto"/>
            <p:cNvSpPr txBox="1"/>
            <p:nvPr/>
          </p:nvSpPr>
          <p:spPr>
            <a:xfrm>
              <a:off x="1042423" y="4568973"/>
              <a:ext cx="2233433" cy="1612751"/>
            </a:xfrm>
            <a:prstGeom prst="rect">
              <a:avLst/>
            </a:prstGeom>
            <a:solidFill>
              <a:schemeClr val="dk1"/>
            </a:solidFill>
            <a:ln w="63500" cap="rnd">
              <a:solidFill>
                <a:schemeClr val="tx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 tIns="72000" bIns="72000" rtlCol="0">
              <a:noAutofit/>
            </a:bodyPr>
            <a:lstStyle/>
            <a:p>
              <a:endParaRPr lang="es-ES" dirty="0">
                <a:latin typeface="Consolas" pitchFamily="49" charset="0"/>
              </a:endParaRPr>
            </a:p>
          </p:txBody>
        </p:sp>
        <p:sp>
          <p:nvSpPr>
            <p:cNvPr id="12" name="11 CuadroTexto"/>
            <p:cNvSpPr txBox="1"/>
            <p:nvPr/>
          </p:nvSpPr>
          <p:spPr>
            <a:xfrm>
              <a:off x="1099574" y="4610194"/>
              <a:ext cx="1888250" cy="1427514"/>
            </a:xfrm>
            <a:prstGeom prst="rect">
              <a:avLst/>
            </a:prstGeom>
            <a:noFill/>
            <a:ln w="63500" cap="rnd">
              <a:noFill/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 tIns="72000" bIns="72000" rtlCol="0">
              <a:noAutofit/>
            </a:bodyPr>
            <a:lstStyle/>
            <a:p>
              <a:r>
                <a:rPr lang="es-ES" dirty="0">
                  <a:latin typeface="Consolas" pitchFamily="49" charset="0"/>
                </a:rPr>
                <a:t> 1 x  1 =   1</a:t>
              </a:r>
            </a:p>
            <a:p>
              <a:r>
                <a:rPr lang="es-ES" dirty="0">
                  <a:latin typeface="Consolas" pitchFamily="49" charset="0"/>
                </a:rPr>
                <a:t> 1 x  2 =   2</a:t>
              </a:r>
            </a:p>
            <a:p>
              <a:r>
                <a:rPr lang="es-ES" dirty="0">
                  <a:latin typeface="Consolas" pitchFamily="49" charset="0"/>
                </a:rPr>
                <a:t> 1 x  3 =   3</a:t>
              </a:r>
            </a:p>
            <a:p>
              <a:r>
                <a:rPr lang="es-ES" dirty="0">
                  <a:latin typeface="Consolas" pitchFamily="49" charset="0"/>
                </a:rPr>
                <a:t> 1 x  4 =   4</a:t>
              </a:r>
            </a:p>
            <a:p>
              <a:r>
                <a:rPr lang="es-ES" dirty="0">
                  <a:latin typeface="Consolas" pitchFamily="49" charset="0"/>
                </a:rPr>
                <a:t> ...</a:t>
              </a:r>
            </a:p>
            <a:p>
              <a:r>
                <a:rPr lang="es-ES" dirty="0">
                  <a:latin typeface="Consolas" pitchFamily="49" charset="0"/>
                </a:rPr>
                <a:t> 1 x 10 =  10</a:t>
              </a:r>
            </a:p>
            <a:p>
              <a:r>
                <a:rPr lang="es-ES" dirty="0">
                  <a:latin typeface="Consolas" pitchFamily="49" charset="0"/>
                </a:rPr>
                <a:t> 2 x  1 =   2</a:t>
              </a:r>
            </a:p>
            <a:p>
              <a:r>
                <a:rPr lang="es-ES" dirty="0">
                  <a:latin typeface="Consolas" pitchFamily="49" charset="0"/>
                </a:rPr>
                <a:t> 2 x  2 =   4</a:t>
              </a:r>
            </a:p>
            <a:p>
              <a:r>
                <a:rPr lang="es-ES" dirty="0">
                  <a:latin typeface="Consolas" pitchFamily="49" charset="0"/>
                </a:rPr>
                <a:t> ...</a:t>
              </a:r>
            </a:p>
            <a:p>
              <a:r>
                <a:rPr lang="es-ES" dirty="0">
                  <a:latin typeface="Consolas" pitchFamily="49" charset="0"/>
                </a:rPr>
                <a:t>10 x  7 =  70</a:t>
              </a:r>
            </a:p>
            <a:p>
              <a:r>
                <a:rPr lang="es-ES" dirty="0">
                  <a:latin typeface="Consolas" pitchFamily="49" charset="0"/>
                </a:rPr>
                <a:t>10 x  8 =  80</a:t>
              </a:r>
            </a:p>
            <a:p>
              <a:r>
                <a:rPr lang="es-ES" dirty="0">
                  <a:latin typeface="Consolas" pitchFamily="49" charset="0"/>
                </a:rPr>
                <a:t>10 x  9 =  90</a:t>
              </a:r>
            </a:p>
            <a:p>
              <a:r>
                <a:rPr lang="es-ES" dirty="0">
                  <a:latin typeface="Consolas" pitchFamily="49" charset="0"/>
                </a:rPr>
                <a:t>10 x 10 = 100</a:t>
              </a:r>
            </a:p>
          </p:txBody>
        </p:sp>
      </p:grpSp>
      <p:sp>
        <p:nvSpPr>
          <p:cNvPr id="13" name="12 CuadroTexto"/>
          <p:cNvSpPr txBox="1"/>
          <p:nvPr/>
        </p:nvSpPr>
        <p:spPr>
          <a:xfrm>
            <a:off x="7206368" y="404664"/>
            <a:ext cx="1451038" cy="369332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tablas.cpp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539552" y="980728"/>
            <a:ext cx="6552728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rgbClr val="FFCCFF"/>
                </a:solidFill>
                <a:latin typeface="Consolas" pitchFamily="49" charset="0"/>
              </a:rPr>
              <a:t>#include &lt;iostream&gt;</a:t>
            </a:r>
            <a:endParaRPr lang="es-ES" sz="2000" i="1" dirty="0">
              <a:solidFill>
                <a:srgbClr val="FFCCFF"/>
              </a:solidFill>
              <a:latin typeface="Consolas" pitchFamily="49" charset="0"/>
            </a:endParaRP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using namespace </a:t>
            </a:r>
            <a:r>
              <a:rPr lang="es-ES" sz="2000" dirty="0">
                <a:latin typeface="Consolas" pitchFamily="49" charset="0"/>
              </a:rPr>
              <a:t>std;</a:t>
            </a:r>
            <a:endParaRPr lang="es-ES" sz="2000" i="1" dirty="0">
              <a:latin typeface="Consolas" pitchFamily="49" charset="0"/>
            </a:endParaRPr>
          </a:p>
          <a:p>
            <a:pPr marL="0" lvl="1" indent="1588">
              <a:lnSpc>
                <a:spcPct val="110000"/>
              </a:lnSpc>
            </a:pPr>
            <a:r>
              <a:rPr lang="es-ES" sz="2000" dirty="0">
                <a:solidFill>
                  <a:srgbClr val="FFCCFF"/>
                </a:solidFill>
                <a:latin typeface="Consolas" pitchFamily="49" charset="0"/>
              </a:rPr>
              <a:t>#include &lt;iomanip&gt;</a:t>
            </a:r>
            <a:endParaRPr lang="es-ES" sz="2000" i="1" dirty="0">
              <a:solidFill>
                <a:srgbClr val="FFCCFF"/>
              </a:solidFill>
              <a:latin typeface="Consolas" pitchFamily="49" charset="0"/>
            </a:endParaRP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</a:pPr>
            <a:endParaRPr lang="es-ES" sz="2000" dirty="0">
              <a:latin typeface="Consolas" pitchFamily="49" charset="0"/>
            </a:endParaRP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</a:rPr>
              <a:t> main() {</a:t>
            </a: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for </a:t>
            </a:r>
            <a:r>
              <a:rPr lang="es-ES" sz="2000" dirty="0">
                <a:latin typeface="Consolas" pitchFamily="49" charset="0"/>
              </a:rPr>
              <a:t>(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</a:rPr>
              <a:t> i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sz="2000" dirty="0">
                <a:latin typeface="Consolas" pitchFamily="49" charset="0"/>
              </a:rPr>
              <a:t>; i &lt;=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10</a:t>
            </a:r>
            <a:r>
              <a:rPr lang="es-ES" sz="2000" dirty="0">
                <a:latin typeface="Consolas" pitchFamily="49" charset="0"/>
              </a:rPr>
              <a:t>; i++) {</a:t>
            </a: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   for </a:t>
            </a:r>
            <a:r>
              <a:rPr lang="es-ES" sz="2000" dirty="0">
                <a:latin typeface="Consolas" pitchFamily="49" charset="0"/>
              </a:rPr>
              <a:t>(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</a:rPr>
              <a:t> j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sz="2000" dirty="0">
                <a:latin typeface="Consolas" pitchFamily="49" charset="0"/>
              </a:rPr>
              <a:t>; j &lt;=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10</a:t>
            </a:r>
            <a:r>
              <a:rPr lang="es-ES" sz="2000" dirty="0">
                <a:latin typeface="Consolas" pitchFamily="49" charset="0"/>
              </a:rPr>
              <a:t>; </a:t>
            </a:r>
            <a:r>
              <a:rPr lang="es-ES" sz="2000" dirty="0" err="1">
                <a:latin typeface="Consolas" pitchFamily="49" charset="0"/>
              </a:rPr>
              <a:t>j++</a:t>
            </a:r>
            <a:r>
              <a:rPr lang="es-ES" sz="2000" dirty="0">
                <a:latin typeface="Consolas" pitchFamily="49" charset="0"/>
              </a:rPr>
              <a:t>) {</a:t>
            </a: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2000" dirty="0">
                <a:latin typeface="Consolas" pitchFamily="49" charset="0"/>
              </a:rPr>
              <a:t>         cout &lt;&lt; </a:t>
            </a:r>
            <a:r>
              <a:rPr lang="es-ES" sz="2000" dirty="0" err="1">
                <a:latin typeface="Consolas" pitchFamily="49" charset="0"/>
              </a:rPr>
              <a:t>setw</a:t>
            </a:r>
            <a:r>
              <a:rPr lang="es-ES" sz="2000" dirty="0">
                <a:latin typeface="Consolas" pitchFamily="49" charset="0"/>
              </a:rPr>
              <a:t>(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2</a:t>
            </a:r>
            <a:r>
              <a:rPr lang="es-ES" sz="2000" dirty="0">
                <a:latin typeface="Consolas" pitchFamily="49" charset="0"/>
              </a:rPr>
              <a:t>) &lt;&lt; i &lt;&lt;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" x "</a:t>
            </a: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2000" dirty="0">
                <a:latin typeface="Consolas" pitchFamily="49" charset="0"/>
              </a:rPr>
              <a:t>            &lt;&lt; </a:t>
            </a:r>
            <a:r>
              <a:rPr lang="es-ES" sz="2000" dirty="0" err="1">
                <a:latin typeface="Consolas" pitchFamily="49" charset="0"/>
              </a:rPr>
              <a:t>setw</a:t>
            </a:r>
            <a:r>
              <a:rPr lang="es-ES" sz="2000" dirty="0">
                <a:latin typeface="Consolas" pitchFamily="49" charset="0"/>
              </a:rPr>
              <a:t>(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2</a:t>
            </a:r>
            <a:r>
              <a:rPr lang="es-ES" sz="2000" dirty="0">
                <a:latin typeface="Consolas" pitchFamily="49" charset="0"/>
              </a:rPr>
              <a:t>) &lt;&lt; j &lt;&lt;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" = "</a:t>
            </a: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          </a:t>
            </a:r>
            <a:r>
              <a:rPr lang="es-ES" sz="2000" dirty="0">
                <a:latin typeface="Consolas" pitchFamily="49" charset="0"/>
              </a:rPr>
              <a:t>  &lt;&lt; </a:t>
            </a:r>
            <a:r>
              <a:rPr lang="es-ES" sz="2000" dirty="0" err="1">
                <a:latin typeface="Consolas" pitchFamily="49" charset="0"/>
              </a:rPr>
              <a:t>setw</a:t>
            </a:r>
            <a:r>
              <a:rPr lang="es-ES" sz="2000" dirty="0">
                <a:latin typeface="Consolas" pitchFamily="49" charset="0"/>
              </a:rPr>
              <a:t>(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sz="2000" dirty="0">
                <a:latin typeface="Consolas" pitchFamily="49" charset="0"/>
              </a:rPr>
              <a:t>) &lt;&lt; i * j &lt;&lt; endl;</a:t>
            </a: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2000" dirty="0">
                <a:latin typeface="Consolas" pitchFamily="49" charset="0"/>
              </a:rPr>
              <a:t>      }</a:t>
            </a: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2000" dirty="0">
                <a:latin typeface="Consolas" pitchFamily="49" charset="0"/>
              </a:rPr>
              <a:t>   }</a:t>
            </a: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</a:pPr>
            <a:endParaRPr lang="es-ES" sz="2000" dirty="0">
              <a:latin typeface="Consolas" pitchFamily="49" charset="0"/>
            </a:endParaRP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return</a:t>
            </a:r>
            <a:r>
              <a:rPr lang="es-ES" sz="2000" dirty="0"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2000" dirty="0">
                <a:latin typeface="Consolas" pitchFamily="49" charset="0"/>
              </a:rPr>
              <a:t>;</a:t>
            </a: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2000" dirty="0">
                <a:latin typeface="Consolas" pitchFamily="49" charset="0"/>
              </a:rPr>
              <a:t>}</a:t>
            </a:r>
          </a:p>
        </p:txBody>
      </p:sp>
      <p:cxnSp>
        <p:nvCxnSpPr>
          <p:cNvPr id="14" name="13 Conector recto"/>
          <p:cNvCxnSpPr/>
          <p:nvPr/>
        </p:nvCxnSpPr>
        <p:spPr>
          <a:xfrm>
            <a:off x="1441748" y="3068960"/>
            <a:ext cx="0" cy="1656184"/>
          </a:xfrm>
          <a:prstGeom prst="line">
            <a:avLst/>
          </a:prstGeom>
          <a:ln w="3175">
            <a:solidFill>
              <a:srgbClr val="FFC000"/>
            </a:solidFill>
            <a:prstDash val="sysDot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1845221" y="3400425"/>
            <a:ext cx="0" cy="1043984"/>
          </a:xfrm>
          <a:prstGeom prst="line">
            <a:avLst/>
          </a:prstGeom>
          <a:ln w="3175">
            <a:solidFill>
              <a:srgbClr val="FFC000"/>
            </a:solidFill>
            <a:prstDash val="sysDot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0" grpId="0" uiExpand="1" build="p" bldLvl="2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279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de datos estructurados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269230" y="3044280"/>
            <a:ext cx="4605748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El bucle </a:t>
            </a:r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j-ea"/>
                <a:cs typeface="Consolas" pitchFamily="49" charset="0"/>
              </a:rPr>
              <a:t>do-while</a:t>
            </a:r>
            <a:endParaRPr lang="es-ES" sz="24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48126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Otro bucle no determinado de C++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El bucle </a:t>
            </a:r>
            <a:r>
              <a:rPr lang="es-ES" sz="2800" i="0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  <a:r>
              <a:rPr lang="es-ES" sz="2800" i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..</a:t>
            </a:r>
            <a:r>
              <a:rPr lang="es-ES" sz="2800" i="0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do</a:t>
            </a:r>
            <a:r>
              <a:rPr lang="es-ES" dirty="0">
                <a:latin typeface="Consolas" pitchFamily="49" charset="0"/>
              </a:rPr>
              <a:t> </a:t>
            </a:r>
            <a:r>
              <a:rPr lang="es-ES" i="1" dirty="0">
                <a:latin typeface="Consolas" pitchFamily="49" charset="0"/>
              </a:rPr>
              <a:t>cuerpo</a:t>
            </a:r>
            <a:r>
              <a:rPr lang="es-ES" dirty="0">
                <a:latin typeface="Consolas" pitchFamily="49" charset="0"/>
              </a:rPr>
              <a:t>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while </a:t>
            </a:r>
            <a:r>
              <a:rPr lang="es-ES" dirty="0">
                <a:latin typeface="Consolas" pitchFamily="49" charset="0"/>
              </a:rPr>
              <a:t>(</a:t>
            </a:r>
            <a:r>
              <a:rPr lang="es-ES" i="1" dirty="0">
                <a:latin typeface="Consolas" pitchFamily="49" charset="0"/>
              </a:rPr>
              <a:t>condición</a:t>
            </a:r>
            <a:r>
              <a:rPr lang="es-ES" dirty="0">
                <a:latin typeface="Consolas" pitchFamily="49" charset="0"/>
              </a:rPr>
              <a:t>);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>
              <a:solidFill>
                <a:schemeClr val="accent2">
                  <a:lumMod val="60000"/>
                  <a:lumOff val="40000"/>
                </a:schemeClr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1800"/>
              </a:spcAft>
              <a:buNone/>
            </a:pPr>
            <a:endParaRPr lang="es-ES" dirty="0">
              <a:solidFill>
                <a:schemeClr val="accent2">
                  <a:lumMod val="60000"/>
                  <a:lumOff val="40000"/>
                </a:schemeClr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do</a:t>
            </a:r>
            <a:r>
              <a:rPr lang="es-ES" dirty="0">
                <a:latin typeface="Consolas" pitchFamily="49" charset="0"/>
              </a:rPr>
              <a:t>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cout &lt;&lt; i &lt;&lt; endl;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i++;</a:t>
            </a:r>
          </a:p>
          <a:p>
            <a:pPr lvl="1" indent="1588">
              <a:spcBef>
                <a:spcPts val="0"/>
              </a:spcBef>
              <a:spcAft>
                <a:spcPts val="2400"/>
              </a:spcAft>
              <a:buNone/>
            </a:pPr>
            <a:r>
              <a:rPr lang="es-ES" dirty="0">
                <a:latin typeface="Consolas" pitchFamily="49" charset="0"/>
              </a:rPr>
              <a:t>}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while </a:t>
            </a:r>
            <a:r>
              <a:rPr lang="es-ES" dirty="0">
                <a:latin typeface="Consolas" pitchFamily="49" charset="0"/>
              </a:rPr>
              <a:t>(i &lt;=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dirty="0">
                <a:latin typeface="Consolas" pitchFamily="49" charset="0"/>
              </a:rPr>
              <a:t>);</a:t>
            </a:r>
          </a:p>
          <a:p>
            <a:pPr marL="361950" lvl="0">
              <a:spcBef>
                <a:spcPts val="0"/>
              </a:spcBef>
              <a:spcAft>
                <a:spcPts val="600"/>
              </a:spcAft>
              <a:buClrTx/>
              <a:buSzTx/>
            </a:pPr>
            <a:r>
              <a:rPr lang="es-ES" sz="2200" i="0" dirty="0">
                <a:solidFill>
                  <a:prstClr val="white"/>
                </a:solidFill>
              </a:rPr>
              <a:t>El </a:t>
            </a:r>
            <a:r>
              <a:rPr lang="es-ES" sz="2200" dirty="0">
                <a:solidFill>
                  <a:prstClr val="white"/>
                </a:solidFill>
              </a:rPr>
              <a:t>cuerpo</a:t>
            </a:r>
            <a:r>
              <a:rPr lang="es-ES" sz="2200" i="0" dirty="0">
                <a:solidFill>
                  <a:prstClr val="white"/>
                </a:solidFill>
              </a:rPr>
              <a:t> siempre se ejecuta al menos una vez</a:t>
            </a:r>
          </a:p>
          <a:p>
            <a:pPr marL="361950" lvl="0">
              <a:spcBef>
                <a:spcPts val="0"/>
              </a:spcBef>
              <a:spcAft>
                <a:spcPts val="600"/>
              </a:spcAft>
              <a:buClrTx/>
              <a:buSzTx/>
            </a:pPr>
            <a:r>
              <a:rPr lang="es-ES" sz="2200" i="0" dirty="0">
                <a:solidFill>
                  <a:prstClr val="white"/>
                </a:solidFill>
              </a:rPr>
              <a:t>El </a:t>
            </a:r>
            <a:r>
              <a:rPr lang="es-ES" sz="2200" dirty="0">
                <a:solidFill>
                  <a:prstClr val="white"/>
                </a:solidFill>
              </a:rPr>
              <a:t>cuerpo</a:t>
            </a:r>
            <a:r>
              <a:rPr lang="es-ES" sz="2200" i="0" dirty="0">
                <a:solidFill>
                  <a:prstClr val="white"/>
                </a:solidFill>
              </a:rPr>
              <a:t> es un bloque de código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280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de datos estructurados</a:t>
            </a:r>
          </a:p>
        </p:txBody>
      </p:sp>
      <p:sp>
        <p:nvSpPr>
          <p:cNvPr id="36" name="35 CuadroTexto"/>
          <p:cNvSpPr txBox="1"/>
          <p:nvPr/>
        </p:nvSpPr>
        <p:spPr>
          <a:xfrm>
            <a:off x="5635111" y="1579205"/>
            <a:ext cx="3113353" cy="40011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Condición al final del bucle</a:t>
            </a:r>
          </a:p>
        </p:txBody>
      </p:sp>
      <p:grpSp>
        <p:nvGrpSpPr>
          <p:cNvPr id="6" name="17 Grupo"/>
          <p:cNvGrpSpPr/>
          <p:nvPr/>
        </p:nvGrpSpPr>
        <p:grpSpPr>
          <a:xfrm>
            <a:off x="1187624" y="2204864"/>
            <a:ext cx="6912768" cy="442874"/>
            <a:chOff x="1187624" y="2348880"/>
            <a:chExt cx="6912768" cy="442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2267744" y="2574166"/>
              <a:ext cx="5832648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>
              <a:off x="1187624" y="2564880"/>
              <a:ext cx="50405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62 CuadroTexto"/>
            <p:cNvSpPr txBox="1"/>
            <p:nvPr/>
          </p:nvSpPr>
          <p:spPr>
            <a:xfrm>
              <a:off x="5320833" y="2387912"/>
              <a:ext cx="1074012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condición</a:t>
              </a:r>
            </a:p>
          </p:txBody>
        </p:sp>
        <p:sp>
          <p:nvSpPr>
            <p:cNvPr id="65" name="64 CuadroTexto"/>
            <p:cNvSpPr txBox="1"/>
            <p:nvPr/>
          </p:nvSpPr>
          <p:spPr>
            <a:xfrm>
              <a:off x="2521997" y="2387912"/>
              <a:ext cx="825867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cuerpo</a:t>
              </a:r>
            </a:p>
          </p:txBody>
        </p:sp>
        <p:sp>
          <p:nvSpPr>
            <p:cNvPr id="20" name="19 Elipse"/>
            <p:cNvSpPr/>
            <p:nvPr/>
          </p:nvSpPr>
          <p:spPr>
            <a:xfrm>
              <a:off x="1707614" y="2359754"/>
              <a:ext cx="560130" cy="4320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dirty="0">
                  <a:solidFill>
                    <a:schemeClr val="accent2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do</a:t>
              </a:r>
            </a:p>
          </p:txBody>
        </p:sp>
        <p:sp>
          <p:nvSpPr>
            <p:cNvPr id="22" name="21 Elipse"/>
            <p:cNvSpPr/>
            <p:nvPr/>
          </p:nvSpPr>
          <p:spPr>
            <a:xfrm>
              <a:off x="4716016" y="2350468"/>
              <a:ext cx="370384" cy="4320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(</a:t>
              </a:r>
            </a:p>
          </p:txBody>
        </p:sp>
        <p:sp>
          <p:nvSpPr>
            <p:cNvPr id="23" name="22 Elipse"/>
            <p:cNvSpPr/>
            <p:nvPr/>
          </p:nvSpPr>
          <p:spPr>
            <a:xfrm>
              <a:off x="6601386" y="2348880"/>
              <a:ext cx="370384" cy="4320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)</a:t>
              </a:r>
            </a:p>
          </p:txBody>
        </p:sp>
        <p:sp>
          <p:nvSpPr>
            <p:cNvPr id="24" name="23 Elipse"/>
            <p:cNvSpPr/>
            <p:nvPr/>
          </p:nvSpPr>
          <p:spPr>
            <a:xfrm>
              <a:off x="7306805" y="2359754"/>
              <a:ext cx="370384" cy="4320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;</a:t>
              </a:r>
            </a:p>
          </p:txBody>
        </p:sp>
        <p:sp>
          <p:nvSpPr>
            <p:cNvPr id="25" name="24 Elipse"/>
            <p:cNvSpPr/>
            <p:nvPr/>
          </p:nvSpPr>
          <p:spPr>
            <a:xfrm>
              <a:off x="3563888" y="2359754"/>
              <a:ext cx="933331" cy="4320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dirty="0">
                  <a:solidFill>
                    <a:schemeClr val="accent2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while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357121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6" grpId="0" uiExpand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Ejecución del bucle </a:t>
            </a:r>
            <a:r>
              <a:rPr lang="es-ES" dirty="0">
                <a:latin typeface="Consolas" pitchFamily="49" charset="0"/>
              </a:rPr>
              <a:t>do-while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do</a:t>
            </a:r>
            <a:r>
              <a:rPr lang="es-ES" dirty="0">
                <a:latin typeface="Consolas" pitchFamily="49" charset="0"/>
              </a:rPr>
              <a:t>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cout &lt;&lt; i &lt;&lt; endl;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i++;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}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while </a:t>
            </a:r>
            <a:r>
              <a:rPr lang="es-ES" dirty="0">
                <a:latin typeface="Consolas" pitchFamily="49" charset="0"/>
              </a:rPr>
              <a:t>(i &lt;=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dirty="0">
                <a:latin typeface="Consolas" pitchFamily="49" charset="0"/>
              </a:rPr>
              <a:t>);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281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de datos estructurados</a:t>
            </a:r>
          </a:p>
        </p:txBody>
      </p:sp>
      <p:grpSp>
        <p:nvGrpSpPr>
          <p:cNvPr id="6" name="28 Grupo"/>
          <p:cNvGrpSpPr/>
          <p:nvPr/>
        </p:nvGrpSpPr>
        <p:grpSpPr>
          <a:xfrm>
            <a:off x="6876256" y="1124744"/>
            <a:ext cx="1906060" cy="1800200"/>
            <a:chOff x="1187624" y="3212976"/>
            <a:chExt cx="2266100" cy="2641447"/>
          </a:xfrm>
        </p:grpSpPr>
        <p:cxnSp>
          <p:nvCxnSpPr>
            <p:cNvPr id="51" name="50 Conector recto de flecha"/>
            <p:cNvCxnSpPr/>
            <p:nvPr/>
          </p:nvCxnSpPr>
          <p:spPr>
            <a:xfrm rot="5400000">
              <a:off x="2194111" y="5555320"/>
              <a:ext cx="59661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52" name="51 CuadroTexto"/>
            <p:cNvSpPr txBox="1"/>
            <p:nvPr/>
          </p:nvSpPr>
          <p:spPr>
            <a:xfrm>
              <a:off x="1197720" y="4643844"/>
              <a:ext cx="623578" cy="406443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2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</a:p>
          </p:txBody>
        </p:sp>
        <p:sp>
          <p:nvSpPr>
            <p:cNvPr id="53" name="52 CuadroTexto"/>
            <p:cNvSpPr txBox="1"/>
            <p:nvPr/>
          </p:nvSpPr>
          <p:spPr>
            <a:xfrm>
              <a:off x="2513915" y="5300677"/>
              <a:ext cx="724585" cy="406443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2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  <p:cxnSp>
          <p:nvCxnSpPr>
            <p:cNvPr id="54" name="53 Conector recto de flecha"/>
            <p:cNvCxnSpPr/>
            <p:nvPr/>
          </p:nvCxnSpPr>
          <p:spPr>
            <a:xfrm>
              <a:off x="1187624" y="3504978"/>
              <a:ext cx="1284156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5" name="54 Conector recto de flecha"/>
            <p:cNvCxnSpPr/>
            <p:nvPr/>
          </p:nvCxnSpPr>
          <p:spPr>
            <a:xfrm rot="5400000">
              <a:off x="417366" y="4276825"/>
              <a:ext cx="1562743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6" name="55 Conector recto de flecha"/>
            <p:cNvCxnSpPr/>
            <p:nvPr/>
          </p:nvCxnSpPr>
          <p:spPr>
            <a:xfrm rot="10800000">
              <a:off x="1187624" y="5048672"/>
              <a:ext cx="47336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57" name="56 Decisión"/>
            <p:cNvSpPr/>
            <p:nvPr/>
          </p:nvSpPr>
          <p:spPr>
            <a:xfrm>
              <a:off x="1509508" y="4775008"/>
              <a:ext cx="1944216" cy="529034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2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Condición</a:t>
              </a:r>
            </a:p>
          </p:txBody>
        </p:sp>
        <p:cxnSp>
          <p:nvCxnSpPr>
            <p:cNvPr id="58" name="57 Conector recto de flecha"/>
            <p:cNvCxnSpPr/>
            <p:nvPr/>
          </p:nvCxnSpPr>
          <p:spPr>
            <a:xfrm rot="5400000">
              <a:off x="2230032" y="4551600"/>
              <a:ext cx="521599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59" name="58 CuadroTexto"/>
            <p:cNvSpPr txBox="1"/>
            <p:nvPr/>
          </p:nvSpPr>
          <p:spPr>
            <a:xfrm>
              <a:off x="1735113" y="3910207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2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Cuerpo</a:t>
              </a:r>
            </a:p>
          </p:txBody>
        </p:sp>
        <p:cxnSp>
          <p:nvCxnSpPr>
            <p:cNvPr id="60" name="59 Conector recto de flecha"/>
            <p:cNvCxnSpPr/>
            <p:nvPr/>
          </p:nvCxnSpPr>
          <p:spPr>
            <a:xfrm rot="5400000">
              <a:off x="2122729" y="3579491"/>
              <a:ext cx="73461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7" name="36 Grupo"/>
          <p:cNvGrpSpPr/>
          <p:nvPr/>
        </p:nvGrpSpPr>
        <p:grpSpPr>
          <a:xfrm>
            <a:off x="4834038" y="5393955"/>
            <a:ext cx="831608" cy="596618"/>
            <a:chOff x="4401990" y="5568686"/>
            <a:chExt cx="831608" cy="596618"/>
          </a:xfrm>
        </p:grpSpPr>
        <p:cxnSp>
          <p:nvCxnSpPr>
            <p:cNvPr id="63" name="62 Conector recto de flecha"/>
            <p:cNvCxnSpPr/>
            <p:nvPr/>
          </p:nvCxnSpPr>
          <p:spPr>
            <a:xfrm rot="5400000">
              <a:off x="4104475" y="5866201"/>
              <a:ext cx="59661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65" name="64 CuadroTexto"/>
            <p:cNvSpPr txBox="1"/>
            <p:nvPr/>
          </p:nvSpPr>
          <p:spPr>
            <a:xfrm>
              <a:off x="4415745" y="5611558"/>
              <a:ext cx="817853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</p:grpSp>
      <p:grpSp>
        <p:nvGrpSpPr>
          <p:cNvPr id="8" name="35 Grupo"/>
          <p:cNvGrpSpPr/>
          <p:nvPr/>
        </p:nvGrpSpPr>
        <p:grpSpPr>
          <a:xfrm>
            <a:off x="3131840" y="3632397"/>
            <a:ext cx="1682352" cy="1562743"/>
            <a:chOff x="2699792" y="3807128"/>
            <a:chExt cx="1682352" cy="1562743"/>
          </a:xfrm>
        </p:grpSpPr>
        <p:sp>
          <p:nvSpPr>
            <p:cNvPr id="64" name="63 CuadroTexto"/>
            <p:cNvSpPr txBox="1"/>
            <p:nvPr/>
          </p:nvSpPr>
          <p:spPr>
            <a:xfrm>
              <a:off x="2810762" y="4987037"/>
              <a:ext cx="691215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</a:p>
          </p:txBody>
        </p:sp>
        <p:cxnSp>
          <p:nvCxnSpPr>
            <p:cNvPr id="66" name="65 Conector recto de flecha"/>
            <p:cNvCxnSpPr/>
            <p:nvPr/>
          </p:nvCxnSpPr>
          <p:spPr>
            <a:xfrm>
              <a:off x="2699792" y="3817447"/>
              <a:ext cx="1682352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7" name="66 Conector recto de flecha"/>
            <p:cNvCxnSpPr/>
            <p:nvPr/>
          </p:nvCxnSpPr>
          <p:spPr>
            <a:xfrm rot="5400000">
              <a:off x="1919215" y="4587706"/>
              <a:ext cx="1562743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8" name="67 Conector recto de flecha"/>
            <p:cNvCxnSpPr/>
            <p:nvPr/>
          </p:nvCxnSpPr>
          <p:spPr>
            <a:xfrm flipH="1">
              <a:off x="2699792" y="5361141"/>
              <a:ext cx="871564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9" name="34 Grupo"/>
          <p:cNvGrpSpPr/>
          <p:nvPr/>
        </p:nvGrpSpPr>
        <p:grpSpPr>
          <a:xfrm>
            <a:off x="3717429" y="4427744"/>
            <a:ext cx="2232248" cy="1012448"/>
            <a:chOff x="3285381" y="4602475"/>
            <a:chExt cx="2232248" cy="1012448"/>
          </a:xfrm>
        </p:grpSpPr>
        <p:sp>
          <p:nvSpPr>
            <p:cNvPr id="69" name="68 Decisión"/>
            <p:cNvSpPr/>
            <p:nvPr/>
          </p:nvSpPr>
          <p:spPr>
            <a:xfrm>
              <a:off x="3285381" y="5085889"/>
              <a:ext cx="2232248" cy="529034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0" tIns="36000" rIns="0" bIns="36000" rtlCol="0" anchor="ctr" anchorCtr="0">
              <a:noAutofit/>
            </a:bodyPr>
            <a:lstStyle/>
            <a:p>
              <a:pPr algn="ctr"/>
              <a:r>
                <a:rPr lang="es-ES" dirty="0">
                  <a:latin typeface="Consolas" pitchFamily="49" charset="0"/>
                </a:rPr>
                <a:t>i &lt;= </a:t>
              </a:r>
              <a:r>
                <a:rPr lang="es-ES" dirty="0">
                  <a:solidFill>
                    <a:srgbClr val="FFFF00"/>
                  </a:solidFill>
                  <a:latin typeface="Consolas" pitchFamily="49" charset="0"/>
                </a:rPr>
                <a:t>100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endParaRPr>
            </a:p>
          </p:txBody>
        </p:sp>
        <p:cxnSp>
          <p:nvCxnSpPr>
            <p:cNvPr id="70" name="69 Conector recto de flecha"/>
            <p:cNvCxnSpPr/>
            <p:nvPr/>
          </p:nvCxnSpPr>
          <p:spPr>
            <a:xfrm rot="5400000">
              <a:off x="4140396" y="4862481"/>
              <a:ext cx="521599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0" name="33 Grupo"/>
          <p:cNvGrpSpPr/>
          <p:nvPr/>
        </p:nvGrpSpPr>
        <p:grpSpPr>
          <a:xfrm>
            <a:off x="3414539" y="3349126"/>
            <a:ext cx="2808312" cy="1310801"/>
            <a:chOff x="2982491" y="3523857"/>
            <a:chExt cx="2808312" cy="1310801"/>
          </a:xfrm>
        </p:grpSpPr>
        <p:sp>
          <p:nvSpPr>
            <p:cNvPr id="71" name="70 CuadroTexto"/>
            <p:cNvSpPr txBox="1"/>
            <p:nvPr/>
          </p:nvSpPr>
          <p:spPr>
            <a:xfrm>
              <a:off x="2982491" y="4221088"/>
              <a:ext cx="2808312" cy="61357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2000" dirty="0">
                  <a:latin typeface="Consolas" pitchFamily="49" charset="0"/>
                </a:rPr>
                <a:t>cout &lt;&lt; i &lt;&lt; endl; i++;</a:t>
              </a:r>
              <a:endPara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endParaRPr>
            </a:p>
          </p:txBody>
        </p:sp>
        <p:cxnSp>
          <p:nvCxnSpPr>
            <p:cNvPr id="72" name="71 Conector recto de flecha"/>
            <p:cNvCxnSpPr/>
            <p:nvPr/>
          </p:nvCxnSpPr>
          <p:spPr>
            <a:xfrm rot="5400000">
              <a:off x="4033093" y="3890372"/>
              <a:ext cx="73461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1" name="32 Grupo"/>
          <p:cNvGrpSpPr/>
          <p:nvPr/>
        </p:nvGrpSpPr>
        <p:grpSpPr>
          <a:xfrm>
            <a:off x="4077952" y="2636912"/>
            <a:ext cx="1512168" cy="691505"/>
            <a:chOff x="3645904" y="2811643"/>
            <a:chExt cx="1512168" cy="691505"/>
          </a:xfrm>
        </p:grpSpPr>
        <p:sp>
          <p:nvSpPr>
            <p:cNvPr id="73" name="72 CuadroTexto"/>
            <p:cNvSpPr txBox="1"/>
            <p:nvPr/>
          </p:nvSpPr>
          <p:spPr>
            <a:xfrm>
              <a:off x="3645904" y="3143108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 = 1;</a:t>
              </a:r>
            </a:p>
          </p:txBody>
        </p:sp>
        <p:cxnSp>
          <p:nvCxnSpPr>
            <p:cNvPr id="74" name="73 Conector recto de flecha"/>
            <p:cNvCxnSpPr/>
            <p:nvPr/>
          </p:nvCxnSpPr>
          <p:spPr>
            <a:xfrm rot="16200000" flipH="1">
              <a:off x="4221571" y="2991266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75" name="74 CuadroTexto"/>
          <p:cNvSpPr txBox="1"/>
          <p:nvPr/>
        </p:nvSpPr>
        <p:spPr>
          <a:xfrm>
            <a:off x="6680192" y="3933056"/>
            <a:ext cx="1204176" cy="120032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El cuerpo </a:t>
            </a:r>
            <a:b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se ejecuta </a:t>
            </a:r>
            <a:b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al menos </a:t>
            </a:r>
            <a:b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una vez</a:t>
            </a:r>
          </a:p>
        </p:txBody>
      </p:sp>
    </p:spTree>
    <p:extLst>
      <p:ext uri="{BB962C8B-B14F-4D97-AF65-F5344CB8AC3E}">
        <p14:creationId xmlns:p14="http://schemas.microsoft.com/office/powerpoint/2010/main" val="330772346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04617B">
                    <a:lumMod val="20000"/>
                    <a:lumOff val="80000"/>
                  </a:srgb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s-ES" dirty="0">
                <a:solidFill>
                  <a:srgbClr val="04617B">
                    <a:lumMod val="20000"/>
                    <a:lumOff val="80000"/>
                  </a:srgbClr>
                </a:solidFill>
              </a:rPr>
              <a:t> </a:t>
            </a:r>
            <a:r>
              <a:rPr lang="es-ES" i="1" dirty="0">
                <a:solidFill>
                  <a:srgbClr val="04617B">
                    <a:lumMod val="20000"/>
                    <a:lumOff val="80000"/>
                  </a:srgbClr>
                </a:solidFill>
              </a:rPr>
              <a:t>versus</a:t>
            </a:r>
            <a:r>
              <a:rPr lang="es-ES" dirty="0">
                <a:solidFill>
                  <a:srgbClr val="04617B">
                    <a:lumMod val="20000"/>
                    <a:lumOff val="80000"/>
                  </a:srgbClr>
                </a:solidFill>
              </a:rPr>
              <a:t> </a:t>
            </a:r>
            <a:r>
              <a:rPr lang="es-ES" dirty="0">
                <a:solidFill>
                  <a:srgbClr val="04617B">
                    <a:lumMod val="20000"/>
                    <a:lumOff val="80000"/>
                  </a:srgbClr>
                </a:solidFill>
                <a:latin typeface="Consolas" pitchFamily="49" charset="0"/>
                <a:cs typeface="Consolas" pitchFamily="49" charset="0"/>
              </a:rPr>
              <a:t>do-while</a:t>
            </a:r>
            <a:endParaRPr lang="es-ES" sz="1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46820"/>
            <a:ext cx="8363272" cy="5110178"/>
          </a:xfrm>
        </p:spPr>
        <p:txBody>
          <a:bodyPr>
            <a:normAutofit lnSpcReduction="10000"/>
          </a:bodyPr>
          <a:lstStyle/>
          <a:p>
            <a:pPr marL="0"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8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¿Ha de ejecutarse al menos una vez el cuerpo del bucle?</a:t>
            </a: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  <a:tabLst>
                <a:tab pos="4124325" algn="l"/>
              </a:tabLst>
            </a:pPr>
            <a:r>
              <a:rPr lang="es-ES" sz="1800" dirty="0">
                <a:latin typeface="Consolas" pitchFamily="49" charset="0"/>
              </a:rPr>
              <a:t>cin &gt;&gt; d; </a:t>
            </a:r>
            <a:r>
              <a:rPr lang="es-ES" sz="1800" dirty="0">
                <a:solidFill>
                  <a:srgbClr val="92D050"/>
                </a:solidFill>
                <a:latin typeface="Consolas" pitchFamily="49" charset="0"/>
              </a:rPr>
              <a:t>// Lectura del 1º</a:t>
            </a:r>
            <a:r>
              <a:rPr lang="es-ES" sz="1800" dirty="0">
                <a:latin typeface="Consolas" pitchFamily="49" charset="0"/>
              </a:rPr>
              <a:t>	</a:t>
            </a: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do</a:t>
            </a:r>
            <a:r>
              <a:rPr lang="es-ES" sz="1800" dirty="0">
                <a:latin typeface="Consolas" pitchFamily="49" charset="0"/>
              </a:rPr>
              <a:t> {</a:t>
            </a: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  <a:tabLst>
                <a:tab pos="4124325" algn="l"/>
              </a:tabLst>
            </a:pP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while </a:t>
            </a:r>
            <a:r>
              <a:rPr lang="es-ES" sz="1800" dirty="0">
                <a:latin typeface="Consolas" pitchFamily="49" charset="0"/>
              </a:rPr>
              <a:t>(d !=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</a:rPr>
              <a:t>) {	   cin &gt;&gt; d;</a:t>
            </a:r>
            <a:endParaRPr lang="es-ES" sz="1800" dirty="0">
              <a:solidFill>
                <a:srgbClr val="92D050"/>
              </a:solidFill>
              <a:latin typeface="Consolas" pitchFamily="49" charset="0"/>
            </a:endParaRP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  <a:tabLst>
                <a:tab pos="4124325" algn="l"/>
              </a:tabLst>
            </a:pPr>
            <a:r>
              <a:rPr lang="es-ES" sz="1800" dirty="0">
                <a:latin typeface="Consolas" pitchFamily="49" charset="0"/>
              </a:rPr>
              <a:t>   suma = suma + d;	   </a:t>
            </a: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 </a:t>
            </a:r>
            <a:r>
              <a:rPr lang="es-ES" sz="1800" dirty="0">
                <a:latin typeface="Consolas" pitchFamily="49" charset="0"/>
              </a:rPr>
              <a:t>(d !=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</a:rPr>
              <a:t>) { </a:t>
            </a:r>
            <a:r>
              <a:rPr lang="es-ES" sz="1800" dirty="0">
                <a:solidFill>
                  <a:srgbClr val="92D050"/>
                </a:solidFill>
                <a:latin typeface="Consolas" pitchFamily="49" charset="0"/>
              </a:rPr>
              <a:t>// ¿Final?</a:t>
            </a:r>
            <a:endParaRPr lang="es-ES" sz="1800" dirty="0">
              <a:latin typeface="Consolas" pitchFamily="49" charset="0"/>
            </a:endParaRP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  <a:tabLst>
                <a:tab pos="4124325" algn="l"/>
              </a:tabLst>
            </a:pPr>
            <a:r>
              <a:rPr lang="es-ES" sz="1800" dirty="0">
                <a:latin typeface="Consolas" pitchFamily="49" charset="0"/>
              </a:rPr>
              <a:t>   cont++;	      suma = suma + d;</a:t>
            </a: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  <a:tabLst>
                <a:tab pos="4124325" algn="l"/>
              </a:tabLst>
            </a:pPr>
            <a:r>
              <a:rPr lang="es-ES" sz="1800" dirty="0">
                <a:latin typeface="Consolas" pitchFamily="49" charset="0"/>
              </a:rPr>
              <a:t>   cin &gt;&gt; d;	      </a:t>
            </a:r>
            <a:r>
              <a:rPr lang="es-ES" sz="1800" dirty="0" err="1">
                <a:latin typeface="Consolas" pitchFamily="49" charset="0"/>
              </a:rPr>
              <a:t>cont</a:t>
            </a:r>
            <a:r>
              <a:rPr lang="es-ES" sz="1800" dirty="0">
                <a:latin typeface="Consolas" pitchFamily="49" charset="0"/>
              </a:rPr>
              <a:t>++;</a:t>
            </a: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  <a:tabLst>
                <a:tab pos="4124325" algn="l"/>
              </a:tabLst>
            </a:pPr>
            <a:r>
              <a:rPr lang="es-ES" sz="1800" dirty="0">
                <a:latin typeface="Consolas" pitchFamily="49" charset="0"/>
              </a:rPr>
              <a:t>}	   }</a:t>
            </a: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  <a:tabLst>
                <a:tab pos="4124325" algn="l"/>
              </a:tabLst>
            </a:pPr>
            <a:r>
              <a:rPr lang="es-ES" sz="1800" dirty="0">
                <a:latin typeface="Consolas" pitchFamily="49" charset="0"/>
              </a:rPr>
              <a:t>	} </a:t>
            </a: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while</a:t>
            </a:r>
            <a:r>
              <a:rPr lang="es-ES" sz="1800" dirty="0">
                <a:latin typeface="Consolas" pitchFamily="49" charset="0"/>
              </a:rPr>
              <a:t> (d !=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</a:rPr>
              <a:t>);</a:t>
            </a:r>
          </a:p>
          <a:p>
            <a:pPr marL="0" lvl="1" indent="1588">
              <a:spcBef>
                <a:spcPts val="0"/>
              </a:spcBef>
              <a:buNone/>
              <a:tabLst>
                <a:tab pos="4124325" algn="l"/>
              </a:tabLst>
            </a:pPr>
            <a:endParaRPr lang="es-ES" sz="1800" dirty="0">
              <a:latin typeface="Consolas" pitchFamily="49" charset="0"/>
            </a:endParaRPr>
          </a:p>
          <a:p>
            <a:pPr marL="0" lvl="1" indent="1588">
              <a:spcBef>
                <a:spcPts val="0"/>
              </a:spcBef>
              <a:buNone/>
              <a:tabLst>
                <a:tab pos="4124325" algn="l"/>
              </a:tabLst>
            </a:pPr>
            <a:endParaRPr lang="es-ES" sz="1800" dirty="0">
              <a:latin typeface="Consolas" pitchFamily="49" charset="0"/>
            </a:endParaRP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  <a:tabLst>
                <a:tab pos="4124325" algn="l"/>
              </a:tabLst>
            </a:pPr>
            <a:r>
              <a:rPr lang="es-ES" sz="1800" dirty="0">
                <a:latin typeface="Consolas" pitchFamily="49" charset="0"/>
              </a:rPr>
              <a:t>cout &lt;&lt;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"Opción: "</a:t>
            </a:r>
            <a:r>
              <a:rPr lang="es-ES" sz="1800" dirty="0">
                <a:latin typeface="Consolas" pitchFamily="49" charset="0"/>
              </a:rPr>
              <a:t>; 	</a:t>
            </a: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do</a:t>
            </a:r>
            <a:r>
              <a:rPr lang="es-ES" sz="1800" dirty="0">
                <a:latin typeface="Consolas" pitchFamily="49" charset="0"/>
              </a:rPr>
              <a:t> { </a:t>
            </a:r>
            <a:r>
              <a:rPr lang="es-ES" sz="1800" dirty="0">
                <a:solidFill>
                  <a:srgbClr val="92D050"/>
                </a:solidFill>
                <a:latin typeface="Consolas" pitchFamily="49" charset="0"/>
              </a:rPr>
              <a:t>// Más simple</a:t>
            </a:r>
            <a:endParaRPr lang="es-ES" sz="1800" dirty="0">
              <a:latin typeface="Consolas" pitchFamily="49" charset="0"/>
            </a:endParaRP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  <a:tabLst>
                <a:tab pos="4124325" algn="l"/>
              </a:tabLst>
            </a:pPr>
            <a:r>
              <a:rPr lang="es-ES" sz="1800" dirty="0">
                <a:latin typeface="Consolas" pitchFamily="49" charset="0"/>
              </a:rPr>
              <a:t>cin &gt;&gt; </a:t>
            </a:r>
            <a:r>
              <a:rPr lang="es-ES" sz="1800" dirty="0" err="1">
                <a:latin typeface="Consolas" pitchFamily="49" charset="0"/>
              </a:rPr>
              <a:t>op</a:t>
            </a:r>
            <a:r>
              <a:rPr lang="es-ES" sz="1800" dirty="0">
                <a:latin typeface="Consolas" pitchFamily="49" charset="0"/>
              </a:rPr>
              <a:t>;</a:t>
            </a:r>
            <a:r>
              <a:rPr lang="es-ES" sz="1800" dirty="0">
                <a:solidFill>
                  <a:srgbClr val="92D050"/>
                </a:solidFill>
                <a:latin typeface="Consolas" pitchFamily="49" charset="0"/>
              </a:rPr>
              <a:t> // Lectura del 1º </a:t>
            </a:r>
            <a:r>
              <a:rPr lang="es-ES" sz="1800" dirty="0">
                <a:latin typeface="Consolas" pitchFamily="49" charset="0"/>
              </a:rPr>
              <a:t>	   cout &lt;&lt;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"Opción: "</a:t>
            </a:r>
            <a:r>
              <a:rPr lang="es-ES" sz="1800" dirty="0">
                <a:latin typeface="Consolas" pitchFamily="49" charset="0"/>
              </a:rPr>
              <a:t>;</a:t>
            </a: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  <a:tabLst>
                <a:tab pos="4124325" algn="l"/>
              </a:tabLst>
            </a:pP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while </a:t>
            </a:r>
            <a:r>
              <a:rPr lang="es-ES" sz="1800" dirty="0">
                <a:latin typeface="Consolas" pitchFamily="49" charset="0"/>
              </a:rPr>
              <a:t>((</a:t>
            </a:r>
            <a:r>
              <a:rPr lang="es-ES" sz="1800" dirty="0" err="1">
                <a:latin typeface="Consolas" pitchFamily="49" charset="0"/>
              </a:rPr>
              <a:t>op</a:t>
            </a:r>
            <a:r>
              <a:rPr lang="es-ES" sz="1800" dirty="0">
                <a:latin typeface="Consolas" pitchFamily="49" charset="0"/>
              </a:rPr>
              <a:t> &lt;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</a:rPr>
              <a:t>) || (</a:t>
            </a:r>
            <a:r>
              <a:rPr lang="es-ES" sz="1800" dirty="0" err="1">
                <a:latin typeface="Consolas" pitchFamily="49" charset="0"/>
              </a:rPr>
              <a:t>op</a:t>
            </a:r>
            <a:r>
              <a:rPr lang="es-ES" sz="1800" dirty="0">
                <a:latin typeface="Consolas" pitchFamily="49" charset="0"/>
              </a:rPr>
              <a:t> &gt;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4</a:t>
            </a:r>
            <a:r>
              <a:rPr lang="es-ES" sz="1800" dirty="0">
                <a:latin typeface="Consolas" pitchFamily="49" charset="0"/>
              </a:rPr>
              <a:t>)) {	   cin &gt;&gt; </a:t>
            </a:r>
            <a:r>
              <a:rPr lang="es-ES" sz="1800" dirty="0" err="1">
                <a:latin typeface="Consolas" pitchFamily="49" charset="0"/>
              </a:rPr>
              <a:t>op</a:t>
            </a:r>
            <a:r>
              <a:rPr lang="es-ES" sz="1800" dirty="0">
                <a:latin typeface="Consolas" pitchFamily="49" charset="0"/>
              </a:rPr>
              <a:t>;</a:t>
            </a:r>
            <a:endParaRPr lang="es-ES" sz="1800" dirty="0">
              <a:solidFill>
                <a:srgbClr val="92D050"/>
              </a:solidFill>
              <a:latin typeface="Consolas" pitchFamily="49" charset="0"/>
            </a:endParaRP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  <a:tabLst>
                <a:tab pos="4124325" algn="l"/>
              </a:tabLst>
            </a:pPr>
            <a:r>
              <a:rPr lang="es-ES" sz="1800" dirty="0">
                <a:latin typeface="Consolas" pitchFamily="49" charset="0"/>
              </a:rPr>
              <a:t>   cout &lt;&lt;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"Opción: "</a:t>
            </a:r>
            <a:r>
              <a:rPr lang="es-ES" sz="1800" dirty="0">
                <a:latin typeface="Consolas" pitchFamily="49" charset="0"/>
              </a:rPr>
              <a:t>; 	} </a:t>
            </a: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while</a:t>
            </a:r>
            <a:r>
              <a:rPr lang="es-ES" sz="1800" dirty="0">
                <a:latin typeface="Consolas" pitchFamily="49" charset="0"/>
              </a:rPr>
              <a:t> ((</a:t>
            </a:r>
            <a:r>
              <a:rPr lang="es-ES" sz="1800" dirty="0" err="1">
                <a:latin typeface="Consolas" pitchFamily="49" charset="0"/>
              </a:rPr>
              <a:t>op</a:t>
            </a:r>
            <a:r>
              <a:rPr lang="es-ES" sz="1800" dirty="0">
                <a:latin typeface="Consolas" pitchFamily="49" charset="0"/>
              </a:rPr>
              <a:t> &lt;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</a:rPr>
              <a:t>) || (</a:t>
            </a:r>
            <a:r>
              <a:rPr lang="es-ES" sz="1800" dirty="0" err="1">
                <a:latin typeface="Consolas" pitchFamily="49" charset="0"/>
              </a:rPr>
              <a:t>op</a:t>
            </a:r>
            <a:r>
              <a:rPr lang="es-ES" sz="1800" dirty="0">
                <a:latin typeface="Consolas" pitchFamily="49" charset="0"/>
              </a:rPr>
              <a:t> &gt;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4</a:t>
            </a:r>
            <a:r>
              <a:rPr lang="es-ES" sz="1800" dirty="0">
                <a:latin typeface="Consolas" pitchFamily="49" charset="0"/>
              </a:rPr>
              <a:t>));</a:t>
            </a: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  <a:tabLst>
                <a:tab pos="4124325" algn="l"/>
              </a:tabLst>
            </a:pPr>
            <a:r>
              <a:rPr lang="es-ES" sz="1800" dirty="0">
                <a:latin typeface="Consolas" pitchFamily="49" charset="0"/>
              </a:rPr>
              <a:t>   cin &gt;&gt; </a:t>
            </a:r>
            <a:r>
              <a:rPr lang="es-ES" sz="1800" dirty="0" err="1">
                <a:latin typeface="Consolas" pitchFamily="49" charset="0"/>
              </a:rPr>
              <a:t>op</a:t>
            </a:r>
            <a:r>
              <a:rPr lang="es-ES" sz="1800" dirty="0">
                <a:latin typeface="Consolas" pitchFamily="49" charset="0"/>
              </a:rPr>
              <a:t>;</a:t>
            </a:r>
          </a:p>
          <a:p>
            <a:pPr marL="0" lvl="1" indent="1588">
              <a:lnSpc>
                <a:spcPct val="110000"/>
              </a:lnSpc>
              <a:spcBef>
                <a:spcPts val="0"/>
              </a:spcBef>
              <a:buNone/>
              <a:tabLst>
                <a:tab pos="4124325" algn="l"/>
              </a:tabLst>
            </a:pPr>
            <a:r>
              <a:rPr lang="es-ES" sz="1800" dirty="0">
                <a:latin typeface="Consolas" pitchFamily="49" charset="0"/>
              </a:rPr>
              <a:t>}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282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de datos estructurados</a:t>
            </a:r>
          </a:p>
        </p:txBody>
      </p:sp>
      <p:sp>
        <p:nvSpPr>
          <p:cNvPr id="8" name="7 Rectángulo"/>
          <p:cNvSpPr/>
          <p:nvPr/>
        </p:nvSpPr>
        <p:spPr>
          <a:xfrm>
            <a:off x="467544" y="1517130"/>
            <a:ext cx="3528392" cy="2016224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8 Rectángulo"/>
          <p:cNvSpPr/>
          <p:nvPr/>
        </p:nvSpPr>
        <p:spPr>
          <a:xfrm>
            <a:off x="4572000" y="1517130"/>
            <a:ext cx="3600400" cy="2304256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1" name="10 Conector recto"/>
          <p:cNvCxnSpPr/>
          <p:nvPr/>
        </p:nvCxnSpPr>
        <p:spPr>
          <a:xfrm>
            <a:off x="3995936" y="2453234"/>
            <a:ext cx="576064" cy="0"/>
          </a:xfrm>
          <a:prstGeom prst="line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13 Rectángulo"/>
          <p:cNvSpPr/>
          <p:nvPr/>
        </p:nvSpPr>
        <p:spPr>
          <a:xfrm>
            <a:off x="467544" y="4202038"/>
            <a:ext cx="3888432" cy="1960636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14 Rectángulo"/>
          <p:cNvSpPr/>
          <p:nvPr/>
        </p:nvSpPr>
        <p:spPr>
          <a:xfrm>
            <a:off x="4572000" y="4202038"/>
            <a:ext cx="4032000" cy="1368000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6" name="15 Conector recto"/>
          <p:cNvCxnSpPr/>
          <p:nvPr/>
        </p:nvCxnSpPr>
        <p:spPr>
          <a:xfrm>
            <a:off x="4355976" y="5156597"/>
            <a:ext cx="216024" cy="0"/>
          </a:xfrm>
          <a:prstGeom prst="line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04022404"/>
      </p:ext>
    </p:extLst>
  </p:cSld>
  <p:clrMapOvr>
    <a:masterClrMapping/>
  </p:clrMapOvr>
  <p:transition spd="med">
    <p:wipe dir="d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283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166194" y="3044280"/>
            <a:ext cx="4811831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Ámbito y visibilidad</a:t>
            </a:r>
            <a:endParaRPr lang="es-ES" sz="2400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Ámbito de los identificadores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65766"/>
          </a:xfrm>
        </p:spPr>
        <p:txBody>
          <a:bodyPr>
            <a:normAutofit/>
          </a:bodyPr>
          <a:lstStyle/>
          <a:p>
            <a:pPr lvl="1" indent="-274638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400" dirty="0"/>
              <a:t>Cada bloque crea un nuevo ámbito: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400" dirty="0">
                <a:latin typeface="Consolas" pitchFamily="49" charset="0"/>
              </a:rPr>
              <a:t> main() {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" sz="2400" dirty="0">
                <a:latin typeface="Consolas" pitchFamily="49" charset="0"/>
              </a:rPr>
              <a:t>   </a:t>
            </a:r>
            <a:r>
              <a:rPr lang="es-ES" sz="24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400" dirty="0">
                <a:latin typeface="Consolas" pitchFamily="49" charset="0"/>
              </a:rPr>
              <a:t> d 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-1</a:t>
            </a:r>
            <a:r>
              <a:rPr lang="es-ES" sz="2400" dirty="0">
                <a:latin typeface="Consolas" pitchFamily="49" charset="0"/>
              </a:rPr>
              <a:t>, suma 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2400" dirty="0">
                <a:latin typeface="Consolas" pitchFamily="49" charset="0"/>
              </a:rPr>
              <a:t>;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" sz="2400" dirty="0">
                <a:latin typeface="Consolas" pitchFamily="49" charset="0"/>
              </a:rPr>
              <a:t>   </a:t>
            </a:r>
            <a:r>
              <a:rPr lang="es-ES" sz="24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400" dirty="0">
                <a:latin typeface="Consolas" pitchFamily="49" charset="0"/>
              </a:rPr>
              <a:t> cont 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2400" dirty="0">
                <a:latin typeface="Consolas" pitchFamily="49" charset="0"/>
              </a:rPr>
              <a:t>;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while </a:t>
            </a:r>
            <a:r>
              <a:rPr lang="es-ES" sz="2400" dirty="0">
                <a:latin typeface="Consolas" pitchFamily="49" charset="0"/>
              </a:rPr>
              <a:t>(d !=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2400" dirty="0">
                <a:latin typeface="Consolas" pitchFamily="49" charset="0"/>
              </a:rPr>
              <a:t>)</a:t>
            </a:r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</a:t>
            </a:r>
            <a:r>
              <a:rPr lang="es-ES" sz="2400" dirty="0">
                <a:latin typeface="Consolas" pitchFamily="49" charset="0"/>
              </a:rPr>
              <a:t>{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" sz="2400" dirty="0">
                <a:latin typeface="Consolas" pitchFamily="49" charset="0"/>
              </a:rPr>
              <a:t>      cin &gt;&gt; d;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latin typeface="Consolas" pitchFamily="49" charset="0"/>
              </a:rPr>
              <a:t>      </a:t>
            </a:r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 </a:t>
            </a:r>
            <a:r>
              <a:rPr lang="es-ES" sz="2400" dirty="0">
                <a:latin typeface="Consolas" pitchFamily="49" charset="0"/>
              </a:rPr>
              <a:t>(d !=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2400" dirty="0">
                <a:latin typeface="Consolas" pitchFamily="49" charset="0"/>
              </a:rPr>
              <a:t>) {</a:t>
            </a:r>
            <a:endParaRPr lang="es-ES" sz="2400" dirty="0">
              <a:solidFill>
                <a:srgbClr val="92D050"/>
              </a:solidFill>
              <a:latin typeface="Consolas" pitchFamily="49" charset="0"/>
            </a:endParaRP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" sz="2400" dirty="0">
                <a:latin typeface="Consolas" pitchFamily="49" charset="0"/>
              </a:rPr>
              <a:t>         suma = suma + d;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" sz="2400" dirty="0">
                <a:latin typeface="Consolas" pitchFamily="49" charset="0"/>
              </a:rPr>
              <a:t>         </a:t>
            </a:r>
            <a:r>
              <a:rPr lang="es-ES" sz="2400" dirty="0" err="1">
                <a:latin typeface="Consolas" pitchFamily="49" charset="0"/>
              </a:rPr>
              <a:t>cont</a:t>
            </a:r>
            <a:r>
              <a:rPr lang="es-ES" sz="2400" dirty="0">
                <a:latin typeface="Consolas" pitchFamily="49" charset="0"/>
              </a:rPr>
              <a:t>++;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latin typeface="Consolas" pitchFamily="49" charset="0"/>
              </a:rPr>
              <a:t>      }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latin typeface="Consolas" pitchFamily="49" charset="0"/>
              </a:rPr>
              <a:t>   }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" sz="2400" dirty="0">
                <a:latin typeface="Consolas" pitchFamily="49" charset="0"/>
              </a:rPr>
              <a:t>   cout &lt;&lt;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"Suma = " </a:t>
            </a:r>
            <a:r>
              <a:rPr lang="es-ES" sz="2400" dirty="0">
                <a:latin typeface="Consolas" pitchFamily="49" charset="0"/>
              </a:rPr>
              <a:t>&lt;&lt; suma &lt;&lt; endl;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" sz="2400" dirty="0">
                <a:latin typeface="Consolas" pitchFamily="49" charset="0"/>
              </a:rPr>
              <a:t>   cout &lt;&lt;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"Media = " </a:t>
            </a:r>
            <a:r>
              <a:rPr lang="es-ES" sz="2400" dirty="0">
                <a:latin typeface="Consolas" pitchFamily="49" charset="0"/>
              </a:rPr>
              <a:t>&lt;&lt; suma / cont &lt;&lt; endl;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" sz="2400" dirty="0">
                <a:latin typeface="Consolas" pitchFamily="49" charset="0"/>
              </a:rPr>
              <a:t>   </a:t>
            </a:r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return</a:t>
            </a:r>
            <a:r>
              <a:rPr lang="es-ES" sz="2400" dirty="0">
                <a:latin typeface="Consolas" pitchFamily="49" charset="0"/>
              </a:rPr>
              <a:t>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2400" dirty="0">
                <a:latin typeface="Consolas" pitchFamily="49" charset="0"/>
              </a:rPr>
              <a:t>;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" sz="2400" dirty="0">
                <a:latin typeface="Consolas" pitchFamily="49" charset="0"/>
              </a:rPr>
              <a:t>}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284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7" name="6 Rectángulo"/>
          <p:cNvSpPr/>
          <p:nvPr/>
        </p:nvSpPr>
        <p:spPr>
          <a:xfrm>
            <a:off x="952550" y="1825774"/>
            <a:ext cx="7075834" cy="3869382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9 Rectángulo"/>
          <p:cNvSpPr/>
          <p:nvPr/>
        </p:nvSpPr>
        <p:spPr>
          <a:xfrm>
            <a:off x="1403647" y="2779951"/>
            <a:ext cx="4092693" cy="1628586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10 Rectángulo"/>
          <p:cNvSpPr/>
          <p:nvPr/>
        </p:nvSpPr>
        <p:spPr>
          <a:xfrm>
            <a:off x="1854746" y="3495675"/>
            <a:ext cx="2933278" cy="612000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CuadroTexto"/>
          <p:cNvSpPr txBox="1"/>
          <p:nvPr/>
        </p:nvSpPr>
        <p:spPr>
          <a:xfrm>
            <a:off x="5640357" y="1897782"/>
            <a:ext cx="2316019" cy="40011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3 ámbitos anidados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Ámbito de los identificadores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199" y="1071546"/>
            <a:ext cx="8435281" cy="5284804"/>
          </a:xfrm>
        </p:spPr>
        <p:txBody>
          <a:bodyPr>
            <a:normAutofit/>
          </a:bodyPr>
          <a:lstStyle/>
          <a:p>
            <a:pPr marL="0" lvl="1" indent="1588" algn="ctr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</a:pPr>
            <a:endParaRPr lang="es-ES" sz="2400" dirty="0"/>
          </a:p>
          <a:p>
            <a:pPr marL="0" lvl="1" indent="1588" algn="ctr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</a:pPr>
            <a:endParaRPr lang="es-ES" sz="2400" dirty="0"/>
          </a:p>
          <a:p>
            <a:pPr marL="0" lvl="1" indent="1588" algn="ctr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s-ES" sz="2600" dirty="0"/>
              <a:t>Un identificador se conoce</a:t>
            </a:r>
            <a:br>
              <a:rPr lang="es-ES" sz="2600" dirty="0"/>
            </a:br>
            <a:r>
              <a:rPr lang="es-ES" sz="2600" dirty="0"/>
              <a:t>en el ámbito en el que está declarado</a:t>
            </a:r>
            <a:br>
              <a:rPr lang="es-ES" sz="2600" dirty="0"/>
            </a:br>
            <a:r>
              <a:rPr lang="es-ES" sz="2600" dirty="0"/>
              <a:t>(a partir de su instrucción de declaración)</a:t>
            </a:r>
            <a:br>
              <a:rPr lang="es-ES" sz="2600" dirty="0"/>
            </a:br>
            <a:r>
              <a:rPr lang="es-ES" sz="2600" dirty="0"/>
              <a:t>y en los subámbitos posteriores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285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</p:spTree>
  </p:cSld>
  <p:clrMapOvr>
    <a:masterClrMapping/>
  </p:clrMapOvr>
  <p:transition spd="med">
    <p:wipe dir="d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20 Grupo"/>
          <p:cNvGrpSpPr/>
          <p:nvPr/>
        </p:nvGrpSpPr>
        <p:grpSpPr>
          <a:xfrm>
            <a:off x="1331640" y="1281889"/>
            <a:ext cx="5328592" cy="4557524"/>
            <a:chOff x="1331640" y="1372707"/>
            <a:chExt cx="5328592" cy="4557524"/>
          </a:xfrm>
        </p:grpSpPr>
        <p:sp>
          <p:nvSpPr>
            <p:cNvPr id="14" name="13 Rectángulo"/>
            <p:cNvSpPr/>
            <p:nvPr/>
          </p:nvSpPr>
          <p:spPr>
            <a:xfrm>
              <a:off x="1331640" y="1772817"/>
              <a:ext cx="5328592" cy="4157414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50196"/>
              </a:schemeClr>
            </a:solidFill>
            <a:ln w="190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16 CuadroTexto"/>
            <p:cNvSpPr txBox="1"/>
            <p:nvPr/>
          </p:nvSpPr>
          <p:spPr>
            <a:xfrm>
              <a:off x="3956991" y="1372707"/>
              <a:ext cx="2703241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Ámbito de la variable 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d</a:t>
              </a:r>
            </a:p>
          </p:txBody>
        </p: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Ámbito de los identificadores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199" y="980728"/>
            <a:ext cx="8435281" cy="5284804"/>
          </a:xfrm>
        </p:spPr>
        <p:txBody>
          <a:bodyPr>
            <a:noAutofit/>
          </a:bodyPr>
          <a:lstStyle/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main()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dirty="0">
                <a:latin typeface="Consolas" pitchFamily="49" charset="0"/>
              </a:rPr>
              <a:t> d;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 </a:t>
            </a:r>
            <a:r>
              <a:rPr lang="es-ES" dirty="0">
                <a:latin typeface="Consolas" pitchFamily="49" charset="0"/>
              </a:rPr>
              <a:t>(...)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cont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   for </a:t>
            </a:r>
            <a:r>
              <a:rPr lang="es-ES" dirty="0">
                <a:latin typeface="Consolas" pitchFamily="49" charset="0"/>
              </a:rPr>
              <a:t>(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dirty="0">
                <a:latin typeface="Consolas" pitchFamily="49" charset="0"/>
              </a:rPr>
              <a:t>; i &lt;=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10</a:t>
            </a:r>
            <a:r>
              <a:rPr lang="es-ES" dirty="0">
                <a:latin typeface="Consolas" pitchFamily="49" charset="0"/>
              </a:rPr>
              <a:t>; i++)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   ...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}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}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char</a:t>
            </a:r>
            <a:r>
              <a:rPr lang="es-ES" dirty="0">
                <a:latin typeface="Consolas" pitchFamily="49" charset="0"/>
              </a:rPr>
              <a:t> c;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 </a:t>
            </a:r>
            <a:r>
              <a:rPr lang="es-ES" dirty="0">
                <a:latin typeface="Consolas" pitchFamily="49" charset="0"/>
              </a:rPr>
              <a:t>(...) {</a:t>
            </a:r>
            <a:endParaRPr lang="es-ES" dirty="0">
              <a:solidFill>
                <a:srgbClr val="92D050"/>
              </a:solidFill>
              <a:latin typeface="Consolas" pitchFamily="49" charset="0"/>
            </a:endParaRP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dirty="0">
                <a:latin typeface="Consolas" pitchFamily="49" charset="0"/>
              </a:rPr>
              <a:t> x;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...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}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return</a:t>
            </a:r>
            <a:r>
              <a:rPr lang="es-ES" dirty="0">
                <a:latin typeface="Consolas" pitchFamily="49" charset="0"/>
              </a:rPr>
              <a:t>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}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286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199" y="980728"/>
            <a:ext cx="8435281" cy="5284804"/>
          </a:xfrm>
        </p:spPr>
        <p:txBody>
          <a:bodyPr>
            <a:noAutofit/>
          </a:bodyPr>
          <a:lstStyle/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main()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dirty="0">
                <a:latin typeface="Consolas" pitchFamily="49" charset="0"/>
              </a:rPr>
              <a:t> d;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 </a:t>
            </a:r>
            <a:r>
              <a:rPr lang="es-ES" dirty="0">
                <a:latin typeface="Consolas" pitchFamily="49" charset="0"/>
              </a:rPr>
              <a:t>(...)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cont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   for </a:t>
            </a:r>
            <a:r>
              <a:rPr lang="es-ES" dirty="0">
                <a:latin typeface="Consolas" pitchFamily="49" charset="0"/>
              </a:rPr>
              <a:t>(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dirty="0">
                <a:latin typeface="Consolas" pitchFamily="49" charset="0"/>
              </a:rPr>
              <a:t>; i &lt;=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10</a:t>
            </a:r>
            <a:r>
              <a:rPr lang="es-ES" dirty="0">
                <a:latin typeface="Consolas" pitchFamily="49" charset="0"/>
              </a:rPr>
              <a:t>; i++)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   ...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}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}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char</a:t>
            </a:r>
            <a:r>
              <a:rPr lang="es-ES" dirty="0">
                <a:latin typeface="Consolas" pitchFamily="49" charset="0"/>
              </a:rPr>
              <a:t> c;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 </a:t>
            </a:r>
            <a:r>
              <a:rPr lang="es-ES" dirty="0">
                <a:latin typeface="Consolas" pitchFamily="49" charset="0"/>
              </a:rPr>
              <a:t>(...) {</a:t>
            </a:r>
            <a:endParaRPr lang="es-ES" dirty="0">
              <a:solidFill>
                <a:srgbClr val="92D050"/>
              </a:solidFill>
              <a:latin typeface="Consolas" pitchFamily="49" charset="0"/>
            </a:endParaRP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dirty="0">
                <a:latin typeface="Consolas" pitchFamily="49" charset="0"/>
              </a:rPr>
              <a:t> x;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...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}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return</a:t>
            </a:r>
            <a:r>
              <a:rPr lang="es-ES" dirty="0">
                <a:latin typeface="Consolas" pitchFamily="49" charset="0"/>
              </a:rPr>
              <a:t>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}</a:t>
            </a:r>
          </a:p>
        </p:txBody>
      </p:sp>
      <p:grpSp>
        <p:nvGrpSpPr>
          <p:cNvPr id="9" name="31 Grupo"/>
          <p:cNvGrpSpPr/>
          <p:nvPr/>
        </p:nvGrpSpPr>
        <p:grpSpPr>
          <a:xfrm>
            <a:off x="1801788" y="1963867"/>
            <a:ext cx="5608613" cy="1446323"/>
            <a:chOff x="1801788" y="2054685"/>
            <a:chExt cx="5608613" cy="1446323"/>
          </a:xfrm>
        </p:grpSpPr>
        <p:sp>
          <p:nvSpPr>
            <p:cNvPr id="10" name="9 Rectángulo"/>
            <p:cNvSpPr/>
            <p:nvPr/>
          </p:nvSpPr>
          <p:spPr>
            <a:xfrm>
              <a:off x="1801788" y="2454795"/>
              <a:ext cx="4858444" cy="1046213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40000"/>
              </a:schemeClr>
            </a:solidFill>
            <a:ln w="190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11 CuadroTexto"/>
            <p:cNvSpPr txBox="1"/>
            <p:nvPr/>
          </p:nvSpPr>
          <p:spPr>
            <a:xfrm>
              <a:off x="4283968" y="2054685"/>
              <a:ext cx="3126433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Ámbito de la variable 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cont</a:t>
              </a:r>
            </a:p>
          </p:txBody>
        </p: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Ámbito de los identificadores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287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199" y="980728"/>
            <a:ext cx="8435281" cy="5284804"/>
          </a:xfrm>
        </p:spPr>
        <p:txBody>
          <a:bodyPr>
            <a:noAutofit/>
          </a:bodyPr>
          <a:lstStyle/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main()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dirty="0">
                <a:latin typeface="Consolas" pitchFamily="49" charset="0"/>
              </a:rPr>
              <a:t> d;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 </a:t>
            </a:r>
            <a:r>
              <a:rPr lang="es-ES" dirty="0">
                <a:latin typeface="Consolas" pitchFamily="49" charset="0"/>
              </a:rPr>
              <a:t>(...)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cont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   for </a:t>
            </a:r>
            <a:r>
              <a:rPr lang="es-ES" dirty="0">
                <a:latin typeface="Consolas" pitchFamily="49" charset="0"/>
              </a:rPr>
              <a:t>(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dirty="0">
                <a:latin typeface="Consolas" pitchFamily="49" charset="0"/>
              </a:rPr>
              <a:t>; i &lt;=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10</a:t>
            </a:r>
            <a:r>
              <a:rPr lang="es-ES" dirty="0">
                <a:latin typeface="Consolas" pitchFamily="49" charset="0"/>
              </a:rPr>
              <a:t>; i++)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   ...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}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}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char</a:t>
            </a:r>
            <a:r>
              <a:rPr lang="es-ES" dirty="0">
                <a:latin typeface="Consolas" pitchFamily="49" charset="0"/>
              </a:rPr>
              <a:t> c;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 </a:t>
            </a:r>
            <a:r>
              <a:rPr lang="es-ES" dirty="0">
                <a:latin typeface="Consolas" pitchFamily="49" charset="0"/>
              </a:rPr>
              <a:t>(...) {</a:t>
            </a:r>
            <a:endParaRPr lang="es-ES" dirty="0">
              <a:solidFill>
                <a:srgbClr val="92D050"/>
              </a:solidFill>
              <a:latin typeface="Consolas" pitchFamily="49" charset="0"/>
            </a:endParaRP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dirty="0">
                <a:latin typeface="Consolas" pitchFamily="49" charset="0"/>
              </a:rPr>
              <a:t> x;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...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}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return</a:t>
            </a:r>
            <a:r>
              <a:rPr lang="es-ES" dirty="0">
                <a:latin typeface="Consolas" pitchFamily="49" charset="0"/>
              </a:rPr>
              <a:t>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}</a:t>
            </a:r>
          </a:p>
        </p:txBody>
      </p:sp>
      <p:grpSp>
        <p:nvGrpSpPr>
          <p:cNvPr id="9" name="37 Grupo"/>
          <p:cNvGrpSpPr/>
          <p:nvPr/>
        </p:nvGrpSpPr>
        <p:grpSpPr>
          <a:xfrm>
            <a:off x="2267744" y="2762118"/>
            <a:ext cx="4287417" cy="760150"/>
            <a:chOff x="2267744" y="2852936"/>
            <a:chExt cx="4287417" cy="760150"/>
          </a:xfrm>
        </p:grpSpPr>
        <p:sp>
          <p:nvSpPr>
            <p:cNvPr id="11" name="10 Rectángulo"/>
            <p:cNvSpPr/>
            <p:nvPr/>
          </p:nvSpPr>
          <p:spPr>
            <a:xfrm>
              <a:off x="2267744" y="2852936"/>
              <a:ext cx="4176464" cy="360040"/>
            </a:xfrm>
            <a:prstGeom prst="rect">
              <a:avLst/>
            </a:prstGeom>
            <a:solidFill>
              <a:srgbClr val="FFCCFF">
                <a:alpha val="30196"/>
              </a:srgbClr>
            </a:solidFill>
            <a:ln w="190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13 CuadroTexto"/>
            <p:cNvSpPr txBox="1"/>
            <p:nvPr/>
          </p:nvSpPr>
          <p:spPr>
            <a:xfrm>
              <a:off x="3851920" y="3212976"/>
              <a:ext cx="2703241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Ámbito de la variable 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</a:t>
              </a:r>
            </a:p>
          </p:txBody>
        </p: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Ámbito de los identificadores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288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46 Grupo"/>
          <p:cNvGrpSpPr/>
          <p:nvPr/>
        </p:nvGrpSpPr>
        <p:grpSpPr>
          <a:xfrm>
            <a:off x="1341165" y="4052929"/>
            <a:ext cx="6078092" cy="1733525"/>
            <a:chOff x="1341165" y="4143747"/>
            <a:chExt cx="6078092" cy="1733525"/>
          </a:xfrm>
        </p:grpSpPr>
        <p:sp>
          <p:nvSpPr>
            <p:cNvPr id="10" name="9 Rectángulo"/>
            <p:cNvSpPr/>
            <p:nvPr/>
          </p:nvSpPr>
          <p:spPr>
            <a:xfrm>
              <a:off x="1341165" y="4143747"/>
              <a:ext cx="3374851" cy="1733525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0000"/>
              </a:schemeClr>
            </a:solidFill>
            <a:ln w="190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12 CuadroTexto"/>
            <p:cNvSpPr txBox="1"/>
            <p:nvPr/>
          </p:nvSpPr>
          <p:spPr>
            <a:xfrm>
              <a:off x="4716016" y="4143747"/>
              <a:ext cx="2703241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Ámbito de la variable 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c</a:t>
              </a:r>
            </a:p>
          </p:txBody>
        </p: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Ámbito de los identificadores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199" y="980728"/>
            <a:ext cx="8435281" cy="5284804"/>
          </a:xfrm>
        </p:spPr>
        <p:txBody>
          <a:bodyPr>
            <a:noAutofit/>
          </a:bodyPr>
          <a:lstStyle/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main()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dirty="0">
                <a:latin typeface="Consolas" pitchFamily="49" charset="0"/>
              </a:rPr>
              <a:t> d;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 </a:t>
            </a:r>
            <a:r>
              <a:rPr lang="es-ES" dirty="0">
                <a:latin typeface="Consolas" pitchFamily="49" charset="0"/>
              </a:rPr>
              <a:t>(...)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cont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   for </a:t>
            </a:r>
            <a:r>
              <a:rPr lang="es-ES" dirty="0">
                <a:latin typeface="Consolas" pitchFamily="49" charset="0"/>
              </a:rPr>
              <a:t>(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dirty="0">
                <a:latin typeface="Consolas" pitchFamily="49" charset="0"/>
              </a:rPr>
              <a:t>; i &lt;=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10</a:t>
            </a:r>
            <a:r>
              <a:rPr lang="es-ES" dirty="0">
                <a:latin typeface="Consolas" pitchFamily="49" charset="0"/>
              </a:rPr>
              <a:t>; i++)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   ...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}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}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char</a:t>
            </a:r>
            <a:r>
              <a:rPr lang="es-ES" dirty="0">
                <a:latin typeface="Consolas" pitchFamily="49" charset="0"/>
              </a:rPr>
              <a:t> c;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 </a:t>
            </a:r>
            <a:r>
              <a:rPr lang="es-ES" dirty="0">
                <a:latin typeface="Consolas" pitchFamily="49" charset="0"/>
              </a:rPr>
              <a:t>(...) {</a:t>
            </a:r>
            <a:endParaRPr lang="es-ES" dirty="0">
              <a:solidFill>
                <a:srgbClr val="92D050"/>
              </a:solidFill>
              <a:latin typeface="Consolas" pitchFamily="49" charset="0"/>
            </a:endParaRP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dirty="0">
                <a:latin typeface="Consolas" pitchFamily="49" charset="0"/>
              </a:rPr>
              <a:t> x;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...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}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return</a:t>
            </a:r>
            <a:r>
              <a:rPr lang="es-ES" dirty="0">
                <a:latin typeface="Consolas" pitchFamily="49" charset="0"/>
              </a:rPr>
              <a:t>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}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289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48 Grupo"/>
          <p:cNvGrpSpPr/>
          <p:nvPr/>
        </p:nvGrpSpPr>
        <p:grpSpPr>
          <a:xfrm>
            <a:off x="1797596" y="4754426"/>
            <a:ext cx="5477645" cy="400110"/>
            <a:chOff x="1797596" y="4845244"/>
            <a:chExt cx="5477645" cy="400110"/>
          </a:xfrm>
        </p:grpSpPr>
        <p:sp>
          <p:nvSpPr>
            <p:cNvPr id="11" name="10 Rectángulo"/>
            <p:cNvSpPr/>
            <p:nvPr/>
          </p:nvSpPr>
          <p:spPr>
            <a:xfrm>
              <a:off x="1797596" y="4888211"/>
              <a:ext cx="2774404" cy="309518"/>
            </a:xfrm>
            <a:prstGeom prst="rect">
              <a:avLst/>
            </a:prstGeom>
            <a:solidFill>
              <a:srgbClr val="FFCCFF">
                <a:alpha val="30196"/>
              </a:srgbClr>
            </a:solidFill>
            <a:ln w="190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13 CuadroTexto"/>
            <p:cNvSpPr txBox="1"/>
            <p:nvPr/>
          </p:nvSpPr>
          <p:spPr>
            <a:xfrm>
              <a:off x="4572000" y="4845244"/>
              <a:ext cx="2703241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Ámbito de la variable 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x</a:t>
              </a:r>
            </a:p>
          </p:txBody>
        </p: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Ámbito de los identificadores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199" y="980728"/>
            <a:ext cx="8435281" cy="5284804"/>
          </a:xfrm>
        </p:spPr>
        <p:txBody>
          <a:bodyPr>
            <a:noAutofit/>
          </a:bodyPr>
          <a:lstStyle/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main()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dirty="0">
                <a:latin typeface="Consolas" pitchFamily="49" charset="0"/>
              </a:rPr>
              <a:t> d;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 </a:t>
            </a:r>
            <a:r>
              <a:rPr lang="es-ES" dirty="0">
                <a:latin typeface="Consolas" pitchFamily="49" charset="0"/>
              </a:rPr>
              <a:t>(...)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cont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   for </a:t>
            </a:r>
            <a:r>
              <a:rPr lang="es-ES" dirty="0">
                <a:latin typeface="Consolas" pitchFamily="49" charset="0"/>
              </a:rPr>
              <a:t>(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dirty="0">
                <a:latin typeface="Consolas" pitchFamily="49" charset="0"/>
              </a:rPr>
              <a:t>; i &lt;=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10</a:t>
            </a:r>
            <a:r>
              <a:rPr lang="es-ES" dirty="0">
                <a:latin typeface="Consolas" pitchFamily="49" charset="0"/>
              </a:rPr>
              <a:t>; i++)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   ...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}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}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char</a:t>
            </a:r>
            <a:r>
              <a:rPr lang="es-ES" dirty="0">
                <a:latin typeface="Consolas" pitchFamily="49" charset="0"/>
              </a:rPr>
              <a:t> c;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 </a:t>
            </a:r>
            <a:r>
              <a:rPr lang="es-ES" dirty="0">
                <a:latin typeface="Consolas" pitchFamily="49" charset="0"/>
              </a:rPr>
              <a:t>(...) {</a:t>
            </a:r>
            <a:endParaRPr lang="es-ES" dirty="0">
              <a:solidFill>
                <a:srgbClr val="92D050"/>
              </a:solidFill>
              <a:latin typeface="Consolas" pitchFamily="49" charset="0"/>
            </a:endParaRP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dirty="0">
                <a:latin typeface="Consolas" pitchFamily="49" charset="0"/>
              </a:rPr>
              <a:t> x;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...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}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return</a:t>
            </a:r>
            <a:r>
              <a:rPr lang="es-ES" dirty="0">
                <a:latin typeface="Consolas" pitchFamily="49" charset="0"/>
              </a:rPr>
              <a:t>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}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290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Visibilidad de los identificadores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199" y="1071546"/>
            <a:ext cx="8435281" cy="5284804"/>
          </a:xfrm>
        </p:spPr>
        <p:txBody>
          <a:bodyPr>
            <a:normAutofit/>
          </a:bodyPr>
          <a:lstStyle/>
          <a:p>
            <a:pPr marL="0" lvl="1" indent="1588" algn="ctr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</a:pPr>
            <a:endParaRPr lang="es-ES" sz="2400" dirty="0"/>
          </a:p>
          <a:p>
            <a:pPr marL="0" lvl="1" indent="1588" algn="ctr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</a:pPr>
            <a:endParaRPr lang="es-ES" sz="2400" dirty="0"/>
          </a:p>
          <a:p>
            <a:pPr lvl="1" indent="1588" algn="ctr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s-ES" sz="2800" dirty="0"/>
              <a:t>Si en un subámbito se declara</a:t>
            </a:r>
            <a:br>
              <a:rPr lang="es-ES" sz="2800" dirty="0"/>
            </a:br>
            <a:r>
              <a:rPr lang="es-ES" sz="2800" dirty="0"/>
              <a:t>un identificador con idéntico nombre</a:t>
            </a:r>
            <a:br>
              <a:rPr lang="es-ES" sz="2800" dirty="0"/>
            </a:br>
            <a:r>
              <a:rPr lang="es-ES" sz="2800" dirty="0"/>
              <a:t>que uno ya declarado en el ámbito,</a:t>
            </a:r>
            <a:br>
              <a:rPr lang="es-ES" sz="2800" dirty="0"/>
            </a:br>
            <a:r>
              <a:rPr lang="es-ES" sz="2800" dirty="0"/>
              <a:t>el del subámbito </a:t>
            </a:r>
            <a:r>
              <a:rPr lang="es-ES" sz="2800" i="1" dirty="0"/>
              <a:t>oculta</a:t>
            </a:r>
            <a:r>
              <a:rPr lang="es-ES" sz="2800" dirty="0"/>
              <a:t> al del ámbito</a:t>
            </a:r>
            <a:br>
              <a:rPr lang="es-ES" sz="2800" dirty="0"/>
            </a:br>
            <a:r>
              <a:rPr lang="es-ES" sz="2800" dirty="0"/>
              <a:t>(no es visible)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291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</p:spTree>
  </p:cSld>
  <p:clrMapOvr>
    <a:masterClrMapping/>
  </p:clrMapOvr>
  <p:transition spd="med">
    <p:wipe dir="d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Visibilidad de los identificadores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284804"/>
          </a:xfrm>
        </p:spPr>
        <p:txBody>
          <a:bodyPr>
            <a:noAutofit/>
          </a:bodyPr>
          <a:lstStyle/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main()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i, x;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 </a:t>
            </a:r>
            <a:r>
              <a:rPr lang="es-ES" dirty="0">
                <a:latin typeface="Consolas" pitchFamily="49" charset="0"/>
              </a:rPr>
              <a:t>(...)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   for</a:t>
            </a:r>
            <a:r>
              <a:rPr lang="es-ES" dirty="0">
                <a:latin typeface="Consolas" pitchFamily="49" charset="0"/>
              </a:rPr>
              <a:t>(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dirty="0">
                <a:latin typeface="Consolas" pitchFamily="49" charset="0"/>
              </a:rPr>
              <a:t>; i &lt;=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10</a:t>
            </a:r>
            <a:r>
              <a:rPr lang="es-ES" dirty="0">
                <a:latin typeface="Consolas" pitchFamily="49" charset="0"/>
              </a:rPr>
              <a:t>; i++)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   ...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}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}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char</a:t>
            </a:r>
            <a:r>
              <a:rPr lang="es-ES" dirty="0">
                <a:latin typeface="Consolas" pitchFamily="49" charset="0"/>
              </a:rPr>
              <a:t> c;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 </a:t>
            </a:r>
            <a:r>
              <a:rPr lang="es-ES" dirty="0">
                <a:latin typeface="Consolas" pitchFamily="49" charset="0"/>
              </a:rPr>
              <a:t>(...) {</a:t>
            </a:r>
            <a:endParaRPr lang="es-ES" dirty="0">
              <a:solidFill>
                <a:srgbClr val="92D050"/>
              </a:solidFill>
              <a:latin typeface="Consolas" pitchFamily="49" charset="0"/>
            </a:endParaRP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dirty="0">
                <a:latin typeface="Consolas" pitchFamily="49" charset="0"/>
              </a:rPr>
              <a:t> x;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   ...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}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 return</a:t>
            </a:r>
            <a:r>
              <a:rPr lang="es-ES" dirty="0">
                <a:latin typeface="Consolas" pitchFamily="49" charset="0"/>
              </a:rPr>
              <a:t>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}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292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6" name="51 Grupo"/>
          <p:cNvGrpSpPr/>
          <p:nvPr/>
        </p:nvGrpSpPr>
        <p:grpSpPr>
          <a:xfrm>
            <a:off x="1801788" y="1268760"/>
            <a:ext cx="5549949" cy="2213054"/>
            <a:chOff x="1147349" y="2339123"/>
            <a:chExt cx="5549949" cy="2213054"/>
          </a:xfrm>
        </p:grpSpPr>
        <p:sp>
          <p:nvSpPr>
            <p:cNvPr id="36" name="35 Elipse"/>
            <p:cNvSpPr>
              <a:spLocks noChangeAspect="1"/>
            </p:cNvSpPr>
            <p:nvPr/>
          </p:nvSpPr>
          <p:spPr>
            <a:xfrm>
              <a:off x="1734079" y="3229814"/>
              <a:ext cx="252000" cy="252000"/>
            </a:xfrm>
            <a:prstGeom prst="ellipse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7" name="48 Grupo"/>
            <p:cNvGrpSpPr/>
            <p:nvPr/>
          </p:nvGrpSpPr>
          <p:grpSpPr>
            <a:xfrm>
              <a:off x="1147349" y="2339123"/>
              <a:ext cx="5549949" cy="2213054"/>
              <a:chOff x="1147349" y="2339123"/>
              <a:chExt cx="5549949" cy="2213054"/>
            </a:xfrm>
          </p:grpSpPr>
          <p:sp>
            <p:nvSpPr>
              <p:cNvPr id="13" name="12 Rectángulo"/>
              <p:cNvSpPr/>
              <p:nvPr/>
            </p:nvSpPr>
            <p:spPr>
              <a:xfrm>
                <a:off x="1147349" y="3548489"/>
                <a:ext cx="4714428" cy="1003688"/>
              </a:xfrm>
              <a:prstGeom prst="rect">
                <a:avLst/>
              </a:prstGeom>
              <a:solidFill>
                <a:srgbClr val="92D050">
                  <a:alpha val="30196"/>
                </a:srgbClr>
              </a:solidFill>
              <a:ln w="1905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9" name="38 Arco"/>
              <p:cNvSpPr/>
              <p:nvPr/>
            </p:nvSpPr>
            <p:spPr>
              <a:xfrm>
                <a:off x="1469289" y="2339123"/>
                <a:ext cx="1152128" cy="1017869"/>
              </a:xfrm>
              <a:prstGeom prst="arc">
                <a:avLst>
                  <a:gd name="adj1" fmla="val 12157303"/>
                  <a:gd name="adj2" fmla="val 5850604"/>
                </a:avLst>
              </a:prstGeom>
              <a:ln w="28575">
                <a:solidFill>
                  <a:srgbClr val="FFC000"/>
                </a:solidFill>
                <a:headEnd type="stealth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0" name="39 CuadroTexto"/>
              <p:cNvSpPr txBox="1"/>
              <p:nvPr/>
            </p:nvSpPr>
            <p:spPr>
              <a:xfrm>
                <a:off x="2608999" y="2492896"/>
                <a:ext cx="4088299" cy="40011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s-ES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Oculta , en su ámbito, a la </a:t>
                </a:r>
                <a:r>
                  <a:rPr lang="es-ES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i</a:t>
                </a:r>
                <a:r>
                  <a:rPr lang="es-ES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 anterior</a:t>
                </a:r>
              </a:p>
            </p:txBody>
          </p:sp>
        </p:grpSp>
      </p:grpSp>
      <p:grpSp>
        <p:nvGrpSpPr>
          <p:cNvPr id="8" name="52 Grupo"/>
          <p:cNvGrpSpPr/>
          <p:nvPr/>
        </p:nvGrpSpPr>
        <p:grpSpPr>
          <a:xfrm>
            <a:off x="2236011" y="1931855"/>
            <a:ext cx="5648357" cy="1281121"/>
            <a:chOff x="1406806" y="2922047"/>
            <a:chExt cx="5648357" cy="1281121"/>
          </a:xfrm>
        </p:grpSpPr>
        <p:sp>
          <p:nvSpPr>
            <p:cNvPr id="37" name="36 Elipse"/>
            <p:cNvSpPr>
              <a:spLocks noChangeAspect="1"/>
            </p:cNvSpPr>
            <p:nvPr/>
          </p:nvSpPr>
          <p:spPr>
            <a:xfrm>
              <a:off x="2176686" y="3481814"/>
              <a:ext cx="252000" cy="252000"/>
            </a:xfrm>
            <a:prstGeom prst="ellipse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9" name="49 Grupo"/>
            <p:cNvGrpSpPr/>
            <p:nvPr/>
          </p:nvGrpSpPr>
          <p:grpSpPr>
            <a:xfrm>
              <a:off x="1406806" y="2922047"/>
              <a:ext cx="5648357" cy="1281121"/>
              <a:chOff x="1406806" y="2922047"/>
              <a:chExt cx="5648357" cy="1281121"/>
            </a:xfrm>
          </p:grpSpPr>
          <p:sp>
            <p:nvSpPr>
              <p:cNvPr id="41" name="40 Rectángulo"/>
              <p:cNvSpPr/>
              <p:nvPr/>
            </p:nvSpPr>
            <p:spPr>
              <a:xfrm>
                <a:off x="1406806" y="3829064"/>
                <a:ext cx="4035606" cy="374104"/>
              </a:xfrm>
              <a:prstGeom prst="rect">
                <a:avLst/>
              </a:prstGeom>
              <a:solidFill>
                <a:srgbClr val="FFCCFF">
                  <a:alpha val="20000"/>
                </a:srgbClr>
              </a:solidFill>
              <a:ln w="1905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2" name="41 Arco"/>
              <p:cNvSpPr/>
              <p:nvPr/>
            </p:nvSpPr>
            <p:spPr>
              <a:xfrm>
                <a:off x="1820838" y="2922047"/>
                <a:ext cx="1104503" cy="680561"/>
              </a:xfrm>
              <a:prstGeom prst="arc">
                <a:avLst>
                  <a:gd name="adj1" fmla="val 11514666"/>
                  <a:gd name="adj2" fmla="val 4912242"/>
                </a:avLst>
              </a:prstGeom>
              <a:ln w="28575">
                <a:solidFill>
                  <a:srgbClr val="FFC000"/>
                </a:solidFill>
                <a:headEnd type="stealth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3" name="42 CuadroTexto"/>
              <p:cNvSpPr txBox="1"/>
              <p:nvPr/>
            </p:nvSpPr>
            <p:spPr>
              <a:xfrm>
                <a:off x="2966864" y="3010970"/>
                <a:ext cx="4088299" cy="40011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s-ES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Oculta , en su ámbito, a la </a:t>
                </a:r>
                <a:r>
                  <a:rPr lang="es-ES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i</a:t>
                </a:r>
                <a:r>
                  <a:rPr lang="es-ES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 anterior</a:t>
                </a:r>
              </a:p>
            </p:txBody>
          </p:sp>
        </p:grpSp>
      </p:grpSp>
      <p:grpSp>
        <p:nvGrpSpPr>
          <p:cNvPr id="10" name="50 Grupo"/>
          <p:cNvGrpSpPr/>
          <p:nvPr/>
        </p:nvGrpSpPr>
        <p:grpSpPr>
          <a:xfrm>
            <a:off x="561975" y="1413007"/>
            <a:ext cx="7322393" cy="3816193"/>
            <a:chOff x="-223814" y="1842843"/>
            <a:chExt cx="7322393" cy="3816193"/>
          </a:xfrm>
        </p:grpSpPr>
        <p:sp>
          <p:nvSpPr>
            <p:cNvPr id="11" name="10 Rectángulo"/>
            <p:cNvSpPr/>
            <p:nvPr/>
          </p:nvSpPr>
          <p:spPr>
            <a:xfrm>
              <a:off x="1015999" y="5269367"/>
              <a:ext cx="4714428" cy="389669"/>
            </a:xfrm>
            <a:prstGeom prst="rect">
              <a:avLst/>
            </a:prstGeom>
            <a:solidFill>
              <a:srgbClr val="92D050">
                <a:alpha val="30196"/>
              </a:srgbClr>
            </a:solidFill>
            <a:ln w="190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37 Elipse"/>
            <p:cNvSpPr>
              <a:spLocks noChangeAspect="1"/>
            </p:cNvSpPr>
            <p:nvPr/>
          </p:nvSpPr>
          <p:spPr>
            <a:xfrm>
              <a:off x="2069736" y="4960218"/>
              <a:ext cx="252000" cy="252000"/>
            </a:xfrm>
            <a:prstGeom prst="ellipse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7" name="46 Arco"/>
            <p:cNvSpPr/>
            <p:nvPr/>
          </p:nvSpPr>
          <p:spPr>
            <a:xfrm flipH="1">
              <a:off x="-223814" y="1842843"/>
              <a:ext cx="2962672" cy="3650005"/>
            </a:xfrm>
            <a:prstGeom prst="arc">
              <a:avLst>
                <a:gd name="adj1" fmla="val 15290002"/>
                <a:gd name="adj2" fmla="val 7163494"/>
              </a:avLst>
            </a:prstGeom>
            <a:ln w="28575">
              <a:solidFill>
                <a:srgbClr val="FFC000"/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8" name="47 CuadroTexto"/>
            <p:cNvSpPr txBox="1"/>
            <p:nvPr/>
          </p:nvSpPr>
          <p:spPr>
            <a:xfrm>
              <a:off x="3010280" y="4832211"/>
              <a:ext cx="4088299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Oculta , en su ámbito, a la 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x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anterior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293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3203793" y="3044280"/>
            <a:ext cx="2736647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Secuencias</a:t>
            </a:r>
            <a:endParaRPr lang="es-ES" sz="2400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Secuencias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marL="0"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/>
              <a:t>Sucesión de elementos de un mismo tipo que se acceden linealmente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lvl="1" indent="1588">
              <a:spcBef>
                <a:spcPts val="0"/>
              </a:spcBef>
              <a:buNone/>
            </a:pPr>
            <a:endParaRPr lang="es-ES" sz="2000" dirty="0"/>
          </a:p>
          <a:p>
            <a:pPr lvl="1" indent="1588">
              <a:spcBef>
                <a:spcPts val="0"/>
              </a:spcBef>
              <a:buNone/>
            </a:pPr>
            <a:endParaRPr lang="es-ES" sz="2000" dirty="0"/>
          </a:p>
          <a:p>
            <a:pPr lvl="1" indent="1588">
              <a:spcBef>
                <a:spcPts val="0"/>
              </a:spcBef>
              <a:buNone/>
            </a:pPr>
            <a:endParaRPr lang="es-ES" sz="2000" dirty="0"/>
          </a:p>
          <a:p>
            <a:pPr lvl="1" indent="1588">
              <a:spcBef>
                <a:spcPts val="0"/>
              </a:spcBef>
              <a:buNone/>
            </a:pPr>
            <a:endParaRPr lang="es-ES" sz="2000" dirty="0"/>
          </a:p>
          <a:p>
            <a:pPr lvl="1" indent="1588">
              <a:spcBef>
                <a:spcPts val="0"/>
              </a:spcBef>
              <a:buNone/>
            </a:pPr>
            <a:endParaRPr lang="es-ES" sz="20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294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pic>
        <p:nvPicPr>
          <p:cNvPr id="1026" name="Picture 2" descr="C:\Documents and Settings\Luis\Configuración local\Archivos temporales de Internet\Content.IE5\I4T8T2AX\MP900411831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82552" y="285728"/>
            <a:ext cx="1137920" cy="75831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1" name="40 Grupo"/>
          <p:cNvGrpSpPr/>
          <p:nvPr/>
        </p:nvGrpSpPr>
        <p:grpSpPr>
          <a:xfrm>
            <a:off x="683568" y="1581175"/>
            <a:ext cx="5040560" cy="1173148"/>
            <a:chOff x="683568" y="2079898"/>
            <a:chExt cx="5040560" cy="1173148"/>
          </a:xfrm>
        </p:grpSpPr>
        <p:cxnSp>
          <p:nvCxnSpPr>
            <p:cNvPr id="11" name="10 Conector recto de flecha"/>
            <p:cNvCxnSpPr/>
            <p:nvPr/>
          </p:nvCxnSpPr>
          <p:spPr>
            <a:xfrm>
              <a:off x="1924359" y="2566492"/>
              <a:ext cx="321940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13 Conector recto"/>
            <p:cNvCxnSpPr/>
            <p:nvPr/>
          </p:nvCxnSpPr>
          <p:spPr>
            <a:xfrm rot="5400000" flipH="1" flipV="1">
              <a:off x="5035561" y="2564904"/>
              <a:ext cx="576064" cy="0"/>
            </a:xfrm>
            <a:prstGeom prst="line">
              <a:avLst/>
            </a:prstGeom>
            <a:ln w="28575">
              <a:solidFill>
                <a:srgbClr val="FFC000"/>
              </a:solidFill>
              <a:headEnd type="none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14 Conector recto"/>
            <p:cNvCxnSpPr/>
            <p:nvPr/>
          </p:nvCxnSpPr>
          <p:spPr>
            <a:xfrm>
              <a:off x="2246299" y="2286397"/>
              <a:ext cx="3086819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18 CuadroTexto"/>
            <p:cNvSpPr txBox="1"/>
            <p:nvPr/>
          </p:nvSpPr>
          <p:spPr>
            <a:xfrm>
              <a:off x="2524806" y="2079898"/>
              <a:ext cx="1156855" cy="40011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sz="2000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elemento</a:t>
              </a:r>
            </a:p>
          </p:txBody>
        </p:sp>
        <p:sp>
          <p:nvSpPr>
            <p:cNvPr id="21" name="20 CuadroTexto"/>
            <p:cNvSpPr txBox="1"/>
            <p:nvPr/>
          </p:nvSpPr>
          <p:spPr>
            <a:xfrm>
              <a:off x="3892958" y="2079898"/>
              <a:ext cx="1196161" cy="40011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sz="2000" i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secuencia</a:t>
              </a:r>
              <a:endParaRPr lang="es-ES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endParaRPr>
            </a:p>
          </p:txBody>
        </p:sp>
        <p:cxnSp>
          <p:nvCxnSpPr>
            <p:cNvPr id="23" name="22 Conector recto"/>
            <p:cNvCxnSpPr/>
            <p:nvPr/>
          </p:nvCxnSpPr>
          <p:spPr>
            <a:xfrm>
              <a:off x="2246299" y="2852936"/>
              <a:ext cx="3096344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24 Conector recto"/>
            <p:cNvCxnSpPr/>
            <p:nvPr/>
          </p:nvCxnSpPr>
          <p:spPr>
            <a:xfrm rot="5400000" flipH="1" flipV="1">
              <a:off x="1967792" y="2564904"/>
              <a:ext cx="576064" cy="0"/>
            </a:xfrm>
            <a:prstGeom prst="line">
              <a:avLst/>
            </a:prstGeom>
            <a:ln w="28575">
              <a:solidFill>
                <a:srgbClr val="FFC000"/>
              </a:solidFill>
              <a:headEnd type="none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25 Conector recto de flecha"/>
            <p:cNvCxnSpPr/>
            <p:nvPr/>
          </p:nvCxnSpPr>
          <p:spPr>
            <a:xfrm>
              <a:off x="5323593" y="2564904"/>
              <a:ext cx="400535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26 CuadroTexto"/>
            <p:cNvSpPr txBox="1"/>
            <p:nvPr/>
          </p:nvSpPr>
          <p:spPr>
            <a:xfrm>
              <a:off x="683568" y="2362776"/>
              <a:ext cx="1196161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sz="2000" i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secuencia</a:t>
              </a:r>
              <a:endParaRPr lang="es-ES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endParaRPr>
            </a:p>
          </p:txBody>
        </p:sp>
        <p:sp>
          <p:nvSpPr>
            <p:cNvPr id="28" name="27 CuadroTexto"/>
            <p:cNvSpPr txBox="1"/>
            <p:nvPr/>
          </p:nvSpPr>
          <p:spPr>
            <a:xfrm>
              <a:off x="2721422" y="2852936"/>
              <a:ext cx="2078711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(Secuencia vacía)</a:t>
              </a:r>
            </a:p>
          </p:txBody>
        </p:sp>
      </p:grpSp>
      <p:sp>
        <p:nvSpPr>
          <p:cNvPr id="17" name="16 Rectángulo"/>
          <p:cNvSpPr/>
          <p:nvPr/>
        </p:nvSpPr>
        <p:spPr>
          <a:xfrm>
            <a:off x="2310803" y="2824361"/>
            <a:ext cx="4522392" cy="5401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1 34 12 26 4 87 184 52</a:t>
            </a:r>
          </a:p>
        </p:txBody>
      </p:sp>
      <p:sp>
        <p:nvSpPr>
          <p:cNvPr id="18" name="17 Rectángulo"/>
          <p:cNvSpPr/>
          <p:nvPr/>
        </p:nvSpPr>
        <p:spPr>
          <a:xfrm>
            <a:off x="683568" y="3366740"/>
            <a:ext cx="8136904" cy="28469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Comienza en un </a:t>
            </a:r>
            <a:r>
              <a:rPr lang="es-ES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primer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elemento (si no está vacía)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 cada elemento le sigue otra secuencia (vacía, si es el </a:t>
            </a:r>
            <a:r>
              <a:rPr lang="es-ES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último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)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Acceso secuencial (lineal)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Se comienza siempre accediendo al primer elemento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Desde un elemento sólo se puede acceder a su elemento siguiente (</a:t>
            </a:r>
            <a:r>
              <a:rPr lang="es-ES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sucesor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), si es que existe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Todos los elementos, de un mismo tipo</a:t>
            </a:r>
          </a:p>
        </p:txBody>
      </p:sp>
      <p:grpSp>
        <p:nvGrpSpPr>
          <p:cNvPr id="42" name="41 Grupo"/>
          <p:cNvGrpSpPr/>
          <p:nvPr/>
        </p:nvGrpSpPr>
        <p:grpSpPr>
          <a:xfrm>
            <a:off x="5860931" y="1840865"/>
            <a:ext cx="2825869" cy="799372"/>
            <a:chOff x="5860931" y="2339588"/>
            <a:chExt cx="2825869" cy="799372"/>
          </a:xfrm>
        </p:grpSpPr>
        <p:cxnSp>
          <p:nvCxnSpPr>
            <p:cNvPr id="24" name="23 Conector recto de flecha"/>
            <p:cNvCxnSpPr/>
            <p:nvPr/>
          </p:nvCxnSpPr>
          <p:spPr>
            <a:xfrm>
              <a:off x="6329139" y="2564904"/>
              <a:ext cx="2357661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30 Conector recto"/>
            <p:cNvCxnSpPr/>
            <p:nvPr/>
          </p:nvCxnSpPr>
          <p:spPr>
            <a:xfrm flipV="1">
              <a:off x="8244408" y="2576018"/>
              <a:ext cx="0" cy="360000"/>
            </a:xfrm>
            <a:prstGeom prst="line">
              <a:avLst/>
            </a:prstGeom>
            <a:ln w="28575">
              <a:solidFill>
                <a:srgbClr val="FFC000"/>
              </a:solidFill>
              <a:headEnd type="none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34 Conector recto"/>
            <p:cNvCxnSpPr/>
            <p:nvPr/>
          </p:nvCxnSpPr>
          <p:spPr>
            <a:xfrm flipV="1">
              <a:off x="6660232" y="2576018"/>
              <a:ext cx="0" cy="360000"/>
            </a:xfrm>
            <a:prstGeom prst="line">
              <a:avLst/>
            </a:prstGeom>
            <a:ln w="28575">
              <a:solidFill>
                <a:srgbClr val="FFC000"/>
              </a:solidFill>
              <a:headEnd type="none"/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35 Conector recto"/>
            <p:cNvCxnSpPr/>
            <p:nvPr/>
          </p:nvCxnSpPr>
          <p:spPr>
            <a:xfrm>
              <a:off x="6660232" y="2936018"/>
              <a:ext cx="1584176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29 CuadroTexto"/>
            <p:cNvSpPr txBox="1"/>
            <p:nvPr/>
          </p:nvSpPr>
          <p:spPr>
            <a:xfrm>
              <a:off x="6929454" y="2738850"/>
              <a:ext cx="1156855" cy="40011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sz="2000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elemento</a:t>
              </a:r>
              <a:endParaRPr lang="es-ES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endParaRPr>
            </a:p>
          </p:txBody>
        </p:sp>
        <p:sp>
          <p:nvSpPr>
            <p:cNvPr id="40" name="39 CuadroTexto"/>
            <p:cNvSpPr txBox="1"/>
            <p:nvPr/>
          </p:nvSpPr>
          <p:spPr>
            <a:xfrm>
              <a:off x="5860931" y="2339588"/>
              <a:ext cx="320921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o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uiExpand="1" build="p" bldLvl="2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Secuencias en programación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90872" y="980728"/>
            <a:ext cx="8229600" cy="5284804"/>
          </a:xfrm>
        </p:spPr>
        <p:txBody>
          <a:bodyPr>
            <a:noAutofit/>
          </a:bodyPr>
          <a:lstStyle/>
          <a:p>
            <a:pPr marL="0" lvl="1" indent="1588">
              <a:spcBef>
                <a:spcPts val="0"/>
              </a:spcBef>
              <a:spcAft>
                <a:spcPts val="12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No tratamos secuencias infinitas: siempre hay un último elemento</a:t>
            </a:r>
          </a:p>
          <a:p>
            <a:pPr marL="361950" lvl="1" indent="-3524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Secuencias explícitas:</a:t>
            </a:r>
          </a:p>
          <a:p>
            <a:pPr lvl="2" indent="-3619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tabLst>
                <a:tab pos="1076325" algn="l"/>
              </a:tabLst>
            </a:pPr>
            <a:r>
              <a:rPr lang="es-ES" sz="2200" dirty="0"/>
              <a:t>Sucesión de datos de un dispositivo (teclado, disco, sensor, ...)</a:t>
            </a:r>
          </a:p>
          <a:p>
            <a:pPr marL="361950" lvl="1" indent="-3524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Secuencias calculadas:</a:t>
            </a:r>
          </a:p>
          <a:p>
            <a:pPr lvl="2" indent="-3619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2200" dirty="0"/>
              <a:t>Fórmula de recurrencia que determina el elemento siguiente</a:t>
            </a:r>
          </a:p>
          <a:p>
            <a:pPr marL="352425" lvl="1" indent="-3524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Listas</a:t>
            </a:r>
          </a:p>
          <a:p>
            <a:pPr marL="0" lvl="1" indent="0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dirty="0"/>
              <a:t>Secuencias explícitas que manejaremos:</a:t>
            </a:r>
          </a:p>
          <a:p>
            <a:pPr marL="361950" lvl="2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Datos introducidos por el teclado o leídos de un archivo</a:t>
            </a:r>
          </a:p>
          <a:p>
            <a:pPr marL="361950" lvl="3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Con un elemento especial al final de la secuencia (</a:t>
            </a:r>
            <a:r>
              <a:rPr lang="es-ES" sz="2200" i="1" dirty="0"/>
              <a:t>centinela</a:t>
            </a:r>
            <a:r>
              <a:rPr lang="es-ES" sz="2200" dirty="0"/>
              <a:t>)</a:t>
            </a:r>
          </a:p>
          <a:p>
            <a:pPr marL="361950" lvl="1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latin typeface="Consolas" pitchFamily="49" charset="0"/>
              </a:rPr>
              <a:t>1 34 12 26 4 87 184 52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-1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295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Detección del final de </a:t>
            </a:r>
            <a:r>
              <a:rPr lang="es-ES"/>
              <a:t>la secuencia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01216" y="980728"/>
            <a:ext cx="8075240" cy="5284804"/>
          </a:xfrm>
        </p:spPr>
        <p:txBody>
          <a:bodyPr>
            <a:normAutofit/>
          </a:bodyPr>
          <a:lstStyle/>
          <a:p>
            <a:pPr marL="352425" lvl="3" indent="-352425" defTabSz="6153150">
              <a:spcBef>
                <a:spcPts val="0"/>
              </a:spcBef>
              <a:spcAft>
                <a:spcPts val="600"/>
              </a:spcAft>
              <a:tabLst>
                <a:tab pos="7534275" algn="r"/>
              </a:tabLst>
            </a:pPr>
            <a:r>
              <a:rPr lang="es-ES" sz="2200" dirty="0"/>
              <a:t>Secuencia explícita leída de archivo:</a:t>
            </a:r>
          </a:p>
          <a:p>
            <a:pPr lvl="2" indent="-361950" defTabSz="6153150">
              <a:spcBef>
                <a:spcPts val="0"/>
              </a:spcBef>
              <a:spcAft>
                <a:spcPts val="600"/>
              </a:spcAft>
              <a:tabLst>
                <a:tab pos="1076325" algn="l"/>
              </a:tabLst>
            </a:pPr>
            <a:r>
              <a:rPr lang="es-ES" sz="2200" dirty="0"/>
              <a:t>Detectar la marca de final de archivo (</a:t>
            </a:r>
            <a:r>
              <a:rPr lang="es-ES" sz="2200" dirty="0" err="1">
                <a:latin typeface="Consolas" pitchFamily="49" charset="0"/>
                <a:cs typeface="Consolas" pitchFamily="49" charset="0"/>
              </a:rPr>
              <a:t>Eof</a:t>
            </a:r>
            <a:r>
              <a:rPr lang="es-ES" sz="2200" dirty="0"/>
              <a:t> - </a:t>
            </a:r>
            <a:r>
              <a:rPr lang="es-ES" sz="2200" i="1" dirty="0" err="1"/>
              <a:t>End</a:t>
            </a:r>
            <a:r>
              <a:rPr lang="es-ES" sz="2200" i="1" dirty="0"/>
              <a:t> of </a:t>
            </a:r>
            <a:r>
              <a:rPr lang="es-ES" sz="2200" i="1" dirty="0" err="1"/>
              <a:t>file</a:t>
            </a:r>
            <a:r>
              <a:rPr lang="es-ES" sz="2200" dirty="0"/>
              <a:t>)</a:t>
            </a:r>
          </a:p>
          <a:p>
            <a:pPr lvl="2" indent="-361950" defTabSz="6153150">
              <a:spcBef>
                <a:spcPts val="0"/>
              </a:spcBef>
              <a:spcAft>
                <a:spcPts val="600"/>
              </a:spcAft>
              <a:tabLst>
                <a:tab pos="1076325" algn="l"/>
              </a:tabLst>
            </a:pPr>
            <a:r>
              <a:rPr lang="es-ES" sz="2200" dirty="0"/>
              <a:t>Detectar un valor centinela al final</a:t>
            </a:r>
          </a:p>
          <a:p>
            <a:pPr marL="361950" lvl="3" indent="-352425" defTabSz="6153150">
              <a:spcBef>
                <a:spcPts val="1200"/>
              </a:spcBef>
              <a:spcAft>
                <a:spcPts val="600"/>
              </a:spcAft>
              <a:tabLst>
                <a:tab pos="7534275" algn="r"/>
              </a:tabLst>
            </a:pPr>
            <a:r>
              <a:rPr lang="es-ES" sz="2200" dirty="0"/>
              <a:t>Secuencia explícita leída del teclado:</a:t>
            </a:r>
          </a:p>
          <a:p>
            <a:pPr lvl="2" indent="-361950" defTabSz="6153150">
              <a:spcBef>
                <a:spcPts val="0"/>
              </a:spcBef>
              <a:spcAft>
                <a:spcPts val="600"/>
              </a:spcAft>
            </a:pPr>
            <a:r>
              <a:rPr lang="es-ES" sz="2200" dirty="0"/>
              <a:t>Preguntar al usuario si quiere introducir un nuevo dato</a:t>
            </a:r>
          </a:p>
          <a:p>
            <a:pPr lvl="2" indent="-361950" defTabSz="6153150">
              <a:spcBef>
                <a:spcPts val="0"/>
              </a:spcBef>
              <a:spcAft>
                <a:spcPts val="600"/>
              </a:spcAft>
            </a:pPr>
            <a:r>
              <a:rPr lang="es-ES" sz="2200" dirty="0"/>
              <a:t>Preguntar al usuario primero cuántos datos va a introducir</a:t>
            </a:r>
          </a:p>
          <a:p>
            <a:pPr lvl="2" indent="-361950" defTabSz="6153150">
              <a:spcBef>
                <a:spcPts val="0"/>
              </a:spcBef>
              <a:spcAft>
                <a:spcPts val="600"/>
              </a:spcAft>
            </a:pPr>
            <a:r>
              <a:rPr lang="es-ES" sz="2200" dirty="0"/>
              <a:t>Detectar un valor centinela al final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296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cxnSp>
        <p:nvCxnSpPr>
          <p:cNvPr id="19" name="18 Conector recto de flecha"/>
          <p:cNvCxnSpPr/>
          <p:nvPr/>
        </p:nvCxnSpPr>
        <p:spPr>
          <a:xfrm rot="5400000">
            <a:off x="7415534" y="5552430"/>
            <a:ext cx="216000" cy="1588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 de flecha"/>
          <p:cNvCxnSpPr/>
          <p:nvPr/>
        </p:nvCxnSpPr>
        <p:spPr>
          <a:xfrm flipH="1">
            <a:off x="5724128" y="2041798"/>
            <a:ext cx="576064" cy="0"/>
          </a:xfrm>
          <a:prstGeom prst="straightConnector1">
            <a:avLst/>
          </a:prstGeom>
          <a:ln w="5715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 de flecha"/>
          <p:cNvCxnSpPr/>
          <p:nvPr/>
        </p:nvCxnSpPr>
        <p:spPr>
          <a:xfrm flipH="1">
            <a:off x="5724128" y="3851523"/>
            <a:ext cx="576064" cy="0"/>
          </a:xfrm>
          <a:prstGeom prst="straightConnector1">
            <a:avLst/>
          </a:prstGeom>
          <a:ln w="5715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Centinelas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297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aphicFrame>
        <p:nvGraphicFramePr>
          <p:cNvPr id="17" name="16 Tabla"/>
          <p:cNvGraphicFramePr>
            <a:graphicFrameLocks noGrp="1"/>
          </p:cNvGraphicFramePr>
          <p:nvPr/>
        </p:nvGraphicFramePr>
        <p:xfrm>
          <a:off x="1475656" y="5344334"/>
          <a:ext cx="6192693" cy="3657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76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3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3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3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63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63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63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63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63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636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63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636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31800"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12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37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23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8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19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83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63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-1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35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17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76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  <a:sym typeface="Symbol"/>
                        </a:rPr>
                        <a:t>15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1" name="10 Grupo"/>
          <p:cNvGrpSpPr/>
          <p:nvPr/>
        </p:nvGrpSpPr>
        <p:grpSpPr>
          <a:xfrm>
            <a:off x="4063840" y="4740598"/>
            <a:ext cx="2003434" cy="592654"/>
            <a:chOff x="3913714" y="4740598"/>
            <a:chExt cx="2003434" cy="592654"/>
          </a:xfrm>
        </p:grpSpPr>
        <p:cxnSp>
          <p:nvCxnSpPr>
            <p:cNvPr id="18" name="17 Conector recto de flecha"/>
            <p:cNvCxnSpPr/>
            <p:nvPr/>
          </p:nvCxnSpPr>
          <p:spPr>
            <a:xfrm rot="5400000">
              <a:off x="4806634" y="5224458"/>
              <a:ext cx="216000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18 CuadroTexto"/>
            <p:cNvSpPr txBox="1"/>
            <p:nvPr/>
          </p:nvSpPr>
          <p:spPr>
            <a:xfrm>
              <a:off x="3913714" y="4740598"/>
              <a:ext cx="2003434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Último elemento</a:t>
              </a:r>
            </a:p>
          </p:txBody>
        </p:sp>
      </p:grpSp>
      <p:grpSp>
        <p:nvGrpSpPr>
          <p:cNvPr id="12" name="11 Grupo"/>
          <p:cNvGrpSpPr/>
          <p:nvPr/>
        </p:nvGrpSpPr>
        <p:grpSpPr>
          <a:xfrm>
            <a:off x="5392663" y="5654405"/>
            <a:ext cx="2207673" cy="583959"/>
            <a:chOff x="4327593" y="5684131"/>
            <a:chExt cx="2207673" cy="583959"/>
          </a:xfrm>
        </p:grpSpPr>
        <p:sp>
          <p:nvSpPr>
            <p:cNvPr id="20" name="19 Cerrar llave"/>
            <p:cNvSpPr/>
            <p:nvPr/>
          </p:nvSpPr>
          <p:spPr>
            <a:xfrm rot="5400000">
              <a:off x="5300303" y="4711421"/>
              <a:ext cx="262253" cy="2207673"/>
            </a:xfrm>
            <a:prstGeom prst="rightBrace">
              <a:avLst>
                <a:gd name="adj1" fmla="val 46588"/>
                <a:gd name="adj2" fmla="val 50000"/>
              </a:avLst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21 CuadroTexto"/>
            <p:cNvSpPr txBox="1"/>
            <p:nvPr/>
          </p:nvSpPr>
          <p:spPr>
            <a:xfrm>
              <a:off x="4587050" y="5898758"/>
              <a:ext cx="1673663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No se procesan</a:t>
              </a:r>
            </a:p>
          </p:txBody>
        </p:sp>
      </p:grpSp>
      <p:sp>
        <p:nvSpPr>
          <p:cNvPr id="13" name="12 Rectángulo"/>
          <p:cNvSpPr/>
          <p:nvPr/>
        </p:nvSpPr>
        <p:spPr>
          <a:xfrm>
            <a:off x="457200" y="980728"/>
            <a:ext cx="822960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Debe haber algún valor que no sea un elemento válido</a:t>
            </a:r>
          </a:p>
          <a:p>
            <a:pPr marL="714375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Secuencias numéricas:</a:t>
            </a:r>
          </a:p>
          <a:p>
            <a:pPr marL="714375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 se permite cualquier número, no hay centinela posible</a:t>
            </a:r>
          </a:p>
          <a:p>
            <a:pPr marL="714375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Cadenas de caracteres:</a:t>
            </a:r>
          </a:p>
          <a:p>
            <a:pPr marL="714375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¿Caracteres especiales (no imprimibles)?</a:t>
            </a:r>
          </a:p>
          <a:p>
            <a:pPr marL="361950" lvl="1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En realidad el valor centinela es parte de la secuencia, </a:t>
            </a:r>
            <a:b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pero su significado es especial y no se procesa como el resto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Significa que se ha alcanzado el final de la secuencia</a:t>
            </a:r>
            <a:b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</a:t>
            </a:r>
            <a:r>
              <a:rPr lang="es-ES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Incluso aunque haya elementos posteriores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)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 bldLvl="3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Esquemas de tratamiento de secuencias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52153"/>
            <a:ext cx="8363272" cy="5110178"/>
          </a:xfrm>
        </p:spPr>
        <p:txBody>
          <a:bodyPr>
            <a:noAutofit/>
          </a:bodyPr>
          <a:lstStyle/>
          <a:p>
            <a:pPr marL="361950" lvl="1" indent="0"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Tratamiento de los elementos uno a uno desde el primero</a:t>
            </a:r>
          </a:p>
          <a:p>
            <a:pPr marL="361950" lvl="1" indent="-266700"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8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Recorrido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Un mismo tratamiento para todos los elementos de la secuencia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Ej.- Mostrar los elementos de una secuencia, sumar los números de una secuencia, ¿par o impar cada número de una secuencia?, ...</a:t>
            </a:r>
          </a:p>
          <a:p>
            <a:pPr marL="361950" lvl="1" indent="0">
              <a:spcBef>
                <a:spcPts val="0"/>
              </a:spcBef>
              <a:buNone/>
            </a:pPr>
            <a:r>
              <a:rPr lang="es-ES" dirty="0"/>
              <a:t>Termina al llegar al final de la secuencia</a:t>
            </a:r>
          </a:p>
          <a:p>
            <a:pPr marL="361950" lvl="1" indent="-266700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8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Búsqueda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Recorrido de la secuencia hasta encontrar un elemento buscado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Ej.- Localizar el primer número que sea mayor que 1.000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Termina al localizar el primer elemento que cumple la condición o al llegar al final de la secuencia (</a:t>
            </a:r>
            <a:r>
              <a:rPr lang="es-ES" i="1" dirty="0"/>
              <a:t>no encontrado</a:t>
            </a:r>
            <a:r>
              <a:rPr lang="es-ES" dirty="0"/>
              <a:t>)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298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299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554212" y="3044280"/>
            <a:ext cx="6035819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Recorrido </a:t>
            </a:r>
            <a:r>
              <a:rPr lang="es-ES" sz="4400" b="1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de secuencias</a:t>
            </a:r>
            <a:endParaRPr lang="es-ES" sz="2400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Esquema de recorrido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Un mismo tratamiento a todos los elementos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i="1" dirty="0"/>
              <a:t>Inicialización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i="1" dirty="0"/>
              <a:t>Mientras no se llegue al final de la secuencia: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i="1" dirty="0"/>
              <a:t>Obtener el siguiente elemento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i="1" dirty="0"/>
              <a:t>Procesar el elemento</a:t>
            </a:r>
          </a:p>
          <a:p>
            <a:pPr marL="361950" lvl="1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es-ES" sz="2400" i="1" dirty="0"/>
              <a:t>Finalización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Al empezar se obtiene el primer elemento de la secuencia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En los siguientes pasos del bucle se van obteniendo</a:t>
            </a:r>
            <a:br>
              <a:rPr lang="es-ES" dirty="0"/>
            </a:br>
            <a:r>
              <a:rPr lang="es-ES" dirty="0"/>
              <a:t>los siguientes elementos de la secuencia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300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Esquema de recorrido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301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29" name="28 Grupo"/>
          <p:cNvGrpSpPr/>
          <p:nvPr/>
        </p:nvGrpSpPr>
        <p:grpSpPr>
          <a:xfrm>
            <a:off x="3203848" y="2019646"/>
            <a:ext cx="1279169" cy="2616910"/>
            <a:chOff x="3203848" y="2470744"/>
            <a:chExt cx="1279169" cy="2616910"/>
          </a:xfrm>
        </p:grpSpPr>
        <p:cxnSp>
          <p:nvCxnSpPr>
            <p:cNvPr id="20" name="19 Conector recto de flecha"/>
            <p:cNvCxnSpPr/>
            <p:nvPr/>
          </p:nvCxnSpPr>
          <p:spPr>
            <a:xfrm>
              <a:off x="3203848" y="2479475"/>
              <a:ext cx="1261707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1" name="20 Conector recto de flecha"/>
            <p:cNvCxnSpPr/>
            <p:nvPr/>
          </p:nvCxnSpPr>
          <p:spPr>
            <a:xfrm rot="5400000">
              <a:off x="1915237" y="3778405"/>
              <a:ext cx="2616910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2" name="21 Conector recto de flecha"/>
            <p:cNvCxnSpPr/>
            <p:nvPr/>
          </p:nvCxnSpPr>
          <p:spPr>
            <a:xfrm rot="10800000">
              <a:off x="3204643" y="5075746"/>
              <a:ext cx="1278374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8" name="27 Grupo"/>
          <p:cNvGrpSpPr/>
          <p:nvPr/>
        </p:nvGrpSpPr>
        <p:grpSpPr>
          <a:xfrm>
            <a:off x="3427519" y="2852936"/>
            <a:ext cx="2099635" cy="1789174"/>
            <a:chOff x="3427519" y="3304034"/>
            <a:chExt cx="2099635" cy="1789174"/>
          </a:xfrm>
        </p:grpSpPr>
        <p:cxnSp>
          <p:nvCxnSpPr>
            <p:cNvPr id="6" name="5 Conector recto de flecha"/>
            <p:cNvCxnSpPr/>
            <p:nvPr/>
          </p:nvCxnSpPr>
          <p:spPr>
            <a:xfrm rot="5400000">
              <a:off x="4016513" y="4629875"/>
              <a:ext cx="92507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4" name="13 CuadroTexto"/>
            <p:cNvSpPr txBox="1"/>
            <p:nvPr/>
          </p:nvSpPr>
          <p:spPr>
            <a:xfrm>
              <a:off x="3563888" y="3304034"/>
              <a:ext cx="889987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  <p:sp>
          <p:nvSpPr>
            <p:cNvPr id="24" name="23 CuadroTexto"/>
            <p:cNvSpPr txBox="1"/>
            <p:nvPr/>
          </p:nvSpPr>
          <p:spPr>
            <a:xfrm>
              <a:off x="3427519" y="4456162"/>
              <a:ext cx="2099635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Procesar elemento</a:t>
              </a:r>
            </a:p>
          </p:txBody>
        </p:sp>
        <p:cxnSp>
          <p:nvCxnSpPr>
            <p:cNvPr id="25" name="24 Conector recto de flecha"/>
            <p:cNvCxnSpPr/>
            <p:nvPr/>
          </p:nvCxnSpPr>
          <p:spPr>
            <a:xfrm rot="16200000" flipH="1">
              <a:off x="4214286" y="3637558"/>
              <a:ext cx="542229" cy="1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7" name="6 CuadroTexto"/>
            <p:cNvSpPr txBox="1"/>
            <p:nvPr/>
          </p:nvSpPr>
          <p:spPr>
            <a:xfrm>
              <a:off x="3427519" y="3907371"/>
              <a:ext cx="2099635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Obtener elemento</a:t>
              </a:r>
            </a:p>
          </p:txBody>
        </p:sp>
      </p:grpSp>
      <p:grpSp>
        <p:nvGrpSpPr>
          <p:cNvPr id="30" name="29 Grupo"/>
          <p:cNvGrpSpPr/>
          <p:nvPr/>
        </p:nvGrpSpPr>
        <p:grpSpPr>
          <a:xfrm>
            <a:off x="3729315" y="2276872"/>
            <a:ext cx="2268545" cy="3617354"/>
            <a:chOff x="3729315" y="2727970"/>
            <a:chExt cx="2268545" cy="3617354"/>
          </a:xfrm>
        </p:grpSpPr>
        <p:cxnSp>
          <p:nvCxnSpPr>
            <p:cNvPr id="11" name="10 Conector recto de flecha"/>
            <p:cNvCxnSpPr/>
            <p:nvPr/>
          </p:nvCxnSpPr>
          <p:spPr>
            <a:xfrm>
              <a:off x="5376285" y="3130933"/>
              <a:ext cx="347843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5" name="14 CuadroTexto"/>
            <p:cNvSpPr txBox="1"/>
            <p:nvPr/>
          </p:nvSpPr>
          <p:spPr>
            <a:xfrm>
              <a:off x="5248937" y="2727970"/>
              <a:ext cx="748923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</a:p>
          </p:txBody>
        </p:sp>
        <p:cxnSp>
          <p:nvCxnSpPr>
            <p:cNvPr id="16" name="15 Conector recto de flecha"/>
            <p:cNvCxnSpPr/>
            <p:nvPr/>
          </p:nvCxnSpPr>
          <p:spPr>
            <a:xfrm rot="5400000">
              <a:off x="4590973" y="4248794"/>
              <a:ext cx="2226622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9" name="18 Conector recto de flecha"/>
            <p:cNvCxnSpPr/>
            <p:nvPr/>
          </p:nvCxnSpPr>
          <p:spPr>
            <a:xfrm>
              <a:off x="4456030" y="5343053"/>
              <a:ext cx="1258573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22 Conector recto de flecha"/>
            <p:cNvCxnSpPr>
              <a:endCxn id="36" idx="0"/>
            </p:cNvCxnSpPr>
            <p:nvPr/>
          </p:nvCxnSpPr>
          <p:spPr>
            <a:xfrm rot="16200000" flipH="1">
              <a:off x="4349569" y="5489414"/>
              <a:ext cx="262930" cy="8729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8" name="37 Conector recto de flecha"/>
            <p:cNvCxnSpPr/>
            <p:nvPr/>
          </p:nvCxnSpPr>
          <p:spPr>
            <a:xfrm rot="16200000" flipH="1">
              <a:off x="4304982" y="6164907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36" name="35 CuadroTexto"/>
            <p:cNvSpPr txBox="1"/>
            <p:nvPr/>
          </p:nvSpPr>
          <p:spPr>
            <a:xfrm>
              <a:off x="3729315" y="5625244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Finalización</a:t>
              </a:r>
            </a:p>
          </p:txBody>
        </p:sp>
      </p:grpSp>
      <p:grpSp>
        <p:nvGrpSpPr>
          <p:cNvPr id="27" name="26 Grupo"/>
          <p:cNvGrpSpPr/>
          <p:nvPr/>
        </p:nvGrpSpPr>
        <p:grpSpPr>
          <a:xfrm>
            <a:off x="3503283" y="1816249"/>
            <a:ext cx="1944216" cy="1119285"/>
            <a:chOff x="3503283" y="2267347"/>
            <a:chExt cx="1944216" cy="1119285"/>
          </a:xfrm>
        </p:grpSpPr>
        <p:cxnSp>
          <p:nvCxnSpPr>
            <p:cNvPr id="13" name="12 Conector recto de flecha"/>
            <p:cNvCxnSpPr>
              <a:stCxn id="17" idx="2"/>
              <a:endCxn id="12" idx="0"/>
            </p:cNvCxnSpPr>
            <p:nvPr/>
          </p:nvCxnSpPr>
          <p:spPr>
            <a:xfrm flipH="1">
              <a:off x="4475391" y="2267347"/>
              <a:ext cx="10008" cy="590251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2" name="11 Decisión"/>
            <p:cNvSpPr/>
            <p:nvPr/>
          </p:nvSpPr>
          <p:spPr>
            <a:xfrm>
              <a:off x="3503283" y="2857598"/>
              <a:ext cx="1944216" cy="529034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0" tIns="36000" rIns="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¿Al final?</a:t>
              </a:r>
            </a:p>
          </p:txBody>
        </p:sp>
      </p:grpSp>
      <p:grpSp>
        <p:nvGrpSpPr>
          <p:cNvPr id="26" name="25 Grupo"/>
          <p:cNvGrpSpPr/>
          <p:nvPr/>
        </p:nvGrpSpPr>
        <p:grpSpPr>
          <a:xfrm>
            <a:off x="3729315" y="1124744"/>
            <a:ext cx="1512168" cy="691505"/>
            <a:chOff x="3729315" y="1575842"/>
            <a:chExt cx="1512168" cy="691505"/>
          </a:xfrm>
        </p:grpSpPr>
        <p:sp>
          <p:nvSpPr>
            <p:cNvPr id="17" name="16 CuadroTexto"/>
            <p:cNvSpPr txBox="1"/>
            <p:nvPr/>
          </p:nvSpPr>
          <p:spPr>
            <a:xfrm>
              <a:off x="3729315" y="1907307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Inicialización</a:t>
              </a:r>
            </a:p>
          </p:txBody>
        </p:sp>
        <p:cxnSp>
          <p:nvCxnSpPr>
            <p:cNvPr id="18" name="17 Conector recto de flecha"/>
            <p:cNvCxnSpPr/>
            <p:nvPr/>
          </p:nvCxnSpPr>
          <p:spPr>
            <a:xfrm rot="16200000" flipH="1">
              <a:off x="4304982" y="1755465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32" name="31 Rectángulo"/>
          <p:cNvSpPr/>
          <p:nvPr/>
        </p:nvSpPr>
        <p:spPr>
          <a:xfrm>
            <a:off x="5820734" y="2918554"/>
            <a:ext cx="314375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>
              <a:spcAft>
                <a:spcPts val="1200"/>
              </a:spcAft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 sabemos cuántos</a:t>
            </a:r>
            <a:br>
              <a:rPr lang="es-ES" sz="2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elementos hay</a:t>
            </a:r>
            <a:br>
              <a:rPr lang="es-ES" sz="2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2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sym typeface="Wingdings" pitchFamily="2" charset="2"/>
              </a:rPr>
              <a:t> No podemos</a:t>
            </a:r>
            <a:br>
              <a:rPr lang="es-ES" sz="2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sym typeface="Wingdings" pitchFamily="2" charset="2"/>
              </a:rPr>
            </a:br>
            <a:r>
              <a:rPr lang="es-ES" sz="2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sym typeface="Wingdings" pitchFamily="2" charset="2"/>
              </a:rPr>
              <a:t>implementar con </a:t>
            </a:r>
            <a:r>
              <a:rPr lang="es-ES" sz="2200" dirty="0">
                <a:solidFill>
                  <a:srgbClr val="009DD9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for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Secuencias explícitas con centinela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61678"/>
            <a:ext cx="8363272" cy="5110178"/>
          </a:xfrm>
        </p:spPr>
        <p:txBody>
          <a:bodyPr>
            <a:normAutofit/>
          </a:bodyPr>
          <a:lstStyle/>
          <a:p>
            <a:pPr marL="0" lvl="1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8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Implementación con </a:t>
            </a:r>
            <a:r>
              <a:rPr lang="es-E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endParaRPr lang="es-ES" sz="2800" i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Inicialización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Obtener el primer elemento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Mientras no sea el centinela: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Procesar el elemento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Obtener el siguiente elemento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Finalización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302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31" name="30 Grupo"/>
          <p:cNvGrpSpPr/>
          <p:nvPr/>
        </p:nvGrpSpPr>
        <p:grpSpPr>
          <a:xfrm>
            <a:off x="5666420" y="2434740"/>
            <a:ext cx="1279169" cy="2616910"/>
            <a:chOff x="3203848" y="2470744"/>
            <a:chExt cx="1279169" cy="2616910"/>
          </a:xfrm>
        </p:grpSpPr>
        <p:cxnSp>
          <p:nvCxnSpPr>
            <p:cNvPr id="32" name="31 Conector recto de flecha"/>
            <p:cNvCxnSpPr/>
            <p:nvPr/>
          </p:nvCxnSpPr>
          <p:spPr>
            <a:xfrm>
              <a:off x="3203848" y="2479475"/>
              <a:ext cx="1261707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3" name="32 Conector recto de flecha"/>
            <p:cNvCxnSpPr/>
            <p:nvPr/>
          </p:nvCxnSpPr>
          <p:spPr>
            <a:xfrm rot="5400000">
              <a:off x="1915237" y="3778405"/>
              <a:ext cx="2616910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4" name="33 Conector recto de flecha"/>
            <p:cNvCxnSpPr/>
            <p:nvPr/>
          </p:nvCxnSpPr>
          <p:spPr>
            <a:xfrm rot="10800000">
              <a:off x="3204643" y="5075746"/>
              <a:ext cx="1278374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5" name="34 Grupo"/>
          <p:cNvGrpSpPr/>
          <p:nvPr/>
        </p:nvGrpSpPr>
        <p:grpSpPr>
          <a:xfrm>
            <a:off x="5890091" y="3268030"/>
            <a:ext cx="2099635" cy="1789174"/>
            <a:chOff x="3427519" y="3304034"/>
            <a:chExt cx="2099635" cy="1789174"/>
          </a:xfrm>
        </p:grpSpPr>
        <p:cxnSp>
          <p:nvCxnSpPr>
            <p:cNvPr id="36" name="35 Conector recto de flecha"/>
            <p:cNvCxnSpPr/>
            <p:nvPr/>
          </p:nvCxnSpPr>
          <p:spPr>
            <a:xfrm rot="5400000">
              <a:off x="4016513" y="4629875"/>
              <a:ext cx="92507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37" name="36 CuadroTexto"/>
            <p:cNvSpPr txBox="1"/>
            <p:nvPr/>
          </p:nvSpPr>
          <p:spPr>
            <a:xfrm>
              <a:off x="3563888" y="3304034"/>
              <a:ext cx="889987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  <p:sp>
          <p:nvSpPr>
            <p:cNvPr id="38" name="37 CuadroTexto"/>
            <p:cNvSpPr txBox="1"/>
            <p:nvPr/>
          </p:nvSpPr>
          <p:spPr>
            <a:xfrm>
              <a:off x="3427519" y="3897052"/>
              <a:ext cx="2099635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Procesar elemento</a:t>
              </a:r>
            </a:p>
          </p:txBody>
        </p:sp>
        <p:cxnSp>
          <p:nvCxnSpPr>
            <p:cNvPr id="39" name="38 Conector recto de flecha"/>
            <p:cNvCxnSpPr/>
            <p:nvPr/>
          </p:nvCxnSpPr>
          <p:spPr>
            <a:xfrm rot="16200000" flipH="1">
              <a:off x="4214286" y="3637558"/>
              <a:ext cx="542229" cy="1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40" name="39 CuadroTexto"/>
            <p:cNvSpPr txBox="1"/>
            <p:nvPr/>
          </p:nvSpPr>
          <p:spPr>
            <a:xfrm>
              <a:off x="3427519" y="4473116"/>
              <a:ext cx="2099635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Obtener siguiente</a:t>
              </a:r>
            </a:p>
          </p:txBody>
        </p:sp>
      </p:grpSp>
      <p:grpSp>
        <p:nvGrpSpPr>
          <p:cNvPr id="41" name="40 Grupo"/>
          <p:cNvGrpSpPr/>
          <p:nvPr/>
        </p:nvGrpSpPr>
        <p:grpSpPr>
          <a:xfrm>
            <a:off x="6182362" y="2691966"/>
            <a:ext cx="2278070" cy="3607829"/>
            <a:chOff x="3719790" y="2727970"/>
            <a:chExt cx="2278070" cy="3607829"/>
          </a:xfrm>
        </p:grpSpPr>
        <p:cxnSp>
          <p:nvCxnSpPr>
            <p:cNvPr id="42" name="41 Conector recto de flecha"/>
            <p:cNvCxnSpPr/>
            <p:nvPr/>
          </p:nvCxnSpPr>
          <p:spPr>
            <a:xfrm>
              <a:off x="5376285" y="3130933"/>
              <a:ext cx="347843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43" name="42 CuadroTexto"/>
            <p:cNvSpPr txBox="1"/>
            <p:nvPr/>
          </p:nvSpPr>
          <p:spPr>
            <a:xfrm>
              <a:off x="5248937" y="2727970"/>
              <a:ext cx="748923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</a:p>
          </p:txBody>
        </p:sp>
        <p:cxnSp>
          <p:nvCxnSpPr>
            <p:cNvPr id="44" name="43 Conector recto de flecha"/>
            <p:cNvCxnSpPr/>
            <p:nvPr/>
          </p:nvCxnSpPr>
          <p:spPr>
            <a:xfrm rot="5400000">
              <a:off x="4590973" y="4248794"/>
              <a:ext cx="2226622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5" name="44 Conector recto de flecha"/>
            <p:cNvCxnSpPr/>
            <p:nvPr/>
          </p:nvCxnSpPr>
          <p:spPr>
            <a:xfrm>
              <a:off x="4456030" y="5343053"/>
              <a:ext cx="1258573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6" name="45 Conector recto de flecha"/>
            <p:cNvCxnSpPr>
              <a:endCxn id="48" idx="0"/>
            </p:cNvCxnSpPr>
            <p:nvPr/>
          </p:nvCxnSpPr>
          <p:spPr>
            <a:xfrm rot="16200000" flipH="1">
              <a:off x="4340044" y="5479889"/>
              <a:ext cx="262930" cy="8729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7" name="46 Conector recto de flecha"/>
            <p:cNvCxnSpPr/>
            <p:nvPr/>
          </p:nvCxnSpPr>
          <p:spPr>
            <a:xfrm rot="16200000" flipH="1">
              <a:off x="4295457" y="6155382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48" name="47 CuadroTexto"/>
            <p:cNvSpPr txBox="1"/>
            <p:nvPr/>
          </p:nvSpPr>
          <p:spPr>
            <a:xfrm>
              <a:off x="3719790" y="5615719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Finalización</a:t>
              </a:r>
            </a:p>
          </p:txBody>
        </p:sp>
      </p:grpSp>
      <p:sp>
        <p:nvSpPr>
          <p:cNvPr id="51" name="50 Decisión"/>
          <p:cNvSpPr/>
          <p:nvPr/>
        </p:nvSpPr>
        <p:spPr>
          <a:xfrm>
            <a:off x="5890092" y="2821594"/>
            <a:ext cx="2099634" cy="529034"/>
          </a:xfrm>
          <a:prstGeom prst="flowChartDecision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0" tIns="36000" rIns="0" bIns="36000" rtlCol="0" anchor="ctr" anchorCtr="0">
            <a:noAutofit/>
          </a:bodyPr>
          <a:lstStyle/>
          <a:p>
            <a:pPr algn="ctr"/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¿Centinela?</a:t>
            </a:r>
          </a:p>
        </p:txBody>
      </p:sp>
      <p:grpSp>
        <p:nvGrpSpPr>
          <p:cNvPr id="55" name="54 Grupo"/>
          <p:cNvGrpSpPr/>
          <p:nvPr/>
        </p:nvGrpSpPr>
        <p:grpSpPr>
          <a:xfrm>
            <a:off x="6191887" y="1081311"/>
            <a:ext cx="1512168" cy="691505"/>
            <a:chOff x="6191887" y="1081311"/>
            <a:chExt cx="1512168" cy="691505"/>
          </a:xfrm>
        </p:grpSpPr>
        <p:sp>
          <p:nvSpPr>
            <p:cNvPr id="53" name="52 CuadroTexto"/>
            <p:cNvSpPr txBox="1"/>
            <p:nvPr/>
          </p:nvSpPr>
          <p:spPr>
            <a:xfrm>
              <a:off x="6191887" y="1412776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Inicialización</a:t>
              </a:r>
            </a:p>
          </p:txBody>
        </p:sp>
        <p:cxnSp>
          <p:nvCxnSpPr>
            <p:cNvPr id="54" name="53 Conector recto de flecha"/>
            <p:cNvCxnSpPr/>
            <p:nvPr/>
          </p:nvCxnSpPr>
          <p:spPr>
            <a:xfrm rot="16200000" flipH="1">
              <a:off x="6767554" y="1260934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56" name="55 Grupo"/>
          <p:cNvGrpSpPr/>
          <p:nvPr/>
        </p:nvGrpSpPr>
        <p:grpSpPr>
          <a:xfrm>
            <a:off x="6191889" y="1772816"/>
            <a:ext cx="1512168" cy="1048778"/>
            <a:chOff x="6191889" y="1772816"/>
            <a:chExt cx="1512168" cy="1048778"/>
          </a:xfrm>
        </p:grpSpPr>
        <p:cxnSp>
          <p:nvCxnSpPr>
            <p:cNvPr id="50" name="49 Conector recto de flecha"/>
            <p:cNvCxnSpPr>
              <a:stCxn id="53" idx="2"/>
              <a:endCxn id="51" idx="0"/>
            </p:cNvCxnSpPr>
            <p:nvPr/>
          </p:nvCxnSpPr>
          <p:spPr>
            <a:xfrm flipH="1">
              <a:off x="6939909" y="1772816"/>
              <a:ext cx="8062" cy="104877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61" name="60 CuadroTexto"/>
            <p:cNvSpPr txBox="1"/>
            <p:nvPr/>
          </p:nvSpPr>
          <p:spPr>
            <a:xfrm>
              <a:off x="6191889" y="1916832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Obtener 1º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Secuencias explícitas leídas del teclado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61678"/>
            <a:ext cx="8363272" cy="5110178"/>
          </a:xfrm>
        </p:spPr>
        <p:txBody>
          <a:bodyPr>
            <a:normAutofit/>
          </a:bodyPr>
          <a:lstStyle/>
          <a:p>
            <a:pPr marL="0" lvl="1" indent="0">
              <a:spcBef>
                <a:spcPts val="0"/>
              </a:spcBef>
              <a:spcAft>
                <a:spcPts val="12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800" i="1" dirty="0">
                <a:solidFill>
                  <a:srgbClr val="04617B">
                    <a:lumMod val="20000"/>
                    <a:lumOff val="80000"/>
                  </a:srgbClr>
                </a:solidFill>
              </a:rPr>
              <a:t>Secuencia de números positivos</a:t>
            </a:r>
          </a:p>
          <a:p>
            <a:pPr marL="361950" lvl="1" indent="0" defTabSz="6153150">
              <a:spcBef>
                <a:spcPts val="0"/>
              </a:spcBef>
              <a:buNone/>
              <a:tabLst>
                <a:tab pos="7534275" algn="r"/>
              </a:tabLst>
            </a:pPr>
            <a:r>
              <a:rPr lang="es-ES" dirty="0"/>
              <a:t>Siempre se realiza al menos una lectura</a:t>
            </a:r>
          </a:p>
          <a:p>
            <a:pPr marL="361950" lvl="1" indent="0" defTabSz="6153150">
              <a:spcBef>
                <a:spcPts val="0"/>
              </a:spcBef>
              <a:spcAft>
                <a:spcPts val="1800"/>
              </a:spcAft>
              <a:buNone/>
              <a:tabLst>
                <a:tab pos="7534275" algn="r"/>
              </a:tabLst>
            </a:pPr>
            <a:r>
              <a:rPr lang="es-ES" dirty="0"/>
              <a:t>Centinela: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-1</a:t>
            </a:r>
          </a:p>
          <a:p>
            <a:pPr marL="361950" lvl="1" indent="1588">
              <a:lnSpc>
                <a:spcPct val="110000"/>
              </a:lnSpc>
              <a:spcBef>
                <a:spcPts val="0"/>
              </a:spcBef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dirty="0">
                <a:latin typeface="Consolas" pitchFamily="49" charset="0"/>
              </a:rPr>
              <a:t> d, suma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marL="361950" lvl="1" indent="1588">
              <a:lnSpc>
                <a:spcPct val="110000"/>
              </a:lnSpc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cout &lt;&lt;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"Valor (-1 termina): "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marL="361950" lvl="1" indent="1588">
              <a:lnSpc>
                <a:spcPct val="110000"/>
              </a:lnSpc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cin &gt;&gt; d;</a:t>
            </a:r>
          </a:p>
          <a:p>
            <a:pPr marL="361950" lvl="1" indent="1588">
              <a:lnSpc>
                <a:spcPct val="110000"/>
              </a:lnSpc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while </a:t>
            </a:r>
            <a:r>
              <a:rPr lang="es-ES" dirty="0">
                <a:latin typeface="Consolas" pitchFamily="49" charset="0"/>
              </a:rPr>
              <a:t>(d !=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-1</a:t>
            </a:r>
            <a:r>
              <a:rPr lang="es-ES" dirty="0">
                <a:latin typeface="Consolas" pitchFamily="49" charset="0"/>
              </a:rPr>
              <a:t>) {</a:t>
            </a:r>
            <a:endParaRPr lang="es-ES" dirty="0">
              <a:solidFill>
                <a:srgbClr val="92D050"/>
              </a:solidFill>
              <a:latin typeface="Consolas" pitchFamily="49" charset="0"/>
            </a:endParaRPr>
          </a:p>
          <a:p>
            <a:pPr marL="361950" lvl="1" indent="1588">
              <a:lnSpc>
                <a:spcPct val="110000"/>
              </a:lnSpc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suma = suma + d;</a:t>
            </a:r>
          </a:p>
          <a:p>
            <a:pPr marL="361950" lvl="1" indent="1588">
              <a:lnSpc>
                <a:spcPct val="110000"/>
              </a:lnSpc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cout &lt;&lt;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"Valor (-1 termina): "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marL="361950" lvl="1" indent="1588">
              <a:lnSpc>
                <a:spcPct val="110000"/>
              </a:lnSpc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cin &gt;&gt; d;</a:t>
            </a:r>
          </a:p>
          <a:p>
            <a:pPr marL="361950" lvl="1" indent="1588">
              <a:lnSpc>
                <a:spcPct val="110000"/>
              </a:lnSpc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}</a:t>
            </a:r>
          </a:p>
          <a:p>
            <a:pPr marL="361950" lvl="1" indent="1588">
              <a:lnSpc>
                <a:spcPct val="110000"/>
              </a:lnSpc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cout &lt;&lt;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"Suma = " </a:t>
            </a:r>
            <a:r>
              <a:rPr lang="es-ES" dirty="0">
                <a:latin typeface="Consolas" pitchFamily="49" charset="0"/>
              </a:rPr>
              <a:t>&lt;&lt; suma &lt;&lt; endl;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303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21" name="20 Grupo"/>
          <p:cNvGrpSpPr/>
          <p:nvPr/>
        </p:nvGrpSpPr>
        <p:grpSpPr>
          <a:xfrm>
            <a:off x="3923928" y="2492896"/>
            <a:ext cx="3756557" cy="400110"/>
            <a:chOff x="3923928" y="2583954"/>
            <a:chExt cx="3756557" cy="400110"/>
          </a:xfrm>
        </p:grpSpPr>
        <p:sp>
          <p:nvSpPr>
            <p:cNvPr id="7" name="6 CuadroTexto"/>
            <p:cNvSpPr txBox="1"/>
            <p:nvPr/>
          </p:nvSpPr>
          <p:spPr>
            <a:xfrm>
              <a:off x="6059785" y="2583954"/>
              <a:ext cx="1620700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Inicialización</a:t>
              </a:r>
            </a:p>
          </p:txBody>
        </p:sp>
        <p:cxnSp>
          <p:nvCxnSpPr>
            <p:cNvPr id="9" name="8 Conector recto"/>
            <p:cNvCxnSpPr/>
            <p:nvPr/>
          </p:nvCxnSpPr>
          <p:spPr>
            <a:xfrm>
              <a:off x="3923928" y="2784887"/>
              <a:ext cx="2135857" cy="0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21 Grupo"/>
          <p:cNvGrpSpPr/>
          <p:nvPr/>
        </p:nvGrpSpPr>
        <p:grpSpPr>
          <a:xfrm>
            <a:off x="5915769" y="2977902"/>
            <a:ext cx="2171494" cy="604639"/>
            <a:chOff x="5915769" y="2953286"/>
            <a:chExt cx="2171494" cy="604639"/>
          </a:xfrm>
        </p:grpSpPr>
        <p:sp>
          <p:nvSpPr>
            <p:cNvPr id="10" name="9 Cerrar llave"/>
            <p:cNvSpPr/>
            <p:nvPr/>
          </p:nvSpPr>
          <p:spPr>
            <a:xfrm>
              <a:off x="5915769" y="2953286"/>
              <a:ext cx="144016" cy="604639"/>
            </a:xfrm>
            <a:prstGeom prst="rightBrace">
              <a:avLst>
                <a:gd name="adj1" fmla="val 75000"/>
                <a:gd name="adj2" fmla="val 50000"/>
              </a:avLst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10 CuadroTexto"/>
            <p:cNvSpPr txBox="1"/>
            <p:nvPr/>
          </p:nvSpPr>
          <p:spPr>
            <a:xfrm>
              <a:off x="6059785" y="3044577"/>
              <a:ext cx="2027478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Primer elemento</a:t>
              </a:r>
            </a:p>
          </p:txBody>
        </p:sp>
      </p:grpSp>
      <p:grpSp>
        <p:nvGrpSpPr>
          <p:cNvPr id="23" name="22 Grupo"/>
          <p:cNvGrpSpPr/>
          <p:nvPr/>
        </p:nvGrpSpPr>
        <p:grpSpPr>
          <a:xfrm>
            <a:off x="3923928" y="3595662"/>
            <a:ext cx="4932264" cy="400110"/>
            <a:chOff x="3923928" y="3686720"/>
            <a:chExt cx="4932264" cy="400110"/>
          </a:xfrm>
        </p:grpSpPr>
        <p:cxnSp>
          <p:nvCxnSpPr>
            <p:cNvPr id="12" name="11 Conector recto"/>
            <p:cNvCxnSpPr/>
            <p:nvPr/>
          </p:nvCxnSpPr>
          <p:spPr>
            <a:xfrm>
              <a:off x="3923928" y="3892986"/>
              <a:ext cx="2135857" cy="0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12 CuadroTexto"/>
            <p:cNvSpPr txBox="1"/>
            <p:nvPr/>
          </p:nvSpPr>
          <p:spPr>
            <a:xfrm>
              <a:off x="6059785" y="3686720"/>
              <a:ext cx="2796407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Mientras no el centinela</a:t>
              </a:r>
            </a:p>
          </p:txBody>
        </p:sp>
      </p:grpSp>
      <p:grpSp>
        <p:nvGrpSpPr>
          <p:cNvPr id="24" name="23 Grupo"/>
          <p:cNvGrpSpPr/>
          <p:nvPr/>
        </p:nvGrpSpPr>
        <p:grpSpPr>
          <a:xfrm>
            <a:off x="3923928" y="3989377"/>
            <a:ext cx="4361531" cy="400110"/>
            <a:chOff x="3923928" y="3984044"/>
            <a:chExt cx="4361531" cy="400110"/>
          </a:xfrm>
        </p:grpSpPr>
        <p:cxnSp>
          <p:nvCxnSpPr>
            <p:cNvPr id="14" name="13 Conector recto"/>
            <p:cNvCxnSpPr/>
            <p:nvPr/>
          </p:nvCxnSpPr>
          <p:spPr>
            <a:xfrm>
              <a:off x="3923928" y="4190310"/>
              <a:ext cx="2135857" cy="0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14 CuadroTexto"/>
            <p:cNvSpPr txBox="1"/>
            <p:nvPr/>
          </p:nvSpPr>
          <p:spPr>
            <a:xfrm>
              <a:off x="6059785" y="3984044"/>
              <a:ext cx="2225674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Procesar elemento</a:t>
              </a:r>
            </a:p>
          </p:txBody>
        </p:sp>
      </p:grpSp>
      <p:grpSp>
        <p:nvGrpSpPr>
          <p:cNvPr id="25" name="24 Grupo"/>
          <p:cNvGrpSpPr/>
          <p:nvPr/>
        </p:nvGrpSpPr>
        <p:grpSpPr>
          <a:xfrm>
            <a:off x="6228184" y="4418062"/>
            <a:ext cx="2417715" cy="604639"/>
            <a:chOff x="5915769" y="4296459"/>
            <a:chExt cx="2417715" cy="604639"/>
          </a:xfrm>
        </p:grpSpPr>
        <p:sp>
          <p:nvSpPr>
            <p:cNvPr id="16" name="15 Cerrar llave"/>
            <p:cNvSpPr/>
            <p:nvPr/>
          </p:nvSpPr>
          <p:spPr>
            <a:xfrm>
              <a:off x="5915769" y="4296459"/>
              <a:ext cx="144016" cy="604639"/>
            </a:xfrm>
            <a:prstGeom prst="rightBrace">
              <a:avLst>
                <a:gd name="adj1" fmla="val 75000"/>
                <a:gd name="adj2" fmla="val 50000"/>
              </a:avLst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16 CuadroTexto"/>
            <p:cNvSpPr txBox="1"/>
            <p:nvPr/>
          </p:nvSpPr>
          <p:spPr>
            <a:xfrm>
              <a:off x="6059785" y="4387750"/>
              <a:ext cx="2273699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Siguiente elemento</a:t>
              </a:r>
            </a:p>
          </p:txBody>
        </p:sp>
      </p:grpSp>
      <p:grpSp>
        <p:nvGrpSpPr>
          <p:cNvPr id="26" name="25 Grupo"/>
          <p:cNvGrpSpPr/>
          <p:nvPr/>
        </p:nvGrpSpPr>
        <p:grpSpPr>
          <a:xfrm>
            <a:off x="6294663" y="5429537"/>
            <a:ext cx="1733721" cy="400110"/>
            <a:chOff x="5820127" y="5189130"/>
            <a:chExt cx="1733721" cy="400110"/>
          </a:xfrm>
        </p:grpSpPr>
        <p:sp>
          <p:nvSpPr>
            <p:cNvPr id="18" name="17 CuadroTexto"/>
            <p:cNvSpPr txBox="1"/>
            <p:nvPr/>
          </p:nvSpPr>
          <p:spPr>
            <a:xfrm>
              <a:off x="6059785" y="5189130"/>
              <a:ext cx="1494063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Finalización</a:t>
              </a:r>
            </a:p>
          </p:txBody>
        </p:sp>
        <p:cxnSp>
          <p:nvCxnSpPr>
            <p:cNvPr id="19" name="18 Conector recto"/>
            <p:cNvCxnSpPr/>
            <p:nvPr/>
          </p:nvCxnSpPr>
          <p:spPr>
            <a:xfrm>
              <a:off x="5820127" y="5390063"/>
              <a:ext cx="239658" cy="0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Secuencias explícitas leídas del teclado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61678"/>
            <a:ext cx="8363272" cy="5284804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Longitud de </a:t>
            </a:r>
            <a:r>
              <a:rPr lang="es-ES" sz="2800">
                <a:solidFill>
                  <a:schemeClr val="bg2">
                    <a:lumMod val="20000"/>
                    <a:lumOff val="80000"/>
                  </a:schemeClr>
                </a:solidFill>
              </a:rPr>
              <a:t>una secuencia </a:t>
            </a: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de caracteres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Centinela: carácter punto (</a:t>
            </a:r>
            <a:r>
              <a:rPr lang="es-ES" dirty="0">
                <a:latin typeface="Consolas" pitchFamily="49" charset="0"/>
              </a:rPr>
              <a:t>.</a:t>
            </a:r>
            <a:r>
              <a:rPr lang="es-ES" dirty="0"/>
              <a:t>)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304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16" name="15 CuadroTexto"/>
          <p:cNvSpPr txBox="1"/>
          <p:nvPr/>
        </p:nvSpPr>
        <p:spPr>
          <a:xfrm>
            <a:off x="6986273" y="942861"/>
            <a:ext cx="1704313" cy="369332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longitud.cpp</a:t>
            </a:r>
          </a:p>
        </p:txBody>
      </p:sp>
      <p:sp>
        <p:nvSpPr>
          <p:cNvPr id="7" name="6 Rectángulo"/>
          <p:cNvSpPr/>
          <p:nvPr/>
        </p:nvSpPr>
        <p:spPr>
          <a:xfrm>
            <a:off x="467544" y="2132856"/>
            <a:ext cx="8208912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1950" lvl="1" indent="1588">
              <a:spcBef>
                <a:spcPts val="0"/>
              </a:spcBef>
              <a:buNone/>
            </a:pPr>
            <a:r>
              <a:rPr lang="es-ES" sz="2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longitud()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sz="2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int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l = </a:t>
            </a:r>
            <a:r>
              <a:rPr lang="es-ES" sz="2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sz="2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char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c;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cout &lt;&lt; </a:t>
            </a:r>
            <a:r>
              <a:rPr lang="es-ES" sz="2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"Texto terminado en punto: "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cin &gt;&gt; c;          </a:t>
            </a:r>
            <a:r>
              <a:rPr lang="es-ES" sz="22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 Obtener primer carácter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sz="22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while 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(c != </a:t>
            </a:r>
            <a:r>
              <a:rPr lang="es-ES" sz="2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'.'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{ </a:t>
            </a:r>
            <a:r>
              <a:rPr lang="es-ES" sz="22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 Mientras no el centinela</a:t>
            </a:r>
            <a:endParaRPr lang="es-E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pPr marL="361950" lvl="1" indent="1588">
              <a:spcBef>
                <a:spcPts val="0"/>
              </a:spcBef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l++;            </a:t>
            </a:r>
            <a:r>
              <a:rPr lang="es-ES" sz="22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 Procesar</a:t>
            </a:r>
            <a:endParaRPr lang="es-E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pPr marL="361950" lvl="1" indent="1588">
              <a:spcBef>
                <a:spcPts val="0"/>
              </a:spcBef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cin &gt;&gt; c;       </a:t>
            </a:r>
            <a:r>
              <a:rPr lang="es-ES" sz="2200" spc="-8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 Obtener siguiente carácter</a:t>
            </a:r>
            <a:endParaRPr lang="es-ES" sz="2200" spc="-8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pPr marL="361950" lvl="1" indent="1588">
              <a:spcBef>
                <a:spcPts val="0"/>
              </a:spcBef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22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return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l;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7" grpId="0" uiExpand="1" build="p" bldLvl="2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Secuencias explícitas leídas del teclado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61678"/>
            <a:ext cx="8363272" cy="5284804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¿Cuántas veces aparece un carácter en una cadena?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Centinela: asterisco (</a:t>
            </a:r>
            <a:r>
              <a:rPr lang="es-ES" dirty="0">
                <a:latin typeface="Consolas" pitchFamily="49" charset="0"/>
              </a:rPr>
              <a:t>*</a:t>
            </a:r>
            <a:r>
              <a:rPr lang="es-ES" dirty="0"/>
              <a:t>)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305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16" name="15 CuadroTexto"/>
          <p:cNvSpPr txBox="1"/>
          <p:nvPr/>
        </p:nvSpPr>
        <p:spPr>
          <a:xfrm>
            <a:off x="7492822" y="1691516"/>
            <a:ext cx="1197764" cy="369332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cont.cpp</a:t>
            </a:r>
          </a:p>
        </p:txBody>
      </p:sp>
      <p:sp>
        <p:nvSpPr>
          <p:cNvPr id="7" name="6 Rectángulo"/>
          <p:cNvSpPr/>
          <p:nvPr/>
        </p:nvSpPr>
        <p:spPr>
          <a:xfrm>
            <a:off x="467544" y="2060848"/>
            <a:ext cx="8280920" cy="4221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_tradnl" sz="2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char </a:t>
            </a: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buscado, c;</a:t>
            </a:r>
          </a:p>
          <a:p>
            <a:pPr marL="361950" lvl="1" indent="1588">
              <a:lnSpc>
                <a:spcPts val="2300"/>
              </a:lnSpc>
            </a:pPr>
            <a:r>
              <a:rPr lang="es-ES_tradnl" sz="2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 </a:t>
            </a:r>
            <a:r>
              <a:rPr lang="es-ES_tradnl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cont</a:t>
            </a: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= </a:t>
            </a:r>
            <a:r>
              <a:rPr lang="es-ES_tradnl" sz="2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</a:t>
            </a: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cout &lt;&lt; </a:t>
            </a:r>
            <a:r>
              <a:rPr lang="es-ES_tradnl" sz="2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"Carácter a buscar: "</a:t>
            </a: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cin &gt;&gt; buscado;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cout &lt;&lt; </a:t>
            </a:r>
            <a:r>
              <a:rPr lang="es-ES_tradnl" sz="2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"Cadena: "</a:t>
            </a: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cin &gt;&gt; c;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_tradnl" sz="22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while </a:t>
            </a: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(c != </a:t>
            </a:r>
            <a:r>
              <a:rPr lang="es-ES_tradnl" sz="2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'*'</a:t>
            </a: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{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_tradnl" sz="22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if </a:t>
            </a: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(c == buscado) {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</a:t>
            </a:r>
            <a:r>
              <a:rPr lang="es-ES_tradnl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cont</a:t>
            </a: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++;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cin &gt;&gt; c;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cout &lt;&lt; buscado &lt;&lt; </a:t>
            </a:r>
            <a:r>
              <a:rPr lang="es-ES_tradnl" sz="2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 aparece "</a:t>
            </a: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&lt;&lt; </a:t>
            </a:r>
            <a:r>
              <a:rPr lang="es-ES_tradnl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cont</a:t>
            </a: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</a:p>
          <a:p>
            <a:pPr marL="361950" lvl="1" indent="1588">
              <a:lnSpc>
                <a:spcPts val="2300"/>
              </a:lnSpc>
              <a:spcBef>
                <a:spcPts val="0"/>
              </a:spcBef>
              <a:buNone/>
            </a:pP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&lt;&lt; </a:t>
            </a:r>
            <a:r>
              <a:rPr lang="es-ES_tradnl" sz="2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 veces."</a:t>
            </a:r>
            <a:r>
              <a:rPr lang="es-ES_tradnl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</p:txBody>
      </p:sp>
      <p:grpSp>
        <p:nvGrpSpPr>
          <p:cNvPr id="11" name="10 Grupo"/>
          <p:cNvGrpSpPr/>
          <p:nvPr/>
        </p:nvGrpSpPr>
        <p:grpSpPr>
          <a:xfrm>
            <a:off x="4799929" y="3789040"/>
            <a:ext cx="3156447" cy="400110"/>
            <a:chOff x="4860032" y="3686720"/>
            <a:chExt cx="3156447" cy="400110"/>
          </a:xfrm>
        </p:grpSpPr>
        <p:cxnSp>
          <p:nvCxnSpPr>
            <p:cNvPr id="12" name="11 Conector recto"/>
            <p:cNvCxnSpPr/>
            <p:nvPr/>
          </p:nvCxnSpPr>
          <p:spPr>
            <a:xfrm>
              <a:off x="4860032" y="3892986"/>
              <a:ext cx="360040" cy="0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12 CuadroTexto"/>
            <p:cNvSpPr txBox="1"/>
            <p:nvPr/>
          </p:nvSpPr>
          <p:spPr>
            <a:xfrm>
              <a:off x="5220072" y="3686720"/>
              <a:ext cx="2796407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Mientras no el centinela</a:t>
              </a:r>
            </a:p>
          </p:txBody>
        </p:sp>
      </p:grpSp>
      <p:grpSp>
        <p:nvGrpSpPr>
          <p:cNvPr id="22" name="21 Grupo"/>
          <p:cNvGrpSpPr/>
          <p:nvPr/>
        </p:nvGrpSpPr>
        <p:grpSpPr>
          <a:xfrm>
            <a:off x="4932040" y="4189151"/>
            <a:ext cx="2448272" cy="761776"/>
            <a:chOff x="5837187" y="4296459"/>
            <a:chExt cx="2448272" cy="604639"/>
          </a:xfrm>
        </p:grpSpPr>
        <p:sp>
          <p:nvSpPr>
            <p:cNvPr id="23" name="22 Cerrar llave"/>
            <p:cNvSpPr/>
            <p:nvPr/>
          </p:nvSpPr>
          <p:spPr>
            <a:xfrm>
              <a:off x="5837187" y="4296459"/>
              <a:ext cx="144016" cy="604639"/>
            </a:xfrm>
            <a:prstGeom prst="rightBrace">
              <a:avLst>
                <a:gd name="adj1" fmla="val 75000"/>
                <a:gd name="adj2" fmla="val 50000"/>
              </a:avLst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4" name="23 CuadroTexto"/>
            <p:cNvSpPr txBox="1"/>
            <p:nvPr/>
          </p:nvSpPr>
          <p:spPr>
            <a:xfrm>
              <a:off x="6059785" y="4425551"/>
              <a:ext cx="2225674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Procesar elemento</a:t>
              </a:r>
            </a:p>
          </p:txBody>
        </p:sp>
      </p:grpSp>
      <p:grpSp>
        <p:nvGrpSpPr>
          <p:cNvPr id="26" name="25 Grupo"/>
          <p:cNvGrpSpPr/>
          <p:nvPr/>
        </p:nvGrpSpPr>
        <p:grpSpPr>
          <a:xfrm>
            <a:off x="4799929" y="4950926"/>
            <a:ext cx="2633739" cy="400110"/>
            <a:chOff x="4860032" y="3686720"/>
            <a:chExt cx="2633739" cy="400110"/>
          </a:xfrm>
        </p:grpSpPr>
        <p:cxnSp>
          <p:nvCxnSpPr>
            <p:cNvPr id="27" name="26 Conector recto"/>
            <p:cNvCxnSpPr/>
            <p:nvPr/>
          </p:nvCxnSpPr>
          <p:spPr>
            <a:xfrm>
              <a:off x="4860032" y="3892986"/>
              <a:ext cx="360040" cy="0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27 CuadroTexto"/>
            <p:cNvSpPr txBox="1"/>
            <p:nvPr/>
          </p:nvSpPr>
          <p:spPr>
            <a:xfrm>
              <a:off x="5220072" y="3686720"/>
              <a:ext cx="2273699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Siguiente elemento</a:t>
              </a:r>
            </a:p>
          </p:txBody>
        </p:sp>
      </p:grpSp>
      <p:grpSp>
        <p:nvGrpSpPr>
          <p:cNvPr id="29" name="28 Grupo"/>
          <p:cNvGrpSpPr/>
          <p:nvPr/>
        </p:nvGrpSpPr>
        <p:grpSpPr>
          <a:xfrm>
            <a:off x="4799929" y="3501008"/>
            <a:ext cx="2387518" cy="400110"/>
            <a:chOff x="4860032" y="3686720"/>
            <a:chExt cx="2387518" cy="400110"/>
          </a:xfrm>
        </p:grpSpPr>
        <p:cxnSp>
          <p:nvCxnSpPr>
            <p:cNvPr id="30" name="29 Conector recto"/>
            <p:cNvCxnSpPr/>
            <p:nvPr/>
          </p:nvCxnSpPr>
          <p:spPr>
            <a:xfrm>
              <a:off x="4860032" y="3892986"/>
              <a:ext cx="360040" cy="0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30 CuadroTexto"/>
            <p:cNvSpPr txBox="1"/>
            <p:nvPr/>
          </p:nvSpPr>
          <p:spPr>
            <a:xfrm>
              <a:off x="5220072" y="3686720"/>
              <a:ext cx="2027478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Primer elemento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7" grpId="0" uiExpand="1" build="p" bldLvl="2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306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934286" y="3044280"/>
            <a:ext cx="5275675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Secuencias calculadas</a:t>
            </a:r>
            <a:endParaRPr lang="es-ES" sz="2400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284804"/>
          </a:xfrm>
        </p:spPr>
        <p:txBody>
          <a:bodyPr>
            <a:normAutofit/>
          </a:bodyPr>
          <a:lstStyle/>
          <a:p>
            <a:pPr marL="0" lvl="1" indent="1588" defTabSz="1095375">
              <a:spcBef>
                <a:spcPts val="0"/>
              </a:spcBef>
              <a:spcAft>
                <a:spcPts val="600"/>
              </a:spcAft>
              <a:buNone/>
              <a:tabLst>
                <a:tab pos="2514600" algn="l"/>
                <a:tab pos="5019675" algn="l"/>
              </a:tabLst>
            </a:pPr>
            <a:r>
              <a:rPr lang="es-ES" sz="28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Recurrencia:	e</a:t>
            </a:r>
            <a:r>
              <a:rPr lang="es-ES" sz="2800" i="1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i+1</a:t>
            </a:r>
            <a:r>
              <a:rPr lang="es-ES" sz="28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= </a:t>
            </a:r>
            <a:r>
              <a:rPr lang="es-ES" sz="2800" i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e</a:t>
            </a:r>
            <a:r>
              <a:rPr lang="es-ES" sz="2800" i="1" baseline="-250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i</a:t>
            </a:r>
            <a:r>
              <a:rPr lang="es-ES" sz="28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+ 1	e</a:t>
            </a:r>
            <a:r>
              <a:rPr lang="es-ES" sz="2800" i="1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es-ES" sz="28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= 1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1  2  3  4  5  6  7  8  ...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0" dirty="0"/>
              <a:t>Suma de los números de </a:t>
            </a:r>
            <a:r>
              <a:rPr lang="es-ES"/>
              <a:t>l</a:t>
            </a:r>
            <a:r>
              <a:rPr lang="es-ES" i="0"/>
              <a:t>a secuencia </a:t>
            </a:r>
            <a:r>
              <a:rPr lang="es-ES" i="0" dirty="0"/>
              <a:t>calculada:</a:t>
            </a:r>
            <a:endParaRPr lang="es-ES" dirty="0"/>
          </a:p>
        </p:txBody>
      </p:sp>
      <p:sp>
        <p:nvSpPr>
          <p:cNvPr id="13" name="12 Rectángulo"/>
          <p:cNvSpPr/>
          <p:nvPr/>
        </p:nvSpPr>
        <p:spPr>
          <a:xfrm>
            <a:off x="457200" y="2420888"/>
            <a:ext cx="823338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 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main()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int 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num;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cout &lt;&lt;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"N = "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cin &gt;&gt; num;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cout &lt;&lt;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"Sumatorio:"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&lt;&lt; suma(num);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return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  <a:p>
            <a:pPr marL="361950" lvl="1" indent="1588"/>
            <a:r>
              <a:rPr lang="es-E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long </a:t>
            </a:r>
            <a:r>
              <a:rPr lang="es-ES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long</a:t>
            </a:r>
            <a:r>
              <a:rPr lang="es-E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int 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suma(</a:t>
            </a:r>
            <a:r>
              <a:rPr lang="es-E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 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n)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int 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sumatorio 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for 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</a:t>
            </a:r>
            <a:r>
              <a:rPr lang="es-E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i =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 i &lt;= n; i++) {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sumatorio = sumatorio + i;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return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sumatorio;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Secuencias calculadas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307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16" name="15 CuadroTexto"/>
          <p:cNvSpPr txBox="1"/>
          <p:nvPr/>
        </p:nvSpPr>
        <p:spPr>
          <a:xfrm>
            <a:off x="6859636" y="404664"/>
            <a:ext cx="1830950" cy="369332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sumatorio.cpp</a:t>
            </a:r>
          </a:p>
        </p:txBody>
      </p:sp>
      <p:graphicFrame>
        <p:nvGraphicFramePr>
          <p:cNvPr id="8" name="7 Objeto"/>
          <p:cNvGraphicFramePr>
            <a:graphicFrameLocks noChangeAspect="1"/>
          </p:cNvGraphicFramePr>
          <p:nvPr/>
        </p:nvGraphicFramePr>
        <p:xfrm>
          <a:off x="7812360" y="980728"/>
          <a:ext cx="846912" cy="137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cuación" r:id="rId3" imgW="266400" imgH="431640" progId="Equation.3">
                  <p:embed/>
                </p:oleObj>
              </mc:Choice>
              <mc:Fallback>
                <p:oleObj name="Ecuación" r:id="rId3" imgW="266400" imgH="431640" progId="Equation.3">
                  <p:embed/>
                  <p:pic>
                    <p:nvPicPr>
                      <p:cNvPr id="8" name="7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980728"/>
                        <a:ext cx="846912" cy="137119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11 Grupo"/>
          <p:cNvGrpSpPr/>
          <p:nvPr/>
        </p:nvGrpSpPr>
        <p:grpSpPr>
          <a:xfrm>
            <a:off x="3194323" y="4889371"/>
            <a:ext cx="4436771" cy="1323558"/>
            <a:chOff x="3194323" y="5220836"/>
            <a:chExt cx="4436771" cy="1323558"/>
          </a:xfrm>
        </p:grpSpPr>
        <p:sp>
          <p:nvSpPr>
            <p:cNvPr id="9" name="8 Elipse"/>
            <p:cNvSpPr/>
            <p:nvPr/>
          </p:nvSpPr>
          <p:spPr>
            <a:xfrm>
              <a:off x="3194323" y="5220836"/>
              <a:ext cx="1017637" cy="387454"/>
            </a:xfrm>
            <a:prstGeom prst="ellipse">
              <a:avLst/>
            </a:prstGeom>
            <a:noFill/>
            <a:ln w="19050"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11" name="10 Conector recto"/>
            <p:cNvCxnSpPr>
              <a:stCxn id="9" idx="4"/>
            </p:cNvCxnSpPr>
            <p:nvPr/>
          </p:nvCxnSpPr>
          <p:spPr>
            <a:xfrm>
              <a:off x="3703142" y="5608290"/>
              <a:ext cx="940866" cy="566772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14 CuadroTexto"/>
            <p:cNvSpPr txBox="1"/>
            <p:nvPr/>
          </p:nvSpPr>
          <p:spPr>
            <a:xfrm>
              <a:off x="4042098" y="6175062"/>
              <a:ext cx="3588996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Último elemento de la secuencia: 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n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 uiExpand="1" build="p" bldLvl="2"/>
      <p:bldP spid="16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Suma de </a:t>
            </a:r>
            <a:r>
              <a:rPr lang="es-ES"/>
              <a:t>una secuencia </a:t>
            </a:r>
            <a:r>
              <a:rPr lang="es-ES" dirty="0"/>
              <a:t>calculada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284804"/>
          </a:xfrm>
        </p:spPr>
        <p:txBody>
          <a:bodyPr>
            <a:normAutofit/>
          </a:bodyPr>
          <a:lstStyle/>
          <a:p>
            <a:pPr marL="85725" lvl="1" indent="1588">
              <a:spcBef>
                <a:spcPts val="0"/>
              </a:spcBef>
              <a:buClrTx/>
              <a:buSzTx/>
              <a:buNone/>
            </a:pP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long </a:t>
            </a:r>
            <a:r>
              <a:rPr lang="es-ES" sz="1800" dirty="0" err="1">
                <a:solidFill>
                  <a:srgbClr val="FFC000"/>
                </a:solidFill>
                <a:latin typeface="Consolas" pitchFamily="49" charset="0"/>
              </a:rPr>
              <a:t>long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 int </a:t>
            </a: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suma(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int </a:t>
            </a: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n) {</a:t>
            </a:r>
          </a:p>
          <a:p>
            <a:pPr marL="85725" lvl="1" indent="1588">
              <a:spcBef>
                <a:spcPts val="0"/>
              </a:spcBef>
              <a:buClrTx/>
              <a:buSzTx/>
              <a:buNone/>
            </a:pP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   int </a:t>
            </a: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sumatorio 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;</a:t>
            </a:r>
          </a:p>
          <a:p>
            <a:pPr marL="85725" lvl="1" indent="1588">
              <a:spcBef>
                <a:spcPts val="0"/>
              </a:spcBef>
              <a:buClrTx/>
              <a:buSzTx/>
              <a:buNone/>
            </a:pP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</a:rPr>
              <a:t>for </a:t>
            </a: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(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 i 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; i &lt;= n; i++) {</a:t>
            </a:r>
          </a:p>
          <a:p>
            <a:pPr marL="85725" lvl="1" indent="1588">
              <a:spcBef>
                <a:spcPts val="0"/>
              </a:spcBef>
              <a:buClrTx/>
              <a:buSzTx/>
              <a:buNone/>
            </a:pP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      sumatorio = sumatorio + i;</a:t>
            </a:r>
          </a:p>
          <a:p>
            <a:pPr marL="85725" lvl="1" indent="1588">
              <a:spcBef>
                <a:spcPts val="0"/>
              </a:spcBef>
              <a:buClrTx/>
              <a:buSzTx/>
              <a:buNone/>
            </a:pP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   }</a:t>
            </a:r>
          </a:p>
          <a:p>
            <a:pPr marL="85725" lvl="1" indent="1588">
              <a:spcBef>
                <a:spcPts val="0"/>
              </a:spcBef>
              <a:buClrTx/>
              <a:buSzTx/>
              <a:buNone/>
            </a:pP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   ...</a:t>
            </a:r>
          </a:p>
          <a:p>
            <a:pPr marL="0" lvl="1" indent="1588">
              <a:spcBef>
                <a:spcPts val="0"/>
              </a:spcBef>
              <a:buNone/>
            </a:pP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308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aphicFrame>
        <p:nvGraphicFramePr>
          <p:cNvPr id="9" name="8 Tabla"/>
          <p:cNvGraphicFramePr>
            <a:graphicFrameLocks noGrp="1"/>
          </p:cNvGraphicFramePr>
          <p:nvPr/>
        </p:nvGraphicFramePr>
        <p:xfrm>
          <a:off x="611560" y="3387850"/>
          <a:ext cx="1800200" cy="30480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r"/>
                      <a:r>
                        <a:rPr lang="es-ES" sz="1400" b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n</a:t>
                      </a:r>
                      <a:endParaRPr lang="es-ES" sz="14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rgbClr val="C00000"/>
                          </a:solidFill>
                          <a:latin typeface="Consolas" pitchFamily="49" charset="0"/>
                        </a:rPr>
                        <a:t>?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14 Tabla"/>
          <p:cNvGraphicFramePr>
            <a:graphicFrameLocks noGrp="1"/>
          </p:cNvGraphicFramePr>
          <p:nvPr/>
        </p:nvGraphicFramePr>
        <p:xfrm>
          <a:off x="611560" y="3891905"/>
          <a:ext cx="1800200" cy="30480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4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sumatorio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bg2"/>
                          </a:solidFill>
                          <a:latin typeface="Consolas" pitchFamily="49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16 Tabla"/>
          <p:cNvGraphicFramePr>
            <a:graphicFrameLocks noGrp="1"/>
          </p:cNvGraphicFramePr>
          <p:nvPr/>
        </p:nvGraphicFramePr>
        <p:xfrm>
          <a:off x="611560" y="4395961"/>
          <a:ext cx="1800200" cy="30480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r"/>
                      <a:r>
                        <a:rPr lang="es-ES" sz="14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i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bg2"/>
                          </a:solidFill>
                          <a:latin typeface="Consolas" pitchFamily="49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" name="61 Grupo"/>
          <p:cNvGrpSpPr/>
          <p:nvPr/>
        </p:nvGrpSpPr>
        <p:grpSpPr>
          <a:xfrm>
            <a:off x="5377079" y="3482595"/>
            <a:ext cx="1944216" cy="1059902"/>
            <a:chOff x="5609021" y="3482595"/>
            <a:chExt cx="1944216" cy="1059902"/>
          </a:xfrm>
        </p:grpSpPr>
        <p:cxnSp>
          <p:nvCxnSpPr>
            <p:cNvPr id="20" name="19 Conector recto de flecha"/>
            <p:cNvCxnSpPr/>
            <p:nvPr/>
          </p:nvCxnSpPr>
          <p:spPr>
            <a:xfrm rot="5400000">
              <a:off x="6317784" y="3743023"/>
              <a:ext cx="530868" cy="10012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33" name="32 Decisión"/>
            <p:cNvSpPr/>
            <p:nvPr/>
          </p:nvSpPr>
          <p:spPr>
            <a:xfrm>
              <a:off x="5609021" y="4013463"/>
              <a:ext cx="1944216" cy="529034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0" tIns="36000" rIns="0" bIns="36000" rtlCol="0" anchor="ctr" anchorCtr="0">
              <a:noAutofit/>
            </a:bodyPr>
            <a:lstStyle/>
            <a:p>
              <a:pPr algn="ctr"/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 &lt;= n</a:t>
              </a:r>
            </a:p>
          </p:txBody>
        </p:sp>
      </p:grpSp>
      <p:sp>
        <p:nvSpPr>
          <p:cNvPr id="65" name="64 CuadroTexto"/>
          <p:cNvSpPr txBox="1"/>
          <p:nvPr/>
        </p:nvSpPr>
        <p:spPr>
          <a:xfrm>
            <a:off x="1900806" y="3937248"/>
            <a:ext cx="284052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</a:rPr>
              <a:t>0</a:t>
            </a:r>
            <a:endParaRPr lang="es-ES" b="1" dirty="0">
              <a:solidFill>
                <a:schemeClr val="accent2">
                  <a:lumMod val="50000"/>
                </a:schemeClr>
              </a:solidFill>
              <a:latin typeface="Consolas" pitchFamily="49" charset="0"/>
            </a:endParaRPr>
          </a:p>
        </p:txBody>
      </p:sp>
      <p:sp>
        <p:nvSpPr>
          <p:cNvPr id="66" name="65 CuadroTexto"/>
          <p:cNvSpPr txBox="1"/>
          <p:nvPr/>
        </p:nvSpPr>
        <p:spPr>
          <a:xfrm>
            <a:off x="1910331" y="3933636"/>
            <a:ext cx="284052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</a:rPr>
              <a:t>1</a:t>
            </a:r>
            <a:endParaRPr lang="es-ES" b="1" dirty="0">
              <a:solidFill>
                <a:schemeClr val="accent2">
                  <a:lumMod val="50000"/>
                </a:schemeClr>
              </a:solidFill>
              <a:latin typeface="Consolas" pitchFamily="49" charset="0"/>
            </a:endParaRPr>
          </a:p>
        </p:txBody>
      </p:sp>
      <p:sp>
        <p:nvSpPr>
          <p:cNvPr id="67" name="66 CuadroTexto"/>
          <p:cNvSpPr txBox="1"/>
          <p:nvPr/>
        </p:nvSpPr>
        <p:spPr>
          <a:xfrm>
            <a:off x="1910331" y="4437692"/>
            <a:ext cx="284052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</a:rPr>
              <a:t>2</a:t>
            </a:r>
            <a:endParaRPr lang="es-ES" b="1" dirty="0">
              <a:solidFill>
                <a:schemeClr val="accent2">
                  <a:lumMod val="50000"/>
                </a:schemeClr>
              </a:solidFill>
              <a:latin typeface="Consolas" pitchFamily="49" charset="0"/>
            </a:endParaRPr>
          </a:p>
        </p:txBody>
      </p:sp>
      <p:sp>
        <p:nvSpPr>
          <p:cNvPr id="68" name="67 CuadroTexto"/>
          <p:cNvSpPr txBox="1"/>
          <p:nvPr/>
        </p:nvSpPr>
        <p:spPr>
          <a:xfrm>
            <a:off x="1910331" y="3427403"/>
            <a:ext cx="284052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</a:rPr>
              <a:t>5</a:t>
            </a:r>
            <a:endParaRPr lang="es-ES" b="1" dirty="0">
              <a:solidFill>
                <a:schemeClr val="accent2">
                  <a:lumMod val="50000"/>
                </a:schemeClr>
              </a:solidFill>
              <a:latin typeface="Consolas" pitchFamily="49" charset="0"/>
            </a:endParaRPr>
          </a:p>
        </p:txBody>
      </p:sp>
      <p:sp>
        <p:nvSpPr>
          <p:cNvPr id="69" name="68 CuadroTexto"/>
          <p:cNvSpPr txBox="1"/>
          <p:nvPr/>
        </p:nvSpPr>
        <p:spPr>
          <a:xfrm>
            <a:off x="1910331" y="3939530"/>
            <a:ext cx="284052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</a:rPr>
              <a:t>3</a:t>
            </a:r>
            <a:endParaRPr lang="es-ES" b="1" dirty="0">
              <a:solidFill>
                <a:schemeClr val="accent2">
                  <a:lumMod val="50000"/>
                </a:schemeClr>
              </a:solidFill>
              <a:latin typeface="Consolas" pitchFamily="49" charset="0"/>
            </a:endParaRPr>
          </a:p>
        </p:txBody>
      </p:sp>
      <p:sp>
        <p:nvSpPr>
          <p:cNvPr id="70" name="69 CuadroTexto"/>
          <p:cNvSpPr txBox="1"/>
          <p:nvPr/>
        </p:nvSpPr>
        <p:spPr>
          <a:xfrm>
            <a:off x="1910331" y="4447217"/>
            <a:ext cx="284052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</a:rPr>
              <a:t>3</a:t>
            </a:r>
            <a:endParaRPr lang="es-ES" b="1" dirty="0">
              <a:solidFill>
                <a:schemeClr val="accent2">
                  <a:lumMod val="50000"/>
                </a:schemeClr>
              </a:solidFill>
              <a:latin typeface="Consolas" pitchFamily="49" charset="0"/>
            </a:endParaRPr>
          </a:p>
        </p:txBody>
      </p:sp>
      <p:sp>
        <p:nvSpPr>
          <p:cNvPr id="71" name="70 CuadroTexto"/>
          <p:cNvSpPr txBox="1"/>
          <p:nvPr/>
        </p:nvSpPr>
        <p:spPr>
          <a:xfrm>
            <a:off x="1911684" y="3943161"/>
            <a:ext cx="284052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</a:rPr>
              <a:t>6</a:t>
            </a:r>
            <a:endParaRPr lang="es-ES" b="1" dirty="0">
              <a:solidFill>
                <a:schemeClr val="accent2">
                  <a:lumMod val="50000"/>
                </a:schemeClr>
              </a:solidFill>
              <a:latin typeface="Consolas" pitchFamily="49" charset="0"/>
            </a:endParaRPr>
          </a:p>
        </p:txBody>
      </p:sp>
      <p:sp>
        <p:nvSpPr>
          <p:cNvPr id="72" name="71 CuadroTexto"/>
          <p:cNvSpPr txBox="1"/>
          <p:nvPr/>
        </p:nvSpPr>
        <p:spPr>
          <a:xfrm>
            <a:off x="1919856" y="4441304"/>
            <a:ext cx="284052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</a:rPr>
              <a:t>4</a:t>
            </a:r>
            <a:endParaRPr lang="es-ES" b="1" dirty="0">
              <a:solidFill>
                <a:schemeClr val="accent2">
                  <a:lumMod val="50000"/>
                </a:schemeClr>
              </a:solidFill>
              <a:latin typeface="Consolas" pitchFamily="49" charset="0"/>
            </a:endParaRPr>
          </a:p>
        </p:txBody>
      </p:sp>
      <p:sp>
        <p:nvSpPr>
          <p:cNvPr id="73" name="72 CuadroTexto"/>
          <p:cNvSpPr txBox="1"/>
          <p:nvPr/>
        </p:nvSpPr>
        <p:spPr>
          <a:xfrm>
            <a:off x="1858011" y="3933636"/>
            <a:ext cx="383438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</a:rPr>
              <a:t>10</a:t>
            </a:r>
            <a:endParaRPr lang="es-ES" b="1" dirty="0">
              <a:solidFill>
                <a:schemeClr val="accent2">
                  <a:lumMod val="50000"/>
                </a:schemeClr>
              </a:solidFill>
              <a:latin typeface="Consolas" pitchFamily="49" charset="0"/>
            </a:endParaRPr>
          </a:p>
        </p:txBody>
      </p:sp>
      <p:sp>
        <p:nvSpPr>
          <p:cNvPr id="74" name="73 CuadroTexto"/>
          <p:cNvSpPr txBox="1"/>
          <p:nvPr/>
        </p:nvSpPr>
        <p:spPr>
          <a:xfrm>
            <a:off x="1900806" y="4441304"/>
            <a:ext cx="284052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</a:rPr>
              <a:t>5</a:t>
            </a:r>
            <a:endParaRPr lang="es-ES" b="1" dirty="0">
              <a:solidFill>
                <a:schemeClr val="accent2">
                  <a:lumMod val="50000"/>
                </a:schemeClr>
              </a:solidFill>
              <a:latin typeface="Consolas" pitchFamily="49" charset="0"/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1851113" y="3933636"/>
            <a:ext cx="383438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</a:rPr>
              <a:t>15</a:t>
            </a:r>
            <a:endParaRPr lang="es-ES" b="1" dirty="0">
              <a:solidFill>
                <a:schemeClr val="accent2">
                  <a:lumMod val="50000"/>
                </a:schemeClr>
              </a:solidFill>
              <a:latin typeface="Consolas" pitchFamily="49" charset="0"/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1911684" y="4447217"/>
            <a:ext cx="284052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b="1" dirty="0">
                <a:solidFill>
                  <a:schemeClr val="accent2">
                    <a:lumMod val="50000"/>
                  </a:schemeClr>
                </a:solidFill>
                <a:latin typeface="Consolas" pitchFamily="49" charset="0"/>
              </a:rPr>
              <a:t>6</a:t>
            </a:r>
            <a:endParaRPr lang="es-ES" b="1" dirty="0">
              <a:solidFill>
                <a:schemeClr val="accent2">
                  <a:lumMod val="50000"/>
                </a:schemeClr>
              </a:solidFill>
              <a:latin typeface="Consolas" pitchFamily="49" charset="0"/>
            </a:endParaRPr>
          </a:p>
        </p:txBody>
      </p:sp>
      <p:sp>
        <p:nvSpPr>
          <p:cNvPr id="75" name="74 CuadroTexto"/>
          <p:cNvSpPr txBox="1"/>
          <p:nvPr/>
        </p:nvSpPr>
        <p:spPr>
          <a:xfrm>
            <a:off x="2555776" y="4461214"/>
            <a:ext cx="284052" cy="21544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400" b="1" dirty="0">
                <a:solidFill>
                  <a:schemeClr val="tx1"/>
                </a:solidFill>
                <a:latin typeface="Consolas" pitchFamily="49" charset="0"/>
              </a:rPr>
              <a:t>1</a:t>
            </a:r>
            <a:endParaRPr lang="es-ES" b="1" dirty="0">
              <a:solidFill>
                <a:schemeClr val="tx1"/>
              </a:solidFill>
              <a:latin typeface="Consolas" pitchFamily="49" charset="0"/>
            </a:endParaRPr>
          </a:p>
        </p:txBody>
      </p:sp>
      <p:sp>
        <p:nvSpPr>
          <p:cNvPr id="76" name="75 CuadroTexto"/>
          <p:cNvSpPr txBox="1"/>
          <p:nvPr/>
        </p:nvSpPr>
        <p:spPr>
          <a:xfrm>
            <a:off x="2555776" y="4461214"/>
            <a:ext cx="582211" cy="21544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400" b="1" dirty="0">
                <a:solidFill>
                  <a:schemeClr val="tx1"/>
                </a:solidFill>
                <a:latin typeface="Consolas" pitchFamily="49" charset="0"/>
              </a:rPr>
              <a:t>2  1</a:t>
            </a:r>
            <a:endParaRPr lang="es-ES" b="1" dirty="0">
              <a:solidFill>
                <a:schemeClr val="tx1"/>
              </a:solidFill>
              <a:latin typeface="Consolas" pitchFamily="49" charset="0"/>
            </a:endParaRPr>
          </a:p>
        </p:txBody>
      </p:sp>
      <p:sp>
        <p:nvSpPr>
          <p:cNvPr id="77" name="76 CuadroTexto"/>
          <p:cNvSpPr txBox="1"/>
          <p:nvPr/>
        </p:nvSpPr>
        <p:spPr>
          <a:xfrm>
            <a:off x="2555776" y="4461214"/>
            <a:ext cx="880369" cy="21544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400" b="1" dirty="0">
                <a:solidFill>
                  <a:schemeClr val="tx1"/>
                </a:solidFill>
                <a:latin typeface="Consolas" pitchFamily="49" charset="0"/>
              </a:rPr>
              <a:t>3  2  1</a:t>
            </a:r>
            <a:endParaRPr lang="es-ES" b="1" dirty="0">
              <a:solidFill>
                <a:schemeClr val="tx1"/>
              </a:solidFill>
              <a:latin typeface="Consolas" pitchFamily="49" charset="0"/>
            </a:endParaRPr>
          </a:p>
        </p:txBody>
      </p:sp>
      <p:sp>
        <p:nvSpPr>
          <p:cNvPr id="78" name="77 CuadroTexto"/>
          <p:cNvSpPr txBox="1"/>
          <p:nvPr/>
        </p:nvSpPr>
        <p:spPr>
          <a:xfrm>
            <a:off x="2555776" y="4461214"/>
            <a:ext cx="1178528" cy="21544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400" b="1" dirty="0">
                <a:solidFill>
                  <a:schemeClr val="tx1"/>
                </a:solidFill>
                <a:latin typeface="Consolas" pitchFamily="49" charset="0"/>
              </a:rPr>
              <a:t>4  3  2  1</a:t>
            </a:r>
            <a:endParaRPr lang="es-ES" b="1" dirty="0">
              <a:solidFill>
                <a:schemeClr val="tx1"/>
              </a:solidFill>
              <a:latin typeface="Consolas" pitchFamily="49" charset="0"/>
            </a:endParaRPr>
          </a:p>
        </p:txBody>
      </p:sp>
      <p:sp>
        <p:nvSpPr>
          <p:cNvPr id="79" name="78 CuadroTexto"/>
          <p:cNvSpPr txBox="1"/>
          <p:nvPr/>
        </p:nvSpPr>
        <p:spPr>
          <a:xfrm>
            <a:off x="2555776" y="4461214"/>
            <a:ext cx="1476686" cy="21544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400" b="1" dirty="0">
                <a:solidFill>
                  <a:schemeClr val="tx1"/>
                </a:solidFill>
                <a:latin typeface="Consolas" pitchFamily="49" charset="0"/>
              </a:rPr>
              <a:t>5  4  3  2  1</a:t>
            </a:r>
            <a:endParaRPr lang="es-ES" b="1" dirty="0">
              <a:solidFill>
                <a:schemeClr val="tx1"/>
              </a:solidFill>
              <a:latin typeface="Consolas" pitchFamily="49" charset="0"/>
            </a:endParaRPr>
          </a:p>
        </p:txBody>
      </p:sp>
      <p:grpSp>
        <p:nvGrpSpPr>
          <p:cNvPr id="56" name="55 Grupo"/>
          <p:cNvGrpSpPr/>
          <p:nvPr/>
        </p:nvGrpSpPr>
        <p:grpSpPr>
          <a:xfrm>
            <a:off x="2584351" y="4772769"/>
            <a:ext cx="1440160" cy="528439"/>
            <a:chOff x="2872383" y="4437112"/>
            <a:chExt cx="1440160" cy="528439"/>
          </a:xfrm>
        </p:grpSpPr>
        <p:sp>
          <p:nvSpPr>
            <p:cNvPr id="54" name="53 Cerrar llave"/>
            <p:cNvSpPr/>
            <p:nvPr/>
          </p:nvSpPr>
          <p:spPr>
            <a:xfrm rot="5400000">
              <a:off x="3520455" y="3789040"/>
              <a:ext cx="144016" cy="1440160"/>
            </a:xfrm>
            <a:prstGeom prst="rightBrace">
              <a:avLst>
                <a:gd name="adj1" fmla="val 64551"/>
                <a:gd name="adj2" fmla="val 50000"/>
              </a:avLst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5" name="54 CuadroTexto"/>
            <p:cNvSpPr txBox="1"/>
            <p:nvPr/>
          </p:nvSpPr>
          <p:spPr>
            <a:xfrm>
              <a:off x="3016171" y="4596219"/>
              <a:ext cx="1157689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Secuencia</a:t>
              </a:r>
            </a:p>
          </p:txBody>
        </p:sp>
      </p:grpSp>
      <p:graphicFrame>
        <p:nvGraphicFramePr>
          <p:cNvPr id="240643" name="Object 3"/>
          <p:cNvGraphicFramePr>
            <a:graphicFrameLocks noChangeAspect="1"/>
          </p:cNvGraphicFramePr>
          <p:nvPr/>
        </p:nvGraphicFramePr>
        <p:xfrm>
          <a:off x="8100392" y="981075"/>
          <a:ext cx="576064" cy="932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cuación" r:id="rId3" imgW="266400" imgH="431640" progId="Equation.3">
                  <p:embed/>
                </p:oleObj>
              </mc:Choice>
              <mc:Fallback>
                <p:oleObj name="Ecuación" r:id="rId3" imgW="266400" imgH="431640" progId="Equation.3">
                  <p:embed/>
                  <p:pic>
                    <p:nvPicPr>
                      <p:cNvPr id="2406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0392" y="981075"/>
                        <a:ext cx="576064" cy="932059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63 Grupo"/>
          <p:cNvGrpSpPr/>
          <p:nvPr/>
        </p:nvGrpSpPr>
        <p:grpSpPr>
          <a:xfrm>
            <a:off x="6329826" y="3923404"/>
            <a:ext cx="1610760" cy="2385916"/>
            <a:chOff x="6561768" y="3923404"/>
            <a:chExt cx="1610760" cy="2385916"/>
          </a:xfrm>
        </p:grpSpPr>
        <p:cxnSp>
          <p:nvCxnSpPr>
            <p:cNvPr id="19" name="18 Conector recto de flecha"/>
            <p:cNvCxnSpPr/>
            <p:nvPr/>
          </p:nvCxnSpPr>
          <p:spPr>
            <a:xfrm>
              <a:off x="7482023" y="4282701"/>
              <a:ext cx="347843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22" name="21 CuadroTexto"/>
            <p:cNvSpPr txBox="1"/>
            <p:nvPr/>
          </p:nvSpPr>
          <p:spPr>
            <a:xfrm>
              <a:off x="7354675" y="3923404"/>
              <a:ext cx="817853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  <p:cxnSp>
          <p:nvCxnSpPr>
            <p:cNvPr id="23" name="22 Conector recto de flecha"/>
            <p:cNvCxnSpPr/>
            <p:nvPr/>
          </p:nvCxnSpPr>
          <p:spPr>
            <a:xfrm rot="5400000">
              <a:off x="6928575" y="5166530"/>
              <a:ext cx="1762897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6" name="25 Conector recto de flecha"/>
            <p:cNvCxnSpPr/>
            <p:nvPr/>
          </p:nvCxnSpPr>
          <p:spPr>
            <a:xfrm>
              <a:off x="6561768" y="6046389"/>
              <a:ext cx="1258573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0" name="29 Conector recto de flecha"/>
            <p:cNvCxnSpPr/>
            <p:nvPr/>
          </p:nvCxnSpPr>
          <p:spPr>
            <a:xfrm rot="16200000" flipH="1">
              <a:off x="6455307" y="6173490"/>
              <a:ext cx="262930" cy="8729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2" name="62 Grupo"/>
          <p:cNvGrpSpPr/>
          <p:nvPr/>
        </p:nvGrpSpPr>
        <p:grpSpPr>
          <a:xfrm>
            <a:off x="5077644" y="3740545"/>
            <a:ext cx="2285206" cy="2092202"/>
            <a:chOff x="5309586" y="3740545"/>
            <a:chExt cx="2285206" cy="2092202"/>
          </a:xfrm>
        </p:grpSpPr>
        <p:cxnSp>
          <p:nvCxnSpPr>
            <p:cNvPr id="18" name="17 Conector recto de flecha"/>
            <p:cNvCxnSpPr/>
            <p:nvPr/>
          </p:nvCxnSpPr>
          <p:spPr>
            <a:xfrm rot="5400000">
              <a:off x="6218258" y="5462245"/>
              <a:ext cx="736240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21" name="20 CuadroTexto"/>
            <p:cNvSpPr txBox="1"/>
            <p:nvPr/>
          </p:nvSpPr>
          <p:spPr>
            <a:xfrm>
              <a:off x="5791386" y="4473380"/>
              <a:ext cx="691215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s-ES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</a:p>
          </p:txBody>
        </p:sp>
        <p:cxnSp>
          <p:nvCxnSpPr>
            <p:cNvPr id="27" name="26 Conector recto de flecha"/>
            <p:cNvCxnSpPr/>
            <p:nvPr/>
          </p:nvCxnSpPr>
          <p:spPr>
            <a:xfrm>
              <a:off x="5309586" y="3740545"/>
              <a:ext cx="1261707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8" name="27 Conector recto de flecha"/>
            <p:cNvCxnSpPr/>
            <p:nvPr/>
          </p:nvCxnSpPr>
          <p:spPr>
            <a:xfrm rot="5400000">
              <a:off x="4284123" y="4786646"/>
              <a:ext cx="2090615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9" name="28 Conector recto de flecha"/>
            <p:cNvCxnSpPr/>
            <p:nvPr/>
          </p:nvCxnSpPr>
          <p:spPr>
            <a:xfrm rot="10800000">
              <a:off x="5310381" y="5830365"/>
              <a:ext cx="1278374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31" name="30 CuadroTexto"/>
            <p:cNvSpPr txBox="1"/>
            <p:nvPr/>
          </p:nvSpPr>
          <p:spPr>
            <a:xfrm>
              <a:off x="5679151" y="5326309"/>
              <a:ext cx="1800000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600" dirty="0">
                  <a:latin typeface="Consolas" pitchFamily="49" charset="0"/>
                </a:rPr>
                <a:t>i = i + 1;</a:t>
              </a:r>
              <a:endPara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  <p:cxnSp>
          <p:nvCxnSpPr>
            <p:cNvPr id="32" name="31 Conector recto de flecha"/>
            <p:cNvCxnSpPr/>
            <p:nvPr/>
          </p:nvCxnSpPr>
          <p:spPr>
            <a:xfrm rot="5400000">
              <a:off x="6441563" y="4671884"/>
              <a:ext cx="299150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34" name="33 CuadroTexto"/>
            <p:cNvSpPr txBox="1"/>
            <p:nvPr/>
          </p:nvSpPr>
          <p:spPr>
            <a:xfrm>
              <a:off x="5588093" y="4832572"/>
              <a:ext cx="2006699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600" dirty="0">
                  <a:latin typeface="Consolas" pitchFamily="49" charset="0"/>
                </a:rPr>
                <a:t>sumatorio += i;</a:t>
              </a:r>
              <a:endPara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</p:grpSp>
      <p:grpSp>
        <p:nvGrpSpPr>
          <p:cNvPr id="13" name="60 Grupo"/>
          <p:cNvGrpSpPr/>
          <p:nvPr/>
        </p:nvGrpSpPr>
        <p:grpSpPr>
          <a:xfrm>
            <a:off x="5682283" y="2820378"/>
            <a:ext cx="1347264" cy="690711"/>
            <a:chOff x="5914225" y="2820378"/>
            <a:chExt cx="1347264" cy="690711"/>
          </a:xfrm>
        </p:grpSpPr>
        <p:sp>
          <p:nvSpPr>
            <p:cNvPr id="48" name="47 CuadroTexto"/>
            <p:cNvSpPr txBox="1"/>
            <p:nvPr/>
          </p:nvSpPr>
          <p:spPr>
            <a:xfrm>
              <a:off x="5914225" y="3151049"/>
              <a:ext cx="1347264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600" dirty="0">
                  <a:solidFill>
                    <a:srgbClr val="FFC000"/>
                  </a:solidFill>
                  <a:latin typeface="Consolas" pitchFamily="49" charset="0"/>
                </a:rPr>
                <a:t>int</a:t>
              </a:r>
              <a:r>
                <a:rPr lang="es-ES" sz="1600" dirty="0">
                  <a:latin typeface="Consolas" pitchFamily="49" charset="0"/>
                </a:rPr>
                <a:t> i = </a:t>
              </a:r>
              <a:r>
                <a:rPr lang="es-ES" sz="1600" dirty="0">
                  <a:solidFill>
                    <a:srgbClr val="FFFF00"/>
                  </a:solidFill>
                  <a:latin typeface="Consolas" pitchFamily="49" charset="0"/>
                </a:rPr>
                <a:t>1</a:t>
              </a:r>
              <a:r>
                <a:rPr lang="es-ES" sz="1600" dirty="0">
                  <a:latin typeface="Consolas" pitchFamily="49" charset="0"/>
                </a:rPr>
                <a:t>;</a:t>
              </a:r>
              <a:endPara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  <p:cxnSp>
          <p:nvCxnSpPr>
            <p:cNvPr id="49" name="48 Conector recto de flecha"/>
            <p:cNvCxnSpPr/>
            <p:nvPr/>
          </p:nvCxnSpPr>
          <p:spPr>
            <a:xfrm rot="5400000">
              <a:off x="6411117" y="2999604"/>
              <a:ext cx="360040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6" name="58 Grupo"/>
          <p:cNvGrpSpPr/>
          <p:nvPr/>
        </p:nvGrpSpPr>
        <p:grpSpPr>
          <a:xfrm>
            <a:off x="5378428" y="2161431"/>
            <a:ext cx="1982834" cy="691505"/>
            <a:chOff x="5610370" y="1538379"/>
            <a:chExt cx="1982834" cy="691505"/>
          </a:xfrm>
        </p:grpSpPr>
        <p:sp>
          <p:nvSpPr>
            <p:cNvPr id="24" name="23 CuadroTexto"/>
            <p:cNvSpPr txBox="1"/>
            <p:nvPr/>
          </p:nvSpPr>
          <p:spPr>
            <a:xfrm>
              <a:off x="5610370" y="1869844"/>
              <a:ext cx="1982834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600" dirty="0">
                  <a:latin typeface="Consolas" pitchFamily="49" charset="0"/>
                </a:rPr>
                <a:t>sumatorio = </a:t>
              </a:r>
              <a:r>
                <a:rPr lang="es-ES" sz="1600" dirty="0">
                  <a:solidFill>
                    <a:srgbClr val="FFFF00"/>
                  </a:solidFill>
                  <a:latin typeface="Consolas" pitchFamily="49" charset="0"/>
                </a:rPr>
                <a:t>0</a:t>
              </a:r>
              <a:r>
                <a:rPr lang="es-ES" sz="1600" dirty="0">
                  <a:latin typeface="Consolas" pitchFamily="49" charset="0"/>
                </a:rPr>
                <a:t>;</a:t>
              </a:r>
              <a:endPara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  <p:cxnSp>
          <p:nvCxnSpPr>
            <p:cNvPr id="25" name="24 Conector recto de flecha"/>
            <p:cNvCxnSpPr/>
            <p:nvPr/>
          </p:nvCxnSpPr>
          <p:spPr>
            <a:xfrm rot="16200000" flipH="1">
              <a:off x="6410720" y="1718002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40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10" grpId="0" animBg="1"/>
      <p:bldP spid="11" grpId="0" animBg="1"/>
      <p:bldP spid="75" grpId="0" animBg="1"/>
      <p:bldP spid="76" grpId="0" animBg="1"/>
      <p:bldP spid="77" grpId="0" animBg="1"/>
      <p:bldP spid="78" grpId="0" animBg="1"/>
      <p:bldP spid="79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Números de Fibonacci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284804"/>
          </a:xfrm>
        </p:spPr>
        <p:txBody>
          <a:bodyPr>
            <a:noAutofit/>
          </a:bodyPr>
          <a:lstStyle/>
          <a:p>
            <a:pPr marL="361950" lvl="1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8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Definición</a:t>
            </a:r>
          </a:p>
          <a:p>
            <a:pPr marL="714375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F</a:t>
            </a:r>
            <a:r>
              <a:rPr lang="es-ES" sz="2200" baseline="-25000" dirty="0"/>
              <a:t>i</a:t>
            </a:r>
            <a:r>
              <a:rPr lang="es-ES" sz="2200" dirty="0"/>
              <a:t> = F</a:t>
            </a:r>
            <a:r>
              <a:rPr lang="es-ES" sz="2200" baseline="-25000" dirty="0"/>
              <a:t>i-1</a:t>
            </a:r>
            <a:r>
              <a:rPr lang="es-ES" sz="2200" dirty="0"/>
              <a:t> + F</a:t>
            </a:r>
            <a:r>
              <a:rPr lang="es-ES" sz="2200" baseline="-25000" dirty="0"/>
              <a:t>i-2</a:t>
            </a:r>
            <a:endParaRPr lang="es-ES" sz="2200" dirty="0"/>
          </a:p>
          <a:p>
            <a:pPr marL="714375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F</a:t>
            </a:r>
            <a:r>
              <a:rPr lang="es-ES" sz="2200" baseline="-25000" dirty="0"/>
              <a:t>1</a:t>
            </a:r>
            <a:r>
              <a:rPr lang="es-ES" sz="2200" dirty="0"/>
              <a:t> = 0</a:t>
            </a:r>
          </a:p>
          <a:p>
            <a:pPr marL="714375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F</a:t>
            </a:r>
            <a:r>
              <a:rPr lang="es-ES" sz="2200" baseline="-25000" dirty="0"/>
              <a:t>2</a:t>
            </a:r>
            <a:r>
              <a:rPr lang="es-ES" sz="2200" dirty="0"/>
              <a:t> = 1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0 1 1 2 3 5 8 13 21 34 55 89 ... </a:t>
            </a:r>
          </a:p>
          <a:p>
            <a:pPr marL="361950" lvl="1" indent="0">
              <a:spcBef>
                <a:spcPts val="2400"/>
              </a:spcBef>
              <a:spcAft>
                <a:spcPts val="1200"/>
              </a:spcAft>
              <a:buNone/>
            </a:pPr>
            <a:r>
              <a:rPr lang="es-ES" sz="28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¿Fin de la secuencia?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Primer número de Fibonacci mayor que un número dado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Ese número de Fibonacci actúa como centinela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Si </a:t>
            </a:r>
            <a:r>
              <a:rPr lang="es-ES" dirty="0">
                <a:latin typeface="Consolas" pitchFamily="49" charset="0"/>
              </a:rPr>
              <a:t>num</a:t>
            </a:r>
            <a:r>
              <a:rPr lang="es-ES" dirty="0"/>
              <a:t> es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50</a:t>
            </a:r>
            <a:r>
              <a:rPr lang="es-ES" dirty="0"/>
              <a:t>, la secuencia será: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0 1 1 2 3 5 8 13 21 34 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309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Números de Fibonacci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28480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s-ES" sz="3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Recorrido de </a:t>
            </a:r>
            <a:r>
              <a:rPr lang="es-ES" sz="3000">
                <a:solidFill>
                  <a:schemeClr val="bg2">
                    <a:lumMod val="20000"/>
                    <a:lumOff val="80000"/>
                  </a:schemeClr>
                </a:solidFill>
              </a:rPr>
              <a:t>la secuencia </a:t>
            </a:r>
            <a:r>
              <a:rPr lang="es-ES" sz="3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calculada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310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16" name="15 CuadroTexto"/>
          <p:cNvSpPr txBox="1"/>
          <p:nvPr/>
        </p:nvSpPr>
        <p:spPr>
          <a:xfrm>
            <a:off x="6859636" y="404664"/>
            <a:ext cx="1830950" cy="369332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fibonacci.cpp</a:t>
            </a:r>
          </a:p>
        </p:txBody>
      </p:sp>
      <p:grpSp>
        <p:nvGrpSpPr>
          <p:cNvPr id="6" name="7 Grupo"/>
          <p:cNvGrpSpPr/>
          <p:nvPr/>
        </p:nvGrpSpPr>
        <p:grpSpPr>
          <a:xfrm>
            <a:off x="1115616" y="5517232"/>
            <a:ext cx="6768752" cy="673050"/>
            <a:chOff x="899592" y="5401791"/>
            <a:chExt cx="6630614" cy="673050"/>
          </a:xfrm>
        </p:grpSpPr>
        <p:sp>
          <p:nvSpPr>
            <p:cNvPr id="9" name="8 CuadroTexto"/>
            <p:cNvSpPr txBox="1"/>
            <p:nvPr/>
          </p:nvSpPr>
          <p:spPr>
            <a:xfrm>
              <a:off x="899592" y="5416648"/>
              <a:ext cx="6630614" cy="6581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540000">
                <a:spcAft>
                  <a:spcPts val="600"/>
                </a:spcAft>
              </a:pPr>
              <a:r>
                <a:rPr lang="es-ES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¿Demasiados comentarios?</a:t>
              </a:r>
              <a:b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Para no oscurecer el código, mejor una explicación al principio</a:t>
              </a:r>
            </a:p>
          </p:txBody>
        </p:sp>
        <p:pic>
          <p:nvPicPr>
            <p:cNvPr id="10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60" y="5401791"/>
              <a:ext cx="426720" cy="4267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1" name="10 Rectángulo"/>
          <p:cNvSpPr/>
          <p:nvPr/>
        </p:nvSpPr>
        <p:spPr>
          <a:xfrm>
            <a:off x="467544" y="1556792"/>
            <a:ext cx="8352928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num, </a:t>
            </a:r>
            <a:r>
              <a:rPr lang="es-E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fib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, fibMenos2 =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, fibMenos1 =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 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 1º y 2º</a:t>
            </a:r>
            <a:endPara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pPr marL="180975" lvl="1" indent="1588">
              <a:spcBef>
                <a:spcPts val="0"/>
              </a:spcBef>
              <a:buNone/>
            </a:pPr>
            <a:r>
              <a:rPr lang="es-E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fib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= fibMenos2 + fibMenos1; 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 Calculamos el tercero</a:t>
            </a:r>
          </a:p>
          <a:p>
            <a:pPr marL="180975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cout &lt;&lt;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"Hasta: "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180975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cin &gt;&gt; num;</a:t>
            </a:r>
          </a:p>
          <a:p>
            <a:pPr marL="180975"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if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(</a:t>
            </a:r>
            <a:r>
              <a:rPr lang="es-E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num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&gt;= 1) { 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 Ha de ser entero positivo</a:t>
            </a:r>
            <a:endPara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pPr marL="180975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cout &lt;&lt;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"0 1 "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 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 Los dos primeros son &lt;= num</a:t>
            </a:r>
            <a:endPara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pPr marL="180975"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while 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</a:t>
            </a:r>
            <a:r>
              <a:rPr lang="es-E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fib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&lt;= num) { 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 Mientras no mayor que num</a:t>
            </a:r>
            <a:endPara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pPr marL="180975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cout &lt;&lt; </a:t>
            </a:r>
            <a:r>
              <a:rPr lang="es-E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fib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&lt;&lt;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 "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180975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fibMenos2 = fibMenos1; 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 Actualizamos anteriores</a:t>
            </a:r>
            <a:endPara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pPr marL="180975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fibMenos1 = </a:t>
            </a:r>
            <a:r>
              <a:rPr lang="es-E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fib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 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 para obtener...</a:t>
            </a:r>
            <a:endPara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pPr marL="180975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</a:t>
            </a:r>
            <a:r>
              <a:rPr lang="es-E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fib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= fibMenos2 + fibMenos1; 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 ... el siguiente</a:t>
            </a:r>
            <a:endPara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pPr marL="180975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180975" lvl="1" indent="1588"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0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1" grpId="0" uiExpand="1" build="p" bldLvl="2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Números de Fibonacci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284804"/>
          </a:xfrm>
        </p:spPr>
        <p:txBody>
          <a:bodyPr>
            <a:normAutofit/>
          </a:bodyPr>
          <a:lstStyle/>
          <a:p>
            <a:pPr lvl="1" indent="1588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600" dirty="0"/>
              <a:t>El bucle calcula adecuadamente </a:t>
            </a:r>
            <a:r>
              <a:rPr lang="es-ES" sz="2600"/>
              <a:t>la secuencia:</a:t>
            </a:r>
            <a:endParaRPr lang="es-ES" sz="2600" dirty="0"/>
          </a:p>
          <a:p>
            <a:pPr marL="1073150" lvl="1" indent="1588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while </a:t>
            </a:r>
            <a:r>
              <a:rPr lang="es-ES" sz="2400" dirty="0">
                <a:latin typeface="Consolas" pitchFamily="49" charset="0"/>
              </a:rPr>
              <a:t>(</a:t>
            </a:r>
            <a:r>
              <a:rPr lang="es-ES" sz="2400" dirty="0" err="1">
                <a:latin typeface="Consolas" pitchFamily="49" charset="0"/>
              </a:rPr>
              <a:t>fib</a:t>
            </a:r>
            <a:r>
              <a:rPr lang="es-ES" sz="2400" dirty="0">
                <a:latin typeface="Consolas" pitchFamily="49" charset="0"/>
              </a:rPr>
              <a:t> &lt;= num) {</a:t>
            </a:r>
          </a:p>
          <a:p>
            <a:pPr marL="1073150" lvl="1" indent="1588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2400" dirty="0">
                <a:latin typeface="Consolas" pitchFamily="49" charset="0"/>
              </a:rPr>
              <a:t>   cout &lt;&lt; fib &lt;&lt;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" "</a:t>
            </a:r>
            <a:r>
              <a:rPr lang="es-ES" sz="2400" dirty="0">
                <a:latin typeface="Consolas" pitchFamily="49" charset="0"/>
              </a:rPr>
              <a:t>;</a:t>
            </a:r>
          </a:p>
          <a:p>
            <a:pPr marL="1073150" lvl="1" indent="1588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2400" dirty="0">
                <a:latin typeface="Consolas" pitchFamily="49" charset="0"/>
              </a:rPr>
              <a:t>   fibMenos2 = fibMenos1;</a:t>
            </a:r>
          </a:p>
          <a:p>
            <a:pPr marL="1073150" lvl="1" indent="1588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2400" dirty="0">
                <a:latin typeface="Consolas" pitchFamily="49" charset="0"/>
              </a:rPr>
              <a:t>   fibMenos1 = fib;</a:t>
            </a:r>
          </a:p>
          <a:p>
            <a:pPr marL="1073150" lvl="1" indent="1588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2400" dirty="0">
                <a:latin typeface="Consolas" pitchFamily="49" charset="0"/>
              </a:rPr>
              <a:t>   </a:t>
            </a:r>
            <a:r>
              <a:rPr lang="es-ES" sz="2400" dirty="0" err="1">
                <a:latin typeface="Consolas" pitchFamily="49" charset="0"/>
              </a:rPr>
              <a:t>fib</a:t>
            </a:r>
            <a:r>
              <a:rPr lang="es-ES" sz="2400" dirty="0">
                <a:latin typeface="Consolas" pitchFamily="49" charset="0"/>
              </a:rPr>
              <a:t> = fibMenos2 + fibMenos1;</a:t>
            </a:r>
          </a:p>
          <a:p>
            <a:pPr marL="1073150" lvl="1" indent="1588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2400" dirty="0">
                <a:latin typeface="Consolas" pitchFamily="49" charset="0"/>
              </a:rPr>
              <a:t>}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311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aphicFrame>
        <p:nvGraphicFramePr>
          <p:cNvPr id="11" name="10 Tabla"/>
          <p:cNvGraphicFramePr>
            <a:graphicFrameLocks noGrp="1"/>
          </p:cNvGraphicFramePr>
          <p:nvPr/>
        </p:nvGraphicFramePr>
        <p:xfrm>
          <a:off x="2195736" y="3861048"/>
          <a:ext cx="1800200" cy="39624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r"/>
                      <a:r>
                        <a:rPr lang="es-ES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num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rgbClr val="C00000"/>
                          </a:solidFill>
                          <a:latin typeface="Consolas" pitchFamily="49" charset="0"/>
                        </a:rPr>
                        <a:t>?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11 CuadroTexto"/>
          <p:cNvSpPr txBox="1"/>
          <p:nvPr/>
        </p:nvSpPr>
        <p:spPr>
          <a:xfrm>
            <a:off x="3332604" y="3900601"/>
            <a:ext cx="607859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0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100</a:t>
            </a:r>
            <a:endParaRPr lang="es-ES" sz="2800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graphicFrame>
        <p:nvGraphicFramePr>
          <p:cNvPr id="13" name="12 Tabla"/>
          <p:cNvGraphicFramePr>
            <a:graphicFrameLocks noGrp="1"/>
          </p:cNvGraphicFramePr>
          <p:nvPr/>
        </p:nvGraphicFramePr>
        <p:xfrm>
          <a:off x="2195736" y="4396273"/>
          <a:ext cx="1800200" cy="39624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r"/>
                      <a:r>
                        <a:rPr lang="es-ES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fib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rgbClr val="C00000"/>
                          </a:solidFill>
                          <a:latin typeface="Consolas" pitchFamily="49" charset="0"/>
                        </a:rPr>
                        <a:t>?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13 CuadroTexto"/>
          <p:cNvSpPr txBox="1"/>
          <p:nvPr/>
        </p:nvSpPr>
        <p:spPr>
          <a:xfrm>
            <a:off x="3473669" y="4435826"/>
            <a:ext cx="32573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0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</a:t>
            </a:r>
            <a:endParaRPr lang="es-ES" sz="2800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graphicFrame>
        <p:nvGraphicFramePr>
          <p:cNvPr id="15" name="14 Tabla"/>
          <p:cNvGraphicFramePr>
            <a:graphicFrameLocks noGrp="1"/>
          </p:cNvGraphicFramePr>
          <p:nvPr/>
        </p:nvGraphicFramePr>
        <p:xfrm>
          <a:off x="1610458" y="4972337"/>
          <a:ext cx="2385478" cy="39624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1665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r"/>
                      <a:r>
                        <a:rPr lang="es-ES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fibMenos1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rgbClr val="C00000"/>
                          </a:solidFill>
                          <a:latin typeface="Consolas" pitchFamily="49" charset="0"/>
                        </a:rPr>
                        <a:t>?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16 CuadroTexto"/>
          <p:cNvSpPr txBox="1"/>
          <p:nvPr/>
        </p:nvSpPr>
        <p:spPr>
          <a:xfrm>
            <a:off x="3473669" y="5011890"/>
            <a:ext cx="32573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0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</a:t>
            </a:r>
            <a:endParaRPr lang="es-ES" sz="2800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graphicFrame>
        <p:nvGraphicFramePr>
          <p:cNvPr id="18" name="17 Tabla"/>
          <p:cNvGraphicFramePr>
            <a:graphicFrameLocks noGrp="1"/>
          </p:cNvGraphicFramePr>
          <p:nvPr/>
        </p:nvGraphicFramePr>
        <p:xfrm>
          <a:off x="1763688" y="5548401"/>
          <a:ext cx="2232248" cy="39624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r"/>
                      <a:r>
                        <a:rPr lang="es-ES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fibMenos2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rgbClr val="C00000"/>
                          </a:solidFill>
                          <a:latin typeface="Consolas" pitchFamily="49" charset="0"/>
                        </a:rPr>
                        <a:t>?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18 CuadroTexto"/>
          <p:cNvSpPr txBox="1"/>
          <p:nvPr/>
        </p:nvSpPr>
        <p:spPr>
          <a:xfrm>
            <a:off x="3473669" y="5587954"/>
            <a:ext cx="32573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0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</a:t>
            </a:r>
            <a:endParaRPr lang="es-ES" sz="2800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20" name="19 CuadroTexto"/>
          <p:cNvSpPr txBox="1"/>
          <p:nvPr/>
        </p:nvSpPr>
        <p:spPr>
          <a:xfrm>
            <a:off x="4785366" y="4033979"/>
            <a:ext cx="776175" cy="43088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0 1</a:t>
            </a:r>
            <a:endParaRPr lang="es-ES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5562390" y="4033979"/>
            <a:ext cx="381836" cy="43088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</a:t>
            </a:r>
            <a:endParaRPr lang="es-ES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cxnSp>
        <p:nvCxnSpPr>
          <p:cNvPr id="23" name="22 Conector recto de flecha"/>
          <p:cNvCxnSpPr/>
          <p:nvPr/>
        </p:nvCxnSpPr>
        <p:spPr>
          <a:xfrm rot="10800000" flipH="1">
            <a:off x="962386" y="1734716"/>
            <a:ext cx="504056" cy="1588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24 CuadroTexto"/>
          <p:cNvSpPr txBox="1"/>
          <p:nvPr/>
        </p:nvSpPr>
        <p:spPr>
          <a:xfrm>
            <a:off x="3471042" y="5587954"/>
            <a:ext cx="32573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0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</a:t>
            </a:r>
            <a:endParaRPr lang="es-ES" sz="2800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26" name="25 CuadroTexto"/>
          <p:cNvSpPr txBox="1"/>
          <p:nvPr/>
        </p:nvSpPr>
        <p:spPr>
          <a:xfrm>
            <a:off x="3471042" y="5011890"/>
            <a:ext cx="32573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0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</a:t>
            </a:r>
            <a:endParaRPr lang="es-ES" sz="2800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27" name="26 CuadroTexto"/>
          <p:cNvSpPr txBox="1"/>
          <p:nvPr/>
        </p:nvSpPr>
        <p:spPr>
          <a:xfrm>
            <a:off x="3471042" y="4435826"/>
            <a:ext cx="32573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0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2</a:t>
            </a:r>
            <a:endParaRPr lang="es-ES" sz="2800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cxnSp>
        <p:nvCxnSpPr>
          <p:cNvPr id="28" name="27 Conector recto de flecha"/>
          <p:cNvCxnSpPr/>
          <p:nvPr/>
        </p:nvCxnSpPr>
        <p:spPr>
          <a:xfrm rot="10800000" flipH="1">
            <a:off x="962386" y="2106662"/>
            <a:ext cx="504056" cy="1588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 de flecha"/>
          <p:cNvCxnSpPr/>
          <p:nvPr/>
        </p:nvCxnSpPr>
        <p:spPr>
          <a:xfrm rot="10800000" flipH="1">
            <a:off x="962386" y="2478608"/>
            <a:ext cx="504056" cy="1588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 de flecha"/>
          <p:cNvCxnSpPr/>
          <p:nvPr/>
        </p:nvCxnSpPr>
        <p:spPr>
          <a:xfrm rot="10800000" flipH="1">
            <a:off x="962386" y="2850554"/>
            <a:ext cx="504056" cy="1588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 de flecha"/>
          <p:cNvCxnSpPr/>
          <p:nvPr/>
        </p:nvCxnSpPr>
        <p:spPr>
          <a:xfrm rot="10800000" flipH="1">
            <a:off x="962386" y="3222501"/>
            <a:ext cx="504056" cy="1588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31 CuadroTexto"/>
          <p:cNvSpPr txBox="1"/>
          <p:nvPr/>
        </p:nvSpPr>
        <p:spPr>
          <a:xfrm>
            <a:off x="5945075" y="4033979"/>
            <a:ext cx="381836" cy="43088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2</a:t>
            </a:r>
            <a:endParaRPr lang="es-ES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33" name="32 CuadroTexto"/>
          <p:cNvSpPr txBox="1"/>
          <p:nvPr/>
        </p:nvSpPr>
        <p:spPr>
          <a:xfrm>
            <a:off x="3471042" y="5011890"/>
            <a:ext cx="32573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0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2</a:t>
            </a:r>
            <a:endParaRPr lang="es-ES" sz="2800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34" name="33 CuadroTexto"/>
          <p:cNvSpPr txBox="1"/>
          <p:nvPr/>
        </p:nvSpPr>
        <p:spPr>
          <a:xfrm>
            <a:off x="3471042" y="4435826"/>
            <a:ext cx="32573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0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3</a:t>
            </a:r>
            <a:endParaRPr lang="es-ES" sz="2800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35" name="34 CuadroTexto"/>
          <p:cNvSpPr txBox="1"/>
          <p:nvPr/>
        </p:nvSpPr>
        <p:spPr>
          <a:xfrm>
            <a:off x="6327760" y="4033979"/>
            <a:ext cx="381836" cy="43088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3</a:t>
            </a:r>
            <a:endParaRPr lang="es-ES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36" name="35 CuadroTexto"/>
          <p:cNvSpPr txBox="1"/>
          <p:nvPr/>
        </p:nvSpPr>
        <p:spPr>
          <a:xfrm>
            <a:off x="3471042" y="5587954"/>
            <a:ext cx="32573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0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2</a:t>
            </a:r>
            <a:endParaRPr lang="es-ES" sz="2800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37" name="36 CuadroTexto"/>
          <p:cNvSpPr txBox="1"/>
          <p:nvPr/>
        </p:nvSpPr>
        <p:spPr>
          <a:xfrm>
            <a:off x="3471042" y="5011890"/>
            <a:ext cx="32573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0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3</a:t>
            </a:r>
            <a:endParaRPr lang="es-ES" sz="2800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38" name="37 CuadroTexto"/>
          <p:cNvSpPr txBox="1"/>
          <p:nvPr/>
        </p:nvSpPr>
        <p:spPr>
          <a:xfrm>
            <a:off x="3471042" y="4435826"/>
            <a:ext cx="32573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0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5</a:t>
            </a:r>
            <a:endParaRPr lang="es-ES" sz="2800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39" name="38 CuadroTexto"/>
          <p:cNvSpPr txBox="1"/>
          <p:nvPr/>
        </p:nvSpPr>
        <p:spPr>
          <a:xfrm>
            <a:off x="6710444" y="4033979"/>
            <a:ext cx="381836" cy="43088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5</a:t>
            </a:r>
            <a:endParaRPr lang="es-ES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40" name="39 CuadroTexto"/>
          <p:cNvSpPr txBox="1"/>
          <p:nvPr/>
        </p:nvSpPr>
        <p:spPr>
          <a:xfrm>
            <a:off x="6964177" y="4032865"/>
            <a:ext cx="776175" cy="43088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...</a:t>
            </a:r>
            <a:endParaRPr lang="es-ES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0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5" grpId="0" animBg="1"/>
      <p:bldP spid="26" grpId="0" animBg="1"/>
      <p:bldP spid="27" grpId="0" animBg="1"/>
      <p:bldP spid="32" grpId="0"/>
      <p:bldP spid="33" grpId="0" animBg="1"/>
      <p:bldP spid="34" grpId="0" animBg="1"/>
      <p:bldP spid="35" grpId="0"/>
      <p:bldP spid="36" grpId="0" animBg="1"/>
      <p:bldP spid="37" grpId="0" animBg="1"/>
      <p:bldP spid="38" grpId="0" animBg="1"/>
      <p:bldP spid="39" grpId="0"/>
      <p:bldP spid="40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312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645681" y="3044280"/>
            <a:ext cx="5852884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Búsqueda </a:t>
            </a:r>
            <a:r>
              <a:rPr lang="es-ES" sz="4400" b="1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en secuencias</a:t>
            </a:r>
            <a:endParaRPr lang="es-ES" sz="2400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Esquema de búsqueda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Localización del primer elemento con una propiedad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Inicialización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Mientras no se encuentre el elemento </a:t>
            </a:r>
            <a:br>
              <a:rPr lang="es-ES" i="1" dirty="0"/>
            </a:br>
            <a:r>
              <a:rPr lang="es-ES" i="1" dirty="0">
                <a:solidFill>
                  <a:srgbClr val="FFC000"/>
                </a:solidFill>
              </a:rPr>
              <a:t>y</a:t>
            </a:r>
            <a:r>
              <a:rPr lang="es-ES" i="1" dirty="0"/>
              <a:t> no se esté al final de la secuencia: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Obtener el siguiente elemento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Comprobar si el elemento satisface la condición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Finalización</a:t>
            </a:r>
            <a:br>
              <a:rPr lang="es-ES" i="1" dirty="0"/>
            </a:br>
            <a:r>
              <a:rPr lang="es-ES" i="1" dirty="0"/>
              <a:t>(tratar el elemento encontrado o indicar que no se ha encontrado)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313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57200" y="4581128"/>
            <a:ext cx="822960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Elemento que se busca: satisfará una condición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Dos condiciones de terminación del bucle: se encuentra / al final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Variable lógica que indique si se ha encontrado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bldLvl="2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  <a:spcAft>
                <a:spcPts val="1200"/>
              </a:spcAft>
              <a:buClr>
                <a:srgbClr val="0BD0D9"/>
              </a:buClr>
            </a:pPr>
            <a:r>
              <a:rPr lang="es-ES" sz="2800" dirty="0">
                <a:solidFill>
                  <a:srgbClr val="04617B">
                    <a:lumMod val="20000"/>
                    <a:lumOff val="80000"/>
                  </a:srgbClr>
                </a:solidFill>
              </a:rPr>
              <a:t>Localización del primer elemento con una propiedad</a:t>
            </a:r>
            <a:endParaRPr lang="es-ES" sz="2800" i="0" dirty="0">
              <a:solidFill>
                <a:srgbClr val="04617B">
                  <a:lumMod val="20000"/>
                  <a:lumOff val="80000"/>
                </a:srgbClr>
              </a:solidFill>
            </a:endParaRPr>
          </a:p>
        </p:txBody>
      </p:sp>
      <p:grpSp>
        <p:nvGrpSpPr>
          <p:cNvPr id="28" name="27 Grupo"/>
          <p:cNvGrpSpPr/>
          <p:nvPr/>
        </p:nvGrpSpPr>
        <p:grpSpPr>
          <a:xfrm>
            <a:off x="3410347" y="3327040"/>
            <a:ext cx="2160239" cy="1766168"/>
            <a:chOff x="3410347" y="3327040"/>
            <a:chExt cx="2160239" cy="1766168"/>
          </a:xfrm>
        </p:grpSpPr>
        <p:cxnSp>
          <p:nvCxnSpPr>
            <p:cNvPr id="6" name="5 Conector recto de flecha"/>
            <p:cNvCxnSpPr/>
            <p:nvPr/>
          </p:nvCxnSpPr>
          <p:spPr>
            <a:xfrm rot="5400000">
              <a:off x="4016513" y="4629875"/>
              <a:ext cx="925078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4" name="13 CuadroTexto"/>
            <p:cNvSpPr txBox="1"/>
            <p:nvPr/>
          </p:nvSpPr>
          <p:spPr>
            <a:xfrm>
              <a:off x="3647702" y="3327040"/>
              <a:ext cx="817853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s-ES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  <p:sp>
          <p:nvSpPr>
            <p:cNvPr id="24" name="23 CuadroTexto"/>
            <p:cNvSpPr txBox="1"/>
            <p:nvPr/>
          </p:nvSpPr>
          <p:spPr>
            <a:xfrm>
              <a:off x="3410348" y="4456162"/>
              <a:ext cx="216023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¿Encontrado?</a:t>
              </a:r>
            </a:p>
          </p:txBody>
        </p:sp>
        <p:cxnSp>
          <p:nvCxnSpPr>
            <p:cNvPr id="25" name="24 Conector recto de flecha"/>
            <p:cNvCxnSpPr/>
            <p:nvPr/>
          </p:nvCxnSpPr>
          <p:spPr>
            <a:xfrm rot="16200000" flipH="1">
              <a:off x="4214286" y="3637558"/>
              <a:ext cx="542229" cy="1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7" name="6 CuadroTexto"/>
            <p:cNvSpPr txBox="1"/>
            <p:nvPr/>
          </p:nvSpPr>
          <p:spPr>
            <a:xfrm>
              <a:off x="3410347" y="3907371"/>
              <a:ext cx="2160239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Obtener elemento</a:t>
              </a:r>
            </a:p>
          </p:txBody>
        </p:sp>
      </p:grpSp>
      <p:grpSp>
        <p:nvGrpSpPr>
          <p:cNvPr id="30" name="29 Grupo"/>
          <p:cNvGrpSpPr/>
          <p:nvPr/>
        </p:nvGrpSpPr>
        <p:grpSpPr>
          <a:xfrm>
            <a:off x="3638178" y="2704961"/>
            <a:ext cx="3166070" cy="3554638"/>
            <a:chOff x="3638178" y="2704961"/>
            <a:chExt cx="3166070" cy="3554638"/>
          </a:xfrm>
        </p:grpSpPr>
        <p:cxnSp>
          <p:nvCxnSpPr>
            <p:cNvPr id="11" name="10 Conector recto de flecha"/>
            <p:cNvCxnSpPr/>
            <p:nvPr/>
          </p:nvCxnSpPr>
          <p:spPr>
            <a:xfrm>
              <a:off x="5373413" y="3084896"/>
              <a:ext cx="1205286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5" name="14 CuadroTexto"/>
            <p:cNvSpPr txBox="1"/>
            <p:nvPr/>
          </p:nvSpPr>
          <p:spPr>
            <a:xfrm>
              <a:off x="6113033" y="2704961"/>
              <a:ext cx="691215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</a:p>
          </p:txBody>
        </p:sp>
        <p:cxnSp>
          <p:nvCxnSpPr>
            <p:cNvPr id="16" name="15 Conector recto de flecha"/>
            <p:cNvCxnSpPr/>
            <p:nvPr/>
          </p:nvCxnSpPr>
          <p:spPr>
            <a:xfrm rot="5400000">
              <a:off x="5455069" y="4182119"/>
              <a:ext cx="2226622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9" name="18 Conector recto de flecha"/>
            <p:cNvCxnSpPr/>
            <p:nvPr/>
          </p:nvCxnSpPr>
          <p:spPr>
            <a:xfrm>
              <a:off x="4465555" y="5277966"/>
              <a:ext cx="2113144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22 Conector recto de flecha"/>
            <p:cNvCxnSpPr/>
            <p:nvPr/>
          </p:nvCxnSpPr>
          <p:spPr>
            <a:xfrm>
              <a:off x="4486194" y="5276589"/>
              <a:ext cx="0" cy="26293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8" name="37 Conector recto de flecha"/>
            <p:cNvCxnSpPr/>
            <p:nvPr/>
          </p:nvCxnSpPr>
          <p:spPr>
            <a:xfrm rot="16200000" flipH="1">
              <a:off x="4314507" y="6079182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36" name="35 CuadroTexto"/>
            <p:cNvSpPr txBox="1"/>
            <p:nvPr/>
          </p:nvSpPr>
          <p:spPr>
            <a:xfrm>
              <a:off x="3638178" y="5539519"/>
              <a:ext cx="1725710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Finalización</a:t>
              </a:r>
            </a:p>
          </p:txBody>
        </p: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Esquema de búsqueda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314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26" name="25 Grupo"/>
          <p:cNvGrpSpPr/>
          <p:nvPr/>
        </p:nvGrpSpPr>
        <p:grpSpPr>
          <a:xfrm>
            <a:off x="2411761" y="1575842"/>
            <a:ext cx="4166938" cy="691505"/>
            <a:chOff x="2411761" y="1575842"/>
            <a:chExt cx="4166938" cy="691505"/>
          </a:xfrm>
        </p:grpSpPr>
        <p:sp>
          <p:nvSpPr>
            <p:cNvPr id="17" name="16 CuadroTexto"/>
            <p:cNvSpPr txBox="1"/>
            <p:nvPr/>
          </p:nvSpPr>
          <p:spPr>
            <a:xfrm>
              <a:off x="2411761" y="1907307"/>
              <a:ext cx="416693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Inicialización / 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encontrado = </a:t>
              </a:r>
              <a:r>
                <a:rPr lang="es-ES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;</a:t>
              </a:r>
            </a:p>
          </p:txBody>
        </p:sp>
        <p:cxnSp>
          <p:nvCxnSpPr>
            <p:cNvPr id="18" name="17 Conector recto de flecha"/>
            <p:cNvCxnSpPr/>
            <p:nvPr/>
          </p:nvCxnSpPr>
          <p:spPr>
            <a:xfrm rot="16200000" flipH="1">
              <a:off x="4304982" y="1755465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9" name="28 Grupo"/>
          <p:cNvGrpSpPr/>
          <p:nvPr/>
        </p:nvGrpSpPr>
        <p:grpSpPr>
          <a:xfrm>
            <a:off x="2267745" y="2470744"/>
            <a:ext cx="2215273" cy="2616910"/>
            <a:chOff x="2267745" y="2470744"/>
            <a:chExt cx="2215273" cy="2616910"/>
          </a:xfrm>
        </p:grpSpPr>
        <p:cxnSp>
          <p:nvCxnSpPr>
            <p:cNvPr id="20" name="19 Conector recto de flecha"/>
            <p:cNvCxnSpPr/>
            <p:nvPr/>
          </p:nvCxnSpPr>
          <p:spPr>
            <a:xfrm>
              <a:off x="2269332" y="2481063"/>
              <a:ext cx="2196223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1" name="20 Conector recto de flecha"/>
            <p:cNvCxnSpPr/>
            <p:nvPr/>
          </p:nvCxnSpPr>
          <p:spPr>
            <a:xfrm rot="5400000">
              <a:off x="969608" y="3778405"/>
              <a:ext cx="2616910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2" name="21 Conector recto de flecha"/>
            <p:cNvCxnSpPr/>
            <p:nvPr/>
          </p:nvCxnSpPr>
          <p:spPr>
            <a:xfrm rot="10800000">
              <a:off x="2267745" y="5077334"/>
              <a:ext cx="2215273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7" name="26 Grupo"/>
          <p:cNvGrpSpPr/>
          <p:nvPr/>
        </p:nvGrpSpPr>
        <p:grpSpPr>
          <a:xfrm>
            <a:off x="2887241" y="2267348"/>
            <a:ext cx="3197217" cy="1119284"/>
            <a:chOff x="2887241" y="2267348"/>
            <a:chExt cx="3197217" cy="1119284"/>
          </a:xfrm>
        </p:grpSpPr>
        <p:cxnSp>
          <p:nvCxnSpPr>
            <p:cNvPr id="13" name="12 Conector recto de flecha"/>
            <p:cNvCxnSpPr/>
            <p:nvPr/>
          </p:nvCxnSpPr>
          <p:spPr>
            <a:xfrm rot="5400000">
              <a:off x="4232865" y="2519095"/>
              <a:ext cx="505081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2" name="11 Decisión"/>
            <p:cNvSpPr/>
            <p:nvPr/>
          </p:nvSpPr>
          <p:spPr>
            <a:xfrm>
              <a:off x="2887241" y="2771636"/>
              <a:ext cx="3197217" cy="614996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>
              <a:noAutofit/>
            </a:bodyPr>
            <a:lstStyle/>
            <a:p>
              <a:pPr algn="ctr"/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¿Al final o </a:t>
              </a: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encontrado</a:t>
              </a: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?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Secuencias explícitas con centinela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61678"/>
            <a:ext cx="8363272" cy="5110178"/>
          </a:xfrm>
        </p:spPr>
        <p:txBody>
          <a:bodyPr>
            <a:normAutofit/>
          </a:bodyPr>
          <a:lstStyle/>
          <a:p>
            <a:pPr marL="0" lvl="1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8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Implementación con </a:t>
            </a:r>
            <a:r>
              <a:rPr lang="es-E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endParaRPr lang="es-ES" sz="2800" i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Inicialización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Obtener el primer elemento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Mientras ni encontrado ni el centinela: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Obtener el siguiente elemento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Finalización (¿encontrado?)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315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6" name="30 Grupo"/>
          <p:cNvGrpSpPr/>
          <p:nvPr/>
        </p:nvGrpSpPr>
        <p:grpSpPr>
          <a:xfrm>
            <a:off x="5436096" y="2591383"/>
            <a:ext cx="1495493" cy="2150715"/>
            <a:chOff x="3203848" y="2394409"/>
            <a:chExt cx="1495493" cy="2150715"/>
          </a:xfrm>
        </p:grpSpPr>
        <p:cxnSp>
          <p:nvCxnSpPr>
            <p:cNvPr id="32" name="31 Conector recto de flecha"/>
            <p:cNvCxnSpPr/>
            <p:nvPr/>
          </p:nvCxnSpPr>
          <p:spPr>
            <a:xfrm>
              <a:off x="3203848" y="2394409"/>
              <a:ext cx="1466051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3" name="32 Conector recto de flecha"/>
            <p:cNvCxnSpPr/>
            <p:nvPr/>
          </p:nvCxnSpPr>
          <p:spPr>
            <a:xfrm>
              <a:off x="3224486" y="2395997"/>
              <a:ext cx="0" cy="2149127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4" name="33 Conector recto de flecha"/>
            <p:cNvCxnSpPr/>
            <p:nvPr/>
          </p:nvCxnSpPr>
          <p:spPr>
            <a:xfrm flipH="1">
              <a:off x="3204643" y="4545124"/>
              <a:ext cx="1494698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7" name="34 Grupo"/>
          <p:cNvGrpSpPr/>
          <p:nvPr/>
        </p:nvGrpSpPr>
        <p:grpSpPr>
          <a:xfrm>
            <a:off x="5890091" y="3537012"/>
            <a:ext cx="2099635" cy="1224136"/>
            <a:chOff x="3427519" y="3320988"/>
            <a:chExt cx="2099635" cy="1224136"/>
          </a:xfrm>
        </p:grpSpPr>
        <p:cxnSp>
          <p:nvCxnSpPr>
            <p:cNvPr id="36" name="35 Conector recto de flecha"/>
            <p:cNvCxnSpPr/>
            <p:nvPr/>
          </p:nvCxnSpPr>
          <p:spPr>
            <a:xfrm>
              <a:off x="4479846" y="4168130"/>
              <a:ext cx="0" cy="3769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37" name="36 CuadroTexto"/>
            <p:cNvSpPr txBox="1"/>
            <p:nvPr/>
          </p:nvSpPr>
          <p:spPr>
            <a:xfrm>
              <a:off x="3549588" y="3320988"/>
              <a:ext cx="889987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  <p:cxnSp>
          <p:nvCxnSpPr>
            <p:cNvPr id="39" name="38 Conector recto de flecha"/>
            <p:cNvCxnSpPr/>
            <p:nvPr/>
          </p:nvCxnSpPr>
          <p:spPr>
            <a:xfrm rot="16200000" flipH="1">
              <a:off x="4214286" y="3637558"/>
              <a:ext cx="542229" cy="1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40" name="39 CuadroTexto"/>
            <p:cNvSpPr txBox="1"/>
            <p:nvPr/>
          </p:nvSpPr>
          <p:spPr>
            <a:xfrm>
              <a:off x="3427519" y="3897052"/>
              <a:ext cx="2099635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Obtener siguiente</a:t>
              </a:r>
            </a:p>
          </p:txBody>
        </p:sp>
      </p:grpSp>
      <p:grpSp>
        <p:nvGrpSpPr>
          <p:cNvPr id="8" name="40 Grupo"/>
          <p:cNvGrpSpPr/>
          <p:nvPr/>
        </p:nvGrpSpPr>
        <p:grpSpPr>
          <a:xfrm>
            <a:off x="6228184" y="2754449"/>
            <a:ext cx="2376264" cy="3122823"/>
            <a:chOff x="3621596" y="2600908"/>
            <a:chExt cx="2376264" cy="3122823"/>
          </a:xfrm>
        </p:grpSpPr>
        <p:cxnSp>
          <p:nvCxnSpPr>
            <p:cNvPr id="42" name="41 Conector recto de flecha"/>
            <p:cNvCxnSpPr/>
            <p:nvPr/>
          </p:nvCxnSpPr>
          <p:spPr>
            <a:xfrm>
              <a:off x="5366760" y="3130933"/>
              <a:ext cx="347843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43" name="42 CuadroTexto"/>
            <p:cNvSpPr txBox="1"/>
            <p:nvPr/>
          </p:nvSpPr>
          <p:spPr>
            <a:xfrm>
              <a:off x="5248937" y="2600908"/>
              <a:ext cx="748923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true</a:t>
              </a:r>
            </a:p>
          </p:txBody>
        </p:sp>
        <p:cxnSp>
          <p:nvCxnSpPr>
            <p:cNvPr id="44" name="43 Conector recto de flecha"/>
            <p:cNvCxnSpPr/>
            <p:nvPr/>
          </p:nvCxnSpPr>
          <p:spPr>
            <a:xfrm>
              <a:off x="5695553" y="3136277"/>
              <a:ext cx="0" cy="1615346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5" name="44 Conector recto de flecha"/>
            <p:cNvCxnSpPr/>
            <p:nvPr/>
          </p:nvCxnSpPr>
          <p:spPr>
            <a:xfrm>
              <a:off x="4349900" y="4732573"/>
              <a:ext cx="1355178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6" name="45 Conector recto de flecha"/>
            <p:cNvCxnSpPr>
              <a:endCxn id="48" idx="0"/>
            </p:cNvCxnSpPr>
            <p:nvPr/>
          </p:nvCxnSpPr>
          <p:spPr>
            <a:xfrm rot="16200000" flipH="1">
              <a:off x="4241850" y="4867821"/>
              <a:ext cx="262930" cy="8729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7" name="46 Conector recto de flecha"/>
            <p:cNvCxnSpPr/>
            <p:nvPr/>
          </p:nvCxnSpPr>
          <p:spPr>
            <a:xfrm rot="16200000" flipH="1">
              <a:off x="4197263" y="5543314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48" name="47 CuadroTexto"/>
            <p:cNvSpPr txBox="1"/>
            <p:nvPr/>
          </p:nvSpPr>
          <p:spPr>
            <a:xfrm>
              <a:off x="3621596" y="5003651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Finalización</a:t>
              </a:r>
            </a:p>
          </p:txBody>
        </p:sp>
      </p:grpSp>
      <p:sp>
        <p:nvSpPr>
          <p:cNvPr id="51" name="50 Decisión"/>
          <p:cNvSpPr/>
          <p:nvPr/>
        </p:nvSpPr>
        <p:spPr>
          <a:xfrm>
            <a:off x="5690778" y="2943994"/>
            <a:ext cx="2481622" cy="658662"/>
          </a:xfrm>
          <a:prstGeom prst="flowChartDecision">
            <a:avLst/>
          </a:prstGeom>
          <a:solidFill>
            <a:srgbClr val="0037A8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0" tIns="36000" rIns="0" bIns="36000" rtlCol="0" anchor="ctr" anchorCtr="0">
            <a:noAutofit/>
          </a:bodyPr>
          <a:lstStyle/>
          <a:p>
            <a:pPr algn="ctr"/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¿Encontrado o centinela?</a:t>
            </a:r>
          </a:p>
        </p:txBody>
      </p:sp>
      <p:grpSp>
        <p:nvGrpSpPr>
          <p:cNvPr id="31" name="30 Grupo"/>
          <p:cNvGrpSpPr/>
          <p:nvPr/>
        </p:nvGrpSpPr>
        <p:grpSpPr>
          <a:xfrm>
            <a:off x="6191889" y="1880828"/>
            <a:ext cx="1512168" cy="1063166"/>
            <a:chOff x="6191889" y="1880828"/>
            <a:chExt cx="1512168" cy="1063166"/>
          </a:xfrm>
        </p:grpSpPr>
        <p:cxnSp>
          <p:nvCxnSpPr>
            <p:cNvPr id="50" name="49 Conector recto de flecha"/>
            <p:cNvCxnSpPr>
              <a:endCxn id="51" idx="0"/>
            </p:cNvCxnSpPr>
            <p:nvPr/>
          </p:nvCxnSpPr>
          <p:spPr>
            <a:xfrm>
              <a:off x="6931589" y="1880828"/>
              <a:ext cx="0" cy="1063166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61" name="60 CuadroTexto"/>
            <p:cNvSpPr txBox="1"/>
            <p:nvPr/>
          </p:nvSpPr>
          <p:spPr>
            <a:xfrm>
              <a:off x="6191889" y="2068277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Obtener 1º</a:t>
              </a:r>
            </a:p>
          </p:txBody>
        </p:sp>
      </p:grpSp>
      <p:grpSp>
        <p:nvGrpSpPr>
          <p:cNvPr id="30" name="29 Grupo"/>
          <p:cNvGrpSpPr/>
          <p:nvPr/>
        </p:nvGrpSpPr>
        <p:grpSpPr>
          <a:xfrm>
            <a:off x="6191887" y="1232756"/>
            <a:ext cx="1512168" cy="691505"/>
            <a:chOff x="6191887" y="1232756"/>
            <a:chExt cx="1512168" cy="691505"/>
          </a:xfrm>
        </p:grpSpPr>
        <p:sp>
          <p:nvSpPr>
            <p:cNvPr id="53" name="52 CuadroTexto"/>
            <p:cNvSpPr txBox="1"/>
            <p:nvPr/>
          </p:nvSpPr>
          <p:spPr>
            <a:xfrm>
              <a:off x="6191887" y="1564221"/>
              <a:ext cx="1512168" cy="360040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Inicialización</a:t>
              </a:r>
            </a:p>
          </p:txBody>
        </p:sp>
        <p:cxnSp>
          <p:nvCxnSpPr>
            <p:cNvPr id="54" name="53 Conector recto de flecha"/>
            <p:cNvCxnSpPr/>
            <p:nvPr/>
          </p:nvCxnSpPr>
          <p:spPr>
            <a:xfrm rot="16200000" flipH="1">
              <a:off x="6767554" y="1412379"/>
              <a:ext cx="360040" cy="79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2 Marcador de contenido"/>
          <p:cNvSpPr>
            <a:spLocks noGrp="1"/>
          </p:cNvSpPr>
          <p:nvPr>
            <p:ph idx="1"/>
          </p:nvPr>
        </p:nvSpPr>
        <p:spPr>
          <a:xfrm>
            <a:off x="457200" y="961678"/>
            <a:ext cx="8363272" cy="5110178"/>
          </a:xfrm>
        </p:spPr>
        <p:txBody>
          <a:bodyPr>
            <a:normAutofit/>
          </a:bodyPr>
          <a:lstStyle/>
          <a:p>
            <a:pPr marL="0" lvl="1" indent="0">
              <a:spcBef>
                <a:spcPts val="0"/>
              </a:spcBef>
              <a:spcAft>
                <a:spcPts val="12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800" i="1" dirty="0">
                <a:solidFill>
                  <a:srgbClr val="04617B">
                    <a:lumMod val="20000"/>
                    <a:lumOff val="80000"/>
                  </a:srgbClr>
                </a:solidFill>
              </a:rPr>
              <a:t>Primer número mayor que uno dado</a:t>
            </a:r>
          </a:p>
          <a:p>
            <a:pPr marL="361950" lvl="1" indent="0" defTabSz="6153150">
              <a:spcBef>
                <a:spcPts val="0"/>
              </a:spcBef>
              <a:spcAft>
                <a:spcPts val="1800"/>
              </a:spcAft>
              <a:buNone/>
              <a:tabLst>
                <a:tab pos="7534275" algn="r"/>
              </a:tabLst>
            </a:pPr>
            <a:r>
              <a:rPr lang="es-ES" dirty="0"/>
              <a:t>Centinela: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-1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467544" y="1988840"/>
            <a:ext cx="828092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0"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double 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d, num;</a:t>
            </a:r>
          </a:p>
          <a:p>
            <a:pPr marL="360000" lvl="1" indent="1588">
              <a:lnSpc>
                <a:spcPts val="2100"/>
              </a:lnSpc>
            </a:pPr>
            <a:r>
              <a:rPr lang="es-E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bool 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encontrado =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false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360000"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cout &lt;&lt;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"Encontrar primero mayor que: "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360000"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cin &gt;&gt; num;</a:t>
            </a:r>
          </a:p>
          <a:p>
            <a:pPr marL="360000"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cout &lt;&lt;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"Siguiente (-1 para terminar): "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360000"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cin &gt;&gt; d;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// Obtener el primer elemento</a:t>
            </a:r>
          </a:p>
          <a:p>
            <a:pPr marL="360000"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while 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((d != -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 &amp;&amp; !encontrado) {</a:t>
            </a:r>
          </a:p>
          <a:p>
            <a:pPr marL="360000"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 Mientras no sea el centinela y no se encuentre</a:t>
            </a:r>
            <a:endPara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pPr marL="360000"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if 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(d &gt; num) {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// ¿Encontrado?</a:t>
            </a:r>
            <a:endPara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pPr marL="360000"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encontrado =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true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360000"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360000"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else 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{</a:t>
            </a:r>
          </a:p>
          <a:p>
            <a:pPr marL="360000"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cout &lt;&lt;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"Siguiente (-1 para terminar): "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360000"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  cin &gt;&gt; d;</a:t>
            </a:r>
            <a:r>
              <a:rPr lang="es-E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// Obtener el siguiente elemento</a:t>
            </a:r>
            <a:endPara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pPr marL="360000"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}</a:t>
            </a:r>
          </a:p>
          <a:p>
            <a:pPr marL="360000"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Secuencias explícitas leídas del teclado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316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16" name="15 CuadroTexto"/>
          <p:cNvSpPr txBox="1"/>
          <p:nvPr/>
        </p:nvSpPr>
        <p:spPr>
          <a:xfrm>
            <a:off x="7366185" y="980728"/>
            <a:ext cx="1324401" cy="369332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busca.cpp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0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 bldLvl="2"/>
      <p:bldP spid="16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317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783800" y="3044280"/>
            <a:ext cx="5576655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Arrays de tipos simples</a:t>
            </a:r>
            <a:endParaRPr lang="es-ES" sz="2400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Arrays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Colecciones homogéneas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lvl="1" indent="1588">
              <a:spcBef>
                <a:spcPts val="0"/>
              </a:spcBef>
              <a:spcAft>
                <a:spcPts val="300"/>
              </a:spcAft>
              <a:buNone/>
            </a:pPr>
            <a:r>
              <a:rPr lang="es-ES" dirty="0">
                <a:solidFill>
                  <a:prstClr val="white"/>
                </a:solidFill>
              </a:rPr>
              <a:t>Un mismo tipo de dato para varios elementos:</a:t>
            </a:r>
          </a:p>
          <a:p>
            <a:pPr marL="714375" lvl="1" indent="-352425" algn="just">
              <a:spcBef>
                <a:spcPts val="0"/>
              </a:spcBef>
              <a:spcAft>
                <a:spcPts val="300"/>
              </a:spcAft>
              <a:buSzPct val="100000"/>
              <a:buFont typeface="Wingdings 2" pitchFamily="18" charset="2"/>
              <a:buChar char=""/>
            </a:pPr>
            <a:r>
              <a:rPr lang="es-ES" dirty="0"/>
              <a:t>Notas de los estudiantes de una clase</a:t>
            </a:r>
          </a:p>
          <a:p>
            <a:pPr marL="714375" lvl="1" indent="-352425" algn="just">
              <a:spcBef>
                <a:spcPts val="0"/>
              </a:spcBef>
              <a:spcAft>
                <a:spcPts val="300"/>
              </a:spcAft>
              <a:buSzPct val="100000"/>
              <a:buFont typeface="Wingdings 2" pitchFamily="18" charset="2"/>
              <a:buChar char=""/>
            </a:pPr>
            <a:r>
              <a:rPr lang="es-ES" dirty="0"/>
              <a:t>Ventas de cada día de la semana</a:t>
            </a:r>
          </a:p>
          <a:p>
            <a:pPr marL="714375" lvl="1" indent="-352425" algn="just">
              <a:spcBef>
                <a:spcPts val="0"/>
              </a:spcBef>
              <a:spcAft>
                <a:spcPts val="300"/>
              </a:spcAft>
              <a:buSzPct val="100000"/>
              <a:buFont typeface="Wingdings 2" pitchFamily="18" charset="2"/>
              <a:buChar char=""/>
            </a:pPr>
            <a:r>
              <a:rPr lang="es-ES" dirty="0"/>
              <a:t>Temperaturas de cada día del mes</a:t>
            </a:r>
          </a:p>
          <a:p>
            <a:pPr marL="714375" lvl="1" indent="0" algn="just"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s-ES" dirty="0"/>
              <a:t>...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En lugar de declarar </a:t>
            </a:r>
            <a:r>
              <a:rPr lang="es-ES" i="1" dirty="0"/>
              <a:t>N</a:t>
            </a:r>
            <a:r>
              <a:rPr lang="es-ES" dirty="0"/>
              <a:t> variables...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318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21" name="20 Grupo"/>
          <p:cNvGrpSpPr/>
          <p:nvPr/>
        </p:nvGrpSpPr>
        <p:grpSpPr>
          <a:xfrm>
            <a:off x="938062" y="3964414"/>
            <a:ext cx="944489" cy="688722"/>
            <a:chOff x="888259" y="3973706"/>
            <a:chExt cx="944489" cy="688722"/>
          </a:xfrm>
        </p:grpSpPr>
        <p:sp>
          <p:nvSpPr>
            <p:cNvPr id="6" name="5 CuadroTexto"/>
            <p:cNvSpPr txBox="1"/>
            <p:nvPr/>
          </p:nvSpPr>
          <p:spPr>
            <a:xfrm>
              <a:off x="888259" y="4293096"/>
              <a:ext cx="944489" cy="369332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125.40</a:t>
              </a:r>
            </a:p>
          </p:txBody>
        </p:sp>
        <p:sp>
          <p:nvSpPr>
            <p:cNvPr id="7" name="6 CuadroTexto"/>
            <p:cNvSpPr txBox="1"/>
            <p:nvPr/>
          </p:nvSpPr>
          <p:spPr>
            <a:xfrm>
              <a:off x="1034349" y="3973706"/>
              <a:ext cx="691216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vLun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</p:grpSp>
      <p:grpSp>
        <p:nvGrpSpPr>
          <p:cNvPr id="22" name="21 Grupo"/>
          <p:cNvGrpSpPr/>
          <p:nvPr/>
        </p:nvGrpSpPr>
        <p:grpSpPr>
          <a:xfrm>
            <a:off x="2058447" y="3964414"/>
            <a:ext cx="817853" cy="688722"/>
            <a:chOff x="2043030" y="3973706"/>
            <a:chExt cx="817853" cy="688722"/>
          </a:xfrm>
        </p:grpSpPr>
        <p:sp>
          <p:nvSpPr>
            <p:cNvPr id="8" name="7 CuadroTexto"/>
            <p:cNvSpPr txBox="1"/>
            <p:nvPr/>
          </p:nvSpPr>
          <p:spPr>
            <a:xfrm>
              <a:off x="2043030" y="4293096"/>
              <a:ext cx="817853" cy="369332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76.95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  <p:sp>
          <p:nvSpPr>
            <p:cNvPr id="9" name="8 CuadroTexto"/>
            <p:cNvSpPr txBox="1"/>
            <p:nvPr/>
          </p:nvSpPr>
          <p:spPr>
            <a:xfrm>
              <a:off x="2125803" y="3973706"/>
              <a:ext cx="691215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vMar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</p:grpSp>
      <p:grpSp>
        <p:nvGrpSpPr>
          <p:cNvPr id="23" name="22 Grupo"/>
          <p:cNvGrpSpPr/>
          <p:nvPr/>
        </p:nvGrpSpPr>
        <p:grpSpPr>
          <a:xfrm>
            <a:off x="3052196" y="3964414"/>
            <a:ext cx="944490" cy="688722"/>
            <a:chOff x="3059832" y="3973706"/>
            <a:chExt cx="944490" cy="688722"/>
          </a:xfrm>
        </p:grpSpPr>
        <p:sp>
          <p:nvSpPr>
            <p:cNvPr id="10" name="9 CuadroTexto"/>
            <p:cNvSpPr txBox="1"/>
            <p:nvPr/>
          </p:nvSpPr>
          <p:spPr>
            <a:xfrm>
              <a:off x="3059832" y="4293096"/>
              <a:ext cx="944490" cy="369332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328.80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  <p:sp>
          <p:nvSpPr>
            <p:cNvPr id="11" name="10 CuadroTexto"/>
            <p:cNvSpPr txBox="1"/>
            <p:nvPr/>
          </p:nvSpPr>
          <p:spPr>
            <a:xfrm>
              <a:off x="3205923" y="3973706"/>
              <a:ext cx="691215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vMie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</p:grpSp>
      <p:grpSp>
        <p:nvGrpSpPr>
          <p:cNvPr id="24" name="23 Grupo"/>
          <p:cNvGrpSpPr/>
          <p:nvPr/>
        </p:nvGrpSpPr>
        <p:grpSpPr>
          <a:xfrm>
            <a:off x="4172582" y="3964414"/>
            <a:ext cx="944490" cy="688722"/>
            <a:chOff x="4139952" y="3973706"/>
            <a:chExt cx="944490" cy="688722"/>
          </a:xfrm>
        </p:grpSpPr>
        <p:sp>
          <p:nvSpPr>
            <p:cNvPr id="12" name="11 CuadroTexto"/>
            <p:cNvSpPr txBox="1"/>
            <p:nvPr/>
          </p:nvSpPr>
          <p:spPr>
            <a:xfrm>
              <a:off x="4139952" y="4293096"/>
              <a:ext cx="944490" cy="369332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254.62</a:t>
              </a:r>
            </a:p>
          </p:txBody>
        </p:sp>
        <p:sp>
          <p:nvSpPr>
            <p:cNvPr id="13" name="12 CuadroTexto"/>
            <p:cNvSpPr txBox="1"/>
            <p:nvPr/>
          </p:nvSpPr>
          <p:spPr>
            <a:xfrm>
              <a:off x="4286043" y="3973706"/>
              <a:ext cx="691215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vJue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</p:grpSp>
      <p:grpSp>
        <p:nvGrpSpPr>
          <p:cNvPr id="25" name="24 Grupo"/>
          <p:cNvGrpSpPr/>
          <p:nvPr/>
        </p:nvGrpSpPr>
        <p:grpSpPr>
          <a:xfrm>
            <a:off x="5292968" y="3964414"/>
            <a:ext cx="944490" cy="688722"/>
            <a:chOff x="5220072" y="3973706"/>
            <a:chExt cx="944490" cy="688722"/>
          </a:xfrm>
        </p:grpSpPr>
        <p:sp>
          <p:nvSpPr>
            <p:cNvPr id="14" name="13 CuadroTexto"/>
            <p:cNvSpPr txBox="1"/>
            <p:nvPr/>
          </p:nvSpPr>
          <p:spPr>
            <a:xfrm>
              <a:off x="5220072" y="4293096"/>
              <a:ext cx="944490" cy="369332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435.00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  <p:sp>
          <p:nvSpPr>
            <p:cNvPr id="15" name="14 CuadroTexto"/>
            <p:cNvSpPr txBox="1"/>
            <p:nvPr/>
          </p:nvSpPr>
          <p:spPr>
            <a:xfrm>
              <a:off x="5366163" y="3973706"/>
              <a:ext cx="691215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vVie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</p:grpSp>
      <p:grpSp>
        <p:nvGrpSpPr>
          <p:cNvPr id="26" name="25 Grupo"/>
          <p:cNvGrpSpPr/>
          <p:nvPr/>
        </p:nvGrpSpPr>
        <p:grpSpPr>
          <a:xfrm>
            <a:off x="6413354" y="3955122"/>
            <a:ext cx="944490" cy="688722"/>
            <a:chOff x="6314333" y="3964414"/>
            <a:chExt cx="944490" cy="688722"/>
          </a:xfrm>
        </p:grpSpPr>
        <p:sp>
          <p:nvSpPr>
            <p:cNvPr id="16" name="15 CuadroTexto"/>
            <p:cNvSpPr txBox="1"/>
            <p:nvPr/>
          </p:nvSpPr>
          <p:spPr>
            <a:xfrm>
              <a:off x="6314333" y="4283804"/>
              <a:ext cx="944490" cy="369332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164.29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  <p:sp>
          <p:nvSpPr>
            <p:cNvPr id="17" name="16 CuadroTexto"/>
            <p:cNvSpPr txBox="1"/>
            <p:nvPr/>
          </p:nvSpPr>
          <p:spPr>
            <a:xfrm>
              <a:off x="6460424" y="3964414"/>
              <a:ext cx="691215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vSab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</p:grpSp>
      <p:grpSp>
        <p:nvGrpSpPr>
          <p:cNvPr id="27" name="26 Grupo"/>
          <p:cNvGrpSpPr/>
          <p:nvPr/>
        </p:nvGrpSpPr>
        <p:grpSpPr>
          <a:xfrm>
            <a:off x="7533739" y="3964414"/>
            <a:ext cx="710669" cy="688722"/>
            <a:chOff x="7483936" y="3973706"/>
            <a:chExt cx="710669" cy="688722"/>
          </a:xfrm>
        </p:grpSpPr>
        <p:sp>
          <p:nvSpPr>
            <p:cNvPr id="18" name="17 CuadroTexto"/>
            <p:cNvSpPr txBox="1"/>
            <p:nvPr/>
          </p:nvSpPr>
          <p:spPr>
            <a:xfrm>
              <a:off x="7483936" y="4293096"/>
              <a:ext cx="691215" cy="369332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0.00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  <p:sp>
          <p:nvSpPr>
            <p:cNvPr id="19" name="18 CuadroTexto"/>
            <p:cNvSpPr txBox="1"/>
            <p:nvPr/>
          </p:nvSpPr>
          <p:spPr>
            <a:xfrm>
              <a:off x="7503390" y="3973706"/>
              <a:ext cx="691215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vDom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</p:grpSp>
      <p:graphicFrame>
        <p:nvGraphicFramePr>
          <p:cNvPr id="20" name="19 Tabla"/>
          <p:cNvGraphicFramePr>
            <a:graphicFrameLocks noGrp="1"/>
          </p:cNvGraphicFramePr>
          <p:nvPr/>
        </p:nvGraphicFramePr>
        <p:xfrm>
          <a:off x="1152392" y="5373216"/>
          <a:ext cx="7015500" cy="7416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ventas</a:t>
                      </a:r>
                      <a:endParaRPr lang="es-ES" sz="16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125.40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76.95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328.80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254.62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435.00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164.29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0.00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600" b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" name="27 Rectángulo"/>
          <p:cNvSpPr/>
          <p:nvPr/>
        </p:nvSpPr>
        <p:spPr>
          <a:xfrm>
            <a:off x="827584" y="4757082"/>
            <a:ext cx="460869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indent="1588">
              <a:spcBef>
                <a:spcPts val="1800"/>
              </a:spcBef>
              <a:spcAft>
                <a:spcPts val="600"/>
              </a:spcAft>
              <a:buNone/>
            </a:pPr>
            <a:r>
              <a:rPr lang="es-ES" sz="2200" dirty="0">
                <a:latin typeface="Cambria" pitchFamily="18" charset="0"/>
              </a:rPr>
              <a:t>... declaramos una tabla de </a:t>
            </a:r>
            <a:r>
              <a:rPr lang="es-ES" sz="2200" i="1" dirty="0">
                <a:latin typeface="Cambria" pitchFamily="18" charset="0"/>
              </a:rPr>
              <a:t>N</a:t>
            </a:r>
            <a:r>
              <a:rPr lang="es-ES" sz="2200" dirty="0">
                <a:latin typeface="Cambria" pitchFamily="18" charset="0"/>
              </a:rPr>
              <a:t> valores:</a:t>
            </a:r>
            <a:endParaRPr lang="es-ES" sz="2200" dirty="0">
              <a:solidFill>
                <a:prstClr val="white"/>
              </a:solidFill>
              <a:latin typeface="Cambria" pitchFamily="18" charset="0"/>
            </a:endParaRPr>
          </a:p>
        </p:txBody>
      </p:sp>
      <p:grpSp>
        <p:nvGrpSpPr>
          <p:cNvPr id="30" name="31 Grupo"/>
          <p:cNvGrpSpPr/>
          <p:nvPr/>
        </p:nvGrpSpPr>
        <p:grpSpPr>
          <a:xfrm>
            <a:off x="694662" y="5716989"/>
            <a:ext cx="1385194" cy="369332"/>
            <a:chOff x="849783" y="5716989"/>
            <a:chExt cx="1385194" cy="369332"/>
          </a:xfrm>
        </p:grpSpPr>
        <p:sp>
          <p:nvSpPr>
            <p:cNvPr id="29" name="28 CuadroTexto"/>
            <p:cNvSpPr txBox="1"/>
            <p:nvPr/>
          </p:nvSpPr>
          <p:spPr>
            <a:xfrm>
              <a:off x="849783" y="5716989"/>
              <a:ext cx="841897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Índices</a:t>
              </a:r>
              <a:endPara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endParaRPr>
            </a:p>
          </p:txBody>
        </p:sp>
        <p:cxnSp>
          <p:nvCxnSpPr>
            <p:cNvPr id="31" name="30 Conector recto de flecha"/>
            <p:cNvCxnSpPr/>
            <p:nvPr/>
          </p:nvCxnSpPr>
          <p:spPr>
            <a:xfrm>
              <a:off x="1670593" y="5911180"/>
              <a:ext cx="564384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Arrays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Estructura secuencial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prstClr val="white"/>
                </a:solidFill>
              </a:rPr>
              <a:t>Cada elemento se encuentra en una posición (</a:t>
            </a:r>
            <a:r>
              <a:rPr lang="es-ES" i="1" dirty="0">
                <a:solidFill>
                  <a:prstClr val="white"/>
                </a:solidFill>
              </a:rPr>
              <a:t>índice</a:t>
            </a:r>
            <a:r>
              <a:rPr lang="es-ES" dirty="0">
                <a:solidFill>
                  <a:prstClr val="white"/>
                </a:solidFill>
              </a:rPr>
              <a:t>):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s-ES" dirty="0">
                <a:solidFill>
                  <a:prstClr val="white"/>
                </a:solidFill>
              </a:rPr>
              <a:t>Los índices son enteros positivos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s-ES" dirty="0">
                <a:solidFill>
                  <a:prstClr val="white"/>
                </a:solidFill>
              </a:rPr>
              <a:t>El índice del primer elemento siempre es 0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s-ES" dirty="0">
                <a:solidFill>
                  <a:prstClr val="white"/>
                </a:solidFill>
              </a:rPr>
              <a:t>Los índices se incrementan de uno en uno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lvl="0">
              <a:spcBef>
                <a:spcPts val="600"/>
              </a:spcBef>
              <a:spcAft>
                <a:spcPts val="600"/>
              </a:spcAft>
              <a:buClr>
                <a:srgbClr val="0BD0D9"/>
              </a:buClr>
            </a:pPr>
            <a:r>
              <a:rPr lang="es-ES" sz="2200" dirty="0">
                <a:solidFill>
                  <a:prstClr val="white"/>
                </a:solidFill>
              </a:rPr>
              <a:t>Acceso directo</a:t>
            </a:r>
            <a:endParaRPr lang="es-ES" sz="2200" i="0" dirty="0">
              <a:solidFill>
                <a:prstClr val="white"/>
              </a:solidFill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A cada elemento se accede a través de su índice: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prstClr val="white"/>
                </a:solidFill>
                <a:latin typeface="Consolas" pitchFamily="49" charset="0"/>
              </a:rPr>
              <a:t>ventas[4]</a:t>
            </a:r>
            <a:r>
              <a:rPr lang="es-ES" dirty="0"/>
              <a:t> accede al 5º elemento (contiene el valor </a:t>
            </a:r>
            <a:r>
              <a:rPr lang="es-ES" dirty="0">
                <a:latin typeface="Consolas" pitchFamily="49" charset="0"/>
              </a:rPr>
              <a:t>435.00</a:t>
            </a:r>
            <a:r>
              <a:rPr lang="es-ES" dirty="0"/>
              <a:t>)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cout &lt;&lt; ventas[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4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];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ventas[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4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]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442.75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</a:t>
            </a:r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319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aphicFrame>
        <p:nvGraphicFramePr>
          <p:cNvPr id="20" name="19 Tabla"/>
          <p:cNvGraphicFramePr>
            <a:graphicFrameLocks noGrp="1"/>
          </p:cNvGraphicFramePr>
          <p:nvPr/>
        </p:nvGraphicFramePr>
        <p:xfrm>
          <a:off x="1187624" y="3407400"/>
          <a:ext cx="7015500" cy="7416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ventas</a:t>
                      </a:r>
                      <a:endParaRPr lang="es-ES" sz="16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125.40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76.95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328.80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254.62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435.00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164.29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0.00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6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27 Grupo"/>
          <p:cNvGrpSpPr/>
          <p:nvPr/>
        </p:nvGrpSpPr>
        <p:grpSpPr>
          <a:xfrm>
            <a:off x="3924360" y="5591630"/>
            <a:ext cx="3888000" cy="645682"/>
            <a:chOff x="899593" y="5401791"/>
            <a:chExt cx="4704492" cy="6456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28 CuadroTexto"/>
            <p:cNvSpPr txBox="1"/>
            <p:nvPr/>
          </p:nvSpPr>
          <p:spPr>
            <a:xfrm>
              <a:off x="899593" y="5416649"/>
              <a:ext cx="4704492" cy="63082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540000">
                <a:spcAft>
                  <a:spcPts val="600"/>
                </a:spcAft>
              </a:pPr>
              <a:r>
                <a:rPr lang="nl-NL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Datos de un mismo tipo base:</a:t>
              </a:r>
              <a:br>
                <a:rPr lang="nl-NL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nl-NL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Se usan como cualquier variable</a:t>
              </a:r>
            </a:p>
          </p:txBody>
        </p:sp>
        <p:pic>
          <p:nvPicPr>
            <p:cNvPr id="30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58" y="5401791"/>
              <a:ext cx="499275" cy="49927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y variables arrays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Declaración de tipos de arrays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/>
              <a:t>Ejemplo: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const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</a:rPr>
              <a:t> </a:t>
            </a:r>
            <a:r>
              <a:rPr lang="es-ES" sz="2000" dirty="0" err="1">
                <a:latin typeface="Consolas" pitchFamily="49" charset="0"/>
              </a:rPr>
              <a:t>Dias</a:t>
            </a:r>
            <a:r>
              <a:rPr lang="es-ES" sz="2000" dirty="0">
                <a:latin typeface="Consolas" pitchFamily="49" charset="0"/>
              </a:rPr>
              <a:t>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7</a:t>
            </a:r>
            <a:r>
              <a:rPr lang="es-ES" sz="20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tVentas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[</a:t>
            </a:r>
            <a:r>
              <a:rPr lang="es-ES" sz="2000" dirty="0">
                <a:latin typeface="Consolas" pitchFamily="49" charset="0"/>
              </a:rPr>
              <a:t>7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];</a:t>
            </a:r>
            <a:endParaRPr lang="es-ES" sz="2000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>
              <a:solidFill>
                <a:prstClr val="white"/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endParaRPr lang="nl-NL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endParaRPr lang="nl-N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320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de datos estructurados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arrays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Declaración de tipos de arrays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typedef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i="1" dirty="0" err="1">
                <a:solidFill>
                  <a:srgbClr val="FFC000"/>
                </a:solidFill>
                <a:latin typeface="Consolas" pitchFamily="49" charset="0"/>
              </a:rPr>
              <a:t>tipo_base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i="1" dirty="0" err="1">
                <a:solidFill>
                  <a:srgbClr val="FFC000"/>
                </a:solidFill>
                <a:latin typeface="Consolas" pitchFamily="49" charset="0"/>
              </a:rPr>
              <a:t>nombre_tipo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</a:rPr>
              <a:t>[</a:t>
            </a:r>
            <a:r>
              <a:rPr lang="es-ES" i="1" dirty="0">
                <a:solidFill>
                  <a:prstClr val="white"/>
                </a:solidFill>
                <a:latin typeface="Consolas" pitchFamily="49" charset="0"/>
              </a:rPr>
              <a:t>tamaño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</a:rPr>
              <a:t>];</a:t>
            </a:r>
            <a:endParaRPr lang="es-ES" i="1" dirty="0">
              <a:solidFill>
                <a:prstClr val="white"/>
              </a:solidFill>
              <a:latin typeface="Consolas" pitchFamily="49" charset="0"/>
            </a:endParaRPr>
          </a:p>
          <a:p>
            <a:pPr lvl="1" indent="1588">
              <a:spcBef>
                <a:spcPts val="120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/>
              <a:t>Ejemplos:</a:t>
            </a:r>
          </a:p>
          <a:p>
            <a:pPr lvl="1" indent="1588">
              <a:spcBef>
                <a:spcPts val="0"/>
              </a:spcBef>
              <a:spcAft>
                <a:spcPts val="3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typedef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tTemp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[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7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];</a:t>
            </a:r>
            <a:endParaRPr lang="es-ES" sz="2000" dirty="0"/>
          </a:p>
          <a:p>
            <a:pPr lvl="1" indent="1588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typedef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short int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tDiasMes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[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12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];</a:t>
            </a:r>
          </a:p>
          <a:p>
            <a:pPr lvl="1" indent="1588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typedef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char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tVocales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[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];</a:t>
            </a:r>
          </a:p>
          <a:p>
            <a:pPr lvl="1" indent="1588">
              <a:spcBef>
                <a:spcPts val="0"/>
              </a:spcBef>
              <a:spcAft>
                <a:spcPts val="3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typedef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tVentas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[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31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];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typedef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tMoneda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 </a:t>
            </a: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tCalderilla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[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15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];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Enumerado </a:t>
            </a:r>
            <a:r>
              <a:rPr lang="es-ES" sz="2000" dirty="0" err="1">
                <a:solidFill>
                  <a:srgbClr val="92D050"/>
                </a:solidFill>
                <a:latin typeface="Consolas" pitchFamily="49" charset="0"/>
              </a:rPr>
              <a:t>tMoneda</a:t>
            </a:r>
            <a:endParaRPr lang="es-ES" sz="2000" dirty="0">
              <a:solidFill>
                <a:srgbClr val="92D050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321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6" name="21 Grupo"/>
          <p:cNvGrpSpPr/>
          <p:nvPr/>
        </p:nvGrpSpPr>
        <p:grpSpPr>
          <a:xfrm>
            <a:off x="1259632" y="4797152"/>
            <a:ext cx="6787924" cy="933713"/>
            <a:chOff x="899591" y="5401791"/>
            <a:chExt cx="6108919" cy="114918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22 CuadroTexto"/>
            <p:cNvSpPr txBox="1"/>
            <p:nvPr/>
          </p:nvSpPr>
          <p:spPr>
            <a:xfrm>
              <a:off x="899591" y="5416649"/>
              <a:ext cx="6108919" cy="113432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540000">
                <a:spcAft>
                  <a:spcPts val="600"/>
                </a:spcAft>
              </a:pPr>
              <a:r>
                <a:rPr lang="es-ES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Recuerda: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Adoptamos el convenio de comenzar </a:t>
              </a:r>
              <a:b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los nombres de tipo con una 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t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minúscula, seguida </a:t>
              </a:r>
              <a:b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de una o varias palabras, cada una con su inicial en mayúscula</a:t>
              </a:r>
            </a:p>
          </p:txBody>
        </p:sp>
        <p:pic>
          <p:nvPicPr>
            <p:cNvPr id="25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60" y="5401791"/>
              <a:ext cx="426720" cy="62037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Variables arrays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Declaración de variables arrays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>
                <a:solidFill>
                  <a:srgbClr val="FFC000"/>
                </a:solidFill>
                <a:latin typeface="Consolas" pitchFamily="49" charset="0"/>
              </a:rPr>
              <a:t>tipo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i="1" dirty="0">
                <a:solidFill>
                  <a:prstClr val="white"/>
                </a:solidFill>
                <a:latin typeface="Consolas" pitchFamily="49" charset="0"/>
              </a:rPr>
              <a:t>nombre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</a:rPr>
              <a:t>;</a:t>
            </a:r>
            <a:endParaRPr lang="es-ES" i="1" dirty="0">
              <a:solidFill>
                <a:prstClr val="white"/>
              </a:solidFill>
              <a:latin typeface="Consolas" pitchFamily="49" charset="0"/>
            </a:endParaRPr>
          </a:p>
          <a:p>
            <a:pPr lvl="1" indent="1588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dirty="0"/>
              <a:t>Ejemplos: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322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6" name="16 Grupo"/>
          <p:cNvGrpSpPr/>
          <p:nvPr/>
        </p:nvGrpSpPr>
        <p:grpSpPr>
          <a:xfrm>
            <a:off x="1979712" y="5666576"/>
            <a:ext cx="5511928" cy="426720"/>
            <a:chOff x="899593" y="5401791"/>
            <a:chExt cx="6000306" cy="4267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18 CuadroTexto"/>
            <p:cNvSpPr txBox="1"/>
            <p:nvPr/>
          </p:nvSpPr>
          <p:spPr>
            <a:xfrm>
              <a:off x="899593" y="5416649"/>
              <a:ext cx="6000306" cy="41186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540000">
                <a:spcAft>
                  <a:spcPts val="600"/>
                </a:spcAft>
              </a:pPr>
              <a:r>
                <a:rPr lang="nl-NL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NO se inicializan los elementos automáticamente</a:t>
              </a:r>
              <a:endParaRPr lang="nl-NL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  <p:pic>
          <p:nvPicPr>
            <p:cNvPr id="21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60" y="5401791"/>
              <a:ext cx="426720" cy="4267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aphicFrame>
        <p:nvGraphicFramePr>
          <p:cNvPr id="22" name="21 Tabla"/>
          <p:cNvGraphicFramePr>
            <a:graphicFrameLocks noGrp="1"/>
          </p:cNvGraphicFramePr>
          <p:nvPr/>
        </p:nvGraphicFramePr>
        <p:xfrm>
          <a:off x="5426430" y="2560341"/>
          <a:ext cx="3304695" cy="6621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3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8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3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83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0020">
                <a:tc>
                  <a:txBody>
                    <a:bodyPr/>
                    <a:lstStyle/>
                    <a:p>
                      <a:r>
                        <a:rPr lang="es-ES" sz="1800" b="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tempMax</a:t>
                      </a:r>
                      <a:endParaRPr lang="es-ES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  <a:cs typeface="Consolas" pitchFamily="49" charset="0"/>
                        </a:rPr>
                        <a:t>?</a:t>
                      </a: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  <a:cs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  <a:cs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  <a:cs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  <a:cs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  <a:cs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  <a:cs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endParaRPr lang="es-ES" sz="16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0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2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4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5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6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24 Rectángulo"/>
          <p:cNvSpPr/>
          <p:nvPr/>
        </p:nvSpPr>
        <p:spPr>
          <a:xfrm>
            <a:off x="5559873" y="1052736"/>
            <a:ext cx="32605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typedef</a:t>
            </a:r>
            <a:r>
              <a:rPr lang="es-ES" sz="14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14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14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1400" dirty="0">
                <a:solidFill>
                  <a:srgbClr val="FFC000"/>
                </a:solidFill>
                <a:latin typeface="Consolas" pitchFamily="49" charset="0"/>
              </a:rPr>
              <a:t>tTemp</a:t>
            </a:r>
            <a:r>
              <a:rPr lang="es-ES" sz="1400" dirty="0">
                <a:solidFill>
                  <a:prstClr val="white"/>
                </a:solidFill>
                <a:latin typeface="Consolas" pitchFamily="49" charset="0"/>
              </a:rPr>
              <a:t>[</a:t>
            </a:r>
            <a:r>
              <a:rPr lang="es-ES" sz="1400" dirty="0">
                <a:solidFill>
                  <a:srgbClr val="FFFF00"/>
                </a:solidFill>
                <a:latin typeface="Consolas" pitchFamily="49" charset="0"/>
              </a:rPr>
              <a:t>7</a:t>
            </a:r>
            <a:r>
              <a:rPr lang="es-ES" sz="1400" dirty="0">
                <a:solidFill>
                  <a:prstClr val="white"/>
                </a:solidFill>
                <a:latin typeface="Consolas" pitchFamily="49" charset="0"/>
              </a:rPr>
              <a:t>];</a:t>
            </a:r>
            <a:endParaRPr lang="es-ES" sz="1400" dirty="0"/>
          </a:p>
          <a:p>
            <a:pPr marL="0" lvl="1" indent="1588">
              <a:spcBef>
                <a:spcPts val="0"/>
              </a:spcBef>
              <a:buNone/>
            </a:pPr>
            <a:r>
              <a:rPr lang="es-E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typedef</a:t>
            </a:r>
            <a:r>
              <a:rPr lang="es-ES" sz="14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1400" dirty="0">
                <a:solidFill>
                  <a:srgbClr val="FFC000"/>
                </a:solidFill>
                <a:latin typeface="Consolas" pitchFamily="49" charset="0"/>
              </a:rPr>
              <a:t>short int</a:t>
            </a:r>
            <a:r>
              <a:rPr lang="es-ES" sz="14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1400" dirty="0">
                <a:solidFill>
                  <a:srgbClr val="FFC000"/>
                </a:solidFill>
                <a:latin typeface="Consolas" pitchFamily="49" charset="0"/>
              </a:rPr>
              <a:t>tDiasMes</a:t>
            </a:r>
            <a:r>
              <a:rPr lang="es-ES" sz="1400" dirty="0">
                <a:solidFill>
                  <a:prstClr val="white"/>
                </a:solidFill>
                <a:latin typeface="Consolas" pitchFamily="49" charset="0"/>
              </a:rPr>
              <a:t>[</a:t>
            </a:r>
            <a:r>
              <a:rPr lang="es-ES" sz="1400" dirty="0">
                <a:solidFill>
                  <a:srgbClr val="FFFF00"/>
                </a:solidFill>
                <a:latin typeface="Consolas" pitchFamily="49" charset="0"/>
              </a:rPr>
              <a:t>12</a:t>
            </a:r>
            <a:r>
              <a:rPr lang="es-ES" sz="1400" dirty="0">
                <a:solidFill>
                  <a:prstClr val="white"/>
                </a:solidFill>
                <a:latin typeface="Consolas" pitchFamily="49" charset="0"/>
              </a:rPr>
              <a:t>];</a:t>
            </a:r>
          </a:p>
          <a:p>
            <a:pPr marL="0" lvl="1" indent="1588">
              <a:spcBef>
                <a:spcPts val="0"/>
              </a:spcBef>
              <a:buNone/>
            </a:pPr>
            <a:r>
              <a:rPr lang="es-E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typedef</a:t>
            </a:r>
            <a:r>
              <a:rPr lang="es-ES" sz="14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1400" dirty="0">
                <a:solidFill>
                  <a:srgbClr val="FFC000"/>
                </a:solidFill>
                <a:latin typeface="Consolas" pitchFamily="49" charset="0"/>
              </a:rPr>
              <a:t>char</a:t>
            </a:r>
            <a:r>
              <a:rPr lang="es-ES" sz="14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1400" dirty="0" err="1">
                <a:solidFill>
                  <a:srgbClr val="FFC000"/>
                </a:solidFill>
                <a:latin typeface="Consolas" pitchFamily="49" charset="0"/>
              </a:rPr>
              <a:t>tVocales</a:t>
            </a:r>
            <a:r>
              <a:rPr lang="es-ES" sz="1400" dirty="0">
                <a:solidFill>
                  <a:prstClr val="white"/>
                </a:solidFill>
                <a:latin typeface="Consolas" pitchFamily="49" charset="0"/>
              </a:rPr>
              <a:t>[</a:t>
            </a:r>
            <a:r>
              <a:rPr lang="es-ES" sz="14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sz="1400" dirty="0">
                <a:solidFill>
                  <a:prstClr val="white"/>
                </a:solidFill>
                <a:latin typeface="Consolas" pitchFamily="49" charset="0"/>
              </a:rPr>
              <a:t>];</a:t>
            </a:r>
          </a:p>
          <a:p>
            <a:pPr marL="0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typedef</a:t>
            </a:r>
            <a:r>
              <a:rPr lang="es-ES" sz="14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14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14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1400" dirty="0" err="1">
                <a:solidFill>
                  <a:srgbClr val="FFC000"/>
                </a:solidFill>
                <a:latin typeface="Consolas" pitchFamily="49" charset="0"/>
              </a:rPr>
              <a:t>tVentas</a:t>
            </a:r>
            <a:r>
              <a:rPr lang="es-ES" sz="1400" dirty="0">
                <a:solidFill>
                  <a:prstClr val="white"/>
                </a:solidFill>
                <a:latin typeface="Consolas" pitchFamily="49" charset="0"/>
              </a:rPr>
              <a:t>[</a:t>
            </a:r>
            <a:r>
              <a:rPr lang="es-ES" sz="1400" dirty="0">
                <a:solidFill>
                  <a:srgbClr val="FFFF00"/>
                </a:solidFill>
                <a:latin typeface="Consolas" pitchFamily="49" charset="0"/>
              </a:rPr>
              <a:t>31</a:t>
            </a:r>
            <a:r>
              <a:rPr lang="es-ES" sz="1400" dirty="0">
                <a:solidFill>
                  <a:prstClr val="white"/>
                </a:solidFill>
                <a:latin typeface="Consolas" pitchFamily="49" charset="0"/>
              </a:rPr>
              <a:t>];</a:t>
            </a:r>
          </a:p>
        </p:txBody>
      </p:sp>
      <p:graphicFrame>
        <p:nvGraphicFramePr>
          <p:cNvPr id="28" name="27 Tabla"/>
          <p:cNvGraphicFramePr>
            <a:graphicFrameLocks noGrp="1"/>
          </p:cNvGraphicFramePr>
          <p:nvPr/>
        </p:nvGraphicFramePr>
        <p:xfrm>
          <a:off x="3491880" y="4811639"/>
          <a:ext cx="5239245" cy="6621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4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24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24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24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24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24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7248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7248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7248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7248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7248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7248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0020">
                <a:tc>
                  <a:txBody>
                    <a:bodyPr/>
                    <a:lstStyle/>
                    <a:p>
                      <a:r>
                        <a:rPr lang="es-ES" sz="1800" b="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ventasFeb</a:t>
                      </a:r>
                      <a:endParaRPr lang="es-ES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...</a:t>
                      </a: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endParaRPr lang="es-ES" sz="1600" b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0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2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4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5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6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7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8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9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10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11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12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2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30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" name="28 Tabla"/>
          <p:cNvGraphicFramePr>
            <a:graphicFrameLocks noGrp="1"/>
          </p:cNvGraphicFramePr>
          <p:nvPr/>
        </p:nvGraphicFramePr>
        <p:xfrm>
          <a:off x="6174270" y="4082034"/>
          <a:ext cx="2556855" cy="6621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1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1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41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41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0020">
                <a:tc>
                  <a:txBody>
                    <a:bodyPr/>
                    <a:lstStyle/>
                    <a:p>
                      <a:r>
                        <a:rPr lang="es-ES" sz="1800" b="0" u="non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vocales</a:t>
                      </a:r>
                    </a:p>
                  </a:txBody>
                  <a:tcPr marL="0" marR="0" marT="36000" marB="36000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u="none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u="non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u="none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u="non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u="none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u="non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u="none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u="non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u="none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u="non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endParaRPr lang="es-ES" sz="1600" b="0" u="none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u="non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0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u="non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u="non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2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u="non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u="non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4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" name="29 Tabla"/>
          <p:cNvGraphicFramePr>
            <a:graphicFrameLocks noGrp="1"/>
          </p:cNvGraphicFramePr>
          <p:nvPr/>
        </p:nvGraphicFramePr>
        <p:xfrm>
          <a:off x="3765465" y="3342904"/>
          <a:ext cx="4965660" cy="6621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8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8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58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58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8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580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580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580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80020">
                <a:tc>
                  <a:txBody>
                    <a:bodyPr/>
                    <a:lstStyle/>
                    <a:p>
                      <a:r>
                        <a:rPr lang="es-ES" sz="1800" b="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diasMes</a:t>
                      </a:r>
                      <a:endParaRPr lang="es-ES" sz="1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endParaRPr lang="es-ES" sz="1600" b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0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2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4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5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6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7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8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9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10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11</a:t>
                      </a:r>
                    </a:p>
                  </a:txBody>
                  <a:tcPr marL="0" marR="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" name="30 Rectángulo"/>
          <p:cNvSpPr/>
          <p:nvPr/>
        </p:nvSpPr>
        <p:spPr>
          <a:xfrm>
            <a:off x="864096" y="260300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indent="1588">
              <a:spcBef>
                <a:spcPts val="0"/>
              </a:spcBef>
              <a:spcAft>
                <a:spcPts val="3600"/>
              </a:spcAft>
              <a:buNone/>
            </a:pPr>
            <a:r>
              <a:rPr lang="es-E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tTemp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tempMax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</p:txBody>
      </p:sp>
      <p:sp>
        <p:nvSpPr>
          <p:cNvPr id="32" name="31 Rectángulo"/>
          <p:cNvSpPr/>
          <p:nvPr/>
        </p:nvSpPr>
        <p:spPr>
          <a:xfrm>
            <a:off x="864096" y="3338563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indent="1588">
              <a:spcBef>
                <a:spcPts val="0"/>
              </a:spcBef>
              <a:spcAft>
                <a:spcPts val="3600"/>
              </a:spcAft>
              <a:buNone/>
            </a:pPr>
            <a:r>
              <a:rPr lang="es-E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tDiasMes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diasMes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</p:txBody>
      </p:sp>
      <p:sp>
        <p:nvSpPr>
          <p:cNvPr id="34" name="33 Rectángulo"/>
          <p:cNvSpPr/>
          <p:nvPr/>
        </p:nvSpPr>
        <p:spPr>
          <a:xfrm>
            <a:off x="864096" y="4074122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indent="1588">
              <a:spcBef>
                <a:spcPts val="0"/>
              </a:spcBef>
              <a:spcAft>
                <a:spcPts val="3600"/>
              </a:spcAft>
              <a:buNone/>
            </a:pPr>
            <a:r>
              <a:rPr lang="es-ES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tVocales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vocales;</a:t>
            </a:r>
          </a:p>
        </p:txBody>
      </p:sp>
      <p:sp>
        <p:nvSpPr>
          <p:cNvPr id="35" name="34 Rectángulo"/>
          <p:cNvSpPr/>
          <p:nvPr/>
        </p:nvSpPr>
        <p:spPr>
          <a:xfrm>
            <a:off x="864096" y="4809682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indent="1588">
              <a:spcBef>
                <a:spcPts val="0"/>
              </a:spcBef>
              <a:spcAft>
                <a:spcPts val="3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tVentas</a:t>
            </a:r>
            <a:r>
              <a:rPr lang="es-ES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ventasFeb</a:t>
            </a: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1" grpId="0"/>
      <p:bldP spid="32" grpId="0"/>
      <p:bldP spid="34" grpId="0"/>
      <p:bldP spid="35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323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781497" y="3044280"/>
            <a:ext cx="5581208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Uso de variables arrays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Acceso a los elementos de un array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>
                <a:solidFill>
                  <a:prstClr val="white"/>
                </a:solidFill>
                <a:latin typeface="Consolas" pitchFamily="49" charset="0"/>
              </a:rPr>
              <a:t>nombre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</a:rPr>
              <a:t>[</a:t>
            </a:r>
            <a:r>
              <a:rPr lang="es-ES" i="1" dirty="0">
                <a:solidFill>
                  <a:prstClr val="white"/>
                </a:solidFill>
                <a:latin typeface="Consolas" pitchFamily="49" charset="0"/>
              </a:rPr>
              <a:t>índice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</a:rPr>
              <a:t>]</a:t>
            </a:r>
            <a:endParaRPr lang="es-ES" i="1" dirty="0">
              <a:solidFill>
                <a:prstClr val="white"/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pc="-30" dirty="0"/>
              <a:t>Cada elemento se accede a través de su índice (posición en el array)</a:t>
            </a:r>
            <a:endParaRPr lang="es-ES" i="1" spc="-30" dirty="0">
              <a:solidFill>
                <a:prstClr val="white"/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tVocales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vocales;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endParaRPr lang="es-ES" dirty="0">
              <a:solidFill>
                <a:prstClr val="white"/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60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5 elementos, índices de 0 a 4: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vocales[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]   vocales[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]   vocales[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2</a:t>
            </a: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]   vocales[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]   vocales[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4</a:t>
            </a: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]</a:t>
            </a:r>
            <a:endParaRPr lang="es-ES" sz="1800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Procesamiento de cada elemento: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Como cualquier otra variable del tipo base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cout &lt;&lt; vocales[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4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];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vocales[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]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'o'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 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(vocales[i] ==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'e'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) ...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324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aphicFrame>
        <p:nvGraphicFramePr>
          <p:cNvPr id="20" name="19 Tabla"/>
          <p:cNvGraphicFramePr>
            <a:graphicFrameLocks noGrp="1"/>
          </p:cNvGraphicFramePr>
          <p:nvPr/>
        </p:nvGraphicFramePr>
        <p:xfrm>
          <a:off x="827584" y="2420888"/>
          <a:ext cx="6194240" cy="6705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5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5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56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r>
                        <a:rPr lang="es-ES" sz="1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vocales</a:t>
                      </a:r>
                      <a:endParaRPr lang="es-ES" sz="14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'a'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'e'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'i'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'o'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'u'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endParaRPr lang="es-ES" sz="1400" b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9 Rectángulo"/>
          <p:cNvSpPr/>
          <p:nvPr/>
        </p:nvSpPr>
        <p:spPr>
          <a:xfrm>
            <a:off x="5696879" y="1916832"/>
            <a:ext cx="2989921" cy="3385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typedef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1600" dirty="0">
                <a:solidFill>
                  <a:srgbClr val="FFC000"/>
                </a:solidFill>
                <a:latin typeface="Consolas" pitchFamily="49" charset="0"/>
              </a:rPr>
              <a:t>char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1600" dirty="0" err="1">
                <a:solidFill>
                  <a:srgbClr val="FFC000"/>
                </a:solidFill>
                <a:latin typeface="Consolas" pitchFamily="49" charset="0"/>
              </a:rPr>
              <a:t>tVocales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[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];</a:t>
            </a:r>
            <a:endParaRPr lang="es-ES" sz="16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Acceso a los elementos de un array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Autofit/>
          </a:bodyPr>
          <a:lstStyle/>
          <a:p>
            <a:pPr marL="0" lvl="1" indent="1588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s-ES" spc="-30" dirty="0">
                <a:solidFill>
                  <a:srgbClr val="FFC000"/>
                </a:solidFill>
              </a:rPr>
              <a:t>¡IMPORTANTE!</a:t>
            </a:r>
          </a:p>
          <a:p>
            <a:pPr marL="0" lvl="1" indent="1588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s-ES" spc="-30" dirty="0">
                <a:solidFill>
                  <a:prstClr val="white"/>
                </a:solidFill>
              </a:rPr>
              <a:t>¡No se comprueba si el índice es correcto!</a:t>
            </a:r>
          </a:p>
          <a:p>
            <a:pPr marL="0" lvl="1" indent="1588" algn="ctr">
              <a:spcBef>
                <a:spcPts val="0"/>
              </a:spcBef>
              <a:spcAft>
                <a:spcPts val="1800"/>
              </a:spcAft>
              <a:buNone/>
            </a:pPr>
            <a:r>
              <a:rPr lang="es-ES" i="1" spc="-30" dirty="0">
                <a:solidFill>
                  <a:prstClr val="white"/>
                </a:solidFill>
              </a:rPr>
              <a:t>¡Es responsabilidad del programador!</a:t>
            </a:r>
          </a:p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const</a:t>
            </a:r>
            <a:r>
              <a:rPr lang="es-ES" sz="2000" dirty="0"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</a:rPr>
              <a:t> </a:t>
            </a:r>
            <a:r>
              <a:rPr lang="es-ES" sz="2000" dirty="0" err="1">
                <a:latin typeface="Consolas" pitchFamily="49" charset="0"/>
              </a:rPr>
              <a:t>Dim</a:t>
            </a:r>
            <a:r>
              <a:rPr lang="es-ES" sz="2000" dirty="0">
                <a:latin typeface="Consolas" pitchFamily="49" charset="0"/>
              </a:rPr>
              <a:t>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sz="20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typedef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tVentas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[</a:t>
            </a:r>
            <a:r>
              <a:rPr lang="es-ES" sz="2000" dirty="0" err="1">
                <a:latin typeface="Consolas" pitchFamily="49" charset="0"/>
              </a:rPr>
              <a:t>Dim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];</a:t>
            </a:r>
            <a:endParaRPr lang="es-ES" sz="2000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tVentas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ventas;</a:t>
            </a:r>
          </a:p>
          <a:p>
            <a:pPr lvl="1" indent="1588">
              <a:spcBef>
                <a:spcPts val="60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Índices válidos: enteros entre 0 y Dim-1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ventas[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]  ventas[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]  ventas[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2</a:t>
            </a: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] ... ventas[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98</a:t>
            </a: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]  ventas[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99</a:t>
            </a: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]</a:t>
            </a:r>
            <a:endParaRPr lang="es-ES" sz="1800" dirty="0"/>
          </a:p>
          <a:p>
            <a:pPr lvl="1" indent="1588">
              <a:spcBef>
                <a:spcPts val="1800"/>
              </a:spcBef>
              <a:spcAft>
                <a:spcPts val="600"/>
              </a:spcAft>
              <a:buNone/>
            </a:pPr>
            <a:r>
              <a:rPr lang="es-ES" dirty="0"/>
              <a:t>¿Qué es 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ventas[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]</a:t>
            </a:r>
            <a:r>
              <a:rPr lang="es-ES" dirty="0"/>
              <a:t>? ¿O 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ventas[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-1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]</a:t>
            </a:r>
            <a:r>
              <a:rPr lang="es-ES" dirty="0"/>
              <a:t>? ¿O 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ventas[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132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]</a:t>
            </a:r>
            <a:r>
              <a:rPr lang="es-ES" dirty="0"/>
              <a:t>?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¡Memoria de alguna otra variable del programa!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325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6" name="8 Grupo"/>
          <p:cNvGrpSpPr/>
          <p:nvPr/>
        </p:nvGrpSpPr>
        <p:grpSpPr>
          <a:xfrm>
            <a:off x="1835696" y="5664186"/>
            <a:ext cx="5472608" cy="426720"/>
            <a:chOff x="899593" y="5401791"/>
            <a:chExt cx="4351415" cy="4267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6 CuadroTexto"/>
            <p:cNvSpPr txBox="1"/>
            <p:nvPr/>
          </p:nvSpPr>
          <p:spPr>
            <a:xfrm>
              <a:off x="899593" y="5416649"/>
              <a:ext cx="4351415" cy="41186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625475">
                <a:spcAft>
                  <a:spcPts val="600"/>
                </a:spcAft>
              </a:pPr>
              <a:r>
                <a:rPr lang="nl-NL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Define los tamaños de los arrays con constantes</a:t>
              </a:r>
            </a:p>
          </p:txBody>
        </p:sp>
        <p:pic>
          <p:nvPicPr>
            <p:cNvPr id="8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60" y="5401791"/>
              <a:ext cx="352150" cy="4267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Inicialización de arrays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375622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Podemos inicializar los elementos de los arrays en la declaración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Asignamos</a:t>
            </a:r>
            <a:r>
              <a:rPr lang="es-ES" dirty="0"/>
              <a:t> una serie de valores al array:</a:t>
            </a:r>
            <a:endParaRPr lang="es-ES" i="1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const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 int </a:t>
            </a:r>
            <a:r>
              <a:rPr lang="es-ES" sz="2000" dirty="0">
                <a:latin typeface="Consolas" pitchFamily="49" charset="0"/>
              </a:rPr>
              <a:t>DIM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10</a:t>
            </a:r>
            <a:r>
              <a:rPr lang="es-ES" sz="2000" dirty="0">
                <a:latin typeface="Consolas" pitchFamily="49" charset="0"/>
              </a:rPr>
              <a:t>;</a:t>
            </a:r>
            <a:endParaRPr lang="es-ES" sz="2000" dirty="0">
              <a:solidFill>
                <a:schemeClr val="accent2">
                  <a:lumMod val="60000"/>
                  <a:lumOff val="40000"/>
                </a:schemeClr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>
              <a:solidFill>
                <a:srgbClr val="FFC000"/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 </a:t>
            </a:r>
            <a:r>
              <a:rPr lang="es-ES" sz="2000" dirty="0" err="1">
                <a:latin typeface="Consolas" pitchFamily="49" charset="0"/>
              </a:rPr>
              <a:t>tTabla</a:t>
            </a:r>
            <a:r>
              <a:rPr lang="es-ES" sz="2000" dirty="0">
                <a:latin typeface="Consolas" pitchFamily="49" charset="0"/>
              </a:rPr>
              <a:t>[DIM] = {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sz="2000" dirty="0">
                <a:latin typeface="Consolas" pitchFamily="49" charset="0"/>
              </a:rPr>
              <a:t>,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2</a:t>
            </a:r>
            <a:r>
              <a:rPr lang="es-ES" sz="2000" dirty="0">
                <a:latin typeface="Consolas" pitchFamily="49" charset="0"/>
              </a:rPr>
              <a:t>,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sz="2000" dirty="0">
                <a:latin typeface="Consolas" pitchFamily="49" charset="0"/>
              </a:rPr>
              <a:t>,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4</a:t>
            </a:r>
            <a:r>
              <a:rPr lang="es-ES" sz="2000" dirty="0">
                <a:latin typeface="Consolas" pitchFamily="49" charset="0"/>
              </a:rPr>
              <a:t>,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sz="2000" dirty="0">
                <a:latin typeface="Consolas" pitchFamily="49" charset="0"/>
              </a:rPr>
              <a:t>,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6</a:t>
            </a:r>
            <a:r>
              <a:rPr lang="es-ES" sz="2000" dirty="0">
                <a:latin typeface="Consolas" pitchFamily="49" charset="0"/>
              </a:rPr>
              <a:t>,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7</a:t>
            </a:r>
            <a:r>
              <a:rPr lang="es-ES" sz="2000" dirty="0">
                <a:latin typeface="Consolas" pitchFamily="49" charset="0"/>
              </a:rPr>
              <a:t>,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8</a:t>
            </a:r>
            <a:r>
              <a:rPr lang="es-ES" sz="2000" dirty="0">
                <a:latin typeface="Consolas" pitchFamily="49" charset="0"/>
              </a:rPr>
              <a:t>,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9</a:t>
            </a:r>
            <a:r>
              <a:rPr lang="es-ES" sz="2000" dirty="0">
                <a:latin typeface="Consolas" pitchFamily="49" charset="0"/>
              </a:rPr>
              <a:t>,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10 </a:t>
            </a:r>
            <a:r>
              <a:rPr lang="es-ES" sz="2000" dirty="0">
                <a:latin typeface="Consolas" pitchFamily="49" charset="0"/>
              </a:rPr>
              <a:t>};</a:t>
            </a:r>
          </a:p>
          <a:p>
            <a:pPr lvl="1" indent="1588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i="0" dirty="0"/>
              <a:t>Se asignan los valores por su orden: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i[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] i[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] i[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2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] i[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] i[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4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] ... i[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9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]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>
              <a:solidFill>
                <a:prstClr val="white"/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rgbClr val="FFFF00"/>
                </a:solidFill>
                <a:latin typeface="+mj-lt"/>
              </a:rPr>
              <a:t>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 1º</a:t>
            </a:r>
            <a:r>
              <a:rPr lang="es-ES" sz="2000" dirty="0">
                <a:latin typeface="Consolas" pitchFamily="49" charset="0"/>
              </a:rPr>
              <a:t>  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2º</a:t>
            </a:r>
            <a:r>
              <a:rPr lang="es-ES" sz="2000" dirty="0">
                <a:latin typeface="Consolas" pitchFamily="49" charset="0"/>
              </a:rPr>
              <a:t>  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3º</a:t>
            </a:r>
            <a:r>
              <a:rPr lang="es-ES" sz="2000" dirty="0">
                <a:latin typeface="Consolas" pitchFamily="49" charset="0"/>
              </a:rPr>
              <a:t>  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4º</a:t>
            </a:r>
            <a:r>
              <a:rPr lang="es-ES" sz="2000" dirty="0">
                <a:latin typeface="Consolas" pitchFamily="49" charset="0"/>
              </a:rPr>
              <a:t>  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5º  </a:t>
            </a:r>
            <a:r>
              <a:rPr lang="es-ES" sz="2000" dirty="0">
                <a:latin typeface="Consolas" pitchFamily="49" charset="0"/>
              </a:rPr>
              <a:t>... 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10º</a:t>
            </a:r>
          </a:p>
          <a:p>
            <a:pPr lvl="1" indent="1588">
              <a:spcBef>
                <a:spcPts val="1200"/>
              </a:spcBef>
              <a:spcAft>
                <a:spcPts val="18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Si hay menos valores que elementos, los restantes se ponen a 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0</a:t>
            </a:r>
            <a:endParaRPr lang="es-ES" dirty="0">
              <a:solidFill>
                <a:prstClr val="white"/>
              </a:solidFill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000" dirty="0" err="1">
                <a:latin typeface="Consolas" pitchFamily="49" charset="0"/>
              </a:rPr>
              <a:t>tTabla</a:t>
            </a:r>
            <a:r>
              <a:rPr lang="es-ES" sz="2000" dirty="0">
                <a:latin typeface="Consolas" pitchFamily="49" charset="0"/>
              </a:rPr>
              <a:t> i = {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0 </a:t>
            </a:r>
            <a:r>
              <a:rPr lang="es-ES" sz="2000" dirty="0">
                <a:latin typeface="Consolas" pitchFamily="49" charset="0"/>
              </a:rPr>
              <a:t>};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Pone todos los elementos a 0</a:t>
            </a:r>
            <a:endParaRPr lang="es-ES" sz="1800" dirty="0">
              <a:solidFill>
                <a:srgbClr val="92D050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326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de datos estructurados</a:t>
            </a:r>
          </a:p>
        </p:txBody>
      </p:sp>
      <p:grpSp>
        <p:nvGrpSpPr>
          <p:cNvPr id="13" name="12 Grupo"/>
          <p:cNvGrpSpPr/>
          <p:nvPr/>
        </p:nvGrpSpPr>
        <p:grpSpPr>
          <a:xfrm>
            <a:off x="1278682" y="3889623"/>
            <a:ext cx="4032448" cy="360040"/>
            <a:chOff x="1278682" y="3212976"/>
            <a:chExt cx="4032448" cy="360040"/>
          </a:xfrm>
        </p:grpSpPr>
        <p:cxnSp>
          <p:nvCxnSpPr>
            <p:cNvPr id="7" name="6 Conector recto de flecha"/>
            <p:cNvCxnSpPr/>
            <p:nvPr/>
          </p:nvCxnSpPr>
          <p:spPr>
            <a:xfrm flipV="1">
              <a:off x="1278682" y="3212976"/>
              <a:ext cx="0" cy="36004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V="1">
              <a:off x="1970187" y="3212976"/>
              <a:ext cx="0" cy="36004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V="1">
              <a:off x="2665884" y="3212976"/>
              <a:ext cx="0" cy="36004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9 Conector recto de flecha"/>
            <p:cNvCxnSpPr/>
            <p:nvPr/>
          </p:nvCxnSpPr>
          <p:spPr>
            <a:xfrm flipV="1">
              <a:off x="3362722" y="3212976"/>
              <a:ext cx="0" cy="36004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V="1">
              <a:off x="4067944" y="3212976"/>
              <a:ext cx="0" cy="36004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V="1">
              <a:off x="5311130" y="3212976"/>
              <a:ext cx="0" cy="36004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327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209277" y="3044280"/>
            <a:ext cx="4725654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Recorrido de arrays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Arrays y bucles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for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Procesamiento de arrays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s-ES" dirty="0"/>
              <a:t>Recorridos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s-ES" dirty="0">
                <a:solidFill>
                  <a:prstClr val="white"/>
                </a:solidFill>
              </a:rPr>
              <a:t>Búsquedas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s-ES" dirty="0">
                <a:solidFill>
                  <a:prstClr val="white"/>
                </a:solidFill>
              </a:rPr>
              <a:t>Ordenación			etcétera...</a:t>
            </a:r>
          </a:p>
          <a:p>
            <a:pPr marL="0" lvl="1" indent="0">
              <a:spcBef>
                <a:spcPts val="1800"/>
              </a:spcBef>
              <a:spcAft>
                <a:spcPts val="600"/>
              </a:spcAft>
              <a:buClr>
                <a:schemeClr val="accent3"/>
              </a:buClr>
              <a:buSzPct val="95000"/>
              <a:buNone/>
            </a:pPr>
            <a:r>
              <a:rPr lang="es-ES" sz="28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Recorrido de arrays con bucles </a:t>
            </a:r>
            <a:r>
              <a:rPr lang="es-ES" sz="28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for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Arrays: tamaño fijo </a:t>
            </a:r>
            <a:r>
              <a:rPr lang="es-ES" dirty="0">
                <a:solidFill>
                  <a:prstClr val="white"/>
                </a:solidFill>
                <a:sym typeface="Wingdings" pitchFamily="2" charset="2"/>
              </a:rPr>
              <a:t> Bucles de recorrido fijo (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for</a:t>
            </a:r>
            <a:r>
              <a:rPr lang="es-ES" dirty="0">
                <a:solidFill>
                  <a:prstClr val="white"/>
                </a:solidFill>
                <a:sym typeface="Wingdings" pitchFamily="2" charset="2"/>
              </a:rPr>
              <a:t>)</a:t>
            </a:r>
            <a:endParaRPr lang="es-ES" dirty="0">
              <a:solidFill>
                <a:prstClr val="white"/>
              </a:solidFill>
            </a:endParaRPr>
          </a:p>
          <a:p>
            <a:pPr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tVentas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ventas;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>
                <a:latin typeface="Consolas" pitchFamily="49" charset="0"/>
              </a:rPr>
              <a:t>media,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total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 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...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 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(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i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 i &lt; </a:t>
            </a:r>
            <a:r>
              <a:rPr lang="es-ES" sz="2000" dirty="0" err="1">
                <a:solidFill>
                  <a:prstClr val="white"/>
                </a:solidFill>
                <a:latin typeface="Consolas" pitchFamily="49" charset="0"/>
              </a:rPr>
              <a:t>Dias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 i++)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total = total + ventas[i];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media = total / </a:t>
            </a:r>
            <a:r>
              <a:rPr lang="es-ES" sz="2000" dirty="0" err="1">
                <a:solidFill>
                  <a:prstClr val="white"/>
                </a:solidFill>
                <a:latin typeface="Consolas" pitchFamily="49" charset="0"/>
              </a:rPr>
              <a:t>Dias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</a:t>
            </a:r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328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de datos estructurados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Recorrido de arrays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Arrays: tamaño fijo </a:t>
            </a:r>
            <a:r>
              <a:rPr lang="es-ES" dirty="0">
                <a:solidFill>
                  <a:prstClr val="white"/>
                </a:solidFill>
                <a:sym typeface="Wingdings" pitchFamily="2" charset="2"/>
              </a:rPr>
              <a:t> Bucle de recorrido fijo (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for</a:t>
            </a:r>
            <a:r>
              <a:rPr lang="es-ES" dirty="0">
                <a:solidFill>
                  <a:prstClr val="white"/>
                </a:solidFill>
                <a:sym typeface="Wingdings" pitchFamily="2" charset="2"/>
              </a:rPr>
              <a:t>)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  <a:sym typeface="Wingdings" pitchFamily="2" charset="2"/>
              </a:rPr>
              <a:t>Ejemplo: Media de un array de temperaturas</a:t>
            </a:r>
            <a:endParaRPr lang="es-ES" dirty="0">
              <a:solidFill>
                <a:prstClr val="white"/>
              </a:solidFill>
            </a:endParaRPr>
          </a:p>
          <a:p>
            <a:pPr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const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 err="1">
                <a:solidFill>
                  <a:prstClr val="white"/>
                </a:solidFill>
                <a:latin typeface="Consolas" pitchFamily="49" charset="0"/>
              </a:rPr>
              <a:t>Dias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7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</a:t>
            </a:r>
            <a:endParaRPr lang="es-ES" sz="2000" dirty="0"/>
          </a:p>
          <a:p>
            <a:pPr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typedef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tTemp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[</a:t>
            </a:r>
            <a:r>
              <a:rPr lang="es-ES" sz="2000" dirty="0" err="1">
                <a:solidFill>
                  <a:prstClr val="white"/>
                </a:solidFill>
                <a:latin typeface="Consolas" pitchFamily="49" charset="0"/>
              </a:rPr>
              <a:t>Dias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];</a:t>
            </a:r>
            <a:endParaRPr lang="es-ES" sz="2000" dirty="0"/>
          </a:p>
          <a:p>
            <a:pPr lvl="1" indent="1588">
              <a:spcBef>
                <a:spcPts val="0"/>
              </a:spcBef>
              <a:buNone/>
            </a:pP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tTemp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 err="1">
                <a:solidFill>
                  <a:prstClr val="white"/>
                </a:solidFill>
                <a:latin typeface="Consolas" pitchFamily="49" charset="0"/>
              </a:rPr>
              <a:t>temp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>
                <a:latin typeface="Consolas" pitchFamily="49" charset="0"/>
              </a:rPr>
              <a:t>media,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total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 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...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 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(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i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 i &lt; </a:t>
            </a:r>
            <a:r>
              <a:rPr lang="es-ES" sz="2000" dirty="0" err="1">
                <a:solidFill>
                  <a:prstClr val="white"/>
                </a:solidFill>
                <a:latin typeface="Consolas" pitchFamily="49" charset="0"/>
              </a:rPr>
              <a:t>Dias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 i++)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total = total + </a:t>
            </a:r>
            <a:r>
              <a:rPr lang="es-ES" sz="2000" dirty="0" err="1">
                <a:solidFill>
                  <a:prstClr val="white"/>
                </a:solidFill>
                <a:latin typeface="Consolas" pitchFamily="49" charset="0"/>
              </a:rPr>
              <a:t>temp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[i];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media = total / </a:t>
            </a:r>
            <a:r>
              <a:rPr lang="es-ES" sz="2000" dirty="0" err="1">
                <a:solidFill>
                  <a:prstClr val="white"/>
                </a:solidFill>
                <a:latin typeface="Consolas" pitchFamily="49" charset="0"/>
              </a:rPr>
              <a:t>Dias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329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071546"/>
            <a:ext cx="8363272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buNone/>
            </a:pPr>
            <a:endParaRPr lang="es-ES" sz="1600" dirty="0">
              <a:solidFill>
                <a:srgbClr val="FFC000"/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endParaRPr lang="es-ES" sz="1600" dirty="0">
              <a:solidFill>
                <a:srgbClr val="FFC000"/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 err="1">
                <a:solidFill>
                  <a:srgbClr val="FFC000"/>
                </a:solidFill>
                <a:latin typeface="Consolas" pitchFamily="49" charset="0"/>
              </a:rPr>
              <a:t>tTemp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1600" dirty="0" err="1">
                <a:solidFill>
                  <a:prstClr val="white"/>
                </a:solidFill>
                <a:latin typeface="Consolas" pitchFamily="49" charset="0"/>
              </a:rPr>
              <a:t>temp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1600" dirty="0">
                <a:latin typeface="Consolas" pitchFamily="49" charset="0"/>
              </a:rPr>
              <a:t>media,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 total =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; 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...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 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(</a:t>
            </a:r>
            <a:r>
              <a:rPr lang="es-ES" sz="16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 i =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; i &lt; </a:t>
            </a:r>
            <a:r>
              <a:rPr lang="es-ES" sz="1600" dirty="0" err="1">
                <a:solidFill>
                  <a:prstClr val="white"/>
                </a:solidFill>
                <a:latin typeface="Consolas" pitchFamily="49" charset="0"/>
              </a:rPr>
              <a:t>Dias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; i++)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   total = total + </a:t>
            </a:r>
            <a:r>
              <a:rPr lang="es-ES" sz="1600" dirty="0" err="1">
                <a:solidFill>
                  <a:prstClr val="white"/>
                </a:solidFill>
                <a:latin typeface="Consolas" pitchFamily="49" charset="0"/>
              </a:rPr>
              <a:t>temp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[i];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}</a:t>
            </a:r>
          </a:p>
        </p:txBody>
      </p:sp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5653026" y="2017415"/>
          <a:ext cx="2155157" cy="342896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9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l"/>
                      <a:endParaRPr lang="es-ES" sz="1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Memoria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784">
                <a:tc>
                  <a:txBody>
                    <a:bodyPr/>
                    <a:lstStyle/>
                    <a:p>
                      <a:pPr algn="r"/>
                      <a:r>
                        <a:rPr lang="es-ES" sz="1200" b="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Dias</a:t>
                      </a:r>
                      <a:endParaRPr lang="es-ES" sz="12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200" b="1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7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784">
                <a:tc>
                  <a:txBody>
                    <a:bodyPr/>
                    <a:lstStyle/>
                    <a:p>
                      <a:pPr algn="r"/>
                      <a:r>
                        <a:rPr lang="es-ES" sz="1200" b="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temp</a:t>
                      </a:r>
                      <a:r>
                        <a:rPr lang="es-ES" sz="12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[0]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200" b="1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12.40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temp</a:t>
                      </a:r>
                      <a:r>
                        <a:rPr lang="es-ES" sz="12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[1]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200" b="1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10.96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r"/>
                      <a:r>
                        <a:rPr lang="es-ES" sz="1200" b="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temp</a:t>
                      </a:r>
                      <a:r>
                        <a:rPr lang="es-ES" sz="12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[2]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200" b="1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8.43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r"/>
                      <a:r>
                        <a:rPr lang="es-ES" sz="1200" b="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temp</a:t>
                      </a:r>
                      <a:r>
                        <a:rPr lang="es-ES" sz="12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[3]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200" b="1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11.65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r"/>
                      <a:r>
                        <a:rPr lang="es-ES" sz="1200" b="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temp</a:t>
                      </a:r>
                      <a:r>
                        <a:rPr lang="es-ES" sz="12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[4]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200" b="1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13.70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r"/>
                      <a:r>
                        <a:rPr lang="es-ES" sz="1200" b="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temp</a:t>
                      </a:r>
                      <a:r>
                        <a:rPr lang="es-ES" sz="12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[5]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200" b="1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13.41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r"/>
                      <a:r>
                        <a:rPr lang="es-ES" sz="1200" b="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temp</a:t>
                      </a:r>
                      <a:r>
                        <a:rPr lang="es-ES" sz="12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[6]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200" b="1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14.07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r"/>
                      <a:r>
                        <a:rPr lang="es-ES" sz="12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media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1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r"/>
                      <a:r>
                        <a:rPr lang="es-ES" sz="12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200" b="1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0.00</a:t>
                      </a:r>
                      <a:endParaRPr lang="es-ES" sz="12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r"/>
                      <a:r>
                        <a:rPr lang="es-ES" sz="1200" b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i</a:t>
                      </a:r>
                      <a:endParaRPr lang="es-ES" sz="12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200" b="1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8" name="43 Grupo"/>
          <p:cNvGrpSpPr/>
          <p:nvPr/>
        </p:nvGrpSpPr>
        <p:grpSpPr>
          <a:xfrm>
            <a:off x="7190042" y="4893298"/>
            <a:ext cx="609462" cy="528006"/>
            <a:chOff x="7202898" y="5735178"/>
            <a:chExt cx="609462" cy="528006"/>
          </a:xfrm>
        </p:grpSpPr>
        <p:sp>
          <p:nvSpPr>
            <p:cNvPr id="9" name="8 CuadroTexto"/>
            <p:cNvSpPr txBox="1"/>
            <p:nvPr/>
          </p:nvSpPr>
          <p:spPr>
            <a:xfrm>
              <a:off x="7202898" y="5735178"/>
              <a:ext cx="609462" cy="24622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r">
                <a:lnSpc>
                  <a:spcPts val="1200"/>
                </a:lnSpc>
              </a:pPr>
              <a:r>
                <a:rPr lang="es-ES" sz="1200" b="1" dirty="0">
                  <a:solidFill>
                    <a:srgbClr val="C00000"/>
                  </a:solidFill>
                  <a:latin typeface="Consolas" pitchFamily="49" charset="0"/>
                </a:rPr>
                <a:t>12.40</a:t>
              </a:r>
            </a:p>
          </p:txBody>
        </p:sp>
        <p:sp>
          <p:nvSpPr>
            <p:cNvPr id="10" name="9 CuadroTexto"/>
            <p:cNvSpPr txBox="1"/>
            <p:nvPr/>
          </p:nvSpPr>
          <p:spPr>
            <a:xfrm>
              <a:off x="7218953" y="6047184"/>
              <a:ext cx="574357" cy="216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r">
                <a:lnSpc>
                  <a:spcPts val="1200"/>
                </a:lnSpc>
              </a:pPr>
              <a:r>
                <a:rPr lang="es-ES" sz="1200" b="1">
                  <a:solidFill>
                    <a:srgbClr val="C00000"/>
                  </a:solidFill>
                  <a:latin typeface="Consolas" pitchFamily="49" charset="0"/>
                </a:rPr>
                <a:t>1</a:t>
              </a:r>
              <a:endParaRPr lang="es-ES" sz="1200" b="1" dirty="0">
                <a:solidFill>
                  <a:srgbClr val="C00000"/>
                </a:solidFill>
                <a:latin typeface="Consolas" pitchFamily="49" charset="0"/>
              </a:endParaRPr>
            </a:p>
          </p:txBody>
        </p:sp>
      </p:grpSp>
      <p:grpSp>
        <p:nvGrpSpPr>
          <p:cNvPr id="11" name="45 Grupo"/>
          <p:cNvGrpSpPr/>
          <p:nvPr/>
        </p:nvGrpSpPr>
        <p:grpSpPr>
          <a:xfrm>
            <a:off x="7058372" y="4888210"/>
            <a:ext cx="738276" cy="550338"/>
            <a:chOff x="4716017" y="5678919"/>
            <a:chExt cx="738276" cy="550338"/>
          </a:xfrm>
        </p:grpSpPr>
        <p:sp>
          <p:nvSpPr>
            <p:cNvPr id="47" name="46 CuadroTexto"/>
            <p:cNvSpPr txBox="1"/>
            <p:nvPr/>
          </p:nvSpPr>
          <p:spPr>
            <a:xfrm>
              <a:off x="4716017" y="5678919"/>
              <a:ext cx="738276" cy="24731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r">
                <a:lnSpc>
                  <a:spcPts val="1200"/>
                </a:lnSpc>
              </a:pPr>
              <a:r>
                <a:rPr lang="es-ES" sz="1200" b="1" dirty="0">
                  <a:solidFill>
                    <a:srgbClr val="C00000"/>
                  </a:solidFill>
                  <a:latin typeface="Consolas" pitchFamily="49" charset="0"/>
                </a:rPr>
                <a:t>23.36</a:t>
              </a:r>
            </a:p>
          </p:txBody>
        </p:sp>
        <p:sp>
          <p:nvSpPr>
            <p:cNvPr id="48" name="47 CuadroTexto"/>
            <p:cNvSpPr txBox="1"/>
            <p:nvPr/>
          </p:nvSpPr>
          <p:spPr>
            <a:xfrm>
              <a:off x="4860885" y="5981945"/>
              <a:ext cx="574357" cy="24731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r">
                <a:lnSpc>
                  <a:spcPts val="1200"/>
                </a:lnSpc>
              </a:pPr>
              <a:r>
                <a:rPr lang="es-ES" sz="1200" b="1">
                  <a:solidFill>
                    <a:srgbClr val="C00000"/>
                  </a:solidFill>
                  <a:latin typeface="Consolas" pitchFamily="49" charset="0"/>
                </a:rPr>
                <a:t>2</a:t>
              </a:r>
              <a:endParaRPr lang="es-ES" sz="1200" b="1" dirty="0">
                <a:solidFill>
                  <a:srgbClr val="C00000"/>
                </a:solidFill>
                <a:latin typeface="Consolas" pitchFamily="49" charset="0"/>
              </a:endParaRPr>
            </a:p>
          </p:txBody>
        </p:sp>
      </p:grpSp>
      <p:grpSp>
        <p:nvGrpSpPr>
          <p:cNvPr id="12" name="59 Grupo"/>
          <p:cNvGrpSpPr/>
          <p:nvPr/>
        </p:nvGrpSpPr>
        <p:grpSpPr>
          <a:xfrm>
            <a:off x="7061228" y="4888210"/>
            <a:ext cx="738276" cy="509501"/>
            <a:chOff x="4716017" y="5678919"/>
            <a:chExt cx="738276" cy="509501"/>
          </a:xfrm>
        </p:grpSpPr>
        <p:sp>
          <p:nvSpPr>
            <p:cNvPr id="61" name="60 CuadroTexto"/>
            <p:cNvSpPr txBox="1"/>
            <p:nvPr/>
          </p:nvSpPr>
          <p:spPr>
            <a:xfrm>
              <a:off x="4716017" y="5678919"/>
              <a:ext cx="738276" cy="24731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r">
                <a:lnSpc>
                  <a:spcPts val="1200"/>
                </a:lnSpc>
              </a:pPr>
              <a:r>
                <a:rPr lang="es-ES" sz="1200" b="1" dirty="0">
                  <a:solidFill>
                    <a:srgbClr val="C00000"/>
                  </a:solidFill>
                  <a:latin typeface="Consolas" pitchFamily="49" charset="0"/>
                </a:rPr>
                <a:t>31.79</a:t>
              </a:r>
            </a:p>
          </p:txBody>
        </p:sp>
        <p:sp>
          <p:nvSpPr>
            <p:cNvPr id="62" name="61 CuadroTexto"/>
            <p:cNvSpPr txBox="1"/>
            <p:nvPr/>
          </p:nvSpPr>
          <p:spPr>
            <a:xfrm>
              <a:off x="4860885" y="5972420"/>
              <a:ext cx="574357" cy="216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r">
                <a:lnSpc>
                  <a:spcPts val="1200"/>
                </a:lnSpc>
              </a:pPr>
              <a:r>
                <a:rPr lang="es-ES" sz="1200" b="1">
                  <a:solidFill>
                    <a:srgbClr val="C00000"/>
                  </a:solidFill>
                  <a:latin typeface="Consolas" pitchFamily="49" charset="0"/>
                </a:rPr>
                <a:t>3</a:t>
              </a:r>
              <a:endParaRPr lang="es-ES" sz="1200" b="1" dirty="0">
                <a:solidFill>
                  <a:srgbClr val="C00000"/>
                </a:solidFill>
                <a:latin typeface="Consolas" pitchFamily="49" charset="0"/>
              </a:endParaRPr>
            </a:p>
          </p:txBody>
        </p:sp>
      </p:grpSp>
      <p:grpSp>
        <p:nvGrpSpPr>
          <p:cNvPr id="18" name="62 Grupo"/>
          <p:cNvGrpSpPr/>
          <p:nvPr/>
        </p:nvGrpSpPr>
        <p:grpSpPr>
          <a:xfrm>
            <a:off x="7058371" y="4903068"/>
            <a:ext cx="738276" cy="512219"/>
            <a:chOff x="4716017" y="5660590"/>
            <a:chExt cx="738276" cy="548690"/>
          </a:xfrm>
        </p:grpSpPr>
        <p:sp>
          <p:nvSpPr>
            <p:cNvPr id="64" name="63 CuadroTexto"/>
            <p:cNvSpPr txBox="1"/>
            <p:nvPr/>
          </p:nvSpPr>
          <p:spPr>
            <a:xfrm>
              <a:off x="4716017" y="5660590"/>
              <a:ext cx="738276" cy="26492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r">
                <a:lnSpc>
                  <a:spcPts val="1200"/>
                </a:lnSpc>
              </a:pPr>
              <a:r>
                <a:rPr lang="es-ES" sz="1200" b="1" dirty="0">
                  <a:solidFill>
                    <a:srgbClr val="C00000"/>
                  </a:solidFill>
                  <a:latin typeface="Consolas" pitchFamily="49" charset="0"/>
                </a:rPr>
                <a:t>43.44</a:t>
              </a:r>
            </a:p>
          </p:txBody>
        </p:sp>
        <p:sp>
          <p:nvSpPr>
            <p:cNvPr id="65" name="64 CuadroTexto"/>
            <p:cNvSpPr txBox="1"/>
            <p:nvPr/>
          </p:nvSpPr>
          <p:spPr>
            <a:xfrm>
              <a:off x="4860885" y="5981949"/>
              <a:ext cx="574357" cy="22733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r">
                <a:lnSpc>
                  <a:spcPts val="1200"/>
                </a:lnSpc>
              </a:pPr>
              <a:r>
                <a:rPr lang="es-ES" sz="1200" b="1" dirty="0">
                  <a:solidFill>
                    <a:srgbClr val="C00000"/>
                  </a:solidFill>
                  <a:latin typeface="Consolas" pitchFamily="49" charset="0"/>
                </a:rPr>
                <a:t>4</a:t>
              </a:r>
            </a:p>
          </p:txBody>
        </p:sp>
      </p:grpSp>
      <p:grpSp>
        <p:nvGrpSpPr>
          <p:cNvPr id="19" name="44 Grupo"/>
          <p:cNvGrpSpPr/>
          <p:nvPr/>
        </p:nvGrpSpPr>
        <p:grpSpPr>
          <a:xfrm>
            <a:off x="7067896" y="4888210"/>
            <a:ext cx="738276" cy="550338"/>
            <a:chOff x="4716017" y="5678919"/>
            <a:chExt cx="738276" cy="550338"/>
          </a:xfrm>
        </p:grpSpPr>
        <p:sp>
          <p:nvSpPr>
            <p:cNvPr id="42" name="41 CuadroTexto"/>
            <p:cNvSpPr txBox="1"/>
            <p:nvPr/>
          </p:nvSpPr>
          <p:spPr>
            <a:xfrm>
              <a:off x="4716017" y="5678919"/>
              <a:ext cx="738276" cy="24731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r">
                <a:lnSpc>
                  <a:spcPts val="1200"/>
                </a:lnSpc>
              </a:pPr>
              <a:r>
                <a:rPr lang="es-ES" sz="1200" b="1" dirty="0">
                  <a:solidFill>
                    <a:srgbClr val="C00000"/>
                  </a:solidFill>
                  <a:latin typeface="Consolas" pitchFamily="49" charset="0"/>
                </a:rPr>
                <a:t>84.62</a:t>
              </a:r>
            </a:p>
          </p:txBody>
        </p:sp>
        <p:sp>
          <p:nvSpPr>
            <p:cNvPr id="43" name="42 CuadroTexto"/>
            <p:cNvSpPr txBox="1"/>
            <p:nvPr/>
          </p:nvSpPr>
          <p:spPr>
            <a:xfrm>
              <a:off x="4860885" y="5981945"/>
              <a:ext cx="574357" cy="24731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r">
                <a:lnSpc>
                  <a:spcPts val="1200"/>
                </a:lnSpc>
              </a:pPr>
              <a:r>
                <a:rPr lang="es-ES" sz="1200" b="1" dirty="0">
                  <a:solidFill>
                    <a:srgbClr val="C00000"/>
                  </a:solidFill>
                  <a:latin typeface="Consolas" pitchFamily="49" charset="0"/>
                </a:rPr>
                <a:t>7</a:t>
              </a:r>
            </a:p>
          </p:txBody>
        </p: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Recorrido de arrays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330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1696852" y="1124744"/>
          <a:ext cx="5750297" cy="57606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21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1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4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4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14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14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latin typeface="Consolas" pitchFamily="49" charset="0"/>
                        </a:rPr>
                        <a:t>12.40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latin typeface="Consolas" pitchFamily="49" charset="0"/>
                        </a:rPr>
                        <a:t>10.96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latin typeface="Consolas" pitchFamily="49" charset="0"/>
                        </a:rPr>
                        <a:t>8.43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latin typeface="Consolas" pitchFamily="49" charset="0"/>
                        </a:rPr>
                        <a:t>11.65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latin typeface="Consolas" pitchFamily="49" charset="0"/>
                        </a:rPr>
                        <a:t>13.70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latin typeface="Consolas" pitchFamily="49" charset="0"/>
                        </a:rPr>
                        <a:t>13.41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latin typeface="Consolas" pitchFamily="49" charset="0"/>
                        </a:rPr>
                        <a:t>14.07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s-ES" sz="1200" b="0">
                          <a:solidFill>
                            <a:schemeClr val="tx1"/>
                          </a:solidFill>
                          <a:latin typeface="Consolas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>
                          <a:solidFill>
                            <a:schemeClr val="tx1"/>
                          </a:solidFill>
                          <a:latin typeface="Consolas" pitchFamily="49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latin typeface="Consolas" pitchFamily="49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latin typeface="Consolas" pitchFamily="49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>
                          <a:solidFill>
                            <a:schemeClr val="tx1"/>
                          </a:solidFill>
                          <a:latin typeface="Consolas" pitchFamily="49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>
                          <a:solidFill>
                            <a:schemeClr val="tx1"/>
                          </a:solidFill>
                          <a:latin typeface="Consolas" pitchFamily="49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solidFill>
                            <a:schemeClr val="tx1"/>
                          </a:solidFill>
                          <a:latin typeface="Consolas" pitchFamily="49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0" name="11 Grupo"/>
          <p:cNvGrpSpPr/>
          <p:nvPr/>
        </p:nvGrpSpPr>
        <p:grpSpPr>
          <a:xfrm>
            <a:off x="2827301" y="4062302"/>
            <a:ext cx="1025353" cy="1857781"/>
            <a:chOff x="4353422" y="3999259"/>
            <a:chExt cx="1025353" cy="1857781"/>
          </a:xfrm>
        </p:grpSpPr>
        <p:cxnSp>
          <p:nvCxnSpPr>
            <p:cNvPr id="13" name="12 Conector recto de flecha"/>
            <p:cNvCxnSpPr/>
            <p:nvPr/>
          </p:nvCxnSpPr>
          <p:spPr>
            <a:xfrm rot="10800000" flipH="1">
              <a:off x="4951566" y="4279004"/>
              <a:ext cx="143609" cy="1211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4" name="13 CuadroTexto"/>
            <p:cNvSpPr txBox="1"/>
            <p:nvPr/>
          </p:nvSpPr>
          <p:spPr>
            <a:xfrm>
              <a:off x="4769313" y="3999259"/>
              <a:ext cx="609462" cy="2769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2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false</a:t>
              </a:r>
            </a:p>
          </p:txBody>
        </p:sp>
        <p:cxnSp>
          <p:nvCxnSpPr>
            <p:cNvPr id="15" name="14 Conector recto de flecha"/>
            <p:cNvCxnSpPr/>
            <p:nvPr/>
          </p:nvCxnSpPr>
          <p:spPr>
            <a:xfrm rot="5400000">
              <a:off x="4458124" y="4909385"/>
              <a:ext cx="1239149" cy="106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15 Conector recto de flecha"/>
            <p:cNvCxnSpPr/>
            <p:nvPr/>
          </p:nvCxnSpPr>
          <p:spPr>
            <a:xfrm>
              <a:off x="4353422" y="5526620"/>
              <a:ext cx="740156" cy="1211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16 Conector recto de flecha"/>
            <p:cNvCxnSpPr/>
            <p:nvPr/>
          </p:nvCxnSpPr>
          <p:spPr>
            <a:xfrm rot="16200000" flipH="1">
              <a:off x="4192528" y="5687670"/>
              <a:ext cx="337681" cy="106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6" name="17 Grupo"/>
          <p:cNvGrpSpPr/>
          <p:nvPr/>
        </p:nvGrpSpPr>
        <p:grpSpPr>
          <a:xfrm>
            <a:off x="1213353" y="3834674"/>
            <a:ext cx="1604424" cy="1756832"/>
            <a:chOff x="2739474" y="3781156"/>
            <a:chExt cx="1604424" cy="1756832"/>
          </a:xfrm>
        </p:grpSpPr>
        <p:grpSp>
          <p:nvGrpSpPr>
            <p:cNvPr id="31" name="36 Grupo"/>
            <p:cNvGrpSpPr/>
            <p:nvPr/>
          </p:nvGrpSpPr>
          <p:grpSpPr>
            <a:xfrm>
              <a:off x="2929770" y="3991932"/>
              <a:ext cx="1414128" cy="894928"/>
              <a:chOff x="2929770" y="3991932"/>
              <a:chExt cx="1414128" cy="894928"/>
            </a:xfrm>
          </p:grpSpPr>
          <p:grpSp>
            <p:nvGrpSpPr>
              <p:cNvPr id="32" name="36 Grupo"/>
              <p:cNvGrpSpPr/>
              <p:nvPr/>
            </p:nvGrpSpPr>
            <p:grpSpPr>
              <a:xfrm>
                <a:off x="3606673" y="4273107"/>
                <a:ext cx="143667" cy="337681"/>
                <a:chOff x="1476450" y="3285903"/>
                <a:chExt cx="215230" cy="442949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cxnSp>
              <p:nvCxnSpPr>
                <p:cNvPr id="29" name="28 Conector recto de flecha"/>
                <p:cNvCxnSpPr/>
                <p:nvPr/>
              </p:nvCxnSpPr>
              <p:spPr>
                <a:xfrm rot="5400000">
                  <a:off x="1274026" y="3506584"/>
                  <a:ext cx="442949" cy="1588"/>
                </a:xfrm>
                <a:prstGeom prst="straightConnector1">
                  <a:avLst/>
                </a:prstGeom>
                <a:ln w="38100">
                  <a:solidFill>
                    <a:srgbClr val="FFC000"/>
                  </a:solidFill>
                  <a:tailEnd type="stealth" w="lg" len="lg"/>
                </a:ln>
                <a:effectLst/>
              </p:spPr>
              <p:style>
                <a:lnRef idx="2">
                  <a:schemeClr val="accent3"/>
                </a:lnRef>
                <a:fillRef idx="0">
                  <a:schemeClr val="accent3"/>
                </a:fillRef>
                <a:effectRef idx="1">
                  <a:schemeClr val="accent3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29 Conector recto de flecha"/>
                <p:cNvCxnSpPr/>
                <p:nvPr/>
              </p:nvCxnSpPr>
              <p:spPr>
                <a:xfrm rot="10800000">
                  <a:off x="1476450" y="3303408"/>
                  <a:ext cx="215230" cy="1589"/>
                </a:xfrm>
                <a:prstGeom prst="straightConnector1">
                  <a:avLst/>
                </a:prstGeom>
                <a:ln w="38100">
                  <a:solidFill>
                    <a:srgbClr val="FFC000"/>
                  </a:solidFill>
                  <a:tailEnd type="none" w="lg" len="lg"/>
                </a:ln>
                <a:effectLst/>
              </p:spPr>
              <p:style>
                <a:lnRef idx="2">
                  <a:schemeClr val="accent3"/>
                </a:lnRef>
                <a:fillRef idx="0">
                  <a:schemeClr val="accent3"/>
                </a:fillRef>
                <a:effectRef idx="1">
                  <a:schemeClr val="accent3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7" name="26 CuadroTexto"/>
              <p:cNvSpPr txBox="1"/>
              <p:nvPr/>
            </p:nvSpPr>
            <p:spPr>
              <a:xfrm>
                <a:off x="3351741" y="3991932"/>
                <a:ext cx="524503" cy="2769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s-ES" sz="1200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true</a:t>
                </a:r>
              </a:p>
            </p:txBody>
          </p:sp>
          <p:sp>
            <p:nvSpPr>
              <p:cNvPr id="28" name="15 CuadroTexto"/>
              <p:cNvSpPr txBox="1"/>
              <p:nvPr/>
            </p:nvSpPr>
            <p:spPr>
              <a:xfrm>
                <a:off x="2929770" y="4612384"/>
                <a:ext cx="1414128" cy="274476"/>
              </a:xfrm>
              <a:prstGeom prst="rect">
                <a:avLst/>
              </a:prstGeom>
              <a:solidFill>
                <a:srgbClr val="0037A8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 anchorCtr="0">
                <a:noAutofit/>
              </a:bodyPr>
              <a:lstStyle/>
              <a:p>
                <a:pPr algn="ctr"/>
                <a:r>
                  <a:rPr lang="es-ES" sz="105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total+=</a:t>
                </a:r>
                <a:r>
                  <a:rPr lang="es-ES" sz="105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temp</a:t>
                </a:r>
                <a:r>
                  <a:rPr lang="es-ES" sz="105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[i]</a:t>
                </a:r>
                <a:endParaRPr lang="es-ES" sz="105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endParaRPr>
              </a:p>
            </p:txBody>
          </p:sp>
        </p:grpSp>
        <p:grpSp>
          <p:nvGrpSpPr>
            <p:cNvPr id="35" name="37 Grupo"/>
            <p:cNvGrpSpPr/>
            <p:nvPr/>
          </p:nvGrpSpPr>
          <p:grpSpPr>
            <a:xfrm>
              <a:off x="2739474" y="3781156"/>
              <a:ext cx="1604424" cy="1756832"/>
              <a:chOff x="2739474" y="3781156"/>
              <a:chExt cx="1604424" cy="1756832"/>
            </a:xfrm>
          </p:grpSpPr>
          <p:cxnSp>
            <p:nvCxnSpPr>
              <p:cNvPr id="21" name="20 Conector recto de flecha"/>
              <p:cNvCxnSpPr/>
              <p:nvPr/>
            </p:nvCxnSpPr>
            <p:spPr>
              <a:xfrm rot="5400000">
                <a:off x="3281109" y="5212028"/>
                <a:ext cx="650332" cy="15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none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2" name="21 Conector recto de flecha"/>
              <p:cNvCxnSpPr/>
              <p:nvPr/>
            </p:nvCxnSpPr>
            <p:spPr>
              <a:xfrm>
                <a:off x="2739474" y="3800205"/>
                <a:ext cx="1604424" cy="2421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stealth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3" name="22 Conector recto de flecha"/>
              <p:cNvCxnSpPr/>
              <p:nvPr/>
            </p:nvCxnSpPr>
            <p:spPr>
              <a:xfrm rot="5400000">
                <a:off x="1871207" y="4658949"/>
                <a:ext cx="1756645" cy="1060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none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4" name="23 Conector recto de flecha"/>
              <p:cNvCxnSpPr/>
              <p:nvPr/>
            </p:nvCxnSpPr>
            <p:spPr>
              <a:xfrm rot="10800000">
                <a:off x="2739477" y="5518307"/>
                <a:ext cx="866005" cy="10157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none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25" name="24 CuadroTexto"/>
              <p:cNvSpPr txBox="1"/>
              <p:nvPr/>
            </p:nvSpPr>
            <p:spPr>
              <a:xfrm>
                <a:off x="3099863" y="5030753"/>
                <a:ext cx="1008968" cy="274476"/>
              </a:xfrm>
              <a:prstGeom prst="rect">
                <a:avLst/>
              </a:prstGeom>
              <a:solidFill>
                <a:srgbClr val="0037A8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 lIns="72000" tIns="36000" rIns="72000" bIns="36000" rtlCol="0" anchor="ctr" anchorCtr="0">
                <a:noAutofit/>
              </a:bodyPr>
              <a:lstStyle/>
              <a:p>
                <a:pPr algn="ctr"/>
                <a:r>
                  <a:rPr lang="es-ES" sz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i++</a:t>
                </a:r>
              </a:p>
            </p:txBody>
          </p:sp>
        </p:grpSp>
      </p:grpSp>
      <p:grpSp>
        <p:nvGrpSpPr>
          <p:cNvPr id="38" name="31 Grupo"/>
          <p:cNvGrpSpPr/>
          <p:nvPr/>
        </p:nvGrpSpPr>
        <p:grpSpPr>
          <a:xfrm>
            <a:off x="2185242" y="3684905"/>
            <a:ext cx="1297245" cy="853284"/>
            <a:chOff x="3711363" y="3621862"/>
            <a:chExt cx="1297245" cy="853284"/>
          </a:xfrm>
        </p:grpSpPr>
        <p:sp>
          <p:nvSpPr>
            <p:cNvPr id="33" name="32 Decisión"/>
            <p:cNvSpPr/>
            <p:nvPr/>
          </p:nvSpPr>
          <p:spPr>
            <a:xfrm>
              <a:off x="3711363" y="4071838"/>
              <a:ext cx="1297245" cy="403308"/>
            </a:xfrm>
            <a:prstGeom prst="flowChartDecision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0" tIns="36000" rIns="0" bIns="36000" rtlCol="0" anchor="ctr" anchorCtr="0">
              <a:noAutofit/>
            </a:bodyPr>
            <a:lstStyle/>
            <a:p>
              <a:pPr algn="ctr"/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i&lt;</a:t>
              </a:r>
              <a:r>
                <a:rPr lang="es-ES" sz="12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Dias</a:t>
              </a:r>
              <a:endParaRPr lang="es-E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  <p:cxnSp>
          <p:nvCxnSpPr>
            <p:cNvPr id="34" name="33 Conector recto de flecha"/>
            <p:cNvCxnSpPr>
              <a:stCxn id="36" idx="2"/>
              <a:endCxn id="33" idx="0"/>
            </p:cNvCxnSpPr>
            <p:nvPr/>
          </p:nvCxnSpPr>
          <p:spPr>
            <a:xfrm>
              <a:off x="4357138" y="3621862"/>
              <a:ext cx="2848" cy="449976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9" name="34 Grupo"/>
          <p:cNvGrpSpPr/>
          <p:nvPr/>
        </p:nvGrpSpPr>
        <p:grpSpPr>
          <a:xfrm>
            <a:off x="2326533" y="3157737"/>
            <a:ext cx="1008968" cy="527168"/>
            <a:chOff x="3852654" y="3094694"/>
            <a:chExt cx="1008968" cy="527168"/>
          </a:xfrm>
        </p:grpSpPr>
        <p:sp>
          <p:nvSpPr>
            <p:cNvPr id="36" name="35 CuadroTexto"/>
            <p:cNvSpPr txBox="1"/>
            <p:nvPr/>
          </p:nvSpPr>
          <p:spPr>
            <a:xfrm>
              <a:off x="3852654" y="3347386"/>
              <a:ext cx="1008968" cy="274476"/>
            </a:xfrm>
            <a:prstGeom prst="rect">
              <a:avLst/>
            </a:prstGeom>
            <a:solidFill>
              <a:srgbClr val="0037A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 anchorCtr="0">
              <a:noAutofit/>
            </a:bodyPr>
            <a:lstStyle/>
            <a:p>
              <a:pPr algn="ctr"/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 = 0</a:t>
              </a:r>
            </a:p>
          </p:txBody>
        </p:sp>
        <p:cxnSp>
          <p:nvCxnSpPr>
            <p:cNvPr id="37" name="36 Conector recto de flecha"/>
            <p:cNvCxnSpPr/>
            <p:nvPr/>
          </p:nvCxnSpPr>
          <p:spPr>
            <a:xfrm rot="16200000" flipH="1">
              <a:off x="4219635" y="3231667"/>
              <a:ext cx="274476" cy="53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41" name="40 Conector recto de flecha"/>
          <p:cNvCxnSpPr/>
          <p:nvPr/>
        </p:nvCxnSpPr>
        <p:spPr>
          <a:xfrm>
            <a:off x="5323771" y="2722632"/>
            <a:ext cx="544373" cy="1588"/>
          </a:xfrm>
          <a:prstGeom prst="straightConnector1">
            <a:avLst/>
          </a:prstGeom>
          <a:ln w="28575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 de flecha"/>
          <p:cNvCxnSpPr/>
          <p:nvPr/>
        </p:nvCxnSpPr>
        <p:spPr>
          <a:xfrm>
            <a:off x="5323771" y="3009032"/>
            <a:ext cx="544373" cy="1588"/>
          </a:xfrm>
          <a:prstGeom prst="straightConnector1">
            <a:avLst/>
          </a:prstGeom>
          <a:ln w="28575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 de flecha"/>
          <p:cNvCxnSpPr/>
          <p:nvPr/>
        </p:nvCxnSpPr>
        <p:spPr>
          <a:xfrm>
            <a:off x="5323771" y="3295432"/>
            <a:ext cx="544373" cy="1588"/>
          </a:xfrm>
          <a:prstGeom prst="straightConnector1">
            <a:avLst/>
          </a:prstGeom>
          <a:ln w="28575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 de flecha"/>
          <p:cNvCxnSpPr/>
          <p:nvPr/>
        </p:nvCxnSpPr>
        <p:spPr>
          <a:xfrm>
            <a:off x="5323771" y="3581832"/>
            <a:ext cx="544373" cy="1588"/>
          </a:xfrm>
          <a:prstGeom prst="straightConnector1">
            <a:avLst/>
          </a:prstGeom>
          <a:ln w="28575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65 CuadroTexto"/>
          <p:cNvSpPr txBox="1"/>
          <p:nvPr/>
        </p:nvSpPr>
        <p:spPr>
          <a:xfrm>
            <a:off x="4540205" y="4655127"/>
            <a:ext cx="607859" cy="40011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...</a:t>
            </a:r>
            <a:endPara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cxnSp>
        <p:nvCxnSpPr>
          <p:cNvPr id="67" name="66 Conector recto de flecha"/>
          <p:cNvCxnSpPr/>
          <p:nvPr/>
        </p:nvCxnSpPr>
        <p:spPr>
          <a:xfrm>
            <a:off x="5323771" y="3874760"/>
            <a:ext cx="544373" cy="1588"/>
          </a:xfrm>
          <a:prstGeom prst="straightConnector1">
            <a:avLst/>
          </a:prstGeom>
          <a:ln w="28575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12 Grupo"/>
          <p:cNvGrpSpPr/>
          <p:nvPr/>
        </p:nvGrpSpPr>
        <p:grpSpPr>
          <a:xfrm>
            <a:off x="2843808" y="4331196"/>
            <a:ext cx="4991175" cy="1958479"/>
            <a:chOff x="3599829" y="1707679"/>
            <a:chExt cx="4991175" cy="1958479"/>
          </a:xfrm>
        </p:grpSpPr>
        <p:cxnSp>
          <p:nvCxnSpPr>
            <p:cNvPr id="8" name="7 Conector recto de flecha"/>
            <p:cNvCxnSpPr/>
            <p:nvPr/>
          </p:nvCxnSpPr>
          <p:spPr>
            <a:xfrm flipV="1">
              <a:off x="6984205" y="1707679"/>
              <a:ext cx="1" cy="1067916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8 CuadroTexto"/>
            <p:cNvSpPr txBox="1"/>
            <p:nvPr/>
          </p:nvSpPr>
          <p:spPr>
            <a:xfrm>
              <a:off x="3599829" y="2742828"/>
              <a:ext cx="4991175" cy="92333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Los usuarios usan de 1 a 7 para numerar los días</a:t>
              </a:r>
              <a:b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La interfaz debe aproximarse a los usuarios,</a:t>
              </a:r>
              <a:b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aunque internamente se usen los índices de 0 a 6</a:t>
              </a:r>
            </a:p>
          </p:txBody>
        </p: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Recorrido de arrays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Autofit/>
          </a:bodyPr>
          <a:lstStyle/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solidFill>
                  <a:srgbClr val="FFCCFF"/>
                </a:solidFill>
                <a:latin typeface="Consolas" pitchFamily="49" charset="0"/>
              </a:rPr>
              <a:t>#include &lt;iostream&gt;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using namespace </a:t>
            </a:r>
            <a:r>
              <a:rPr lang="es-ES" sz="1800" dirty="0">
                <a:latin typeface="Consolas" pitchFamily="49" charset="0"/>
              </a:rPr>
              <a:t>std;</a:t>
            </a:r>
          </a:p>
          <a:p>
            <a:pPr lvl="1" indent="1588">
              <a:spcBef>
                <a:spcPts val="0"/>
              </a:spcBef>
              <a:buNone/>
            </a:pPr>
            <a:endParaRPr lang="es-ES" sz="1800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const</a:t>
            </a:r>
            <a:r>
              <a:rPr lang="es-ES" sz="1800" dirty="0">
                <a:latin typeface="Consolas" pitchFamily="49" charset="0"/>
              </a:rPr>
              <a:t> 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</a:rPr>
              <a:t> </a:t>
            </a:r>
            <a:r>
              <a:rPr lang="es-ES" sz="1800" dirty="0" err="1">
                <a:latin typeface="Consolas" pitchFamily="49" charset="0"/>
              </a:rPr>
              <a:t>Dias</a:t>
            </a:r>
            <a:r>
              <a:rPr lang="es-ES" sz="1800" dirty="0">
                <a:latin typeface="Consolas" pitchFamily="49" charset="0"/>
              </a:rPr>
              <a:t> 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7</a:t>
            </a:r>
            <a:r>
              <a:rPr lang="es-ES" sz="18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typedef</a:t>
            </a:r>
            <a:r>
              <a:rPr lang="es-ES" sz="1800" dirty="0">
                <a:latin typeface="Consolas" pitchFamily="49" charset="0"/>
              </a:rPr>
              <a:t> 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1800" dirty="0">
                <a:latin typeface="Consolas" pitchFamily="49" charset="0"/>
              </a:rPr>
              <a:t> </a:t>
            </a:r>
            <a:r>
              <a:rPr lang="es-ES" sz="1800" dirty="0" err="1">
                <a:latin typeface="Consolas" pitchFamily="49" charset="0"/>
              </a:rPr>
              <a:t>tTemp</a:t>
            </a:r>
            <a:r>
              <a:rPr lang="es-ES" sz="1800" dirty="0">
                <a:latin typeface="Consolas" pitchFamily="49" charset="0"/>
              </a:rPr>
              <a:t>[</a:t>
            </a:r>
            <a:r>
              <a:rPr lang="es-ES" sz="1800" dirty="0" err="1">
                <a:latin typeface="Consolas" pitchFamily="49" charset="0"/>
              </a:rPr>
              <a:t>Dias</a:t>
            </a:r>
            <a:r>
              <a:rPr lang="es-ES" sz="1800" dirty="0">
                <a:latin typeface="Consolas" pitchFamily="49" charset="0"/>
              </a:rPr>
              <a:t>];</a:t>
            </a:r>
          </a:p>
          <a:p>
            <a:pPr lvl="1" indent="1588">
              <a:spcBef>
                <a:spcPts val="0"/>
              </a:spcBef>
              <a:buNone/>
            </a:pPr>
            <a:endParaRPr lang="es-ES" sz="1800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1800" dirty="0">
                <a:latin typeface="Consolas" pitchFamily="49" charset="0"/>
              </a:rPr>
              <a:t> media(</a:t>
            </a: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const</a:t>
            </a:r>
            <a:r>
              <a:rPr lang="es-ES" sz="1800" dirty="0">
                <a:latin typeface="Consolas" pitchFamily="49" charset="0"/>
              </a:rPr>
              <a:t> </a:t>
            </a:r>
            <a:r>
              <a:rPr lang="es-ES" sz="1800" dirty="0" err="1">
                <a:solidFill>
                  <a:srgbClr val="FFC000"/>
                </a:solidFill>
                <a:latin typeface="Consolas" pitchFamily="49" charset="0"/>
              </a:rPr>
              <a:t>tTemp</a:t>
            </a:r>
            <a:r>
              <a:rPr lang="es-ES" sz="1800" dirty="0">
                <a:latin typeface="Consolas" pitchFamily="49" charset="0"/>
              </a:rPr>
              <a:t> </a:t>
            </a:r>
            <a:r>
              <a:rPr lang="es-ES" sz="1800" dirty="0" err="1">
                <a:latin typeface="Consolas" pitchFamily="49" charset="0"/>
              </a:rPr>
              <a:t>temp</a:t>
            </a:r>
            <a:r>
              <a:rPr lang="es-ES" sz="1800" dirty="0">
                <a:latin typeface="Consolas" pitchFamily="49" charset="0"/>
              </a:rPr>
              <a:t>);</a:t>
            </a:r>
          </a:p>
          <a:p>
            <a:pPr lvl="1" indent="1588">
              <a:spcBef>
                <a:spcPts val="0"/>
              </a:spcBef>
              <a:buNone/>
            </a:pPr>
            <a:endParaRPr lang="es-ES" sz="1800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</a:rPr>
              <a:t> main()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</a:t>
            </a:r>
            <a:r>
              <a:rPr lang="es-ES" sz="1800" dirty="0" err="1">
                <a:solidFill>
                  <a:srgbClr val="FFC000"/>
                </a:solidFill>
                <a:latin typeface="Consolas" pitchFamily="49" charset="0"/>
              </a:rPr>
              <a:t>tTemp</a:t>
            </a:r>
            <a:r>
              <a:rPr lang="es-ES" sz="1800" dirty="0">
                <a:latin typeface="Consolas" pitchFamily="49" charset="0"/>
              </a:rPr>
              <a:t> </a:t>
            </a:r>
            <a:r>
              <a:rPr lang="es-ES" sz="1800" dirty="0" err="1">
                <a:latin typeface="Consolas" pitchFamily="49" charset="0"/>
              </a:rPr>
              <a:t>temp</a:t>
            </a:r>
            <a:r>
              <a:rPr lang="es-ES" sz="18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</a:t>
            </a: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</a:t>
            </a:r>
            <a:r>
              <a:rPr lang="es-ES" sz="1800" dirty="0">
                <a:latin typeface="Consolas" pitchFamily="49" charset="0"/>
              </a:rPr>
              <a:t> (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</a:rPr>
              <a:t> i 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</a:rPr>
              <a:t>; i &lt; </a:t>
            </a:r>
            <a:r>
              <a:rPr lang="es-ES" sz="1800" dirty="0" err="1">
                <a:latin typeface="Consolas" pitchFamily="49" charset="0"/>
              </a:rPr>
              <a:t>Dias</a:t>
            </a:r>
            <a:r>
              <a:rPr lang="es-ES" sz="1800" dirty="0">
                <a:latin typeface="Consolas" pitchFamily="49" charset="0"/>
              </a:rPr>
              <a:t>; i++) { </a:t>
            </a:r>
            <a:r>
              <a:rPr lang="es-ES" sz="1800" dirty="0">
                <a:solidFill>
                  <a:srgbClr val="92D050"/>
                </a:solidFill>
                <a:latin typeface="Consolas" pitchFamily="49" charset="0"/>
              </a:rPr>
              <a:t>// Recorrido del array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   cout &lt;&lt;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"Temperatura del día " </a:t>
            </a:r>
            <a:r>
              <a:rPr lang="es-ES" sz="1800" dirty="0">
                <a:latin typeface="Consolas" pitchFamily="49" charset="0"/>
              </a:rPr>
              <a:t>&lt;&lt; i + 1 &lt;&lt;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": "</a:t>
            </a:r>
            <a:r>
              <a:rPr lang="es-ES" sz="18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   cin &gt;&gt; </a:t>
            </a:r>
            <a:r>
              <a:rPr lang="es-ES" sz="1800" dirty="0" err="1">
                <a:latin typeface="Consolas" pitchFamily="49" charset="0"/>
              </a:rPr>
              <a:t>temp</a:t>
            </a:r>
            <a:r>
              <a:rPr lang="es-ES" sz="1800" dirty="0">
                <a:latin typeface="Consolas" pitchFamily="49" charset="0"/>
              </a:rPr>
              <a:t>[i];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cout &lt;&lt;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"Temperatura media: " </a:t>
            </a:r>
            <a:r>
              <a:rPr lang="es-ES" sz="1800" dirty="0">
                <a:latin typeface="Consolas" pitchFamily="49" charset="0"/>
              </a:rPr>
              <a:t>&lt;&lt; media(</a:t>
            </a:r>
            <a:r>
              <a:rPr lang="es-ES" sz="1800" dirty="0" err="1">
                <a:latin typeface="Consolas" pitchFamily="49" charset="0"/>
              </a:rPr>
              <a:t>temp</a:t>
            </a:r>
            <a:r>
              <a:rPr lang="es-ES" sz="1800" dirty="0">
                <a:latin typeface="Consolas" pitchFamily="49" charset="0"/>
              </a:rPr>
              <a:t>) &lt;&lt; endl;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</a:t>
            </a: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return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...</a:t>
            </a:r>
            <a:endParaRPr lang="es-ES" sz="20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331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6859636" y="404664"/>
            <a:ext cx="1830950" cy="369332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mediatemp.cpp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100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8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9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Recorrido de arrays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Autofit/>
          </a:bodyPr>
          <a:lstStyle/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1800" dirty="0">
                <a:latin typeface="Consolas" pitchFamily="49" charset="0"/>
              </a:rPr>
              <a:t> media(</a:t>
            </a: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const </a:t>
            </a:r>
            <a:r>
              <a:rPr lang="es-ES" sz="1800" dirty="0" err="1">
                <a:solidFill>
                  <a:srgbClr val="FFC000"/>
                </a:solidFill>
                <a:latin typeface="Consolas" pitchFamily="49" charset="0"/>
              </a:rPr>
              <a:t>tTemp</a:t>
            </a:r>
            <a:r>
              <a:rPr lang="es-ES" sz="1800" dirty="0">
                <a:latin typeface="Consolas" pitchFamily="49" charset="0"/>
              </a:rPr>
              <a:t> </a:t>
            </a:r>
            <a:r>
              <a:rPr lang="es-ES" sz="1800" dirty="0" err="1">
                <a:latin typeface="Consolas" pitchFamily="49" charset="0"/>
              </a:rPr>
              <a:t>temp</a:t>
            </a:r>
            <a:r>
              <a:rPr lang="es-ES" sz="1800" dirty="0">
                <a:latin typeface="Consolas" pitchFamily="49" charset="0"/>
              </a:rPr>
              <a:t>)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1800" dirty="0">
                <a:latin typeface="Consolas" pitchFamily="49" charset="0"/>
              </a:rPr>
              <a:t> </a:t>
            </a:r>
            <a:r>
              <a:rPr lang="es-ES" sz="1800" dirty="0" err="1">
                <a:latin typeface="Consolas" pitchFamily="49" charset="0"/>
              </a:rPr>
              <a:t>med</a:t>
            </a:r>
            <a:r>
              <a:rPr lang="es-ES" sz="1800" dirty="0">
                <a:latin typeface="Consolas" pitchFamily="49" charset="0"/>
              </a:rPr>
              <a:t>, total 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</a:rPr>
              <a:t>; 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</a:t>
            </a: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</a:t>
            </a:r>
            <a:r>
              <a:rPr lang="es-ES" sz="1800" dirty="0">
                <a:latin typeface="Consolas" pitchFamily="49" charset="0"/>
              </a:rPr>
              <a:t> (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</a:rPr>
              <a:t> i 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</a:rPr>
              <a:t>; i &lt; </a:t>
            </a:r>
            <a:r>
              <a:rPr lang="es-ES" sz="1800" dirty="0" err="1">
                <a:latin typeface="Consolas" pitchFamily="49" charset="0"/>
              </a:rPr>
              <a:t>Dias</a:t>
            </a:r>
            <a:r>
              <a:rPr lang="es-ES" sz="1800" dirty="0">
                <a:latin typeface="Consolas" pitchFamily="49" charset="0"/>
              </a:rPr>
              <a:t>; i++) { </a:t>
            </a:r>
            <a:r>
              <a:rPr lang="es-ES" sz="1800" dirty="0">
                <a:solidFill>
                  <a:srgbClr val="92D050"/>
                </a:solidFill>
                <a:latin typeface="Consolas" pitchFamily="49" charset="0"/>
              </a:rPr>
              <a:t>// Recorrido del array</a:t>
            </a:r>
            <a:endParaRPr lang="es-ES" sz="1800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   total = total + </a:t>
            </a:r>
            <a:r>
              <a:rPr lang="es-ES" sz="1800" dirty="0" err="1">
                <a:latin typeface="Consolas" pitchFamily="49" charset="0"/>
              </a:rPr>
              <a:t>temp</a:t>
            </a:r>
            <a:r>
              <a:rPr lang="es-ES" sz="1800" dirty="0">
                <a:latin typeface="Consolas" pitchFamily="49" charset="0"/>
              </a:rPr>
              <a:t>[i];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</a:t>
            </a:r>
            <a:r>
              <a:rPr lang="es-ES" sz="1800" dirty="0" err="1">
                <a:latin typeface="Consolas" pitchFamily="49" charset="0"/>
              </a:rPr>
              <a:t>med</a:t>
            </a:r>
            <a:r>
              <a:rPr lang="es-ES" sz="1800" dirty="0">
                <a:latin typeface="Consolas" pitchFamily="49" charset="0"/>
              </a:rPr>
              <a:t> = total / </a:t>
            </a:r>
            <a:r>
              <a:rPr lang="es-ES" sz="1800" dirty="0" err="1">
                <a:latin typeface="Consolas" pitchFamily="49" charset="0"/>
              </a:rPr>
              <a:t>Dias</a:t>
            </a:r>
            <a:r>
              <a:rPr lang="es-ES" sz="18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   </a:t>
            </a: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return </a:t>
            </a:r>
            <a:r>
              <a:rPr lang="es-ES" sz="1800" dirty="0" err="1">
                <a:latin typeface="Consolas" pitchFamily="49" charset="0"/>
              </a:rPr>
              <a:t>med</a:t>
            </a:r>
            <a:r>
              <a:rPr lang="es-ES" sz="18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</a:rPr>
              <a:t>}</a:t>
            </a:r>
            <a:endParaRPr lang="es-ES" sz="20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332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6" name="8 Grupo"/>
          <p:cNvGrpSpPr/>
          <p:nvPr/>
        </p:nvGrpSpPr>
        <p:grpSpPr>
          <a:xfrm>
            <a:off x="1655676" y="4509120"/>
            <a:ext cx="5940660" cy="792088"/>
            <a:chOff x="899593" y="5401791"/>
            <a:chExt cx="4723575" cy="7920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6 CuadroTexto"/>
            <p:cNvSpPr txBox="1"/>
            <p:nvPr/>
          </p:nvSpPr>
          <p:spPr>
            <a:xfrm>
              <a:off x="899593" y="5416649"/>
              <a:ext cx="4723575" cy="77723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625475">
                <a:spcAft>
                  <a:spcPts val="600"/>
                </a:spcAft>
              </a:pPr>
              <a:r>
                <a:rPr lang="nl-NL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Los arrays se pasan a las funciones como constantes</a:t>
              </a:r>
            </a:p>
            <a:p>
              <a:pPr marL="625475">
                <a:spcAft>
                  <a:spcPts val="600"/>
                </a:spcAft>
              </a:pPr>
              <a:r>
                <a:rPr lang="nl-NL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Las funciones no pueden devolver arrays</a:t>
              </a:r>
            </a:p>
          </p:txBody>
        </p:sp>
        <p:pic>
          <p:nvPicPr>
            <p:cNvPr id="8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60" y="5401791"/>
              <a:ext cx="352150" cy="4267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Arrays de tipos enumerados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_tradnl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Times New Roman" pitchFamily="18" charset="0"/>
              </a:rPr>
              <a:t>const </a:t>
            </a:r>
            <a:r>
              <a:rPr lang="es-ES_tradnl" sz="1800" dirty="0">
                <a:solidFill>
                  <a:srgbClr val="FFC000"/>
                </a:solidFill>
                <a:latin typeface="Consolas" pitchFamily="49" charset="0"/>
                <a:cs typeface="Times New Roman" pitchFamily="18" charset="0"/>
              </a:rPr>
              <a:t>int</a:t>
            </a:r>
            <a:r>
              <a:rPr lang="es-ES_tradnl" sz="1800" dirty="0">
                <a:latin typeface="Consolas" pitchFamily="49" charset="0"/>
                <a:cs typeface="Times New Roman" pitchFamily="18" charset="0"/>
              </a:rPr>
              <a:t> Cuantas = </a:t>
            </a:r>
            <a:r>
              <a:rPr lang="es-ES_tradnl" sz="1800" dirty="0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15</a:t>
            </a:r>
            <a:r>
              <a:rPr lang="es-ES_tradnl" sz="1800" dirty="0">
                <a:latin typeface="Consolas" pitchFamily="49" charset="0"/>
                <a:cs typeface="Times New Roman" pitchFamily="18" charset="0"/>
              </a:rPr>
              <a:t>;</a:t>
            </a:r>
            <a:endParaRPr lang="es-ES_tradnl" sz="1800" dirty="0">
              <a:solidFill>
                <a:srgbClr val="92D050"/>
              </a:solidFill>
              <a:latin typeface="Consolas" pitchFamily="49" charset="0"/>
              <a:cs typeface="Times New Roman" pitchFamily="18" charset="0"/>
            </a:endParaRPr>
          </a:p>
          <a:p>
            <a:pPr lvl="1" indent="1588">
              <a:spcBef>
                <a:spcPts val="0"/>
              </a:spcBef>
              <a:buNone/>
            </a:pPr>
            <a:r>
              <a:rPr lang="es-ES_tradnl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Times New Roman" pitchFamily="18" charset="0"/>
              </a:rPr>
              <a:t>typedef </a:t>
            </a:r>
            <a:r>
              <a:rPr lang="es-ES_tradnl" sz="1800" dirty="0">
                <a:solidFill>
                  <a:srgbClr val="FFC000"/>
                </a:solidFill>
                <a:latin typeface="Consolas" pitchFamily="49" charset="0"/>
                <a:cs typeface="Times New Roman" pitchFamily="18" charset="0"/>
              </a:rPr>
              <a:t>enum</a:t>
            </a:r>
            <a:r>
              <a:rPr lang="es-ES_tradnl" sz="18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  <a:t> { </a:t>
            </a:r>
            <a:r>
              <a:rPr lang="es-ES_tradnl" sz="1800" dirty="0" err="1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centimo</a:t>
            </a:r>
            <a:r>
              <a:rPr lang="es-ES_tradnl" sz="18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  <a:t>, </a:t>
            </a:r>
            <a:r>
              <a:rPr lang="es-ES_tradnl" sz="1800" dirty="0" err="1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dos_centimos</a:t>
            </a:r>
            <a:r>
              <a:rPr lang="es-ES_tradnl" sz="18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  <a:t>, </a:t>
            </a:r>
            <a:r>
              <a:rPr lang="es-ES_tradnl" sz="1800" dirty="0" err="1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cinco_centimos</a:t>
            </a:r>
            <a:r>
              <a:rPr lang="es-ES_tradnl" sz="18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  <a:t>,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_tradnl" sz="18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  <a:t>   </a:t>
            </a:r>
            <a:r>
              <a:rPr lang="es-ES_tradnl" sz="1800" dirty="0" err="1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diez_centimos</a:t>
            </a:r>
            <a:r>
              <a:rPr lang="es-ES_tradnl" sz="18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  <a:t>, </a:t>
            </a:r>
            <a:r>
              <a:rPr lang="es-ES_tradnl" sz="1800" dirty="0" err="1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veinte_centimos</a:t>
            </a:r>
            <a:r>
              <a:rPr lang="es-ES_tradnl" sz="18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  <a:t>, </a:t>
            </a:r>
            <a:r>
              <a:rPr lang="es-ES_tradnl" sz="1800" dirty="0" err="1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medio_euro</a:t>
            </a:r>
            <a:r>
              <a:rPr lang="es-ES_tradnl" sz="18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  <a:t>, </a:t>
            </a:r>
            <a:r>
              <a:rPr lang="es-ES_tradnl" sz="1800" dirty="0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euro</a:t>
            </a:r>
            <a:r>
              <a:rPr lang="es-ES_tradnl" sz="18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  <a:t> } </a:t>
            </a:r>
            <a:r>
              <a:rPr lang="es-ES_tradnl" sz="1800" dirty="0" err="1">
                <a:solidFill>
                  <a:srgbClr val="FFC000"/>
                </a:solidFill>
                <a:latin typeface="Consolas" pitchFamily="49" charset="0"/>
                <a:cs typeface="Times New Roman" pitchFamily="18" charset="0"/>
              </a:rPr>
              <a:t>tMoneda</a:t>
            </a:r>
            <a:r>
              <a:rPr lang="es-ES_tradnl" sz="18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  <a:t>;</a:t>
            </a:r>
            <a:endParaRPr lang="es-ES_tradnl" sz="1800" dirty="0">
              <a:solidFill>
                <a:srgbClr val="92D050"/>
              </a:solidFill>
              <a:latin typeface="Consolas" pitchFamily="49" charset="0"/>
              <a:cs typeface="Times New Roman" pitchFamily="18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typedef</a:t>
            </a: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1800" dirty="0" err="1">
                <a:solidFill>
                  <a:srgbClr val="FFC000"/>
                </a:solidFill>
                <a:latin typeface="Consolas" pitchFamily="49" charset="0"/>
              </a:rPr>
              <a:t>tMoneda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 </a:t>
            </a:r>
            <a:r>
              <a:rPr lang="es-ES" sz="1800" dirty="0" err="1">
                <a:solidFill>
                  <a:srgbClr val="FFC000"/>
                </a:solidFill>
                <a:latin typeface="Consolas" pitchFamily="49" charset="0"/>
              </a:rPr>
              <a:t>tCalderilla</a:t>
            </a: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[</a:t>
            </a:r>
            <a:r>
              <a:rPr lang="es-ES_tradnl" sz="1800" dirty="0">
                <a:latin typeface="Consolas" pitchFamily="49" charset="0"/>
                <a:cs typeface="Times New Roman" pitchFamily="18" charset="0"/>
              </a:rPr>
              <a:t>Cuantas</a:t>
            </a:r>
            <a:r>
              <a:rPr lang="es-ES" sz="1800" dirty="0">
                <a:solidFill>
                  <a:prstClr val="white"/>
                </a:solidFill>
                <a:latin typeface="Consolas" pitchFamily="49" charset="0"/>
              </a:rPr>
              <a:t>];</a:t>
            </a:r>
            <a:endParaRPr lang="es-ES" sz="1800" dirty="0">
              <a:solidFill>
                <a:srgbClr val="92D050"/>
              </a:solidFill>
            </a:endParaRP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string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es-ES" sz="1800" dirty="0" err="1">
                <a:latin typeface="Consolas" pitchFamily="49" charset="0"/>
                <a:cs typeface="Consolas" pitchFamily="49" charset="0"/>
              </a:rPr>
              <a:t>aCadena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(</a:t>
            </a:r>
            <a:r>
              <a:rPr lang="es-ES" sz="1800" dirty="0" err="1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tMoneda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moneda);</a:t>
            </a:r>
            <a:endParaRPr lang="es-ES_tradnl" sz="1800" dirty="0">
              <a:solidFill>
                <a:srgbClr val="92D050"/>
              </a:solidFill>
              <a:latin typeface="Consolas" pitchFamily="49" charset="0"/>
              <a:cs typeface="Times New Roman" pitchFamily="18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_tradnl" sz="1800" dirty="0">
                <a:solidFill>
                  <a:srgbClr val="92D050"/>
                </a:solidFill>
                <a:latin typeface="Consolas" pitchFamily="49" charset="0"/>
                <a:cs typeface="Times New Roman" pitchFamily="18" charset="0"/>
              </a:rPr>
              <a:t>// Devuelve la cadena correspondiente al valor de moneda</a:t>
            </a:r>
            <a:endParaRPr lang="es-ES" sz="1800" dirty="0">
              <a:solidFill>
                <a:srgbClr val="92D050"/>
              </a:solidFill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1200"/>
              </a:spcBef>
              <a:spcAft>
                <a:spcPts val="300"/>
              </a:spcAft>
              <a:buNone/>
            </a:pPr>
            <a:r>
              <a:rPr lang="es-ES" sz="1800" dirty="0" err="1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tCalderilla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bolsillo; </a:t>
            </a:r>
            <a:r>
              <a:rPr lang="es-ES" sz="180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// Exactamente llevo Cuantas monedas</a:t>
            </a:r>
            <a:endParaRPr lang="es-ES" sz="1800" dirty="0"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bolsillo[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] 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euro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bolsillo[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] = </a:t>
            </a:r>
            <a:r>
              <a:rPr lang="es-ES" sz="1800" dirty="0" err="1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cinco_centimos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bolsillo[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] = </a:t>
            </a:r>
            <a:r>
              <a:rPr lang="es-ES" sz="1800" dirty="0" err="1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medio_euro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bolsillo[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] 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euro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bolsillo[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] = </a:t>
            </a:r>
            <a:r>
              <a:rPr lang="es-ES" sz="1800" dirty="0" err="1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centimo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...</a:t>
            </a:r>
          </a:p>
          <a:p>
            <a:pPr lvl="1" indent="1588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for 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(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moneda 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; moneda &lt; Cuantas; moneda++)</a:t>
            </a:r>
          </a:p>
          <a:p>
            <a:pPr lvl="1" indent="1588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cout &lt;&lt; </a:t>
            </a:r>
            <a:r>
              <a:rPr lang="es-ES" sz="1800" dirty="0" err="1">
                <a:latin typeface="Consolas" pitchFamily="49" charset="0"/>
                <a:cs typeface="Consolas" pitchFamily="49" charset="0"/>
              </a:rPr>
              <a:t>aCadena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(bolsillo[moneda]) &lt;&lt; endl;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333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334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247347" y="3044280"/>
            <a:ext cx="6649514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Capacidad y copia de arrays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dirty="0"/>
              <a:t>Capacidad de los arrays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0" dirty="0"/>
              <a:t>La capacidad de un array no puede ser alterada en la ejecución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El tamaño de un array es una decisión de diseño: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s-ES" i="0" dirty="0"/>
              <a:t>En ocasiones será fácil (días de la semana)</a:t>
            </a:r>
          </a:p>
          <a:p>
            <a:pPr marL="714375" lvl="1" indent="-352425">
              <a:spcBef>
                <a:spcPts val="0"/>
              </a:spcBef>
              <a:buFont typeface="Wingdings" pitchFamily="2" charset="2"/>
              <a:buChar char="ü"/>
            </a:pPr>
            <a:r>
              <a:rPr lang="es-ES" dirty="0"/>
              <a:t>Cuando pueda variar ha de estimarse un tamaño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Ni corto ni con mucho desperdicio (posiciones sin usar)</a:t>
            </a:r>
            <a:endParaRPr lang="es-ES" i="0" dirty="0"/>
          </a:p>
          <a:p>
            <a:pPr lvl="1" indent="1588">
              <a:spcBef>
                <a:spcPts val="0"/>
              </a:spcBef>
              <a:buNone/>
            </a:pPr>
            <a:r>
              <a:rPr lang="es-ES" i="0" dirty="0" err="1"/>
              <a:t>STL</a:t>
            </a:r>
            <a:r>
              <a:rPr lang="es-ES" i="0" dirty="0"/>
              <a:t> (</a:t>
            </a:r>
            <a:r>
              <a:rPr lang="en-US" i="1" dirty="0"/>
              <a:t>Standard Template Library</a:t>
            </a:r>
            <a:r>
              <a:rPr lang="es-ES" dirty="0"/>
              <a:t>) de C++: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Colecciones más eficientes cuyo tamaño puede variar</a:t>
            </a:r>
            <a:endParaRPr lang="es-ES" i="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335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s-ES" dirty="0"/>
              <a:t>Copia de arrays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No se pueden copiar dos arrays (del mismo tipo) con asignación: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latin typeface="Consolas" pitchFamily="49" charset="0"/>
              </a:rPr>
              <a:t>array2 = array1;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// </a:t>
            </a:r>
            <a:r>
              <a:rPr lang="es-ES" i="1" dirty="0">
                <a:solidFill>
                  <a:srgbClr val="FFC000"/>
                </a:solidFill>
                <a:latin typeface="Consolas" pitchFamily="49" charset="0"/>
              </a:rPr>
              <a:t>¡¡¡ NO COPIA LOS ELEMENTOS !!!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Han de copiarse los elementos uno a uno: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for </a:t>
            </a:r>
            <a:r>
              <a:rPr lang="es-ES" dirty="0">
                <a:latin typeface="Consolas" pitchFamily="49" charset="0"/>
              </a:rPr>
              <a:t>(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dirty="0">
                <a:latin typeface="Consolas" pitchFamily="49" charset="0"/>
              </a:rPr>
              <a:t>; i &lt; N; i++)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</a:rPr>
              <a:t>   array2[i] = array1[i];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latin typeface="Consolas" pitchFamily="49" charset="0"/>
              </a:rPr>
              <a:t>}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336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90736"/>
            <a:ext cx="8229600" cy="500066"/>
          </a:xfrm>
        </p:spPr>
        <p:txBody>
          <a:bodyPr/>
          <a:lstStyle/>
          <a:p>
            <a:r>
              <a:rPr lang="es-ES" dirty="0"/>
              <a:t>Acerca de </a:t>
            </a:r>
            <a:r>
              <a:rPr lang="es-ES" i="1" dirty="0" err="1"/>
              <a:t>Creative</a:t>
            </a:r>
            <a:r>
              <a:rPr lang="es-ES" i="1" dirty="0"/>
              <a:t> </a:t>
            </a:r>
            <a:r>
              <a:rPr lang="es-ES" i="1" dirty="0" err="1"/>
              <a:t>Commons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12898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Licencia CC (</a:t>
            </a:r>
            <a:r>
              <a:rPr lang="es-ES" dirty="0" err="1">
                <a:hlinkClick r:id="rId2"/>
              </a:rPr>
              <a:t>Creative</a:t>
            </a:r>
            <a:r>
              <a:rPr lang="es-ES" dirty="0">
                <a:hlinkClick r:id="rId2"/>
              </a:rPr>
              <a:t> </a:t>
            </a:r>
            <a:r>
              <a:rPr lang="es-ES" dirty="0" err="1">
                <a:hlinkClick r:id="rId2"/>
              </a:rPr>
              <a:t>Commons</a:t>
            </a:r>
            <a:r>
              <a:rPr lang="es-ES" dirty="0"/>
              <a:t>)</a:t>
            </a:r>
            <a:endParaRPr lang="es-ES" i="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/>
              <a:t>Este tipo de licencias ofrecen algunos derechos a terceras personas bajo ciertas condiciones.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/>
              <a:t>Este documento tiene establecidas las siguientes: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/>
              <a:t>Pulsa en la imagen de arriba a la derecha para saber más.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337</a:t>
            </a:fld>
            <a:endParaRPr lang="en-US" dirty="0"/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auto">
          <a:xfrm>
            <a:off x="1547664" y="2757115"/>
            <a:ext cx="6543458" cy="2616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Reconocimiento (</a:t>
            </a:r>
            <a:r>
              <a:rPr kumimoji="0" lang="es-ES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Attribution</a:t>
            </a: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): 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En cualquier explotación de la obra autorizada por la licencia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hará falta reconocer la autoría.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No comercial (</a:t>
            </a:r>
            <a:r>
              <a:rPr kumimoji="0" lang="es-ES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Non </a:t>
            </a:r>
            <a:r>
              <a:rPr kumimoji="0" lang="es-ES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commercial</a:t>
            </a: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): 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La explotación de la obra queda limitada a usos no comerciales.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Compartir igual (</a:t>
            </a:r>
            <a:r>
              <a:rPr kumimoji="0" lang="es-ES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Share </a:t>
            </a:r>
            <a:r>
              <a:rPr kumimoji="0" lang="es-ES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alike</a:t>
            </a: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):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La explotación autorizada incluye la creación de obras derivadas 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siempre que mantengan la misma licencia al ser divulgadas.</a:t>
            </a:r>
          </a:p>
        </p:txBody>
      </p:sp>
      <p:pic>
        <p:nvPicPr>
          <p:cNvPr id="45065" name="Picture 9" descr="attribution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1138089" y="2757115"/>
            <a:ext cx="409575" cy="409575"/>
          </a:xfrm>
          <a:prstGeom prst="rect">
            <a:avLst/>
          </a:prstGeom>
          <a:noFill/>
        </p:spPr>
      </p:pic>
      <p:pic>
        <p:nvPicPr>
          <p:cNvPr id="45066" name="Picture 10" descr="non commercial"/>
          <p:cNvPicPr>
            <a:picLocks noChangeAspect="1" noChangeArrowheads="1"/>
          </p:cNvPicPr>
          <p:nvPr/>
        </p:nvPicPr>
        <p:blipFill>
          <a:blip r:embed="rId4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1138089" y="3746155"/>
            <a:ext cx="409575" cy="409575"/>
          </a:xfrm>
          <a:prstGeom prst="rect">
            <a:avLst/>
          </a:prstGeom>
          <a:noFill/>
        </p:spPr>
      </p:pic>
      <p:pic>
        <p:nvPicPr>
          <p:cNvPr id="45068" name="Picture 12" descr="share alike"/>
          <p:cNvPicPr>
            <a:picLocks noChangeAspect="1" noChangeArrowheads="1"/>
          </p:cNvPicPr>
          <p:nvPr/>
        </p:nvPicPr>
        <p:blipFill>
          <a:blip r:embed="rId5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1138089" y="4416700"/>
            <a:ext cx="409575" cy="409575"/>
          </a:xfrm>
          <a:prstGeom prst="rect">
            <a:avLst/>
          </a:prstGeom>
          <a:noFill/>
        </p:spPr>
      </p:pic>
      <p:pic>
        <p:nvPicPr>
          <p:cNvPr id="18" name="17 Imagen" descr="CreativeCommons.png">
            <a:hlinkClick r:id="rId6"/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29454" y="381223"/>
            <a:ext cx="1919288" cy="671513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>
        <a:noFill/>
        <a:ln>
          <a:solidFill>
            <a:srgbClr val="FFC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rgbClr val="FFC000"/>
          </a:solidFill>
          <a:tailEnd type="stealth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wrap="none" rtlCol="0">
        <a:spAutoFit/>
      </a:bodyPr>
      <a:lstStyle>
        <a:defPPr algn="ctr">
          <a:spcAft>
            <a:spcPts val="600"/>
          </a:spcAft>
          <a:defRPr sz="20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mbria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44521</TotalTime>
  <Words>8376</Words>
  <Application>Microsoft Office PowerPoint</Application>
  <PresentationFormat>Presentación en pantalla (4:3)</PresentationFormat>
  <Paragraphs>2020</Paragraphs>
  <Slides>113</Slides>
  <Notes>0</Notes>
  <HiddenSlides>3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113</vt:i4>
      </vt:variant>
    </vt:vector>
  </HeadingPairs>
  <TitlesOfParts>
    <vt:vector size="121" baseType="lpstr">
      <vt:lpstr>Calibri</vt:lpstr>
      <vt:lpstr>Cambria</vt:lpstr>
      <vt:lpstr>Consolas</vt:lpstr>
      <vt:lpstr>Constantia</vt:lpstr>
      <vt:lpstr>Wingdings</vt:lpstr>
      <vt:lpstr>Wingdings 2</vt:lpstr>
      <vt:lpstr>Flow</vt:lpstr>
      <vt:lpstr>Ecuación</vt:lpstr>
      <vt:lpstr>Flujo de ejecución</vt:lpstr>
      <vt:lpstr>Fundamentos de la programación</vt:lpstr>
      <vt:lpstr>Ejecución secuencial</vt:lpstr>
      <vt:lpstr>Selección</vt:lpstr>
      <vt:lpstr>Repetición (iteración)</vt:lpstr>
      <vt:lpstr>Fundamentos de la programación</vt:lpstr>
      <vt:lpstr>Selección simple (bifurcación)</vt:lpstr>
      <vt:lpstr>La instrucción if</vt:lpstr>
      <vt:lpstr>La instrucción if</vt:lpstr>
      <vt:lpstr>La instrucción if</vt:lpstr>
      <vt:lpstr>Fundamentos de la programación</vt:lpstr>
      <vt:lpstr>Expresiones lógicas (booleanas)</vt:lpstr>
      <vt:lpstr>Operadores relacionales</vt:lpstr>
      <vt:lpstr>Fundamentos de la programación</vt:lpstr>
      <vt:lpstr>Operadores lógicos (booleanos)</vt:lpstr>
      <vt:lpstr>Operadores lógicos - Tablas de verdad</vt:lpstr>
      <vt:lpstr>Evaluación perezosa</vt:lpstr>
      <vt:lpstr>Ejemplo</vt:lpstr>
      <vt:lpstr>Fundamentos de la programación</vt:lpstr>
      <vt:lpstr>Selección múltiple</vt:lpstr>
      <vt:lpstr>Fundamentos de la programación</vt:lpstr>
      <vt:lpstr>La escala if-else-if</vt:lpstr>
      <vt:lpstr>La escala if-else-if</vt:lpstr>
      <vt:lpstr>La escala if-else-if</vt:lpstr>
      <vt:lpstr>La escala if-else-if</vt:lpstr>
      <vt:lpstr>Número de días de un mes</vt:lpstr>
      <vt:lpstr>¿Año bisiesto?</vt:lpstr>
      <vt:lpstr>Asociación de cláusulas else</vt:lpstr>
      <vt:lpstr>Fundamentos de la programación</vt:lpstr>
      <vt:lpstr>Bloques de código</vt:lpstr>
      <vt:lpstr>Bloques de código</vt:lpstr>
      <vt:lpstr>Fundamentos de la programación</vt:lpstr>
      <vt:lpstr>La instrucción switch</vt:lpstr>
      <vt:lpstr>La instrucción switch</vt:lpstr>
      <vt:lpstr>La instrucción break</vt:lpstr>
      <vt:lpstr>La instrucción break</vt:lpstr>
      <vt:lpstr>Con y sin break</vt:lpstr>
      <vt:lpstr>Fundamentos de la programación</vt:lpstr>
      <vt:lpstr>Repetición (iteración)</vt:lpstr>
      <vt:lpstr>Tipos de bucles</vt:lpstr>
      <vt:lpstr>Fundamentos de la programación</vt:lpstr>
      <vt:lpstr>Mientras la condición sea cierta, repetir...</vt:lpstr>
      <vt:lpstr>Ejecución del bucle while</vt:lpstr>
      <vt:lpstr>Fundamentos de la programación</vt:lpstr>
      <vt:lpstr>Bucle for</vt:lpstr>
      <vt:lpstr>Ejecución del bucle for</vt:lpstr>
      <vt:lpstr>Ejecución del bucle for</vt:lpstr>
      <vt:lpstr>Bucle for</vt:lpstr>
      <vt:lpstr>Bucle for</vt:lpstr>
      <vt:lpstr>Ámbito de la variable contadora</vt:lpstr>
      <vt:lpstr>Bucle for versus bucle while</vt:lpstr>
      <vt:lpstr>Fundamentos de la programación</vt:lpstr>
      <vt:lpstr>Bucles for anidados</vt:lpstr>
      <vt:lpstr>Tablas de multiplicación</vt:lpstr>
      <vt:lpstr>Fundamentos de la programación</vt:lpstr>
      <vt:lpstr>Otro bucle no determinado de C++</vt:lpstr>
      <vt:lpstr>Ejecución del bucle do-while</vt:lpstr>
      <vt:lpstr>while versus do-while</vt:lpstr>
      <vt:lpstr>Fundamentos de la programación</vt:lpstr>
      <vt:lpstr>Ámbito de los identificadores</vt:lpstr>
      <vt:lpstr>Ámbito de los identificadores</vt:lpstr>
      <vt:lpstr>Ámbito de los identificadores</vt:lpstr>
      <vt:lpstr>Ámbito de los identificadores</vt:lpstr>
      <vt:lpstr>Ámbito de los identificadores</vt:lpstr>
      <vt:lpstr>Ámbito de los identificadores</vt:lpstr>
      <vt:lpstr>Ámbito de los identificadores</vt:lpstr>
      <vt:lpstr>Visibilidad de los identificadores</vt:lpstr>
      <vt:lpstr>Visibilidad de los identificadores</vt:lpstr>
      <vt:lpstr>Fundamentos de la programación</vt:lpstr>
      <vt:lpstr>Secuencias</vt:lpstr>
      <vt:lpstr>Secuencias en programación</vt:lpstr>
      <vt:lpstr>Detección del final de la secuencia</vt:lpstr>
      <vt:lpstr>Centinelas</vt:lpstr>
      <vt:lpstr>Esquemas de tratamiento de secuencias</vt:lpstr>
      <vt:lpstr>Fundamentos de la programación</vt:lpstr>
      <vt:lpstr>Esquema de recorrido</vt:lpstr>
      <vt:lpstr>Esquema de recorrido</vt:lpstr>
      <vt:lpstr>Secuencias explícitas con centinela</vt:lpstr>
      <vt:lpstr>Secuencias explícitas leídas del teclado</vt:lpstr>
      <vt:lpstr>Secuencias explícitas leídas del teclado</vt:lpstr>
      <vt:lpstr>Secuencias explícitas leídas del teclado</vt:lpstr>
      <vt:lpstr>Fundamentos de la programación</vt:lpstr>
      <vt:lpstr>Secuencias calculadas</vt:lpstr>
      <vt:lpstr>Suma de una secuencia calculada</vt:lpstr>
      <vt:lpstr>Números de Fibonacci</vt:lpstr>
      <vt:lpstr>Números de Fibonacci</vt:lpstr>
      <vt:lpstr>Números de Fibonacci</vt:lpstr>
      <vt:lpstr>Fundamentos de la programación</vt:lpstr>
      <vt:lpstr>Esquema de búsqueda</vt:lpstr>
      <vt:lpstr>Esquema de búsqueda</vt:lpstr>
      <vt:lpstr>Secuencias explícitas con centinela</vt:lpstr>
      <vt:lpstr>Secuencias explícitas leídas del teclado</vt:lpstr>
      <vt:lpstr>Fundamentos de la programación</vt:lpstr>
      <vt:lpstr>Arrays</vt:lpstr>
      <vt:lpstr>Arrays</vt:lpstr>
      <vt:lpstr>Tipos y variables arrays</vt:lpstr>
      <vt:lpstr>Tipos arrays</vt:lpstr>
      <vt:lpstr>Variables arrays</vt:lpstr>
      <vt:lpstr>Fundamentos de la programación</vt:lpstr>
      <vt:lpstr>Acceso a los elementos de un array</vt:lpstr>
      <vt:lpstr>Acceso a los elementos de un array</vt:lpstr>
      <vt:lpstr>Inicialización de arrays</vt:lpstr>
      <vt:lpstr>Fundamentos de la programación</vt:lpstr>
      <vt:lpstr>Arrays y bucles for</vt:lpstr>
      <vt:lpstr>Recorrido de arrays</vt:lpstr>
      <vt:lpstr>Recorrido de arrays</vt:lpstr>
      <vt:lpstr>Recorrido de arrays</vt:lpstr>
      <vt:lpstr>Recorrido de arrays</vt:lpstr>
      <vt:lpstr>Arrays de tipos enumerados</vt:lpstr>
      <vt:lpstr>Fundamentos de la programación</vt:lpstr>
      <vt:lpstr>Capacidad de los arrays</vt:lpstr>
      <vt:lpstr>Copia de arrays</vt:lpstr>
      <vt:lpstr>Acerca de Creative Commons</vt:lpstr>
    </vt:vector>
  </TitlesOfParts>
  <Company>UCM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programación</dc:title>
  <dc:creator>Luis</dc:creator>
  <cp:lastModifiedBy>Miguel Angel Campos Méndez</cp:lastModifiedBy>
  <cp:revision>1176</cp:revision>
  <dcterms:created xsi:type="dcterms:W3CDTF">2010-03-20T08:32:51Z</dcterms:created>
  <dcterms:modified xsi:type="dcterms:W3CDTF">2020-02-21T02:42:38Z</dcterms:modified>
</cp:coreProperties>
</file>