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66143A-898D-4F4F-8C79-E155E9CEAB38}" v="15" dt="2020-02-21T01:43:56.83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3324"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guel Ángel Campos Méndez" userId="402d5bdf62ce6c12" providerId="LiveId" clId="{7766143A-898D-4F4F-8C79-E155E9CEAB38}"/>
    <pc:docChg chg="undo custSel modSld modMainMaster">
      <pc:chgData name="Miguel Ángel Campos Méndez" userId="402d5bdf62ce6c12" providerId="LiveId" clId="{7766143A-898D-4F4F-8C79-E155E9CEAB38}" dt="2020-02-21T01:48:07.929" v="280" actId="404"/>
      <pc:docMkLst>
        <pc:docMk/>
      </pc:docMkLst>
      <pc:sldChg chg="delSp">
        <pc:chgData name="Miguel Ángel Campos Méndez" userId="402d5bdf62ce6c12" providerId="LiveId" clId="{7766143A-898D-4F4F-8C79-E155E9CEAB38}" dt="2020-02-21T01:27:41.607" v="3" actId="478"/>
        <pc:sldMkLst>
          <pc:docMk/>
          <pc:sldMk cId="706349297" sldId="257"/>
        </pc:sldMkLst>
        <pc:spChg chg="del">
          <ac:chgData name="Miguel Ángel Campos Méndez" userId="402d5bdf62ce6c12" providerId="LiveId" clId="{7766143A-898D-4F4F-8C79-E155E9CEAB38}" dt="2020-02-21T01:27:40.330" v="2" actId="478"/>
          <ac:spMkLst>
            <pc:docMk/>
            <pc:sldMk cId="706349297" sldId="257"/>
            <ac:spMk id="5" creationId="{00000000-0000-0000-0000-000000000000}"/>
          </ac:spMkLst>
        </pc:spChg>
        <pc:spChg chg="del">
          <ac:chgData name="Miguel Ángel Campos Méndez" userId="402d5bdf62ce6c12" providerId="LiveId" clId="{7766143A-898D-4F4F-8C79-E155E9CEAB38}" dt="2020-02-21T01:27:41.607" v="3" actId="478"/>
          <ac:spMkLst>
            <pc:docMk/>
            <pc:sldMk cId="706349297" sldId="257"/>
            <ac:spMk id="7" creationId="{00000000-0000-0000-0000-000000000000}"/>
          </ac:spMkLst>
        </pc:spChg>
      </pc:sldChg>
      <pc:sldChg chg="delSp modSp">
        <pc:chgData name="Miguel Ángel Campos Méndez" userId="402d5bdf62ce6c12" providerId="LiveId" clId="{7766143A-898D-4F4F-8C79-E155E9CEAB38}" dt="2020-02-21T01:26:55.039" v="1" actId="478"/>
        <pc:sldMkLst>
          <pc:docMk/>
          <pc:sldMk cId="941703930" sldId="258"/>
        </pc:sldMkLst>
        <pc:spChg chg="mod">
          <ac:chgData name="Miguel Ángel Campos Méndez" userId="402d5bdf62ce6c12" providerId="LiveId" clId="{7766143A-898D-4F4F-8C79-E155E9CEAB38}" dt="2020-02-21T01:26:45.496" v="0" actId="20577"/>
          <ac:spMkLst>
            <pc:docMk/>
            <pc:sldMk cId="941703930" sldId="258"/>
            <ac:spMk id="3" creationId="{00000000-0000-0000-0000-000000000000}"/>
          </ac:spMkLst>
        </pc:spChg>
        <pc:spChg chg="del">
          <ac:chgData name="Miguel Ángel Campos Méndez" userId="402d5bdf62ce6c12" providerId="LiveId" clId="{7766143A-898D-4F4F-8C79-E155E9CEAB38}" dt="2020-02-21T01:26:55.039" v="1" actId="478"/>
          <ac:spMkLst>
            <pc:docMk/>
            <pc:sldMk cId="941703930" sldId="258"/>
            <ac:spMk id="9" creationId="{00000000-0000-0000-0000-000000000000}"/>
          </ac:spMkLst>
        </pc:spChg>
      </pc:sldChg>
      <pc:sldChg chg="addSp delSp modSp">
        <pc:chgData name="Miguel Ángel Campos Méndez" userId="402d5bdf62ce6c12" providerId="LiveId" clId="{7766143A-898D-4F4F-8C79-E155E9CEAB38}" dt="2020-02-21T01:36:26.827" v="109" actId="20577"/>
        <pc:sldMkLst>
          <pc:docMk/>
          <pc:sldMk cId="2687898441" sldId="259"/>
        </pc:sldMkLst>
        <pc:spChg chg="mod">
          <ac:chgData name="Miguel Ángel Campos Méndez" userId="402d5bdf62ce6c12" providerId="LiveId" clId="{7766143A-898D-4F4F-8C79-E155E9CEAB38}" dt="2020-02-21T01:34:51.294" v="57" actId="27636"/>
          <ac:spMkLst>
            <pc:docMk/>
            <pc:sldMk cId="2687898441" sldId="259"/>
            <ac:spMk id="3" creationId="{00000000-0000-0000-0000-000000000000}"/>
          </ac:spMkLst>
        </pc:spChg>
        <pc:spChg chg="del">
          <ac:chgData name="Miguel Ángel Campos Méndez" userId="402d5bdf62ce6c12" providerId="LiveId" clId="{7766143A-898D-4F4F-8C79-E155E9CEAB38}" dt="2020-02-21T01:27:47.128" v="4" actId="478"/>
          <ac:spMkLst>
            <pc:docMk/>
            <pc:sldMk cId="2687898441" sldId="259"/>
            <ac:spMk id="7" creationId="{00000000-0000-0000-0000-000000000000}"/>
          </ac:spMkLst>
        </pc:spChg>
        <pc:graphicFrameChg chg="add mod modGraphic">
          <ac:chgData name="Miguel Ángel Campos Méndez" userId="402d5bdf62ce6c12" providerId="LiveId" clId="{7766143A-898D-4F4F-8C79-E155E9CEAB38}" dt="2020-02-21T01:36:26.827" v="109" actId="20577"/>
          <ac:graphicFrameMkLst>
            <pc:docMk/>
            <pc:sldMk cId="2687898441" sldId="259"/>
            <ac:graphicFrameMk id="2" creationId="{BB7DC3D1-F85E-4869-BCB7-5E1B128C923B}"/>
          </ac:graphicFrameMkLst>
        </pc:graphicFrameChg>
      </pc:sldChg>
      <pc:sldChg chg="addSp delSp modSp">
        <pc:chgData name="Miguel Ángel Campos Méndez" userId="402d5bdf62ce6c12" providerId="LiveId" clId="{7766143A-898D-4F4F-8C79-E155E9CEAB38}" dt="2020-02-21T01:48:07.929" v="280" actId="404"/>
        <pc:sldMkLst>
          <pc:docMk/>
          <pc:sldMk cId="821979949" sldId="260"/>
        </pc:sldMkLst>
        <pc:spChg chg="mod">
          <ac:chgData name="Miguel Ángel Campos Méndez" userId="402d5bdf62ce6c12" providerId="LiveId" clId="{7766143A-898D-4F4F-8C79-E155E9CEAB38}" dt="2020-02-21T01:46:16.164" v="257" actId="20577"/>
          <ac:spMkLst>
            <pc:docMk/>
            <pc:sldMk cId="821979949" sldId="260"/>
            <ac:spMk id="3" creationId="{00000000-0000-0000-0000-000000000000}"/>
          </ac:spMkLst>
        </pc:spChg>
        <pc:spChg chg="mod">
          <ac:chgData name="Miguel Ángel Campos Méndez" userId="402d5bdf62ce6c12" providerId="LiveId" clId="{7766143A-898D-4F4F-8C79-E155E9CEAB38}" dt="2020-02-21T01:43:28.973" v="114" actId="1076"/>
          <ac:spMkLst>
            <pc:docMk/>
            <pc:sldMk cId="821979949" sldId="260"/>
            <ac:spMk id="7" creationId="{00000000-0000-0000-0000-000000000000}"/>
          </ac:spMkLst>
        </pc:spChg>
        <pc:spChg chg="del">
          <ac:chgData name="Miguel Ángel Campos Méndez" userId="402d5bdf62ce6c12" providerId="LiveId" clId="{7766143A-898D-4F4F-8C79-E155E9CEAB38}" dt="2020-02-21T01:29:32.920" v="5" actId="478"/>
          <ac:spMkLst>
            <pc:docMk/>
            <pc:sldMk cId="821979949" sldId="260"/>
            <ac:spMk id="8" creationId="{00000000-0000-0000-0000-000000000000}"/>
          </ac:spMkLst>
        </pc:spChg>
        <pc:graphicFrameChg chg="add mod modGraphic">
          <ac:chgData name="Miguel Ángel Campos Méndez" userId="402d5bdf62ce6c12" providerId="LiveId" clId="{7766143A-898D-4F4F-8C79-E155E9CEAB38}" dt="2020-02-21T01:48:07.929" v="280" actId="404"/>
          <ac:graphicFrameMkLst>
            <pc:docMk/>
            <pc:sldMk cId="821979949" sldId="260"/>
            <ac:graphicFrameMk id="9" creationId="{C35F451B-75AB-4FE8-BACB-36E6E7473FBC}"/>
          </ac:graphicFrameMkLst>
        </pc:graphicFrameChg>
        <pc:picChg chg="mod">
          <ac:chgData name="Miguel Ángel Campos Méndez" userId="402d5bdf62ce6c12" providerId="LiveId" clId="{7766143A-898D-4F4F-8C79-E155E9CEAB38}" dt="2020-02-21T01:43:25.413" v="113" actId="1076"/>
          <ac:picMkLst>
            <pc:docMk/>
            <pc:sldMk cId="821979949" sldId="260"/>
            <ac:picMk id="6" creationId="{00000000-0000-0000-0000-000000000000}"/>
          </ac:picMkLst>
        </pc:picChg>
      </pc:sldChg>
      <pc:sldMasterChg chg="delSp">
        <pc:chgData name="Miguel Ángel Campos Méndez" userId="402d5bdf62ce6c12" providerId="LiveId" clId="{7766143A-898D-4F4F-8C79-E155E9CEAB38}" dt="2020-02-21T01:46:30.468" v="259" actId="478"/>
        <pc:sldMasterMkLst>
          <pc:docMk/>
          <pc:sldMasterMk cId="0" sldId="2147483660"/>
        </pc:sldMasterMkLst>
        <pc:spChg chg="del">
          <ac:chgData name="Miguel Ángel Campos Méndez" userId="402d5bdf62ce6c12" providerId="LiveId" clId="{7766143A-898D-4F4F-8C79-E155E9CEAB38}" dt="2020-02-21T01:46:30.468" v="259" actId="478"/>
          <ac:spMkLst>
            <pc:docMk/>
            <pc:sldMasterMk cId="0" sldId="2147483660"/>
            <ac:spMk id="7" creationId="{00000000-0000-0000-0000-000000000000}"/>
          </ac:spMkLst>
        </pc:spChg>
        <pc:spChg chg="del">
          <ac:chgData name="Miguel Ángel Campos Méndez" userId="402d5bdf62ce6c12" providerId="LiveId" clId="{7766143A-898D-4F4F-8C79-E155E9CEAB38}" dt="2020-02-21T01:46:27.805" v="258" actId="478"/>
          <ac:spMkLst>
            <pc:docMk/>
            <pc:sldMasterMk cId="0" sldId="2147483660"/>
            <ac:spMk id="8" creationId="{00000000-0000-0000-0000-000000000000}"/>
          </ac:spMkLst>
        </pc:sp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es-ES"/>
              <a:t>Haga clic para modificar el estilo de título del patrón</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95A8C7D3-D67C-411D-ADE6-FAED1E421C4E}" type="datetimeFigureOut">
              <a:rPr lang="es-ES" smtClean="0"/>
              <a:t>21/02/2020</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FEBC5EE-A388-4637-8511-D592A20C3C91}" type="slidenum">
              <a:rPr lang="es-ES" smtClean="0"/>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5A8C7D3-D67C-411D-ADE6-FAED1E421C4E}" type="datetimeFigureOut">
              <a:rPr lang="es-ES" smtClean="0"/>
              <a:t>21/02/2020</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FEBC5EE-A388-4637-8511-D592A20C3C91}" type="slidenum">
              <a:rPr lang="es-ES" smtClean="0"/>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s-ES"/>
              <a:t>Haga clic para modificar el estilo de título del patrón</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s-ES"/>
              <a:t>Haga clic para modificar el estilo de texto del patrón</a:t>
            </a:r>
          </a:p>
        </p:txBody>
      </p:sp>
      <p:sp>
        <p:nvSpPr>
          <p:cNvPr id="4" name="Date Placeholder 3"/>
          <p:cNvSpPr>
            <a:spLocks noGrp="1"/>
          </p:cNvSpPr>
          <p:nvPr>
            <p:ph type="dt" sz="half" idx="10"/>
          </p:nvPr>
        </p:nvSpPr>
        <p:spPr/>
        <p:txBody>
          <a:bodyPr/>
          <a:lstStyle/>
          <a:p>
            <a:fld id="{95A8C7D3-D67C-411D-ADE6-FAED1E421C4E}" type="datetimeFigureOut">
              <a:rPr lang="es-ES" smtClean="0"/>
              <a:t>21/02/2020</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FEBC5EE-A388-4637-8511-D592A20C3C91}" type="slidenum">
              <a:rPr lang="es-ES" smtClean="0"/>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95A8C7D3-D67C-411D-ADE6-FAED1E421C4E}" type="datetimeFigureOut">
              <a:rPr lang="es-ES" smtClean="0"/>
              <a:t>21/02/2020</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2FEBC5EE-A388-4637-8511-D592A20C3C91}" type="slidenum">
              <a:rPr lang="es-ES" smtClean="0"/>
              <a:t>‹Nº›</a:t>
            </a:fld>
            <a:endParaRPr lang="es-ES"/>
          </a:p>
        </p:txBody>
      </p:sp>
      <p:sp>
        <p:nvSpPr>
          <p:cNvPr id="8" name="Title 7"/>
          <p:cNvSpPr>
            <a:spLocks noGrp="1"/>
          </p:cNvSpPr>
          <p:nvPr>
            <p:ph type="title"/>
          </p:nvPr>
        </p:nvSpPr>
        <p:spPr/>
        <p:txBody>
          <a:bodyPr/>
          <a:lstStyle/>
          <a:p>
            <a:r>
              <a:rPr lang="es-ES"/>
              <a:t>Haga clic para modificar el estilo de título del patrón</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s-ES"/>
              <a:t>Haga clic para modificar el estilo de texto del patrón</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s-ES"/>
              <a:t>Haga clic para modificar el estilo de texto del patrón</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95A8C7D3-D67C-411D-ADE6-FAED1E421C4E}" type="datetimeFigureOut">
              <a:rPr lang="es-ES" smtClean="0"/>
              <a:t>21/02/2020</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2FEBC5EE-A388-4637-8511-D592A20C3C91}" type="slidenum">
              <a:rPr lang="es-ES" smtClean="0"/>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Date Placeholder 2"/>
          <p:cNvSpPr>
            <a:spLocks noGrp="1"/>
          </p:cNvSpPr>
          <p:nvPr>
            <p:ph type="dt" sz="half" idx="10"/>
          </p:nvPr>
        </p:nvSpPr>
        <p:spPr/>
        <p:txBody>
          <a:bodyPr/>
          <a:lstStyle/>
          <a:p>
            <a:fld id="{95A8C7D3-D67C-411D-ADE6-FAED1E421C4E}" type="datetimeFigureOut">
              <a:rPr lang="es-ES" smtClean="0"/>
              <a:t>21/02/2020</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2FEBC5EE-A388-4637-8511-D592A20C3C91}" type="slidenum">
              <a:rPr lang="es-ES" smtClean="0"/>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A8C7D3-D67C-411D-ADE6-FAED1E421C4E}" type="datetimeFigureOut">
              <a:rPr lang="es-ES" smtClean="0"/>
              <a:t>21/02/2020</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2FEBC5EE-A388-4637-8511-D592A20C3C91}"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s-ES"/>
              <a:t>Haga clic para modificar el estilo de título del patrón</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s-ES"/>
              <a:t>Haga clic para modificar el estilo de texto del patrón</a:t>
            </a:r>
          </a:p>
        </p:txBody>
      </p:sp>
      <p:sp>
        <p:nvSpPr>
          <p:cNvPr id="5" name="Date Placeholder 4"/>
          <p:cNvSpPr>
            <a:spLocks noGrp="1"/>
          </p:cNvSpPr>
          <p:nvPr>
            <p:ph type="dt" sz="half" idx="10"/>
          </p:nvPr>
        </p:nvSpPr>
        <p:spPr/>
        <p:txBody>
          <a:bodyPr/>
          <a:lstStyle/>
          <a:p>
            <a:fld id="{95A8C7D3-D67C-411D-ADE6-FAED1E421C4E}" type="datetimeFigureOut">
              <a:rPr lang="es-ES" smtClean="0"/>
              <a:t>21/02/2020</a:t>
            </a:fld>
            <a:endParaRPr lang="es-E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s-E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2FEBC5EE-A388-4637-8511-D592A20C3C91}" type="slidenum">
              <a:rPr lang="es-ES" smtClean="0"/>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s-ES"/>
              <a:t>Haga clic en el icono para agregar una imagen</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95A8C7D3-D67C-411D-ADE6-FAED1E421C4E}" type="datetimeFigureOut">
              <a:rPr lang="es-ES" smtClean="0"/>
              <a:t>21/02/2020</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2FEBC5EE-A388-4637-8511-D592A20C3C91}" type="slidenum">
              <a:rPr lang="es-ES" smtClean="0"/>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95A8C7D3-D67C-411D-ADE6-FAED1E421C4E}" type="datetimeFigureOut">
              <a:rPr lang="es-ES" smtClean="0"/>
              <a:t>21/02/2020</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FEBC5EE-A388-4637-8511-D592A20C3C91}"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95A8C7D3-D67C-411D-ADE6-FAED1E421C4E}" type="datetimeFigureOut">
              <a:rPr lang="es-ES" smtClean="0"/>
              <a:t>21/02/2020</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FEBC5EE-A388-4637-8511-D592A20C3C91}"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95A8C7D3-D67C-411D-ADE6-FAED1E421C4E}" type="datetimeFigureOut">
              <a:rPr lang="es-ES" smtClean="0"/>
              <a:t>21/02/2020</a:t>
            </a:fld>
            <a:endParaRPr lang="es-ES"/>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es-ES"/>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2FEBC5EE-A388-4637-8511-D592A20C3C91}" type="slidenum">
              <a:rPr lang="es-ES" smtClean="0"/>
              <a:t>‹Nº›</a:t>
            </a:fld>
            <a:endParaRPr lang="es-E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3.xml"/><Relationship Id="rId1" Type="http://schemas.openxmlformats.org/officeDocument/2006/relationships/slideLayout" Target="../slideLayouts/slideLayout2.xml"/><Relationship Id="rId4" Type="http://schemas.openxmlformats.org/officeDocument/2006/relationships/slide" Target="slide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rot="19171777">
            <a:off x="1469229" y="2167036"/>
            <a:ext cx="8856984" cy="1470025"/>
          </a:xfrm>
        </p:spPr>
        <p:txBody>
          <a:bodyPr>
            <a:noAutofit/>
          </a:bodyPr>
          <a:lstStyle/>
          <a:p>
            <a:r>
              <a:rPr lang="es-ES" sz="4800" dirty="0"/>
              <a:t>Proyecto: Conversor de bases numéricas </a:t>
            </a:r>
          </a:p>
        </p:txBody>
      </p:sp>
      <p:sp>
        <p:nvSpPr>
          <p:cNvPr id="3" name="2 Subtítulo"/>
          <p:cNvSpPr>
            <a:spLocks noGrp="1"/>
          </p:cNvSpPr>
          <p:nvPr>
            <p:ph type="subTitle" idx="1"/>
          </p:nvPr>
        </p:nvSpPr>
        <p:spPr>
          <a:xfrm>
            <a:off x="323528" y="517899"/>
            <a:ext cx="6511131" cy="329259"/>
          </a:xfrm>
        </p:spPr>
        <p:txBody>
          <a:bodyPr/>
          <a:lstStyle/>
          <a:p>
            <a:r>
              <a:rPr lang="es-ES" dirty="0"/>
              <a:t>Carne: 0009-16-4277</a:t>
            </a:r>
          </a:p>
        </p:txBody>
      </p:sp>
      <p:sp>
        <p:nvSpPr>
          <p:cNvPr id="4" name="2 Subtítulo"/>
          <p:cNvSpPr txBox="1">
            <a:spLocks/>
          </p:cNvSpPr>
          <p:nvPr/>
        </p:nvSpPr>
        <p:spPr>
          <a:xfrm>
            <a:off x="323528" y="188640"/>
            <a:ext cx="5443081" cy="329259"/>
          </a:xfrm>
          <a:prstGeom prst="rect">
            <a:avLst/>
          </a:prstGeom>
        </p:spPr>
        <p:txBody>
          <a:bodyPr vert="horz" lIns="91440" tIns="9144" rIns="91440" bIns="45720" rtlCol="0">
            <a:normAutofit/>
          </a:bodyPr>
          <a:lstStyle>
            <a:lvl1pPr marL="0" indent="0" algn="l" defTabSz="914400" rtl="0" eaLnBrk="1" latinLnBrk="0" hangingPunct="1">
              <a:spcBef>
                <a:spcPts val="800"/>
              </a:spcBef>
              <a:buFont typeface="Arial" pitchFamily="34" charse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2pPr>
            <a:lvl3pPr marL="9144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3pPr>
            <a:lvl4pPr marL="13716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4pPr>
            <a:lvl5pPr marL="18288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9pPr>
          </a:lstStyle>
          <a:p>
            <a:r>
              <a:rPr lang="es-ES"/>
              <a:t>Por: Ana kristina cifuentes castañeda</a:t>
            </a:r>
          </a:p>
        </p:txBody>
      </p:sp>
    </p:spTree>
    <p:extLst>
      <p:ext uri="{BB962C8B-B14F-4D97-AF65-F5344CB8AC3E}">
        <p14:creationId xmlns:p14="http://schemas.microsoft.com/office/powerpoint/2010/main" val="991730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404664"/>
            <a:ext cx="7520940" cy="936104"/>
          </a:xfrm>
        </p:spPr>
        <p:txBody>
          <a:bodyPr/>
          <a:lstStyle/>
          <a:p>
            <a:pPr algn="ctr"/>
            <a:r>
              <a:rPr lang="es-ES" dirty="0"/>
              <a:t>¿Cómo convertir un numero decimal a otros sistemas numéricos?  </a:t>
            </a:r>
          </a:p>
        </p:txBody>
      </p:sp>
      <p:sp>
        <p:nvSpPr>
          <p:cNvPr id="3" name="2 Marcador de contenido"/>
          <p:cNvSpPr>
            <a:spLocks noGrp="1"/>
          </p:cNvSpPr>
          <p:nvPr>
            <p:ph idx="1"/>
          </p:nvPr>
        </p:nvSpPr>
        <p:spPr>
          <a:xfrm>
            <a:off x="395536" y="2420888"/>
            <a:ext cx="8280920" cy="2376264"/>
          </a:xfrm>
        </p:spPr>
        <p:txBody>
          <a:bodyPr>
            <a:normAutofit fontScale="85000" lnSpcReduction="20000"/>
          </a:bodyPr>
          <a:lstStyle/>
          <a:p>
            <a:pPr marL="571500" indent="-571500">
              <a:buFont typeface="Wingdings" pitchFamily="2" charset="2"/>
              <a:buChar char="Ø"/>
            </a:pPr>
            <a:r>
              <a:rPr lang="es-ES" sz="2400" dirty="0">
                <a:hlinkClick r:id="rId2" action="ppaction://hlinksldjump"/>
              </a:rPr>
              <a:t>Binario</a:t>
            </a:r>
            <a:r>
              <a:rPr lang="es-ES" sz="2400" dirty="0"/>
              <a:t>		</a:t>
            </a:r>
            <a:r>
              <a:rPr lang="es-ES" sz="2000" b="0" dirty="0"/>
              <a:t>En contraste, el sistema de números binarios (en base de 			dos) tiene dos valores posibles representados por 0 o 1 			por cada valor posicional.</a:t>
            </a:r>
            <a:endParaRPr lang="es-ES" sz="2000" dirty="0"/>
          </a:p>
          <a:p>
            <a:pPr marL="571500" indent="-571500">
              <a:buFont typeface="Wingdings" pitchFamily="2" charset="2"/>
              <a:buChar char="Ø"/>
            </a:pPr>
            <a:r>
              <a:rPr lang="es-ES" sz="2400" dirty="0">
                <a:hlinkClick r:id="rId3" action="ppaction://hlinksldjump"/>
              </a:rPr>
              <a:t>Octal</a:t>
            </a:r>
            <a:r>
              <a:rPr lang="es-ES" sz="2400" dirty="0"/>
              <a:t>		</a:t>
            </a:r>
            <a:r>
              <a:rPr lang="es-ES" sz="2000" b="0" dirty="0"/>
              <a:t>El octal es un sistema numérico de base 8 que utiliza solo 			los dígitos del 0 al 7.</a:t>
            </a:r>
          </a:p>
          <a:p>
            <a:pPr marL="571500" indent="-571500">
              <a:buFont typeface="Wingdings" pitchFamily="2" charset="2"/>
              <a:buChar char="Ø"/>
            </a:pPr>
            <a:r>
              <a:rPr lang="es-ES" sz="2400" dirty="0">
                <a:hlinkClick r:id="rId4" action="ppaction://hlinksldjump"/>
              </a:rPr>
              <a:t>Hexadecimal</a:t>
            </a:r>
            <a:r>
              <a:rPr lang="es-ES" sz="2400" dirty="0"/>
              <a:t> 	</a:t>
            </a:r>
            <a:r>
              <a:rPr lang="es-ES" sz="2000" b="0" dirty="0"/>
              <a:t>La notación hexadecimal es un sistema de numeración 			que tiene como base el dieciséis. Esto significa que tiene 			16 símbolos que pueden representar un solo dígito, al 			añadir A, B, C, D, E y F a la numeración decimal usual.</a:t>
            </a:r>
          </a:p>
        </p:txBody>
      </p:sp>
      <p:sp>
        <p:nvSpPr>
          <p:cNvPr id="4" name="2 Marcador de contenido"/>
          <p:cNvSpPr txBox="1">
            <a:spLocks/>
          </p:cNvSpPr>
          <p:nvPr/>
        </p:nvSpPr>
        <p:spPr>
          <a:xfrm>
            <a:off x="395536" y="1432961"/>
            <a:ext cx="8496944" cy="795656"/>
          </a:xfrm>
          <a:prstGeom prst="rect">
            <a:avLst/>
          </a:prstGeom>
        </p:spPr>
        <p:txBody>
          <a:bodyPr vert="horz" lIns="91440" tIns="45720" rIns="91440" bIns="45720" rtlCol="0">
            <a:normAutofit fontScale="55000" lnSpcReduction="20000"/>
          </a:bodyPr>
          <a:lst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algn="ctr"/>
            <a:r>
              <a:rPr lang="es-ES" sz="3600" b="0" dirty="0"/>
              <a:t>El sistema de números decimales (en base de diez) tiene diez valores posibles (0, 1, 2, 3, 4, 5, 6, 7, 8, 9) por cada valor posicional. </a:t>
            </a:r>
            <a:endParaRPr lang="es-ES" sz="3600" dirty="0"/>
          </a:p>
        </p:txBody>
      </p:sp>
    </p:spTree>
    <p:extLst>
      <p:ext uri="{BB962C8B-B14F-4D97-AF65-F5344CB8AC3E}">
        <p14:creationId xmlns:p14="http://schemas.microsoft.com/office/powerpoint/2010/main" val="706349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51720" y="401612"/>
            <a:ext cx="5328592" cy="548640"/>
          </a:xfrm>
        </p:spPr>
        <p:txBody>
          <a:bodyPr/>
          <a:lstStyle/>
          <a:p>
            <a:r>
              <a:rPr lang="es-ES" dirty="0"/>
              <a:t>Decimal 		binario </a:t>
            </a:r>
          </a:p>
        </p:txBody>
      </p:sp>
      <p:sp>
        <p:nvSpPr>
          <p:cNvPr id="3" name="2 Marcador de contenido"/>
          <p:cNvSpPr>
            <a:spLocks noGrp="1"/>
          </p:cNvSpPr>
          <p:nvPr>
            <p:ph idx="1"/>
          </p:nvPr>
        </p:nvSpPr>
        <p:spPr>
          <a:xfrm>
            <a:off x="323528" y="1052736"/>
            <a:ext cx="8496944" cy="4824536"/>
          </a:xfrm>
        </p:spPr>
        <p:txBody>
          <a:bodyPr>
            <a:noAutofit/>
          </a:bodyPr>
          <a:lstStyle/>
          <a:p>
            <a:r>
              <a:rPr lang="es-ES" b="0" dirty="0"/>
              <a:t>Vamos a convertir el número decimal 156</a:t>
            </a:r>
            <a:r>
              <a:rPr lang="es-ES" b="0" baseline="-25000" dirty="0"/>
              <a:t>10</a:t>
            </a:r>
            <a:r>
              <a:rPr lang="es-ES" b="0" dirty="0"/>
              <a:t> a número binario. </a:t>
            </a:r>
          </a:p>
          <a:p>
            <a:pPr marL="0" indent="0"/>
            <a:r>
              <a:rPr lang="es-ES" dirty="0"/>
              <a:t>1. Escribe el número decimal como el dividendo y escribe como divisor la base del sistema al que quieres convertir, en este caso 2, para número binario. </a:t>
            </a:r>
          </a:p>
          <a:p>
            <a:pPr marL="0" indent="0"/>
            <a:r>
              <a:rPr lang="es-ES" b="0" dirty="0"/>
              <a:t>156/2 = 78. Con residuo 0. </a:t>
            </a:r>
          </a:p>
          <a:p>
            <a:pPr marL="0" indent="0"/>
            <a:r>
              <a:rPr lang="es-ES" dirty="0"/>
              <a:t>2. Luego continuas dividiendo el cociente dentro de numero 2. Colocando su residuo a la derecha. </a:t>
            </a:r>
          </a:p>
          <a:p>
            <a:pPr marL="0" indent="0"/>
            <a:r>
              <a:rPr lang="es-ES" b="0" dirty="0"/>
              <a:t>78/2= 39		Residuo 0. </a:t>
            </a:r>
          </a:p>
          <a:p>
            <a:pPr marL="0" indent="0"/>
            <a:r>
              <a:rPr lang="es-ES" b="0" dirty="0"/>
              <a:t>39/2= 19 		Residuo 1. </a:t>
            </a:r>
          </a:p>
          <a:p>
            <a:pPr marL="0" indent="0"/>
            <a:r>
              <a:rPr lang="es-ES" b="0" dirty="0"/>
              <a:t>19/2= 9		Residuo 1. </a:t>
            </a:r>
          </a:p>
          <a:p>
            <a:pPr marL="0" indent="0"/>
            <a:r>
              <a:rPr lang="es-ES" b="0" dirty="0"/>
              <a:t>9/2= 4		Residuo 1. </a:t>
            </a:r>
          </a:p>
          <a:p>
            <a:pPr marL="0" indent="0"/>
            <a:r>
              <a:rPr lang="es-ES" b="0" dirty="0"/>
              <a:t>4/2= 2		Residuo 0. </a:t>
            </a:r>
          </a:p>
          <a:p>
            <a:pPr marL="0" indent="0"/>
            <a:r>
              <a:rPr lang="es-ES" b="0" dirty="0"/>
              <a:t>2/2= 1		Residuo 0.</a:t>
            </a:r>
          </a:p>
          <a:p>
            <a:pPr marL="0" indent="0"/>
            <a:r>
              <a:rPr lang="es-ES" b="0" dirty="0"/>
              <a:t>1/2 = 		Residuo 1. </a:t>
            </a:r>
          </a:p>
          <a:p>
            <a:pPr marL="0" indent="0"/>
            <a:r>
              <a:rPr lang="es-ES" b="0" dirty="0"/>
              <a:t>El numero binario se escribe desde tu ultimo residuo al primero, es decir, nuestro binario seria: 10011100. </a:t>
            </a:r>
          </a:p>
        </p:txBody>
      </p:sp>
      <p:cxnSp>
        <p:nvCxnSpPr>
          <p:cNvPr id="5" name="4 Conector recto de flecha"/>
          <p:cNvCxnSpPr/>
          <p:nvPr/>
        </p:nvCxnSpPr>
        <p:spPr>
          <a:xfrm>
            <a:off x="3635896" y="692696"/>
            <a:ext cx="1152128" cy="0"/>
          </a:xfrm>
          <a:prstGeom prst="straightConnector1">
            <a:avLst/>
          </a:prstGeom>
          <a:ln w="76200">
            <a:tailEnd type="arrow"/>
          </a:ln>
        </p:spPr>
        <p:style>
          <a:lnRef idx="2">
            <a:schemeClr val="accent3"/>
          </a:lnRef>
          <a:fillRef idx="0">
            <a:schemeClr val="accent3"/>
          </a:fillRef>
          <a:effectRef idx="1">
            <a:schemeClr val="accent3"/>
          </a:effectRef>
          <a:fontRef idx="minor">
            <a:schemeClr val="tx1"/>
          </a:fontRef>
        </p:style>
      </p:cxnSp>
      <p:cxnSp>
        <p:nvCxnSpPr>
          <p:cNvPr id="6" name="5 Conector recto de flecha"/>
          <p:cNvCxnSpPr/>
          <p:nvPr/>
        </p:nvCxnSpPr>
        <p:spPr>
          <a:xfrm flipV="1">
            <a:off x="3447937" y="2924944"/>
            <a:ext cx="0" cy="2304256"/>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8" name="7 CuadroTexto"/>
          <p:cNvSpPr txBox="1"/>
          <p:nvPr/>
        </p:nvSpPr>
        <p:spPr>
          <a:xfrm>
            <a:off x="4211960" y="3707740"/>
            <a:ext cx="3309732" cy="461665"/>
          </a:xfrm>
          <a:prstGeom prst="rect">
            <a:avLst/>
          </a:prstGeom>
          <a:noFill/>
        </p:spPr>
        <p:txBody>
          <a:bodyPr wrap="square" rtlCol="0">
            <a:spAutoFit/>
          </a:bodyPr>
          <a:lstStyle/>
          <a:p>
            <a:r>
              <a:rPr lang="es-ES" sz="2400" b="1" dirty="0"/>
              <a:t>156</a:t>
            </a:r>
            <a:r>
              <a:rPr lang="es-ES" sz="2400" b="1" baseline="-25000" dirty="0"/>
              <a:t>10</a:t>
            </a:r>
            <a:r>
              <a:rPr lang="es-ES" sz="2400" b="1" dirty="0"/>
              <a:t>  &gt;&gt; 10011100</a:t>
            </a:r>
            <a:r>
              <a:rPr lang="es-ES" sz="2400" b="1" baseline="-25000" dirty="0"/>
              <a:t>2</a:t>
            </a:r>
            <a:r>
              <a:rPr lang="es-ES" sz="2400" b="1" dirty="0"/>
              <a:t> </a:t>
            </a:r>
          </a:p>
        </p:txBody>
      </p:sp>
    </p:spTree>
    <p:extLst>
      <p:ext uri="{BB962C8B-B14F-4D97-AF65-F5344CB8AC3E}">
        <p14:creationId xmlns:p14="http://schemas.microsoft.com/office/powerpoint/2010/main" val="941703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79512" y="966632"/>
            <a:ext cx="8712968" cy="5702728"/>
          </a:xfrm>
        </p:spPr>
        <p:txBody>
          <a:bodyPr>
            <a:normAutofit lnSpcReduction="10000"/>
          </a:bodyPr>
          <a:lstStyle/>
          <a:p>
            <a:r>
              <a:rPr lang="es-ES" b="0" dirty="0"/>
              <a:t>Vamos a convertir el número decimal 156</a:t>
            </a:r>
            <a:r>
              <a:rPr lang="es-ES" b="0" baseline="-25000" dirty="0"/>
              <a:t>10</a:t>
            </a:r>
            <a:r>
              <a:rPr lang="es-ES" b="0" dirty="0"/>
              <a:t> a número octal. </a:t>
            </a:r>
          </a:p>
          <a:p>
            <a:r>
              <a:rPr lang="es-ES" dirty="0"/>
              <a:t>1. Haz una lista de las potencias de 8. Escribe algunas de estas potencias de 8 en una línea horizontal, desde el más grande al más pequeño. No necesitas ninguna potencia de 8 mayor que el número original. </a:t>
            </a:r>
          </a:p>
          <a:p>
            <a:endParaRPr lang="es-ES" b="0" dirty="0"/>
          </a:p>
          <a:p>
            <a:endParaRPr lang="es-ES" b="0" dirty="0"/>
          </a:p>
          <a:p>
            <a:endParaRPr lang="es-ES" b="0" dirty="0"/>
          </a:p>
          <a:p>
            <a:endParaRPr lang="es-ES" b="0" dirty="0"/>
          </a:p>
          <a:p>
            <a:pPr marL="0" indent="0"/>
            <a:r>
              <a:rPr lang="es-ES" dirty="0"/>
              <a:t>2. Divide el número decimal por la potencia de 8 más grande.  Con los octales ocurre algo similar, necesitas conocer cuántos 64 caben en el número final. Divide 156 por 64 para averiguarlo.</a:t>
            </a:r>
          </a:p>
          <a:p>
            <a:pPr marL="0" indent="0"/>
            <a:r>
              <a:rPr lang="es-ES" b="0" dirty="0"/>
              <a:t>156/64 = 2.4375 &gt;&gt; 2 seria el primer digito de nuestro numero octal. </a:t>
            </a:r>
          </a:p>
          <a:p>
            <a:pPr marL="0" indent="0"/>
            <a:r>
              <a:rPr lang="es-ES" dirty="0"/>
              <a:t>3. Halla el resto. Calcula el resto del problema de división o la cantidad restante que no encaja de manera uniforme en tu número. </a:t>
            </a:r>
          </a:p>
          <a:p>
            <a:pPr marL="0" indent="0"/>
            <a:r>
              <a:rPr lang="es-ES" b="0" dirty="0"/>
              <a:t>2*64= 128	156-128= 28 </a:t>
            </a:r>
          </a:p>
          <a:p>
            <a:pPr marL="0" indent="0"/>
            <a:r>
              <a:rPr lang="es-ES" dirty="0"/>
              <a:t>4. Divide el resto por la siguiente potencia de 8. Para hallar el próximo dígito.</a:t>
            </a:r>
          </a:p>
          <a:p>
            <a:pPr marL="0" indent="0"/>
            <a:r>
              <a:rPr lang="es-ES" b="0" dirty="0"/>
              <a:t>28/8 = 3.5 &gt;&gt; 3 seria el segundo digito. </a:t>
            </a:r>
          </a:p>
          <a:p>
            <a:pPr marL="0" indent="0"/>
            <a:r>
              <a:rPr lang="es-ES" b="0" dirty="0"/>
              <a:t>3*8= 24 		28-24= 4 </a:t>
            </a:r>
          </a:p>
          <a:p>
            <a:pPr marL="0" indent="0"/>
            <a:r>
              <a:rPr lang="es-ES" b="0" dirty="0"/>
              <a:t>4/1= 4 &gt;&gt; 4 seria el tercer digito. </a:t>
            </a:r>
          </a:p>
        </p:txBody>
      </p:sp>
      <p:sp>
        <p:nvSpPr>
          <p:cNvPr id="4" name="1 Título"/>
          <p:cNvSpPr txBox="1">
            <a:spLocks/>
          </p:cNvSpPr>
          <p:nvPr/>
        </p:nvSpPr>
        <p:spPr>
          <a:xfrm>
            <a:off x="2051720" y="401612"/>
            <a:ext cx="5328592" cy="54864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cap="all" baseline="0">
                <a:solidFill>
                  <a:schemeClr val="tx1"/>
                </a:solidFill>
                <a:latin typeface="+mj-lt"/>
                <a:ea typeface="+mj-ea"/>
                <a:cs typeface="+mj-cs"/>
              </a:defRPr>
            </a:lvl1pPr>
          </a:lstStyle>
          <a:p>
            <a:r>
              <a:rPr lang="es-ES" dirty="0"/>
              <a:t>Decimal 		octal</a:t>
            </a:r>
          </a:p>
        </p:txBody>
      </p:sp>
      <p:cxnSp>
        <p:nvCxnSpPr>
          <p:cNvPr id="5" name="4 Conector recto de flecha"/>
          <p:cNvCxnSpPr/>
          <p:nvPr/>
        </p:nvCxnSpPr>
        <p:spPr>
          <a:xfrm>
            <a:off x="3635896" y="692696"/>
            <a:ext cx="1152128" cy="0"/>
          </a:xfrm>
          <a:prstGeom prst="straightConnector1">
            <a:avLst/>
          </a:prstGeom>
          <a:ln w="76200">
            <a:tailEnd type="arrow"/>
          </a:ln>
        </p:spPr>
        <p:style>
          <a:lnRef idx="2">
            <a:schemeClr val="accent3"/>
          </a:lnRef>
          <a:fillRef idx="0">
            <a:schemeClr val="accent3"/>
          </a:fillRef>
          <a:effectRef idx="1">
            <a:schemeClr val="accent3"/>
          </a:effectRef>
          <a:fontRef idx="minor">
            <a:schemeClr val="tx1"/>
          </a:fontRef>
        </p:style>
      </p:cxnSp>
      <p:sp>
        <p:nvSpPr>
          <p:cNvPr id="6" name="5 CuadroTexto"/>
          <p:cNvSpPr txBox="1"/>
          <p:nvPr/>
        </p:nvSpPr>
        <p:spPr>
          <a:xfrm>
            <a:off x="4283968" y="5661248"/>
            <a:ext cx="3309732" cy="461665"/>
          </a:xfrm>
          <a:prstGeom prst="rect">
            <a:avLst/>
          </a:prstGeom>
          <a:noFill/>
        </p:spPr>
        <p:txBody>
          <a:bodyPr wrap="square" rtlCol="0">
            <a:spAutoFit/>
          </a:bodyPr>
          <a:lstStyle/>
          <a:p>
            <a:r>
              <a:rPr lang="es-ES" sz="2400" b="1" dirty="0"/>
              <a:t>156</a:t>
            </a:r>
            <a:r>
              <a:rPr lang="es-ES" sz="2400" b="1" baseline="-25000" dirty="0"/>
              <a:t>10</a:t>
            </a:r>
            <a:r>
              <a:rPr lang="es-ES" sz="2400" b="1" dirty="0"/>
              <a:t>  &gt;&gt; 234</a:t>
            </a:r>
            <a:r>
              <a:rPr lang="es-ES" sz="2400" b="1" baseline="-25000" dirty="0"/>
              <a:t>8</a:t>
            </a:r>
            <a:r>
              <a:rPr lang="es-ES" sz="2400" b="1" dirty="0"/>
              <a:t> </a:t>
            </a:r>
          </a:p>
        </p:txBody>
      </p:sp>
      <p:graphicFrame>
        <p:nvGraphicFramePr>
          <p:cNvPr id="2" name="Tabla 7">
            <a:extLst>
              <a:ext uri="{FF2B5EF4-FFF2-40B4-BE49-F238E27FC236}">
                <a16:creationId xmlns:a16="http://schemas.microsoft.com/office/drawing/2014/main" id="{BB7DC3D1-F85E-4869-BCB7-5E1B128C923B}"/>
              </a:ext>
            </a:extLst>
          </p:cNvPr>
          <p:cNvGraphicFramePr>
            <a:graphicFrameLocks noGrp="1"/>
          </p:cNvGraphicFramePr>
          <p:nvPr>
            <p:extLst>
              <p:ext uri="{D42A27DB-BD31-4B8C-83A1-F6EECF244321}">
                <p14:modId xmlns:p14="http://schemas.microsoft.com/office/powerpoint/2010/main" val="2425880036"/>
              </p:ext>
            </p:extLst>
          </p:nvPr>
        </p:nvGraphicFramePr>
        <p:xfrm>
          <a:off x="1487996" y="2132856"/>
          <a:ext cx="6096000" cy="1112520"/>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1988521007"/>
                    </a:ext>
                  </a:extLst>
                </a:gridCol>
                <a:gridCol w="2032000">
                  <a:extLst>
                    <a:ext uri="{9D8B030D-6E8A-4147-A177-3AD203B41FA5}">
                      <a16:colId xmlns:a16="http://schemas.microsoft.com/office/drawing/2014/main" val="1075096383"/>
                    </a:ext>
                  </a:extLst>
                </a:gridCol>
                <a:gridCol w="2032000">
                  <a:extLst>
                    <a:ext uri="{9D8B030D-6E8A-4147-A177-3AD203B41FA5}">
                      <a16:colId xmlns:a16="http://schemas.microsoft.com/office/drawing/2014/main" val="827033841"/>
                    </a:ext>
                  </a:extLst>
                </a:gridCol>
              </a:tblGrid>
              <a:tr h="370840">
                <a:tc>
                  <a:txBody>
                    <a:bodyPr/>
                    <a:lstStyle/>
                    <a:p>
                      <a:r>
                        <a:rPr lang="es-ES" dirty="0"/>
                        <a:t>8</a:t>
                      </a:r>
                      <a:r>
                        <a:rPr lang="es-ES" baseline="30000" dirty="0"/>
                        <a:t>0</a:t>
                      </a:r>
                      <a:r>
                        <a:rPr lang="es-ES" dirty="0"/>
                        <a:t> = 1</a:t>
                      </a:r>
                    </a:p>
                  </a:txBody>
                  <a:tcPr/>
                </a:tc>
                <a:tc>
                  <a:txBody>
                    <a:bodyPr/>
                    <a:lstStyle/>
                    <a:p>
                      <a:r>
                        <a:rPr lang="es-ES" dirty="0"/>
                        <a:t>8</a:t>
                      </a:r>
                      <a:r>
                        <a:rPr lang="es-ES" baseline="30000" dirty="0"/>
                        <a:t>3 </a:t>
                      </a:r>
                      <a:r>
                        <a:rPr lang="es-ES" dirty="0"/>
                        <a:t>= 512</a:t>
                      </a:r>
                    </a:p>
                  </a:txBody>
                  <a:tcPr/>
                </a:tc>
                <a:tc>
                  <a:txBody>
                    <a:bodyPr/>
                    <a:lstStyle/>
                    <a:p>
                      <a:r>
                        <a:rPr lang="es-ES" dirty="0"/>
                        <a:t>8</a:t>
                      </a:r>
                      <a:r>
                        <a:rPr lang="es-ES" baseline="30000" dirty="0"/>
                        <a:t>6 </a:t>
                      </a:r>
                      <a:r>
                        <a:rPr lang="es-ES" dirty="0"/>
                        <a:t>= 262.144</a:t>
                      </a:r>
                    </a:p>
                  </a:txBody>
                  <a:tcPr/>
                </a:tc>
                <a:extLst>
                  <a:ext uri="{0D108BD9-81ED-4DB2-BD59-A6C34878D82A}">
                    <a16:rowId xmlns:a16="http://schemas.microsoft.com/office/drawing/2014/main" val="6209327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8</a:t>
                      </a:r>
                      <a:r>
                        <a:rPr lang="es-ES" baseline="30000" dirty="0"/>
                        <a:t>1</a:t>
                      </a:r>
                      <a:r>
                        <a:rPr lang="es-ES" dirty="0"/>
                        <a:t>  = 8</a:t>
                      </a:r>
                    </a:p>
                  </a:txBody>
                  <a:tcPr/>
                </a:tc>
                <a:tc>
                  <a:txBody>
                    <a:bodyPr/>
                    <a:lstStyle/>
                    <a:p>
                      <a:r>
                        <a:rPr lang="es-ES" dirty="0"/>
                        <a:t>8</a:t>
                      </a:r>
                      <a:r>
                        <a:rPr lang="es-ES" baseline="30000" dirty="0"/>
                        <a:t>4 </a:t>
                      </a:r>
                      <a:r>
                        <a:rPr lang="es-ES" dirty="0"/>
                        <a:t>= 4096</a:t>
                      </a:r>
                    </a:p>
                  </a:txBody>
                  <a:tcPr/>
                </a:tc>
                <a:tc>
                  <a:txBody>
                    <a:bodyPr/>
                    <a:lstStyle/>
                    <a:p>
                      <a:r>
                        <a:rPr lang="es-ES" dirty="0"/>
                        <a:t>8</a:t>
                      </a:r>
                      <a:r>
                        <a:rPr lang="es-ES" baseline="30000" dirty="0"/>
                        <a:t>7 </a:t>
                      </a:r>
                      <a:r>
                        <a:rPr lang="es-ES" dirty="0"/>
                        <a:t>= 2.097.152</a:t>
                      </a:r>
                    </a:p>
                  </a:txBody>
                  <a:tcPr/>
                </a:tc>
                <a:extLst>
                  <a:ext uri="{0D108BD9-81ED-4DB2-BD59-A6C34878D82A}">
                    <a16:rowId xmlns:a16="http://schemas.microsoft.com/office/drawing/2014/main" val="558989031"/>
                  </a:ext>
                </a:extLst>
              </a:tr>
              <a:tr h="370840">
                <a:tc>
                  <a:txBody>
                    <a:bodyPr/>
                    <a:lstStyle/>
                    <a:p>
                      <a:r>
                        <a:rPr lang="es-ES" dirty="0"/>
                        <a:t>8</a:t>
                      </a:r>
                      <a:r>
                        <a:rPr lang="es-ES" baseline="30000" dirty="0"/>
                        <a:t>2 </a:t>
                      </a:r>
                      <a:r>
                        <a:rPr lang="es-ES" dirty="0"/>
                        <a:t>= 64</a:t>
                      </a:r>
                    </a:p>
                  </a:txBody>
                  <a:tcPr/>
                </a:tc>
                <a:tc>
                  <a:txBody>
                    <a:bodyPr/>
                    <a:lstStyle/>
                    <a:p>
                      <a:r>
                        <a:rPr lang="es-ES" dirty="0"/>
                        <a:t>8</a:t>
                      </a:r>
                      <a:r>
                        <a:rPr lang="es-ES" baseline="30000" dirty="0"/>
                        <a:t>5 </a:t>
                      </a:r>
                      <a:r>
                        <a:rPr lang="es-ES" dirty="0"/>
                        <a:t>= 32.768</a:t>
                      </a:r>
                    </a:p>
                  </a:txBody>
                  <a:tcPr/>
                </a:tc>
                <a:tc>
                  <a:txBody>
                    <a:bodyPr/>
                    <a:lstStyle/>
                    <a:p>
                      <a:r>
                        <a:rPr lang="es-ES" dirty="0"/>
                        <a:t>8</a:t>
                      </a:r>
                      <a:r>
                        <a:rPr lang="es-ES" baseline="30000" dirty="0"/>
                        <a:t>8 </a:t>
                      </a:r>
                      <a:r>
                        <a:rPr lang="es-ES" dirty="0"/>
                        <a:t>= 16.777.216</a:t>
                      </a:r>
                    </a:p>
                  </a:txBody>
                  <a:tcPr/>
                </a:tc>
                <a:extLst>
                  <a:ext uri="{0D108BD9-81ED-4DB2-BD59-A6C34878D82A}">
                    <a16:rowId xmlns:a16="http://schemas.microsoft.com/office/drawing/2014/main" val="4025873232"/>
                  </a:ext>
                </a:extLst>
              </a:tr>
            </a:tbl>
          </a:graphicData>
        </a:graphic>
      </p:graphicFrame>
    </p:spTree>
    <p:extLst>
      <p:ext uri="{BB962C8B-B14F-4D97-AF65-F5344CB8AC3E}">
        <p14:creationId xmlns:p14="http://schemas.microsoft.com/office/powerpoint/2010/main" val="2687898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79512" y="809288"/>
            <a:ext cx="8784976" cy="5791116"/>
          </a:xfrm>
        </p:spPr>
        <p:txBody>
          <a:bodyPr/>
          <a:lstStyle/>
          <a:p>
            <a:r>
              <a:rPr lang="es-ES" b="0" dirty="0"/>
              <a:t>Vamos a convertir el número decimal 156</a:t>
            </a:r>
            <a:r>
              <a:rPr lang="es-ES" b="0" baseline="-25000" dirty="0"/>
              <a:t>10</a:t>
            </a:r>
            <a:r>
              <a:rPr lang="es-ES" b="0" dirty="0"/>
              <a:t> a número hexadecimal. </a:t>
            </a:r>
          </a:p>
          <a:p>
            <a:r>
              <a:rPr lang="es-ES" dirty="0"/>
              <a:t>1. Escribe las potencias del 16; termina hasta que el resultado llegue a ser menor a tu numero original. Esta lista de potencias del 16 será muy útil durante la conversión.</a:t>
            </a:r>
          </a:p>
          <a:p>
            <a:endParaRPr lang="es-ES" b="0" dirty="0"/>
          </a:p>
          <a:p>
            <a:endParaRPr lang="es-ES" b="0" dirty="0"/>
          </a:p>
          <a:p>
            <a:endParaRPr lang="es-ES" b="0" dirty="0"/>
          </a:p>
          <a:p>
            <a:endParaRPr lang="es-ES" b="0" dirty="0"/>
          </a:p>
          <a:p>
            <a:r>
              <a:rPr lang="es-ES" dirty="0"/>
              <a:t>2. Encuentra la potencia más alta del 16 que sea menor al número decimal. Por ejemplo, si vas a convertir 156 a un número hexadecimal, podrías escoger el 16 de la lista anterior.</a:t>
            </a:r>
          </a:p>
          <a:p>
            <a:r>
              <a:rPr lang="es-ES" b="0" dirty="0"/>
              <a:t>156/16= 9.75 &gt;&gt; 9 seria el primer digito de nuestro numero hexadecimal. </a:t>
            </a:r>
          </a:p>
          <a:p>
            <a:r>
              <a:rPr lang="es-ES" dirty="0"/>
              <a:t>3. Encuentra el residuo. Este te indica lo que queda del número decimal que vas a convertir. </a:t>
            </a:r>
          </a:p>
          <a:p>
            <a:r>
              <a:rPr lang="es-ES" b="0" dirty="0"/>
              <a:t>9*16= 144 	156-144= 12</a:t>
            </a:r>
          </a:p>
          <a:p>
            <a:r>
              <a:rPr lang="es-ES" dirty="0"/>
              <a:t>4. Una vez que obtengas un residuo de 0 a 15, se puede expresar con un dígito único hexadecimal. Anótalo como el dígito final. Como nuestro residuo fue el 12, tomamos la letra C. </a:t>
            </a:r>
          </a:p>
          <a:p>
            <a:endParaRPr lang="es-ES" b="0" dirty="0"/>
          </a:p>
          <a:p>
            <a:endParaRPr lang="es-ES" b="0" dirty="0"/>
          </a:p>
          <a:p>
            <a:endParaRPr lang="es-ES" dirty="0"/>
          </a:p>
        </p:txBody>
      </p:sp>
      <p:sp>
        <p:nvSpPr>
          <p:cNvPr id="4" name="1 Título"/>
          <p:cNvSpPr txBox="1">
            <a:spLocks/>
          </p:cNvSpPr>
          <p:nvPr/>
        </p:nvSpPr>
        <p:spPr>
          <a:xfrm>
            <a:off x="1907704" y="260648"/>
            <a:ext cx="5544616" cy="54864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cap="all" baseline="0">
                <a:solidFill>
                  <a:schemeClr val="tx1"/>
                </a:solidFill>
                <a:latin typeface="+mj-lt"/>
                <a:ea typeface="+mj-ea"/>
                <a:cs typeface="+mj-cs"/>
              </a:defRPr>
            </a:lvl1pPr>
          </a:lstStyle>
          <a:p>
            <a:r>
              <a:rPr lang="es-ES" dirty="0"/>
              <a:t>Decimal 		  hexadecimal </a:t>
            </a:r>
          </a:p>
        </p:txBody>
      </p:sp>
      <p:cxnSp>
        <p:nvCxnSpPr>
          <p:cNvPr id="5" name="4 Conector recto de flecha"/>
          <p:cNvCxnSpPr/>
          <p:nvPr/>
        </p:nvCxnSpPr>
        <p:spPr>
          <a:xfrm>
            <a:off x="3635896" y="557318"/>
            <a:ext cx="1152128" cy="0"/>
          </a:xfrm>
          <a:prstGeom prst="straightConnector1">
            <a:avLst/>
          </a:prstGeom>
          <a:ln w="76200">
            <a:tailEnd type="arrow"/>
          </a:ln>
        </p:spPr>
        <p:style>
          <a:lnRef idx="2">
            <a:schemeClr val="accent3"/>
          </a:lnRef>
          <a:fillRef idx="0">
            <a:schemeClr val="accent3"/>
          </a:fillRef>
          <a:effectRef idx="1">
            <a:schemeClr val="accent3"/>
          </a:effectRef>
          <a:fontRef idx="minor">
            <a:schemeClr val="tx1"/>
          </a:fontRef>
        </p:style>
      </p:cxnSp>
      <p:pic>
        <p:nvPicPr>
          <p:cNvPr id="6" name="5 Imagen"/>
          <p:cNvPicPr>
            <a:picLocks noChangeAspect="1"/>
          </p:cNvPicPr>
          <p:nvPr/>
        </p:nvPicPr>
        <p:blipFill rotWithShape="1">
          <a:blip r:embed="rId2">
            <a:extLst>
              <a:ext uri="{28A0092B-C50C-407E-A947-70E740481C1C}">
                <a14:useLocalDpi xmlns:a14="http://schemas.microsoft.com/office/drawing/2010/main" val="0"/>
              </a:ext>
            </a:extLst>
          </a:blip>
          <a:srcRect t="16188" b="13722"/>
          <a:stretch/>
        </p:blipFill>
        <p:spPr>
          <a:xfrm>
            <a:off x="1018464" y="5564235"/>
            <a:ext cx="3593976" cy="554183"/>
          </a:xfrm>
          <a:prstGeom prst="rect">
            <a:avLst/>
          </a:prstGeom>
        </p:spPr>
      </p:pic>
      <p:sp>
        <p:nvSpPr>
          <p:cNvPr id="7" name="6 CuadroTexto"/>
          <p:cNvSpPr txBox="1"/>
          <p:nvPr/>
        </p:nvSpPr>
        <p:spPr>
          <a:xfrm>
            <a:off x="5133598" y="5587047"/>
            <a:ext cx="3309732" cy="461665"/>
          </a:xfrm>
          <a:prstGeom prst="rect">
            <a:avLst/>
          </a:prstGeom>
          <a:noFill/>
        </p:spPr>
        <p:txBody>
          <a:bodyPr wrap="square" rtlCol="0">
            <a:spAutoFit/>
          </a:bodyPr>
          <a:lstStyle/>
          <a:p>
            <a:r>
              <a:rPr lang="es-ES" sz="2400" b="1" dirty="0"/>
              <a:t>156</a:t>
            </a:r>
            <a:r>
              <a:rPr lang="es-ES" sz="2400" b="1" baseline="-25000" dirty="0"/>
              <a:t>10</a:t>
            </a:r>
            <a:r>
              <a:rPr lang="es-ES" sz="2400" b="1" dirty="0"/>
              <a:t>  &gt;&gt; 9C</a:t>
            </a:r>
            <a:r>
              <a:rPr lang="es-ES" sz="2400" b="1" baseline="-25000" dirty="0"/>
              <a:t>16</a:t>
            </a:r>
            <a:r>
              <a:rPr lang="es-ES" sz="2400" b="1" dirty="0"/>
              <a:t> </a:t>
            </a:r>
          </a:p>
        </p:txBody>
      </p:sp>
      <p:graphicFrame>
        <p:nvGraphicFramePr>
          <p:cNvPr id="9" name="Tabla 7">
            <a:extLst>
              <a:ext uri="{FF2B5EF4-FFF2-40B4-BE49-F238E27FC236}">
                <a16:creationId xmlns:a16="http://schemas.microsoft.com/office/drawing/2014/main" id="{C35F451B-75AB-4FE8-BACB-36E6E7473FBC}"/>
              </a:ext>
            </a:extLst>
          </p:cNvPr>
          <p:cNvGraphicFramePr>
            <a:graphicFrameLocks noGrp="1"/>
          </p:cNvGraphicFramePr>
          <p:nvPr>
            <p:extLst>
              <p:ext uri="{D42A27DB-BD31-4B8C-83A1-F6EECF244321}">
                <p14:modId xmlns:p14="http://schemas.microsoft.com/office/powerpoint/2010/main" val="3369950774"/>
              </p:ext>
            </p:extLst>
          </p:nvPr>
        </p:nvGraphicFramePr>
        <p:xfrm>
          <a:off x="683568" y="1844824"/>
          <a:ext cx="7759764" cy="1112520"/>
        </p:xfrm>
        <a:graphic>
          <a:graphicData uri="http://schemas.openxmlformats.org/drawingml/2006/table">
            <a:tbl>
              <a:tblPr firstRow="1" bandRow="1">
                <a:tableStyleId>{2D5ABB26-0587-4C30-8999-92F81FD0307C}</a:tableStyleId>
              </a:tblPr>
              <a:tblGrid>
                <a:gridCol w="1584176">
                  <a:extLst>
                    <a:ext uri="{9D8B030D-6E8A-4147-A177-3AD203B41FA5}">
                      <a16:colId xmlns:a16="http://schemas.microsoft.com/office/drawing/2014/main" val="1988521007"/>
                    </a:ext>
                  </a:extLst>
                </a:gridCol>
                <a:gridCol w="2088232">
                  <a:extLst>
                    <a:ext uri="{9D8B030D-6E8A-4147-A177-3AD203B41FA5}">
                      <a16:colId xmlns:a16="http://schemas.microsoft.com/office/drawing/2014/main" val="1075096383"/>
                    </a:ext>
                  </a:extLst>
                </a:gridCol>
                <a:gridCol w="2147415">
                  <a:extLst>
                    <a:ext uri="{9D8B030D-6E8A-4147-A177-3AD203B41FA5}">
                      <a16:colId xmlns:a16="http://schemas.microsoft.com/office/drawing/2014/main" val="827033841"/>
                    </a:ext>
                  </a:extLst>
                </a:gridCol>
                <a:gridCol w="1939941">
                  <a:extLst>
                    <a:ext uri="{9D8B030D-6E8A-4147-A177-3AD203B41FA5}">
                      <a16:colId xmlns:a16="http://schemas.microsoft.com/office/drawing/2014/main" val="2537254150"/>
                    </a:ext>
                  </a:extLst>
                </a:gridCol>
              </a:tblGrid>
              <a:tr h="370840">
                <a:tc>
                  <a:txBody>
                    <a:bodyPr/>
                    <a:lstStyle/>
                    <a:p>
                      <a:r>
                        <a:rPr lang="es-ES" dirty="0"/>
                        <a:t>16</a:t>
                      </a:r>
                      <a:r>
                        <a:rPr lang="es-ES" baseline="30000" dirty="0"/>
                        <a:t>0</a:t>
                      </a:r>
                      <a:r>
                        <a:rPr lang="es-ES" dirty="0"/>
                        <a:t> = 1</a:t>
                      </a:r>
                    </a:p>
                  </a:txBody>
                  <a:tcPr/>
                </a:tc>
                <a:tc>
                  <a:txBody>
                    <a:bodyPr/>
                    <a:lstStyle/>
                    <a:p>
                      <a:r>
                        <a:rPr lang="es-ES" dirty="0"/>
                        <a:t>16</a:t>
                      </a:r>
                      <a:r>
                        <a:rPr lang="es-ES" baseline="30000" dirty="0"/>
                        <a:t>3 </a:t>
                      </a:r>
                      <a:r>
                        <a:rPr lang="es-ES" dirty="0"/>
                        <a:t>= 4.096</a:t>
                      </a:r>
                    </a:p>
                  </a:txBody>
                  <a:tcPr/>
                </a:tc>
                <a:tc>
                  <a:txBody>
                    <a:bodyPr/>
                    <a:lstStyle/>
                    <a:p>
                      <a:r>
                        <a:rPr lang="es-ES" dirty="0"/>
                        <a:t>16</a:t>
                      </a:r>
                      <a:r>
                        <a:rPr lang="es-ES" baseline="30000" dirty="0"/>
                        <a:t>6 </a:t>
                      </a:r>
                      <a:r>
                        <a:rPr lang="es-ES" dirty="0"/>
                        <a:t>= 2.097.152</a:t>
                      </a:r>
                    </a:p>
                  </a:txBody>
                  <a:tcPr/>
                </a:tc>
                <a:tc>
                  <a:txBody>
                    <a:bodyPr/>
                    <a:lstStyle/>
                    <a:p>
                      <a:r>
                        <a:rPr lang="es-ES" sz="1400" dirty="0"/>
                        <a:t>(continua..)</a:t>
                      </a:r>
                      <a:endParaRPr lang="es-ES" dirty="0"/>
                    </a:p>
                  </a:txBody>
                  <a:tcPr/>
                </a:tc>
                <a:extLst>
                  <a:ext uri="{0D108BD9-81ED-4DB2-BD59-A6C34878D82A}">
                    <a16:rowId xmlns:a16="http://schemas.microsoft.com/office/drawing/2014/main" val="6209327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16</a:t>
                      </a:r>
                      <a:r>
                        <a:rPr lang="es-ES" baseline="30000" dirty="0"/>
                        <a:t>1</a:t>
                      </a:r>
                      <a:r>
                        <a:rPr lang="es-ES" dirty="0"/>
                        <a:t>  = 16</a:t>
                      </a:r>
                    </a:p>
                  </a:txBody>
                  <a:tcPr/>
                </a:tc>
                <a:tc>
                  <a:txBody>
                    <a:bodyPr/>
                    <a:lstStyle/>
                    <a:p>
                      <a:r>
                        <a:rPr lang="es-ES" dirty="0"/>
                        <a:t>16</a:t>
                      </a:r>
                      <a:r>
                        <a:rPr lang="es-ES" baseline="30000" dirty="0"/>
                        <a:t>4 </a:t>
                      </a:r>
                      <a:r>
                        <a:rPr lang="es-ES" dirty="0"/>
                        <a:t>= 65.536</a:t>
                      </a:r>
                    </a:p>
                  </a:txBody>
                  <a:tcPr/>
                </a:tc>
                <a:tc>
                  <a:txBody>
                    <a:bodyPr/>
                    <a:lstStyle/>
                    <a:p>
                      <a:r>
                        <a:rPr lang="es-ES" dirty="0"/>
                        <a:t>16</a:t>
                      </a:r>
                      <a:r>
                        <a:rPr lang="es-ES" baseline="30000" dirty="0"/>
                        <a:t>7 </a:t>
                      </a:r>
                      <a:r>
                        <a:rPr lang="es-ES" dirty="0"/>
                        <a:t>= 33.554.432</a:t>
                      </a:r>
                    </a:p>
                  </a:txBody>
                  <a:tcPr/>
                </a:tc>
                <a:tc>
                  <a:txBody>
                    <a:bodyPr/>
                    <a:lstStyle/>
                    <a:p>
                      <a:endParaRPr lang="es-ES" dirty="0"/>
                    </a:p>
                  </a:txBody>
                  <a:tcPr/>
                </a:tc>
                <a:extLst>
                  <a:ext uri="{0D108BD9-81ED-4DB2-BD59-A6C34878D82A}">
                    <a16:rowId xmlns:a16="http://schemas.microsoft.com/office/drawing/2014/main" val="558989031"/>
                  </a:ext>
                </a:extLst>
              </a:tr>
              <a:tr h="370840">
                <a:tc>
                  <a:txBody>
                    <a:bodyPr/>
                    <a:lstStyle/>
                    <a:p>
                      <a:r>
                        <a:rPr lang="es-ES" dirty="0"/>
                        <a:t>16</a:t>
                      </a:r>
                      <a:r>
                        <a:rPr lang="es-ES" baseline="30000" dirty="0"/>
                        <a:t>2 </a:t>
                      </a:r>
                      <a:r>
                        <a:rPr lang="es-ES" dirty="0"/>
                        <a:t>= 256</a:t>
                      </a:r>
                    </a:p>
                  </a:txBody>
                  <a:tcPr/>
                </a:tc>
                <a:tc>
                  <a:txBody>
                    <a:bodyPr/>
                    <a:lstStyle/>
                    <a:p>
                      <a:r>
                        <a:rPr lang="es-ES" dirty="0"/>
                        <a:t>16</a:t>
                      </a:r>
                      <a:r>
                        <a:rPr lang="es-ES" baseline="30000" dirty="0"/>
                        <a:t>5 </a:t>
                      </a:r>
                      <a:r>
                        <a:rPr lang="es-ES" dirty="0"/>
                        <a:t>= 131.072</a:t>
                      </a:r>
                    </a:p>
                  </a:txBody>
                  <a:tcPr/>
                </a:tc>
                <a:tc>
                  <a:txBody>
                    <a:bodyPr/>
                    <a:lstStyle/>
                    <a:p>
                      <a:r>
                        <a:rPr lang="es-ES" dirty="0"/>
                        <a:t>16</a:t>
                      </a:r>
                      <a:r>
                        <a:rPr lang="es-ES" baseline="30000" dirty="0"/>
                        <a:t>8 </a:t>
                      </a:r>
                      <a:r>
                        <a:rPr lang="es-ES" dirty="0"/>
                        <a:t>= 536.870.912</a:t>
                      </a:r>
                    </a:p>
                  </a:txBody>
                  <a:tcPr/>
                </a:tc>
                <a:tc>
                  <a:txBody>
                    <a:bodyPr/>
                    <a:lstStyle/>
                    <a:p>
                      <a:endParaRPr lang="es-ES" dirty="0"/>
                    </a:p>
                  </a:txBody>
                  <a:tcPr/>
                </a:tc>
                <a:extLst>
                  <a:ext uri="{0D108BD9-81ED-4DB2-BD59-A6C34878D82A}">
                    <a16:rowId xmlns:a16="http://schemas.microsoft.com/office/drawing/2014/main" val="4025873232"/>
                  </a:ext>
                </a:extLst>
              </a:tr>
            </a:tbl>
          </a:graphicData>
        </a:graphic>
      </p:graphicFrame>
    </p:spTree>
    <p:extLst>
      <p:ext uri="{BB962C8B-B14F-4D97-AF65-F5344CB8AC3E}">
        <p14:creationId xmlns:p14="http://schemas.microsoft.com/office/powerpoint/2010/main" val="82197994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Ángulos">
  <a:themeElements>
    <a:clrScheme name="Ángulo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Ángulo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Ángul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131</TotalTime>
  <Words>148</Words>
  <Application>Microsoft Office PowerPoint</Application>
  <PresentationFormat>Presentación en pantalla (4:3)</PresentationFormat>
  <Paragraphs>71</Paragraphs>
  <Slides>5</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vt:i4>
      </vt:variant>
    </vt:vector>
  </HeadingPairs>
  <TitlesOfParts>
    <vt:vector size="10" baseType="lpstr">
      <vt:lpstr>Arial</vt:lpstr>
      <vt:lpstr>Franklin Gothic Book</vt:lpstr>
      <vt:lpstr>Franklin Gothic Medium</vt:lpstr>
      <vt:lpstr>Wingdings</vt:lpstr>
      <vt:lpstr>Ángulos</vt:lpstr>
      <vt:lpstr>Proyecto: Conversor de bases numéricas </vt:lpstr>
      <vt:lpstr>¿Cómo convertir un numero decimal a otros sistemas numéricos?  </vt:lpstr>
      <vt:lpstr>Decimal   binario </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Conversor de bases numéricas</dc:title>
  <dc:creator>Isaura</dc:creator>
  <cp:lastModifiedBy>Miguel Angel Campos Méndez</cp:lastModifiedBy>
  <cp:revision>11</cp:revision>
  <dcterms:created xsi:type="dcterms:W3CDTF">2016-02-26T22:24:06Z</dcterms:created>
  <dcterms:modified xsi:type="dcterms:W3CDTF">2020-02-21T01:48:18Z</dcterms:modified>
</cp:coreProperties>
</file>